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6858000" cy="9144000"/>
  <p:embeddedFontLst>
    <p:embeddedFont>
      <p:font typeface="Roboto Mono" pitchFamily="49"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p:cViewPr varScale="1">
        <p:scale>
          <a:sx n="161" d="100"/>
          <a:sy n="161" d="100"/>
        </p:scale>
        <p:origin x="78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 name="Google Shape;5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2cf6f51fed5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 name="Google Shape;62;g2cf6f51fed5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2cfefe96300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 name="Google Shape;72;g2cfefe96300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cd95e3988b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g2cd95e3988b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1f7f7cda57c_1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 name="Google Shape;114;g1f7f7cda57c_1_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1f7f7cda57c_1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g1f7f7cda57c_1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f7f7cda57c_1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g1f7f7cda57c_1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1f7f7cda57c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 name="Google Shape;139;g1f7f7cda57c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ce34b99a12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g2ce34b99a12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cec660285c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2" name="Google Shape;162;g2cec660285c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2cf7b08dbd5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2" name="Google Shape;172;g2cf7b08dbd5_0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2cfe703bd3c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1" name="Google Shape;181;g2cfe703bd3c_0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f7f7cda57c_1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9" name="Google Shape;189;g1f7f7cda57c_1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2cec660285c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6" name="Google Shape;196;g2cec660285c_0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5" name="Google Shape;205;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5" name="Google Shape;215;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5" name="Google Shape;225;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rtl="0">
              <a:spcBef>
                <a:spcPts val="0"/>
              </a:spcBef>
              <a:spcAft>
                <a:spcPts val="0"/>
              </a:spcAft>
              <a:buSzPts val="2800"/>
              <a:buNone/>
              <a:defRPr/>
            </a:lvl1pPr>
            <a:lvl2pPr lvl="1" algn="l" rtl="0">
              <a:spcBef>
                <a:spcPts val="0"/>
              </a:spcBef>
              <a:spcAft>
                <a:spcPts val="0"/>
              </a:spcAft>
              <a:buSzPts val="2800"/>
              <a:buNone/>
              <a:defRPr/>
            </a:lvl2pPr>
            <a:lvl3pPr lvl="2" algn="l" rtl="0">
              <a:spcBef>
                <a:spcPts val="0"/>
              </a:spcBef>
              <a:spcAft>
                <a:spcPts val="0"/>
              </a:spcAft>
              <a:buSzPts val="2800"/>
              <a:buNone/>
              <a:defRPr/>
            </a:lvl3pPr>
            <a:lvl4pPr lvl="3" algn="l" rtl="0">
              <a:spcBef>
                <a:spcPts val="0"/>
              </a:spcBef>
              <a:spcAft>
                <a:spcPts val="0"/>
              </a:spcAft>
              <a:buSzPts val="2800"/>
              <a:buNone/>
              <a:defRPr/>
            </a:lvl4pPr>
            <a:lvl5pPr lvl="4" algn="l" rtl="0">
              <a:spcBef>
                <a:spcPts val="0"/>
              </a:spcBef>
              <a:spcAft>
                <a:spcPts val="0"/>
              </a:spcAft>
              <a:buSzPts val="2800"/>
              <a:buNone/>
              <a:defRPr/>
            </a:lvl5pPr>
            <a:lvl6pPr lvl="5" algn="l" rtl="0">
              <a:spcBef>
                <a:spcPts val="0"/>
              </a:spcBef>
              <a:spcAft>
                <a:spcPts val="0"/>
              </a:spcAft>
              <a:buSzPts val="2800"/>
              <a:buNone/>
              <a:defRPr/>
            </a:lvl6pPr>
            <a:lvl7pPr lvl="6" algn="l" rtl="0">
              <a:spcBef>
                <a:spcPts val="0"/>
              </a:spcBef>
              <a:spcAft>
                <a:spcPts val="0"/>
              </a:spcAft>
              <a:buSzPts val="2800"/>
              <a:buNone/>
              <a:defRPr/>
            </a:lvl7pPr>
            <a:lvl8pPr lvl="7" algn="l" rtl="0">
              <a:spcBef>
                <a:spcPts val="0"/>
              </a:spcBef>
              <a:spcAft>
                <a:spcPts val="0"/>
              </a:spcAft>
              <a:buSzPts val="2800"/>
              <a:buNone/>
              <a:defRPr/>
            </a:lvl8pPr>
            <a:lvl9pPr lvl="8" algn="l" rtl="0">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rtl="0">
              <a:spcBef>
                <a:spcPts val="0"/>
              </a:spcBef>
              <a:spcAft>
                <a:spcPts val="0"/>
              </a:spcAft>
              <a:buSzPts val="1800"/>
              <a:buNone/>
              <a:defRPr/>
            </a:lvl1pPr>
            <a:lvl2pPr marL="914400" lvl="1" indent="-228600" algn="l" rtl="0">
              <a:spcBef>
                <a:spcPts val="0"/>
              </a:spcBef>
              <a:spcAft>
                <a:spcPts val="0"/>
              </a:spcAft>
              <a:buSzPts val="1400"/>
              <a:buNone/>
              <a:defRPr/>
            </a:lvl2pPr>
            <a:lvl3pPr marL="1371600" lvl="2" indent="-228600" algn="l" rtl="0">
              <a:spcBef>
                <a:spcPts val="0"/>
              </a:spcBef>
              <a:spcAft>
                <a:spcPts val="0"/>
              </a:spcAft>
              <a:buSzPts val="1400"/>
              <a:buNone/>
              <a:defRPr/>
            </a:lvl3pPr>
            <a:lvl4pPr marL="1828800" lvl="3" indent="-228600" algn="l" rtl="0">
              <a:spcBef>
                <a:spcPts val="0"/>
              </a:spcBef>
              <a:spcAft>
                <a:spcPts val="0"/>
              </a:spcAft>
              <a:buSzPts val="1400"/>
              <a:buNone/>
              <a:defRPr/>
            </a:lvl4pPr>
            <a:lvl5pPr marL="2286000" lvl="4" indent="-228600" algn="l" rtl="0">
              <a:spcBef>
                <a:spcPts val="0"/>
              </a:spcBef>
              <a:spcAft>
                <a:spcPts val="0"/>
              </a:spcAft>
              <a:buSzPts val="1400"/>
              <a:buNone/>
              <a:defRPr/>
            </a:lvl5pPr>
            <a:lvl6pPr marL="2743200" lvl="5" indent="-228600" algn="l" rtl="0">
              <a:spcBef>
                <a:spcPts val="0"/>
              </a:spcBef>
              <a:spcAft>
                <a:spcPts val="0"/>
              </a:spcAft>
              <a:buSzPts val="1400"/>
              <a:buNone/>
              <a:defRPr/>
            </a:lvl6pPr>
            <a:lvl7pPr marL="3200400" lvl="6" indent="-228600" algn="l" rtl="0">
              <a:spcBef>
                <a:spcPts val="0"/>
              </a:spcBef>
              <a:spcAft>
                <a:spcPts val="0"/>
              </a:spcAft>
              <a:buSzPts val="1400"/>
              <a:buNone/>
              <a:defRPr/>
            </a:lvl7pPr>
            <a:lvl8pPr marL="3657600" lvl="7" indent="-228600" algn="l" rtl="0">
              <a:spcBef>
                <a:spcPts val="0"/>
              </a:spcBef>
              <a:spcAft>
                <a:spcPts val="0"/>
              </a:spcAft>
              <a:buSzPts val="1400"/>
              <a:buNone/>
              <a:defRPr/>
            </a:lvl8pPr>
            <a:lvl9pPr marL="4114800" lvl="8" indent="-228600" algn="l" rtl="0">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hyperlink" Target="https://twitter.com/soumithchintala/status/1782517116127654124" TargetMode="External"/><Relationship Id="rId3" Type="http://schemas.openxmlformats.org/officeDocument/2006/relationships/hyperlink" Target="https://huggingface.co/cognitivecomputations/dolphin-2.9-llama3-8b" TargetMode="External"/><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3.jpeg"/><Relationship Id="rId5" Type="http://schemas.openxmlformats.org/officeDocument/2006/relationships/hyperlink" Target="https://huggingface.co/cognitivecomputations/dolphin-2.9-llama3-70b" TargetMode="External"/><Relationship Id="rId10" Type="http://schemas.openxmlformats.org/officeDocument/2006/relationships/image" Target="../media/image5.png"/><Relationship Id="rId4" Type="http://schemas.openxmlformats.org/officeDocument/2006/relationships/hyperlink" Target="https://ollama.com/library/dolphin-llama3" TargetMode="External"/><Relationship Id="rId9" Type="http://schemas.openxmlformats.org/officeDocument/2006/relationships/hyperlink" Target="https://chat.lmsys.org/?leaderboard"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chat.lmsys.org/?leaderboard"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hyperlink" Target="https://groq.com"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hyperlink" Target="https://news.microsoft.com/source/features/ai/the-phi-3-small-language-models-with-big-potential/"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hyperlink" Target="https://huggingface.co/collections/microsoft/phi-3-6626e15e9585a200d2d761e3"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www.snowflake.com/blog/arctic-open-efficient-foundation-language-models-snowflake/"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hyperlink" Target="https://arxiv.org/pdf/2404.14619"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5.jpeg"/></Relationships>
</file>

<file path=ppt/slides/_rels/slide9.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hyperlink" Target="https://www.youtube.com/watch?v=NJXGIMa45sQ" TargetMode="External"/><Relationship Id="rId7"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hyperlink" Target="https://en.wikipedia.org/wiki/SenseTime" TargetMode="External"/><Relationship Id="rId4" Type="http://schemas.openxmlformats.org/officeDocument/2006/relationships/hyperlink" Target="https://www.sensetime.com/en"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hyperlink" Target="https://arxiv.org/abs/2401.02669" TargetMode="External"/><Relationship Id="rId7"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github.com/mistralai/mistral-common" TargetMode="External"/><Relationship Id="rId5" Type="http://schemas.openxmlformats.org/officeDocument/2006/relationships/hyperlink" Target="https://twitter.com/karpathy/status/1781387674978533427" TargetMode="External"/><Relationship Id="rId10" Type="http://schemas.openxmlformats.org/officeDocument/2006/relationships/hyperlink" Target="https://twitter.com/Thom_Wolf/status/1781956600724345190" TargetMode="External"/><Relationship Id="rId4" Type="http://schemas.openxmlformats.org/officeDocument/2006/relationships/hyperlink" Target="https://twitter.com/rohanpaul_ai/status/1781701594825781391" TargetMode="External"/><Relationship Id="rId9" Type="http://schemas.openxmlformats.org/officeDocument/2006/relationships/hyperlink" Target="https://huggingface.co/datasets/HuggingFaceFW/fineweb"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arxiv.org/abs/2404.13050" TargetMode="External"/><Relationship Id="rId7" Type="http://schemas.openxmlformats.org/officeDocument/2006/relationships/image" Target="../media/image23.jpe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hyperlink" Target="https://twitter.com/insidetelecom_/status/1781336963355709803" TargetMode="Externa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hyperlink" Target="https://arxiv.org/abs/2404.13208"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hyperlink" Target="https://twitter.com/OpenAI/status/1782826546199408940"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hyperlink" Target="https://resources.nvidia.com/en-us-dgx-systems/nvidia-dgx-gh200-datasheet-web-us"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www.ftc.gov/legal-library/browse/rules/noncompete-rule"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hyperlink" Target="https://www.youtube.com/watch?v=_cfyERvND0w" TargetMode="External"/><Relationship Id="rId4" Type="http://schemas.openxmlformats.org/officeDocument/2006/relationships/hyperlink" Target="https://www.khoslaventures.com/vinod-predictions-in-2023-of-what-the-next-10-to-25-years-might-look-like/"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hyperlink" Target="https://qz.com/tech-layoffs-high-ai-struggling-find-talent-1851368861" TargetMode="External"/><Relationship Id="rId4" Type="http://schemas.openxmlformats.org/officeDocument/2006/relationships/hyperlink" Target="https://layoffs.fyi"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14"/>
          <p:cNvSpPr txBox="1"/>
          <p:nvPr/>
        </p:nvSpPr>
        <p:spPr>
          <a:xfrm>
            <a:off x="86325" y="1204025"/>
            <a:ext cx="4420200" cy="36480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Llama3 in WhatsApp, Messenger, Instagram, and Facebook apps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Llama3 impersonates humans in group chats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Llama-3 on Ollama</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Dolphin-2.9-llama3-8b  &amp; 70b</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Llama3 on  1st place in English Arena Leaderboard</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Huge progress in LLMs in last 6 months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Microsoft Phi-3</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Snowflake Arctic for Enterprise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Apple OpenELM</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SenseChat V5 Beats GPT-4</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Infinite-LLM</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Andrej Karpathy - llm.c  with CUDA</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mistral-common library</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Fineweb = 15 Trillion Tokens open dataset</a:t>
            </a:r>
            <a:endParaRPr sz="1500" b="1">
              <a:solidFill>
                <a:srgbClr val="3C78D8"/>
              </a:solidFill>
              <a:latin typeface="Calibri"/>
              <a:ea typeface="Calibri"/>
              <a:cs typeface="Calibri"/>
              <a:sym typeface="Calibri"/>
            </a:endParaRPr>
          </a:p>
        </p:txBody>
      </p:sp>
      <p:sp>
        <p:nvSpPr>
          <p:cNvPr id="58" name="Google Shape;58;p14"/>
          <p:cNvSpPr txBox="1"/>
          <p:nvPr/>
        </p:nvSpPr>
        <p:spPr>
          <a:xfrm>
            <a:off x="4635500" y="1204025"/>
            <a:ext cx="4420200" cy="20319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8 Bln People   =&gt;   8 Bln Agents ??</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FlowMind from JPMorgan - Workflows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Baidu AgentBuilder, AppBuilder &amp; ModelBuilder</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The Instruction Hierarchy paper</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NVIDIA DGX H200 is live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FTC - No more noncompete clauses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12 Predictions of Vinod Khosla</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Tech Layoffs are lower than in 2023</a:t>
            </a:r>
            <a:endParaRPr sz="1500" b="1">
              <a:solidFill>
                <a:srgbClr val="3C78D8"/>
              </a:solidFill>
              <a:latin typeface="Calibri"/>
              <a:ea typeface="Calibri"/>
              <a:cs typeface="Calibri"/>
              <a:sym typeface="Calibri"/>
            </a:endParaRPr>
          </a:p>
        </p:txBody>
      </p:sp>
      <p:sp>
        <p:nvSpPr>
          <p:cNvPr id="59" name="Google Shape;59;p14"/>
          <p:cNvSpPr txBox="1"/>
          <p:nvPr/>
        </p:nvSpPr>
        <p:spPr>
          <a:xfrm>
            <a:off x="2975700" y="115925"/>
            <a:ext cx="3192600" cy="9420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600" b="1" i="0" u="none" strike="noStrike" cap="none">
                <a:solidFill>
                  <a:srgbClr val="3C78D8"/>
                </a:solidFill>
                <a:latin typeface="Calibri"/>
                <a:ea typeface="Calibri"/>
                <a:cs typeface="Calibri"/>
                <a:sym typeface="Calibri"/>
              </a:rPr>
              <a:t>AI Updates </a:t>
            </a:r>
            <a:endParaRPr sz="3600" b="1" i="0" u="none" strike="noStrike" cap="none">
              <a:solidFill>
                <a:srgbClr val="3C78D8"/>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400"/>
              <a:buFont typeface="Arial"/>
              <a:buNone/>
            </a:pPr>
            <a:r>
              <a:rPr lang="en" sz="2400" b="1">
                <a:solidFill>
                  <a:srgbClr val="3C78D8"/>
                </a:solidFill>
                <a:latin typeface="Calibri"/>
                <a:ea typeface="Calibri"/>
                <a:cs typeface="Calibri"/>
                <a:sym typeface="Calibri"/>
              </a:rPr>
              <a:t>April 26</a:t>
            </a:r>
            <a:r>
              <a:rPr lang="en" sz="2400" b="1" i="0" u="none" strike="noStrike" cap="none">
                <a:solidFill>
                  <a:srgbClr val="3C78D8"/>
                </a:solidFill>
                <a:latin typeface="Calibri"/>
                <a:ea typeface="Calibri"/>
                <a:cs typeface="Calibri"/>
                <a:sym typeface="Calibri"/>
              </a:rPr>
              <a:t>, 2024</a:t>
            </a:r>
            <a:endParaRPr sz="2400" b="1" i="0" u="none" strike="noStrike" cap="none">
              <a:solidFill>
                <a:srgbClr val="3C78D8"/>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5"/>
          <p:cNvSpPr txBox="1"/>
          <p:nvPr/>
        </p:nvSpPr>
        <p:spPr>
          <a:xfrm>
            <a:off x="4686575" y="207025"/>
            <a:ext cx="4383300" cy="240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MetaAI answering in groups</a:t>
            </a:r>
            <a:endParaRPr sz="1200" b="1">
              <a:solidFill>
                <a:srgbClr val="FF0000"/>
              </a:solidFill>
              <a:latin typeface="Roboto Mono"/>
              <a:ea typeface="Roboto Mono"/>
              <a:cs typeface="Roboto Mono"/>
              <a:sym typeface="Roboto Mono"/>
            </a:endParaRPr>
          </a:p>
        </p:txBody>
      </p:sp>
      <p:sp>
        <p:nvSpPr>
          <p:cNvPr id="65" name="Google Shape;65;p15"/>
          <p:cNvSpPr txBox="1"/>
          <p:nvPr/>
        </p:nvSpPr>
        <p:spPr>
          <a:xfrm>
            <a:off x="76200" y="76200"/>
            <a:ext cx="2796900" cy="2955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800" b="1">
                <a:solidFill>
                  <a:srgbClr val="0F1419"/>
                </a:solidFill>
                <a:highlight>
                  <a:srgbClr val="FFFFFF"/>
                </a:highlight>
                <a:latin typeface="Calibri"/>
                <a:ea typeface="Calibri"/>
                <a:cs typeface="Calibri"/>
                <a:sym typeface="Calibri"/>
              </a:rPr>
              <a:t>Llama-3  Updates 2</a:t>
            </a:r>
            <a:endParaRPr sz="1800" b="1">
              <a:latin typeface="Calibri"/>
              <a:ea typeface="Calibri"/>
              <a:cs typeface="Calibri"/>
              <a:sym typeface="Calibri"/>
            </a:endParaRPr>
          </a:p>
        </p:txBody>
      </p:sp>
      <p:pic>
        <p:nvPicPr>
          <p:cNvPr id="66" name="Google Shape;66;p15"/>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4686575" y="512375"/>
            <a:ext cx="4383300" cy="4557204"/>
          </a:xfrm>
          <a:prstGeom prst="rect">
            <a:avLst/>
          </a:prstGeom>
          <a:noFill/>
          <a:ln>
            <a:noFill/>
          </a:ln>
        </p:spPr>
      </p:pic>
      <p:sp>
        <p:nvSpPr>
          <p:cNvPr id="67" name="Google Shape;67;p15"/>
          <p:cNvSpPr txBox="1"/>
          <p:nvPr/>
        </p:nvSpPr>
        <p:spPr>
          <a:xfrm>
            <a:off x="39700" y="599425"/>
            <a:ext cx="4540200" cy="455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Meta added Llama3 prompts in its applications</a:t>
            </a:r>
            <a:r>
              <a:rPr lang="en" sz="1300">
                <a:latin typeface="Calibri"/>
                <a:ea typeface="Calibri"/>
                <a:cs typeface="Calibri"/>
                <a:sym typeface="Calibri"/>
              </a:rPr>
              <a:t>: </a:t>
            </a:r>
            <a:br>
              <a:rPr lang="en" sz="1300">
                <a:latin typeface="Calibri"/>
                <a:ea typeface="Calibri"/>
                <a:cs typeface="Calibri"/>
                <a:sym typeface="Calibri"/>
              </a:rPr>
            </a:br>
            <a:r>
              <a:rPr lang="en" sz="1300">
                <a:latin typeface="Calibri"/>
                <a:ea typeface="Calibri"/>
                <a:cs typeface="Calibri"/>
                <a:sym typeface="Calibri"/>
              </a:rPr>
              <a:t>Facebook, Messenger, Instagram, and WhatsApp</a:t>
            </a:r>
            <a:endParaRPr sz="1200">
              <a:solidFill>
                <a:schemeClr val="dk1"/>
              </a:solidFill>
              <a:latin typeface="Calibri"/>
              <a:ea typeface="Calibri"/>
              <a:cs typeface="Calibri"/>
              <a:sym typeface="Calibri"/>
            </a:endParaRPr>
          </a:p>
        </p:txBody>
      </p:sp>
      <p:pic>
        <p:nvPicPr>
          <p:cNvPr id="68" name="Google Shape;68;p1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39700" y="1092125"/>
            <a:ext cx="4540149" cy="4031131"/>
          </a:xfrm>
          <a:prstGeom prst="rect">
            <a:avLst/>
          </a:prstGeom>
          <a:noFill/>
          <a:ln w="9525" cap="flat" cmpd="sng">
            <a:solidFill>
              <a:srgbClr val="FF0000"/>
            </a:solidFill>
            <a:prstDash val="solid"/>
            <a:round/>
            <a:headEnd type="none" w="sm" len="sm"/>
            <a:tailEnd type="none" w="sm" len="sm"/>
          </a:ln>
        </p:spPr>
      </p:pic>
      <p:sp>
        <p:nvSpPr>
          <p:cNvPr id="69" name="Google Shape;69;p15"/>
          <p:cNvSpPr/>
          <p:nvPr/>
        </p:nvSpPr>
        <p:spPr>
          <a:xfrm>
            <a:off x="675902" y="1986653"/>
            <a:ext cx="1134900" cy="313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p:nvPr/>
        </p:nvSpPr>
        <p:spPr>
          <a:xfrm>
            <a:off x="76200" y="499525"/>
            <a:ext cx="4383300" cy="1533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Clr>
                <a:schemeClr val="dk1"/>
              </a:buClr>
              <a:buSzPts val="1100"/>
              <a:buFont typeface="Arial"/>
              <a:buNone/>
            </a:pPr>
            <a:r>
              <a:rPr lang="en" sz="1200">
                <a:solidFill>
                  <a:srgbClr val="3C78D8"/>
                </a:solidFill>
                <a:latin typeface="Roboto Mono"/>
                <a:ea typeface="Roboto Mono"/>
                <a:cs typeface="Roboto Mono"/>
                <a:sym typeface="Roboto Mono"/>
              </a:rPr>
              <a:t>ollama run llama3</a:t>
            </a:r>
            <a:endParaRPr sz="1200">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3C78D8"/>
                </a:solidFill>
                <a:latin typeface="Roboto Mono"/>
                <a:ea typeface="Roboto Mono"/>
                <a:cs typeface="Roboto Mono"/>
                <a:sym typeface="Roboto Mono"/>
              </a:rPr>
              <a:t>ollama run llama3:70b</a:t>
            </a:r>
            <a:endParaRPr sz="1200">
              <a:solidFill>
                <a:srgbClr val="3C78D8"/>
              </a:solidFill>
              <a:latin typeface="Roboto Mono"/>
              <a:ea typeface="Roboto Mono"/>
              <a:cs typeface="Roboto Mono"/>
              <a:sym typeface="Roboto Mono"/>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If you need to update ollama on a Mac, first stop it by running this command: </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a:t>
            </a:r>
            <a:r>
              <a:rPr lang="en" sz="1200">
                <a:solidFill>
                  <a:srgbClr val="3C78D8"/>
                </a:solidFill>
                <a:latin typeface="Roboto Mono"/>
                <a:ea typeface="Roboto Mono"/>
                <a:cs typeface="Roboto Mono"/>
                <a:sym typeface="Roboto Mono"/>
              </a:rPr>
              <a:t>sudo pkill -9 ollama Ollama</a:t>
            </a:r>
            <a:endParaRPr sz="1200">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200">
                <a:solidFill>
                  <a:schemeClr val="dk1"/>
                </a:solidFill>
                <a:latin typeface="Calibri"/>
                <a:ea typeface="Calibri"/>
                <a:cs typeface="Calibri"/>
                <a:sym typeface="Calibri"/>
              </a:rPr>
              <a:t>Then copy the newly downloaded app into Applications,</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and then double-click on it in Finder to start the service</a:t>
            </a:r>
            <a:endParaRPr sz="1200">
              <a:solidFill>
                <a:srgbClr val="3C78D8"/>
              </a:solidFill>
              <a:latin typeface="Roboto Mono"/>
              <a:ea typeface="Roboto Mono"/>
              <a:cs typeface="Roboto Mono"/>
              <a:sym typeface="Roboto Mono"/>
            </a:endParaRPr>
          </a:p>
        </p:txBody>
      </p:sp>
      <p:sp>
        <p:nvSpPr>
          <p:cNvPr id="75" name="Google Shape;75;p16"/>
          <p:cNvSpPr txBox="1"/>
          <p:nvPr/>
        </p:nvSpPr>
        <p:spPr>
          <a:xfrm>
            <a:off x="76200" y="76200"/>
            <a:ext cx="2796900" cy="2955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800" b="1">
                <a:solidFill>
                  <a:srgbClr val="0F1419"/>
                </a:solidFill>
                <a:highlight>
                  <a:srgbClr val="FFFFFF"/>
                </a:highlight>
                <a:latin typeface="Calibri"/>
                <a:ea typeface="Calibri"/>
                <a:cs typeface="Calibri"/>
                <a:sym typeface="Calibri"/>
              </a:rPr>
              <a:t>Llama-3  Updates</a:t>
            </a:r>
            <a:endParaRPr sz="1800" b="1">
              <a:latin typeface="Calibri"/>
              <a:ea typeface="Calibri"/>
              <a:cs typeface="Calibri"/>
              <a:sym typeface="Calibri"/>
            </a:endParaRPr>
          </a:p>
        </p:txBody>
      </p:sp>
      <p:sp>
        <p:nvSpPr>
          <p:cNvPr id="76" name="Google Shape;76;p16"/>
          <p:cNvSpPr txBox="1"/>
          <p:nvPr/>
        </p:nvSpPr>
        <p:spPr>
          <a:xfrm>
            <a:off x="76200" y="2160350"/>
            <a:ext cx="3727200" cy="2118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Eric Hartford is working on fine-tuning Llama3 to make it uncensored using Dolphin dataset:</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https://huggingface.co/cognitivecomputations/dolphin-2.9-llama3-8b</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Dolphin-2.9-llama3-8b</a:t>
            </a:r>
            <a:endParaRPr sz="1300" b="1">
              <a:solidFill>
                <a:srgbClr val="FF0000"/>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4"/>
              </a:rPr>
              <a:t>https://ollama.com/library/dolphin-llama3</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rgbClr val="3C78D8"/>
                </a:solidFill>
                <a:latin typeface="Roboto Mono"/>
                <a:ea typeface="Roboto Mono"/>
                <a:cs typeface="Roboto Mono"/>
                <a:sym typeface="Roboto Mono"/>
              </a:rPr>
              <a:t>ollama run dolphin-llama3</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Dolphin-2.9-llama3-70b</a:t>
            </a:r>
            <a:r>
              <a:rPr lang="en" sz="1300">
                <a:solidFill>
                  <a:schemeClr val="dk1"/>
                </a:solidFill>
                <a:latin typeface="Calibri"/>
                <a:ea typeface="Calibri"/>
                <a:cs typeface="Calibri"/>
                <a:sym typeface="Calibri"/>
              </a:rPr>
              <a:t> </a:t>
            </a:r>
            <a:br>
              <a:rPr lang="en" sz="1300">
                <a:solidFill>
                  <a:schemeClr val="dk1"/>
                </a:solidFill>
                <a:latin typeface="Calibri"/>
                <a:ea typeface="Calibri"/>
                <a:cs typeface="Calibri"/>
                <a:sym typeface="Calibri"/>
              </a:rPr>
            </a:br>
            <a:r>
              <a:rPr lang="en" sz="1000" u="sng">
                <a:solidFill>
                  <a:schemeClr val="hlink"/>
                </a:solidFill>
                <a:latin typeface="Calibri"/>
                <a:ea typeface="Calibri"/>
                <a:cs typeface="Calibri"/>
                <a:sym typeface="Calibri"/>
                <a:hlinkClick r:id="rId5"/>
              </a:rPr>
              <a:t>https://huggingface.co/cognitivecomputations/dolphin-2.9-llama3-70b</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pic>
        <p:nvPicPr>
          <p:cNvPr id="77" name="Google Shape;77;p16"/>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3328125" y="2853200"/>
            <a:ext cx="1131374" cy="1131374"/>
          </a:xfrm>
          <a:prstGeom prst="rect">
            <a:avLst/>
          </a:prstGeom>
          <a:noFill/>
          <a:ln>
            <a:noFill/>
          </a:ln>
        </p:spPr>
      </p:pic>
      <p:pic>
        <p:nvPicPr>
          <p:cNvPr id="78" name="Google Shape;78;p16"/>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5635775" y="0"/>
            <a:ext cx="3508224" cy="2257576"/>
          </a:xfrm>
          <a:prstGeom prst="rect">
            <a:avLst/>
          </a:prstGeom>
          <a:noFill/>
          <a:ln>
            <a:noFill/>
          </a:ln>
        </p:spPr>
      </p:pic>
      <p:sp>
        <p:nvSpPr>
          <p:cNvPr id="79" name="Google Shape;79;p16"/>
          <p:cNvSpPr txBox="1"/>
          <p:nvPr/>
        </p:nvSpPr>
        <p:spPr>
          <a:xfrm>
            <a:off x="5115575" y="2257575"/>
            <a:ext cx="3463800" cy="4803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rPr>
              <a:t>Llama3 is # 1 for English only</a:t>
            </a:r>
            <a:endParaRPr sz="1200" b="1">
              <a:solidFill>
                <a:srgbClr val="FF0000"/>
              </a:solidFill>
            </a:endParaRPr>
          </a:p>
          <a:p>
            <a:pPr marL="0" lvl="0" indent="0" algn="l" rtl="0">
              <a:spcBef>
                <a:spcPts val="0"/>
              </a:spcBef>
              <a:spcAft>
                <a:spcPts val="0"/>
              </a:spcAft>
              <a:buNone/>
            </a:pPr>
            <a:r>
              <a:rPr lang="en" sz="900" u="sng">
                <a:solidFill>
                  <a:schemeClr val="hlink"/>
                </a:solidFill>
                <a:hlinkClick r:id="rId8"/>
              </a:rPr>
              <a:t>https://twitter.com/soumithchintala/status/1782517116127654124</a:t>
            </a:r>
            <a:r>
              <a:rPr lang="en" sz="900">
                <a:solidFill>
                  <a:schemeClr val="dk1"/>
                </a:solidFill>
              </a:rPr>
              <a:t> </a:t>
            </a:r>
            <a:endParaRPr sz="900">
              <a:solidFill>
                <a:schemeClr val="dk1"/>
              </a:solidFill>
            </a:endParaRPr>
          </a:p>
          <a:p>
            <a:pPr marL="0" lvl="0" indent="0" algn="l" rtl="0">
              <a:spcBef>
                <a:spcPts val="0"/>
              </a:spcBef>
              <a:spcAft>
                <a:spcPts val="0"/>
              </a:spcAft>
              <a:buNone/>
            </a:pPr>
            <a:r>
              <a:rPr lang="en" sz="900" u="sng">
                <a:solidFill>
                  <a:schemeClr val="hlink"/>
                </a:solidFill>
                <a:hlinkClick r:id="rId9"/>
              </a:rPr>
              <a:t>https://chat.lmsys.org/?leaderboard</a:t>
            </a:r>
            <a:r>
              <a:rPr lang="en" sz="900">
                <a:solidFill>
                  <a:schemeClr val="dk1"/>
                </a:solidFill>
              </a:rPr>
              <a:t>  </a:t>
            </a:r>
            <a:endParaRPr sz="900">
              <a:solidFill>
                <a:schemeClr val="dk1"/>
              </a:solidFill>
            </a:endParaRPr>
          </a:p>
        </p:txBody>
      </p:sp>
      <p:pic>
        <p:nvPicPr>
          <p:cNvPr id="80" name="Google Shape;80;p16"/>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5457821" y="2759159"/>
            <a:ext cx="3365927" cy="23337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7"/>
          <p:cNvSpPr txBox="1"/>
          <p:nvPr/>
        </p:nvSpPr>
        <p:spPr>
          <a:xfrm>
            <a:off x="4694172" y="52350"/>
            <a:ext cx="2343900" cy="5496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150">
                <a:solidFill>
                  <a:srgbClr val="1F2937"/>
                </a:solidFill>
                <a:highlight>
                  <a:srgbClr val="FFFFFF"/>
                </a:highlight>
              </a:rPr>
              <a:t>Total #models: 90.	</a:t>
            </a:r>
            <a:endParaRPr sz="1150">
              <a:solidFill>
                <a:srgbClr val="1F2937"/>
              </a:solidFill>
              <a:highlight>
                <a:srgbClr val="FFFFFF"/>
              </a:highlight>
            </a:endParaRPr>
          </a:p>
          <a:p>
            <a:pPr marL="0" marR="0" lvl="0" indent="0" algn="l" rtl="0">
              <a:lnSpc>
                <a:spcPct val="100000"/>
              </a:lnSpc>
              <a:spcBef>
                <a:spcPts val="0"/>
              </a:spcBef>
              <a:spcAft>
                <a:spcPts val="0"/>
              </a:spcAft>
              <a:buClr>
                <a:schemeClr val="dk1"/>
              </a:buClr>
              <a:buSzPts val="1100"/>
              <a:buFont typeface="Arial"/>
              <a:buNone/>
            </a:pPr>
            <a:r>
              <a:rPr lang="en" sz="1150">
                <a:solidFill>
                  <a:srgbClr val="1F2937"/>
                </a:solidFill>
                <a:highlight>
                  <a:srgbClr val="FFFFFF"/>
                </a:highlight>
              </a:rPr>
              <a:t>Total #votes: 772,779.	</a:t>
            </a:r>
            <a:endParaRPr sz="1150">
              <a:solidFill>
                <a:srgbClr val="1F2937"/>
              </a:solidFill>
              <a:highlight>
                <a:srgbClr val="FFFFFF"/>
              </a:highlight>
            </a:endParaRPr>
          </a:p>
          <a:p>
            <a:pPr marL="0" marR="0" lvl="0" indent="0" algn="l" rtl="0">
              <a:lnSpc>
                <a:spcPct val="100000"/>
              </a:lnSpc>
              <a:spcBef>
                <a:spcPts val="0"/>
              </a:spcBef>
              <a:spcAft>
                <a:spcPts val="0"/>
              </a:spcAft>
              <a:buClr>
                <a:schemeClr val="dk1"/>
              </a:buClr>
              <a:buSzPts val="1100"/>
              <a:buFont typeface="Arial"/>
              <a:buNone/>
            </a:pPr>
            <a:r>
              <a:rPr lang="en" sz="1150">
                <a:solidFill>
                  <a:srgbClr val="1F2937"/>
                </a:solidFill>
                <a:highlight>
                  <a:srgbClr val="FFFFFF"/>
                </a:highlight>
              </a:rPr>
              <a:t>Last updated: April 22, 2024</a:t>
            </a:r>
            <a:endParaRPr sz="1300" b="1">
              <a:solidFill>
                <a:srgbClr val="FF0000"/>
              </a:solidFill>
              <a:latin typeface="Calibri"/>
              <a:ea typeface="Calibri"/>
              <a:cs typeface="Calibri"/>
              <a:sym typeface="Calibri"/>
            </a:endParaRPr>
          </a:p>
        </p:txBody>
      </p:sp>
      <p:sp>
        <p:nvSpPr>
          <p:cNvPr id="86" name="Google Shape;86;p17"/>
          <p:cNvSpPr txBox="1"/>
          <p:nvPr/>
        </p:nvSpPr>
        <p:spPr>
          <a:xfrm>
            <a:off x="7261325" y="52350"/>
            <a:ext cx="18315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95% CI = Confidence Interval</a:t>
            </a:r>
            <a:endParaRPr sz="1200" b="0" i="0" u="none" strike="noStrike" cap="none">
              <a:solidFill>
                <a:schemeClr val="dk1"/>
              </a:solidFill>
              <a:latin typeface="Calibri"/>
              <a:ea typeface="Calibri"/>
              <a:cs typeface="Calibri"/>
              <a:sym typeface="Calibri"/>
            </a:endParaRPr>
          </a:p>
        </p:txBody>
      </p:sp>
      <p:sp>
        <p:nvSpPr>
          <p:cNvPr id="87" name="Google Shape;87;p17"/>
          <p:cNvSpPr txBox="1"/>
          <p:nvPr/>
        </p:nvSpPr>
        <p:spPr>
          <a:xfrm>
            <a:off x="-38048" y="-108050"/>
            <a:ext cx="4151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Crowd-sourced "Arena" Leaderboard</a:t>
            </a:r>
            <a:endParaRPr sz="2000" b="1" i="0" u="none" strike="noStrike" cap="none">
              <a:solidFill>
                <a:srgbClr val="000000"/>
              </a:solidFill>
              <a:latin typeface="Calibri"/>
              <a:ea typeface="Calibri"/>
              <a:cs typeface="Calibri"/>
              <a:sym typeface="Calibri"/>
            </a:endParaRPr>
          </a:p>
        </p:txBody>
      </p:sp>
      <p:sp>
        <p:nvSpPr>
          <p:cNvPr id="88" name="Google Shape;88;p17"/>
          <p:cNvSpPr txBox="1"/>
          <p:nvPr/>
        </p:nvSpPr>
        <p:spPr>
          <a:xfrm>
            <a:off x="0" y="157800"/>
            <a:ext cx="20769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3"/>
              </a:rPr>
              <a:t>https://chat.lmsys.org/?leaderboard</a:t>
            </a:r>
            <a:r>
              <a:rPr lang="en" sz="1000">
                <a:solidFill>
                  <a:schemeClr val="dk1"/>
                </a:solidFill>
                <a:latin typeface="Calibri"/>
                <a:ea typeface="Calibri"/>
                <a:cs typeface="Calibri"/>
                <a:sym typeface="Calibri"/>
              </a:rPr>
              <a:t> </a:t>
            </a:r>
            <a:r>
              <a:rPr lang="en" sz="1000" b="0" i="0" u="none" strike="noStrike" cap="none">
                <a:solidFill>
                  <a:schemeClr val="dk1"/>
                </a:solidFill>
                <a:latin typeface="Calibri"/>
                <a:ea typeface="Calibri"/>
                <a:cs typeface="Calibri"/>
                <a:sym typeface="Calibri"/>
              </a:rPr>
              <a:t> </a:t>
            </a:r>
            <a:endParaRPr sz="1000" b="0" i="0" u="none" strike="noStrike" cap="none">
              <a:solidFill>
                <a:schemeClr val="dk1"/>
              </a:solidFill>
              <a:latin typeface="Calibri"/>
              <a:ea typeface="Calibri"/>
              <a:cs typeface="Calibri"/>
              <a:sym typeface="Calibri"/>
            </a:endParaRPr>
          </a:p>
        </p:txBody>
      </p:sp>
      <p:pic>
        <p:nvPicPr>
          <p:cNvPr id="89" name="Google Shape;89;p1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0050" y="440250"/>
            <a:ext cx="3865376" cy="2424899"/>
          </a:xfrm>
          <a:prstGeom prst="rect">
            <a:avLst/>
          </a:prstGeom>
          <a:noFill/>
          <a:ln>
            <a:noFill/>
          </a:ln>
        </p:spPr>
      </p:pic>
      <p:pic>
        <p:nvPicPr>
          <p:cNvPr id="90" name="Google Shape;90;p17"/>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70050" y="2875100"/>
            <a:ext cx="3865376" cy="2123663"/>
          </a:xfrm>
          <a:prstGeom prst="rect">
            <a:avLst/>
          </a:prstGeom>
          <a:noFill/>
          <a:ln>
            <a:noFill/>
          </a:ln>
        </p:spPr>
      </p:pic>
      <p:pic>
        <p:nvPicPr>
          <p:cNvPr id="91" name="Google Shape;91;p17"/>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499675" y="805450"/>
            <a:ext cx="3865376" cy="2373789"/>
          </a:xfrm>
          <a:prstGeom prst="rect">
            <a:avLst/>
          </a:prstGeom>
          <a:noFill/>
          <a:ln>
            <a:noFill/>
          </a:ln>
        </p:spPr>
      </p:pic>
      <p:sp>
        <p:nvSpPr>
          <p:cNvPr id="92" name="Google Shape;92;p17"/>
          <p:cNvSpPr txBox="1"/>
          <p:nvPr/>
        </p:nvSpPr>
        <p:spPr>
          <a:xfrm>
            <a:off x="4499675" y="3591025"/>
            <a:ext cx="45519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This is for English-only queries.</a:t>
            </a:r>
            <a:endParaRPr sz="1200" b="1">
              <a:solidFill>
                <a:srgbClr val="FF0000"/>
              </a:solidFill>
              <a:latin typeface="Calibri"/>
              <a:ea typeface="Calibri"/>
              <a:cs typeface="Calibri"/>
              <a:sym typeface="Calibri"/>
            </a:endParaRPr>
          </a:p>
          <a:p>
            <a:pPr marL="228600" marR="0" lvl="0" indent="-19050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Llama3-70B and GPT-4-Turbo-2024-04-09 share 1st place</a:t>
            </a:r>
            <a:endParaRPr sz="1200">
              <a:solidFill>
                <a:schemeClr val="dk1"/>
              </a:solidFill>
              <a:latin typeface="Calibri"/>
              <a:ea typeface="Calibri"/>
              <a:cs typeface="Calibri"/>
              <a:sym typeface="Calibri"/>
            </a:endParaRPr>
          </a:p>
          <a:p>
            <a:pPr marL="228600" marR="0" lvl="0" indent="-19050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Gemini-Pro and Claude3-Opus are also good.</a:t>
            </a:r>
            <a:endParaRPr sz="1200">
              <a:solidFill>
                <a:schemeClr val="dk1"/>
              </a:solidFill>
              <a:latin typeface="Calibri"/>
              <a:ea typeface="Calibri"/>
              <a:cs typeface="Calibri"/>
              <a:sym typeface="Calibri"/>
            </a:endParaRPr>
          </a:p>
          <a:p>
            <a:pPr marL="228600" marR="0" lvl="0" indent="-19050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Llama3-8B does exceptionally well - even better than Mixtral-8x22B</a:t>
            </a:r>
            <a:endParaRPr sz="1200">
              <a:solidFill>
                <a:schemeClr val="dk1"/>
              </a:solidFill>
              <a:latin typeface="Calibri"/>
              <a:ea typeface="Calibri"/>
              <a:cs typeface="Calibri"/>
              <a:sym typeface="Calibri"/>
            </a:endParaRPr>
          </a:p>
          <a:p>
            <a:pPr marL="228600" marR="0" lvl="0" indent="-19050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GPT-3.5-Turbo-0613 is on 27th place</a:t>
            </a:r>
            <a:endParaRPr sz="1200">
              <a:solidFill>
                <a:schemeClr val="dk1"/>
              </a:solidFill>
              <a:latin typeface="Calibri"/>
              <a:ea typeface="Calibri"/>
              <a:cs typeface="Calibri"/>
              <a:sym typeface="Calibri"/>
            </a:endParaRPr>
          </a:p>
        </p:txBody>
      </p:sp>
      <p:sp>
        <p:nvSpPr>
          <p:cNvPr id="93" name="Google Shape;93;p17"/>
          <p:cNvSpPr/>
          <p:nvPr/>
        </p:nvSpPr>
        <p:spPr>
          <a:xfrm>
            <a:off x="611700" y="833486"/>
            <a:ext cx="125400" cy="1254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4" name="Google Shape;94;p17"/>
          <p:cNvSpPr/>
          <p:nvPr/>
        </p:nvSpPr>
        <p:spPr>
          <a:xfrm>
            <a:off x="611700" y="2265602"/>
            <a:ext cx="125400" cy="1254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5" name="Google Shape;95;p17"/>
          <p:cNvSpPr/>
          <p:nvPr/>
        </p:nvSpPr>
        <p:spPr>
          <a:xfrm>
            <a:off x="611700" y="3180002"/>
            <a:ext cx="125400" cy="1254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6" name="Google Shape;96;p17"/>
          <p:cNvSpPr/>
          <p:nvPr/>
        </p:nvSpPr>
        <p:spPr>
          <a:xfrm>
            <a:off x="611700" y="3942002"/>
            <a:ext cx="125400" cy="1254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7" name="Google Shape;97;p17"/>
          <p:cNvSpPr/>
          <p:nvPr/>
        </p:nvSpPr>
        <p:spPr>
          <a:xfrm>
            <a:off x="611700" y="2890886"/>
            <a:ext cx="125400" cy="1254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8" name="Google Shape;98;p17"/>
          <p:cNvSpPr/>
          <p:nvPr/>
        </p:nvSpPr>
        <p:spPr>
          <a:xfrm>
            <a:off x="611700" y="4377897"/>
            <a:ext cx="125400" cy="1254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9" name="Google Shape;99;p17"/>
          <p:cNvSpPr/>
          <p:nvPr/>
        </p:nvSpPr>
        <p:spPr>
          <a:xfrm>
            <a:off x="5031300" y="765128"/>
            <a:ext cx="125400" cy="1254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0" name="Google Shape;100;p17"/>
          <p:cNvSpPr/>
          <p:nvPr/>
        </p:nvSpPr>
        <p:spPr>
          <a:xfrm>
            <a:off x="5031300" y="917528"/>
            <a:ext cx="125400" cy="1254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1" name="Google Shape;101;p17"/>
          <p:cNvSpPr/>
          <p:nvPr/>
        </p:nvSpPr>
        <p:spPr>
          <a:xfrm>
            <a:off x="5031300" y="1222328"/>
            <a:ext cx="125400" cy="1254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2" name="Google Shape;102;p17"/>
          <p:cNvSpPr/>
          <p:nvPr/>
        </p:nvSpPr>
        <p:spPr>
          <a:xfrm>
            <a:off x="5031300" y="1490139"/>
            <a:ext cx="125400" cy="125400"/>
          </a:xfrm>
          <a:prstGeom prst="ellipse">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3" name="Google Shape;103;p17"/>
          <p:cNvSpPr/>
          <p:nvPr/>
        </p:nvSpPr>
        <p:spPr>
          <a:xfrm>
            <a:off x="5031300" y="2556939"/>
            <a:ext cx="125400" cy="125400"/>
          </a:xfrm>
          <a:prstGeom prst="ellipse">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4" name="Google Shape;104;p17"/>
          <p:cNvSpPr/>
          <p:nvPr/>
        </p:nvSpPr>
        <p:spPr>
          <a:xfrm>
            <a:off x="5031300" y="2709339"/>
            <a:ext cx="125400" cy="125400"/>
          </a:xfrm>
          <a:prstGeom prst="ellipse">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8"/>
          <p:cNvSpPr txBox="1"/>
          <p:nvPr/>
        </p:nvSpPr>
        <p:spPr>
          <a:xfrm>
            <a:off x="76200" y="523025"/>
            <a:ext cx="4393800" cy="3965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Which LLM to use for RAG ?</a:t>
            </a:r>
            <a:br>
              <a:rPr lang="en" sz="1300" b="1">
                <a:solidFill>
                  <a:srgbClr val="FF0000"/>
                </a:solidFill>
                <a:latin typeface="Calibri"/>
                <a:ea typeface="Calibri"/>
                <a:cs typeface="Calibri"/>
                <a:sym typeface="Calibri"/>
              </a:rPr>
            </a:br>
            <a:r>
              <a:rPr lang="en" sz="1300">
                <a:solidFill>
                  <a:schemeClr val="dk1"/>
                </a:solidFill>
                <a:latin typeface="Calibri"/>
                <a:ea typeface="Calibri"/>
                <a:cs typeface="Calibri"/>
                <a:sym typeface="Calibri"/>
              </a:rPr>
              <a:t>In the Fall of 2023 a Bank started implementing a </a:t>
            </a:r>
            <a:r>
              <a:rPr lang="en" sz="1300" b="1">
                <a:solidFill>
                  <a:srgbClr val="3C78D8"/>
                </a:solidFill>
                <a:latin typeface="Calibri"/>
                <a:ea typeface="Calibri"/>
                <a:cs typeface="Calibri"/>
                <a:sym typeface="Calibri"/>
              </a:rPr>
              <a:t>RAG Chatbot</a:t>
            </a:r>
            <a:r>
              <a:rPr lang="en" sz="1300">
                <a:solidFill>
                  <a:schemeClr val="dk1"/>
                </a:solidFill>
                <a:latin typeface="Calibri"/>
                <a:ea typeface="Calibri"/>
                <a:cs typeface="Calibri"/>
                <a:sym typeface="Calibri"/>
              </a:rPr>
              <a:t>.</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They have selected </a:t>
            </a:r>
            <a:r>
              <a:rPr lang="en" sz="1300" b="1">
                <a:solidFill>
                  <a:srgbClr val="FF0000"/>
                </a:solidFill>
                <a:latin typeface="Calibri"/>
                <a:ea typeface="Calibri"/>
                <a:cs typeface="Calibri"/>
                <a:sym typeface="Calibri"/>
              </a:rPr>
              <a:t>Azure OpenAI GPT-3.5-Turbo</a:t>
            </a:r>
            <a:r>
              <a:rPr lang="en" sz="1300">
                <a:solidFill>
                  <a:schemeClr val="dk1"/>
                </a:solidFill>
                <a:latin typeface="Calibri"/>
                <a:ea typeface="Calibri"/>
                <a:cs typeface="Calibri"/>
                <a:sym typeface="Calibri"/>
              </a:rPr>
              <a:t> which was good choice at the time - reasonably good, inexpensive, fast (~2 sec response time).</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But today just a half a year later (Spring 2024), there are much better choices. For example, open-source </a:t>
            </a:r>
            <a:r>
              <a:rPr lang="en" sz="1300" b="1">
                <a:solidFill>
                  <a:srgbClr val="FF0000"/>
                </a:solidFill>
                <a:latin typeface="Calibri"/>
                <a:ea typeface="Calibri"/>
                <a:cs typeface="Calibri"/>
                <a:sym typeface="Calibri"/>
              </a:rPr>
              <a:t>Llama3-8B or Mixtral 8x22B</a:t>
            </a:r>
            <a:r>
              <a:rPr lang="en" sz="1300">
                <a:solidFill>
                  <a:schemeClr val="dk1"/>
                </a:solidFill>
                <a:latin typeface="Calibri"/>
                <a:ea typeface="Calibri"/>
                <a:cs typeface="Calibri"/>
                <a:sym typeface="Calibri"/>
              </a:rPr>
              <a:t>.</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And you can run them on </a:t>
            </a:r>
            <a:r>
              <a:rPr lang="en" sz="1300" u="sng">
                <a:solidFill>
                  <a:schemeClr val="hlink"/>
                </a:solidFill>
                <a:latin typeface="Calibri"/>
                <a:ea typeface="Calibri"/>
                <a:cs typeface="Calibri"/>
                <a:sym typeface="Calibri"/>
                <a:hlinkClick r:id="rId3"/>
              </a:rPr>
              <a:t>https://groq.com</a:t>
            </a:r>
            <a:r>
              <a:rPr lang="en" sz="1300">
                <a:solidFill>
                  <a:schemeClr val="dk1"/>
                </a:solidFill>
                <a:latin typeface="Calibri"/>
                <a:ea typeface="Calibri"/>
                <a:cs typeface="Calibri"/>
                <a:sym typeface="Calibri"/>
              </a:rPr>
              <a:t>  with amazing speed.</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For example, I asked "write python code for a snake game".</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Total inference time is 1.11 sec:</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                    Input    Output    Total</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Speed (T/s)          1571      887      900</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Tokens                 33      965      998</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3C78D8"/>
                </a:solidFill>
                <a:latin typeface="Roboto Mono"/>
                <a:ea typeface="Roboto Mono"/>
                <a:cs typeface="Roboto Mono"/>
                <a:sym typeface="Roboto Mono"/>
              </a:rPr>
              <a:t>Inference Time (s)   0.02     1.09     1.11</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So: better, faster, cheaper, open source, customizable</a:t>
            </a:r>
            <a:endParaRPr sz="1300">
              <a:solidFill>
                <a:schemeClr val="dk1"/>
              </a:solidFill>
              <a:latin typeface="Calibri"/>
              <a:ea typeface="Calibri"/>
              <a:cs typeface="Calibri"/>
              <a:sym typeface="Calibri"/>
            </a:endParaRPr>
          </a:p>
        </p:txBody>
      </p:sp>
      <p:sp>
        <p:nvSpPr>
          <p:cNvPr id="110" name="Google Shape;110;p18"/>
          <p:cNvSpPr txBox="1"/>
          <p:nvPr/>
        </p:nvSpPr>
        <p:spPr>
          <a:xfrm>
            <a:off x="76200" y="76200"/>
            <a:ext cx="4770300" cy="2955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800" b="1">
                <a:solidFill>
                  <a:srgbClr val="0F1419"/>
                </a:solidFill>
                <a:highlight>
                  <a:srgbClr val="FFFFFF"/>
                </a:highlight>
                <a:latin typeface="Calibri"/>
                <a:ea typeface="Calibri"/>
                <a:cs typeface="Calibri"/>
                <a:sym typeface="Calibri"/>
              </a:rPr>
              <a:t>Huge progress in LLMs in last 6 months</a:t>
            </a:r>
            <a:endParaRPr sz="1800" b="1">
              <a:latin typeface="Calibri"/>
              <a:ea typeface="Calibri"/>
              <a:cs typeface="Calibri"/>
              <a:sym typeface="Calibri"/>
            </a:endParaRPr>
          </a:p>
        </p:txBody>
      </p:sp>
      <p:pic>
        <p:nvPicPr>
          <p:cNvPr id="111" name="Google Shape;111;p1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22400" y="1077775"/>
            <a:ext cx="4369201" cy="18076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9"/>
          <p:cNvSpPr txBox="1"/>
          <p:nvPr/>
        </p:nvSpPr>
        <p:spPr>
          <a:xfrm>
            <a:off x="76200" y="76200"/>
            <a:ext cx="769800" cy="2955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800" b="1">
                <a:solidFill>
                  <a:srgbClr val="0F1419"/>
                </a:solidFill>
                <a:highlight>
                  <a:srgbClr val="FFFFFF"/>
                </a:highlight>
                <a:latin typeface="Calibri"/>
                <a:ea typeface="Calibri"/>
                <a:cs typeface="Calibri"/>
                <a:sym typeface="Calibri"/>
              </a:rPr>
              <a:t>Phi-3</a:t>
            </a:r>
            <a:endParaRPr sz="1800" b="1">
              <a:latin typeface="Calibri"/>
              <a:ea typeface="Calibri"/>
              <a:cs typeface="Calibri"/>
              <a:sym typeface="Calibri"/>
            </a:endParaRPr>
          </a:p>
        </p:txBody>
      </p:sp>
      <p:sp>
        <p:nvSpPr>
          <p:cNvPr id="117" name="Google Shape;117;p19"/>
          <p:cNvSpPr txBox="1"/>
          <p:nvPr/>
        </p:nvSpPr>
        <p:spPr>
          <a:xfrm>
            <a:off x="76200" y="482775"/>
            <a:ext cx="1857300" cy="3318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200">
                <a:solidFill>
                  <a:schemeClr val="dk1"/>
                </a:solidFill>
                <a:latin typeface="Calibri"/>
                <a:ea typeface="Calibri"/>
                <a:cs typeface="Calibri"/>
                <a:sym typeface="Calibri"/>
              </a:rPr>
              <a:t>Microsoft Phi-3: An Open LLM That Fits on Your Phone</a:t>
            </a:r>
            <a:endParaRPr sz="1200">
              <a:solidFill>
                <a:schemeClr val="dk1"/>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3"/>
              </a:rPr>
              <a:t>https://news.microsoft.com/source/features/ai/the-phi-3-small-language-models-with-big-potential/</a:t>
            </a:r>
            <a:endParaRPr sz="1000">
              <a:solidFill>
                <a:schemeClr val="dk1"/>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https://huggingface.co/collections/microsoft/phi-3-6626e15e9585a200d2d761e3</a:t>
            </a:r>
            <a:endParaRPr sz="1000">
              <a:solidFill>
                <a:schemeClr val="dk1"/>
              </a:solidFill>
              <a:latin typeface="Calibri"/>
              <a:ea typeface="Calibri"/>
              <a:cs typeface="Calibri"/>
              <a:sym typeface="Calibri"/>
            </a:endParaRPr>
          </a:p>
          <a:p>
            <a:pPr marL="0" lvl="0" indent="0" algn="l" rtl="0">
              <a:spcBef>
                <a:spcPts val="0"/>
              </a:spcBef>
              <a:spcAft>
                <a:spcPts val="0"/>
              </a:spcAft>
              <a:buNone/>
            </a:pPr>
            <a:endParaRPr sz="10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Available on Azure, Hugging Face, Ollama, ...</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Phi-3-mini (3.8B)</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Phi-3-small (7B) </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Phi-3-medium (14B) </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mini: 69% on the MMLU, 8.38 on MT-bench, on par with larger models such as Mixtral 8x7B and GPT-3.5.</a:t>
            </a:r>
            <a:endParaRPr sz="1200">
              <a:solidFill>
                <a:schemeClr val="dk1"/>
              </a:solidFill>
              <a:latin typeface="Calibri"/>
              <a:ea typeface="Calibri"/>
              <a:cs typeface="Calibri"/>
              <a:sym typeface="Calibri"/>
            </a:endParaRPr>
          </a:p>
        </p:txBody>
      </p:sp>
      <p:pic>
        <p:nvPicPr>
          <p:cNvPr id="118" name="Google Shape;118;p1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2006100" y="76200"/>
            <a:ext cx="7082175" cy="4989228"/>
          </a:xfrm>
          <a:prstGeom prst="rect">
            <a:avLst/>
          </a:prstGeom>
          <a:noFill/>
          <a:ln w="9525" cap="flat" cmpd="sng">
            <a:solidFill>
              <a:srgbClr val="FF0000"/>
            </a:solidFill>
            <a:prstDash val="solid"/>
            <a:round/>
            <a:headEnd type="none" w="sm" len="sm"/>
            <a:tailEnd type="none" w="sm" len="sm"/>
          </a:ln>
        </p:spPr>
      </p:pic>
      <p:pic>
        <p:nvPicPr>
          <p:cNvPr id="119" name="Google Shape;119;p19"/>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76200" y="3947850"/>
            <a:ext cx="1857300" cy="111756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0"/>
          <p:cNvSpPr txBox="1"/>
          <p:nvPr/>
        </p:nvSpPr>
        <p:spPr>
          <a:xfrm>
            <a:off x="76200" y="0"/>
            <a:ext cx="5095500" cy="387900"/>
          </a:xfrm>
          <a:prstGeom prst="rect">
            <a:avLst/>
          </a:prstGeom>
          <a:noFill/>
          <a:ln>
            <a:noFill/>
          </a:ln>
        </p:spPr>
        <p:txBody>
          <a:bodyPr spcFirstLastPara="1" wrap="square" lIns="9125" tIns="9125" rIns="9125" bIns="9125" anchor="t" anchorCtr="0">
            <a:spAutoFit/>
          </a:bodyPr>
          <a:lstStyle/>
          <a:p>
            <a:pPr marL="0" lvl="0" indent="0" algn="l" rtl="0">
              <a:lnSpc>
                <a:spcPct val="115625"/>
              </a:lnSpc>
              <a:spcBef>
                <a:spcPts val="1200"/>
              </a:spcBef>
              <a:spcAft>
                <a:spcPts val="0"/>
              </a:spcAft>
              <a:buNone/>
            </a:pPr>
            <a:r>
              <a:rPr lang="en" sz="2400" b="1">
                <a:solidFill>
                  <a:schemeClr val="dk1"/>
                </a:solidFill>
              </a:rPr>
              <a:t>Snowflake Arctic - for Enterprise</a:t>
            </a:r>
            <a:endParaRPr sz="1800" b="1">
              <a:solidFill>
                <a:srgbClr val="0F1419"/>
              </a:solidFill>
              <a:highlight>
                <a:srgbClr val="FFFFFF"/>
              </a:highlight>
              <a:latin typeface="Calibri"/>
              <a:ea typeface="Calibri"/>
              <a:cs typeface="Calibri"/>
              <a:sym typeface="Calibri"/>
            </a:endParaRPr>
          </a:p>
        </p:txBody>
      </p:sp>
      <p:sp>
        <p:nvSpPr>
          <p:cNvPr id="125" name="Google Shape;125;p20"/>
          <p:cNvSpPr txBox="1"/>
          <p:nvPr/>
        </p:nvSpPr>
        <p:spPr>
          <a:xfrm>
            <a:off x="76200" y="432650"/>
            <a:ext cx="5095500" cy="107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228600" lvl="0" indent="-203200" algn="l" rtl="0">
              <a:spcBef>
                <a:spcPts val="0"/>
              </a:spcBef>
              <a:spcAft>
                <a:spcPts val="0"/>
              </a:spcAft>
              <a:buSzPts val="1400"/>
              <a:buFont typeface="Calibri"/>
              <a:buChar char="●"/>
            </a:pPr>
            <a:r>
              <a:rPr lang="en">
                <a:latin typeface="Calibri"/>
                <a:ea typeface="Calibri"/>
                <a:cs typeface="Calibri"/>
                <a:sym typeface="Calibri"/>
              </a:rPr>
              <a:t>Open-source 480B Dense-MoE - combines a 10B dense transformer with a 128 x 3.66B MoE MLP, 17B active parameters. </a:t>
            </a:r>
            <a:endParaRPr>
              <a:latin typeface="Calibri"/>
              <a:ea typeface="Calibri"/>
              <a:cs typeface="Calibri"/>
              <a:sym typeface="Calibri"/>
            </a:endParaRPr>
          </a:p>
          <a:p>
            <a:pPr marL="228600" lvl="0" indent="-203200" algn="l" rtl="0">
              <a:spcBef>
                <a:spcPts val="0"/>
              </a:spcBef>
              <a:spcAft>
                <a:spcPts val="0"/>
              </a:spcAft>
              <a:buSzPts val="1400"/>
              <a:buFont typeface="Calibri"/>
              <a:buChar char="●"/>
            </a:pPr>
            <a:r>
              <a:rPr lang="en">
                <a:latin typeface="Calibri"/>
                <a:ea typeface="Calibri"/>
                <a:cs typeface="Calibri"/>
                <a:sym typeface="Calibri"/>
              </a:rPr>
              <a:t>Comparable with Llama3-70B, but uses x17 less compute</a:t>
            </a:r>
            <a:endParaRPr>
              <a:latin typeface="Calibri"/>
              <a:ea typeface="Calibri"/>
              <a:cs typeface="Calibri"/>
              <a:sym typeface="Calibri"/>
            </a:endParaRPr>
          </a:p>
          <a:p>
            <a:pPr marL="228600" lvl="0" indent="-203200" algn="l" rtl="0">
              <a:spcBef>
                <a:spcPts val="0"/>
              </a:spcBef>
              <a:spcAft>
                <a:spcPts val="0"/>
              </a:spcAft>
              <a:buSzPts val="1400"/>
              <a:buFont typeface="Calibri"/>
              <a:buChar char="●"/>
            </a:pPr>
            <a:r>
              <a:rPr lang="en">
                <a:latin typeface="Calibri"/>
                <a:ea typeface="Calibri"/>
                <a:cs typeface="Calibri"/>
                <a:sym typeface="Calibri"/>
              </a:rPr>
              <a:t>4K context length</a:t>
            </a:r>
            <a:endParaRPr>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3"/>
              </a:rPr>
              <a:t>https://www.snowflake.com/blog/arctic-open-efficient-foundation-language-models-snowflake/</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pic>
        <p:nvPicPr>
          <p:cNvPr id="126" name="Google Shape;126;p2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230975" y="0"/>
            <a:ext cx="3905751" cy="2393426"/>
          </a:xfrm>
          <a:prstGeom prst="rect">
            <a:avLst/>
          </a:prstGeom>
          <a:noFill/>
          <a:ln>
            <a:noFill/>
          </a:ln>
        </p:spPr>
      </p:pic>
      <p:pic>
        <p:nvPicPr>
          <p:cNvPr id="127" name="Google Shape;127;p20"/>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0" y="1985200"/>
            <a:ext cx="4381501" cy="3134225"/>
          </a:xfrm>
          <a:prstGeom prst="rect">
            <a:avLst/>
          </a:prstGeom>
          <a:noFill/>
          <a:ln w="9525" cap="flat" cmpd="sng">
            <a:solidFill>
              <a:srgbClr val="FF0000"/>
            </a:solidFill>
            <a:prstDash val="solid"/>
            <a:round/>
            <a:headEnd type="none" w="sm" len="sm"/>
            <a:tailEnd type="none" w="sm" len="sm"/>
          </a:ln>
        </p:spPr>
      </p:pic>
      <p:sp>
        <p:nvSpPr>
          <p:cNvPr id="128" name="Google Shape;128;p20"/>
          <p:cNvSpPr txBox="1"/>
          <p:nvPr/>
        </p:nvSpPr>
        <p:spPr>
          <a:xfrm>
            <a:off x="76200" y="1548700"/>
            <a:ext cx="50955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Enterprise intelligence</a:t>
            </a:r>
            <a:r>
              <a:rPr lang="en" sz="1200">
                <a:latin typeface="Calibri"/>
                <a:ea typeface="Calibri"/>
                <a:cs typeface="Calibri"/>
                <a:sym typeface="Calibri"/>
              </a:rPr>
              <a:t> = average of Coding (HumanEval+ and MBPP+), SQL Generation (Spider), and Instruction following (IFEval) vs. Active Parameters</a:t>
            </a:r>
            <a:endParaRPr sz="1200">
              <a:latin typeface="Calibri"/>
              <a:ea typeface="Calibri"/>
              <a:cs typeface="Calibri"/>
              <a:sym typeface="Calibri"/>
            </a:endParaRPr>
          </a:p>
        </p:txBody>
      </p:sp>
      <p:pic>
        <p:nvPicPr>
          <p:cNvPr id="129" name="Google Shape;129;p20"/>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4432325" y="2947475"/>
            <a:ext cx="4649474" cy="21719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1"/>
          <p:cNvSpPr txBox="1"/>
          <p:nvPr/>
        </p:nvSpPr>
        <p:spPr>
          <a:xfrm>
            <a:off x="76200" y="76200"/>
            <a:ext cx="5873700" cy="2955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800" b="1">
                <a:solidFill>
                  <a:srgbClr val="0F1419"/>
                </a:solidFill>
                <a:highlight>
                  <a:srgbClr val="FFFFFF"/>
                </a:highlight>
                <a:latin typeface="Calibri"/>
                <a:ea typeface="Calibri"/>
                <a:cs typeface="Calibri"/>
                <a:sym typeface="Calibri"/>
              </a:rPr>
              <a:t>Apple OpenELM (Open-source Efficient Language Models)-3</a:t>
            </a:r>
            <a:endParaRPr sz="1800" b="1">
              <a:latin typeface="Calibri"/>
              <a:ea typeface="Calibri"/>
              <a:cs typeface="Calibri"/>
              <a:sym typeface="Calibri"/>
            </a:endParaRPr>
          </a:p>
        </p:txBody>
      </p:sp>
      <p:sp>
        <p:nvSpPr>
          <p:cNvPr id="135" name="Google Shape;135;p21"/>
          <p:cNvSpPr txBox="1"/>
          <p:nvPr/>
        </p:nvSpPr>
        <p:spPr>
          <a:xfrm>
            <a:off x="76200" y="482775"/>
            <a:ext cx="5094900" cy="3934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Apple</a:t>
            </a:r>
            <a:r>
              <a:rPr lang="en" sz="1200">
                <a:solidFill>
                  <a:schemeClr val="dk1"/>
                </a:solidFill>
                <a:latin typeface="Calibri"/>
                <a:ea typeface="Calibri"/>
                <a:cs typeface="Calibri"/>
                <a:sym typeface="Calibri"/>
              </a:rPr>
              <a:t> today released several open source large language models (LLMs) that are designed to run </a:t>
            </a:r>
            <a:r>
              <a:rPr lang="en" sz="1200" b="1">
                <a:solidFill>
                  <a:srgbClr val="3C78D8"/>
                </a:solidFill>
                <a:latin typeface="Calibri"/>
                <a:ea typeface="Calibri"/>
                <a:cs typeface="Calibri"/>
                <a:sym typeface="Calibri"/>
              </a:rPr>
              <a:t>on-device</a:t>
            </a:r>
            <a:r>
              <a:rPr lang="en" sz="1200">
                <a:solidFill>
                  <a:schemeClr val="dk1"/>
                </a:solidFill>
                <a:latin typeface="Calibri"/>
                <a:ea typeface="Calibri"/>
                <a:cs typeface="Calibri"/>
                <a:sym typeface="Calibri"/>
              </a:rPr>
              <a:t> rather than through cloud servers (~ 3B params). Called </a:t>
            </a:r>
            <a:r>
              <a:rPr lang="en" sz="1200" b="1">
                <a:solidFill>
                  <a:srgbClr val="FF0000"/>
                </a:solidFill>
                <a:latin typeface="Calibri"/>
                <a:ea typeface="Calibri"/>
                <a:cs typeface="Calibri"/>
                <a:sym typeface="Calibri"/>
              </a:rPr>
              <a:t>OpenELM (Open-source Efficient Language Models)</a:t>
            </a:r>
            <a:r>
              <a:rPr lang="en" sz="1200">
                <a:solidFill>
                  <a:schemeClr val="dk1"/>
                </a:solidFill>
                <a:latin typeface="Calibri"/>
                <a:ea typeface="Calibri"/>
                <a:cs typeface="Calibri"/>
                <a:sym typeface="Calibri"/>
              </a:rPr>
              <a:t>, the LLMs are available on the Hugging Face Hub, a community for sharing AI code.</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OpenELM: An Efficient Language Model Family with Open-source Training and Inference Framework - </a:t>
            </a:r>
            <a:r>
              <a:rPr lang="en" sz="1200" u="sng">
                <a:solidFill>
                  <a:schemeClr val="hlink"/>
                </a:solidFill>
                <a:latin typeface="Calibri"/>
                <a:ea typeface="Calibri"/>
                <a:cs typeface="Calibri"/>
                <a:sym typeface="Calibri"/>
                <a:hlinkClick r:id="rId3"/>
              </a:rPr>
              <a:t>https://arxiv.org/pdf/2404.14619</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There are eight total OpenELM models, four of which were pre-trained using the CoreNet library, and four instruction tuned models. Apple uses a layer-wise scaling strategy that is aimed at improving accuracy and efficiency.</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Apple provided code, training logs, and multiple versions rather than just the final trained model, and the researchers behind the project hope that it will lead to faster progress and "more trustworthy results" in the natural language AI field.</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OpenELM consists of eight models with four different parameter sizes (270M, 450M, 1.1B, and 3B), all trained on public datasets, and slightly outperform comparable open-source models like OLMo.</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Also open-sourced is CoreNet, the library used to train OpenELM — along with models allowing for ‘efficient inference and fine-tuning on Apple devices.’</a:t>
            </a:r>
            <a:endParaRPr sz="1200">
              <a:solidFill>
                <a:schemeClr val="dk1"/>
              </a:solidFill>
              <a:latin typeface="Calibri"/>
              <a:ea typeface="Calibri"/>
              <a:cs typeface="Calibri"/>
              <a:sym typeface="Calibri"/>
            </a:endParaRPr>
          </a:p>
        </p:txBody>
      </p:sp>
      <p:pic>
        <p:nvPicPr>
          <p:cNvPr id="136" name="Google Shape;136;p2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422150" y="482775"/>
            <a:ext cx="3583552" cy="20157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2"/>
          <p:cNvSpPr txBox="1"/>
          <p:nvPr/>
        </p:nvSpPr>
        <p:spPr>
          <a:xfrm>
            <a:off x="76200" y="76200"/>
            <a:ext cx="2796900" cy="2955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800" b="1">
                <a:solidFill>
                  <a:srgbClr val="0F1419"/>
                </a:solidFill>
                <a:highlight>
                  <a:srgbClr val="FFFFFF"/>
                </a:highlight>
                <a:latin typeface="Calibri"/>
                <a:ea typeface="Calibri"/>
                <a:cs typeface="Calibri"/>
                <a:sym typeface="Calibri"/>
              </a:rPr>
              <a:t>SenseChat V5 Beats GPT-4</a:t>
            </a:r>
            <a:endParaRPr sz="1800" b="1">
              <a:latin typeface="Calibri"/>
              <a:ea typeface="Calibri"/>
              <a:cs typeface="Calibri"/>
              <a:sym typeface="Calibri"/>
            </a:endParaRPr>
          </a:p>
        </p:txBody>
      </p:sp>
      <p:sp>
        <p:nvSpPr>
          <p:cNvPr id="142" name="Google Shape;142;p22"/>
          <p:cNvSpPr txBox="1"/>
          <p:nvPr/>
        </p:nvSpPr>
        <p:spPr>
          <a:xfrm>
            <a:off x="2689875" y="76200"/>
            <a:ext cx="6360300" cy="1517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SenseNova 5.0, an update of SenseTime’s first LLM introduced a year ago, has “met or exceeded GPT-4 Turbo ... On All Benchmarks</a:t>
            </a:r>
            <a:r>
              <a:rPr lang="en" sz="1300">
                <a:solidFill>
                  <a:schemeClr val="dk1"/>
                </a:solidFill>
                <a:latin typeface="Calibri"/>
                <a:ea typeface="Calibri"/>
                <a:cs typeface="Calibri"/>
                <a:sym typeface="Calibri"/>
              </a:rPr>
              <a:t> - 200K context length, trained on 10T tokens</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b="1">
                <a:solidFill>
                  <a:srgbClr val="3C78D8"/>
                </a:solidFill>
                <a:latin typeface="Calibri"/>
                <a:ea typeface="Calibri"/>
                <a:cs typeface="Calibri"/>
                <a:sym typeface="Calibri"/>
              </a:rPr>
              <a:t>SenseTime Group Inc.</a:t>
            </a:r>
            <a:r>
              <a:rPr lang="en" sz="1300">
                <a:latin typeface="Calibri"/>
                <a:ea typeface="Calibri"/>
                <a:cs typeface="Calibri"/>
                <a:sym typeface="Calibri"/>
              </a:rPr>
              <a:t> - partially public AI company (Hong Kong) specializing in </a:t>
            </a:r>
            <a:r>
              <a:rPr lang="en" sz="1300">
                <a:solidFill>
                  <a:schemeClr val="dk1"/>
                </a:solidFill>
                <a:latin typeface="Calibri"/>
                <a:ea typeface="Calibri"/>
                <a:cs typeface="Calibri"/>
                <a:sym typeface="Calibri"/>
              </a:rPr>
              <a:t>facial recognition, image recognition, object detection, OCR, medical image analysis, video analysis, autonomous driving, and remote sensing. </a:t>
            </a:r>
            <a:r>
              <a:rPr lang="en" sz="1300">
                <a:latin typeface="Calibri"/>
                <a:ea typeface="Calibri"/>
                <a:cs typeface="Calibri"/>
                <a:sym typeface="Calibri"/>
              </a:rPr>
              <a:t>Since 2014, ~ 3,000 employees</a:t>
            </a:r>
            <a:endParaRPr sz="1300">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https://www.youtube.com/watch?v=NJXGIMa45sQ</a:t>
            </a:r>
            <a:r>
              <a:rPr lang="en" sz="1000">
                <a:solidFill>
                  <a:schemeClr val="dk1"/>
                </a:solidFill>
                <a:latin typeface="Calibri"/>
                <a:ea typeface="Calibri"/>
                <a:cs typeface="Calibri"/>
                <a:sym typeface="Calibri"/>
              </a:rPr>
              <a:t> </a:t>
            </a:r>
            <a:endParaRPr sz="1000">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https://www.sensetime.com/en</a:t>
            </a:r>
            <a:r>
              <a:rPr lang="en" sz="1000">
                <a:latin typeface="Calibri"/>
                <a:ea typeface="Calibri"/>
                <a:cs typeface="Calibri"/>
                <a:sym typeface="Calibri"/>
              </a:rPr>
              <a:t> - </a:t>
            </a:r>
            <a:endParaRPr sz="1000">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5"/>
              </a:rPr>
              <a:t>https://en.wikipedia.org/wiki/SenseTime</a:t>
            </a:r>
            <a:r>
              <a:rPr lang="en" sz="1000">
                <a:latin typeface="Calibri"/>
                <a:ea typeface="Calibri"/>
                <a:cs typeface="Calibri"/>
                <a:sym typeface="Calibri"/>
              </a:rPr>
              <a:t> </a:t>
            </a:r>
            <a:endParaRPr sz="1000">
              <a:latin typeface="Calibri"/>
              <a:ea typeface="Calibri"/>
              <a:cs typeface="Calibri"/>
              <a:sym typeface="Calibri"/>
            </a:endParaRPr>
          </a:p>
        </p:txBody>
      </p:sp>
      <p:pic>
        <p:nvPicPr>
          <p:cNvPr id="143" name="Google Shape;143;p22"/>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1811800" y="1645125"/>
            <a:ext cx="7238374" cy="3403601"/>
          </a:xfrm>
          <a:prstGeom prst="rect">
            <a:avLst/>
          </a:prstGeom>
          <a:noFill/>
          <a:ln>
            <a:noFill/>
          </a:ln>
        </p:spPr>
      </p:pic>
      <p:pic>
        <p:nvPicPr>
          <p:cNvPr id="144" name="Google Shape;144;p22"/>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76200" y="578100"/>
            <a:ext cx="2496550" cy="703575"/>
          </a:xfrm>
          <a:prstGeom prst="rect">
            <a:avLst/>
          </a:prstGeom>
          <a:noFill/>
          <a:ln>
            <a:noFill/>
          </a:ln>
        </p:spPr>
      </p:pic>
      <p:pic>
        <p:nvPicPr>
          <p:cNvPr id="145" name="Google Shape;145;p22"/>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4796" y="1647825"/>
            <a:ext cx="1726200" cy="1293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3"/>
          <p:cNvSpPr txBox="1"/>
          <p:nvPr/>
        </p:nvSpPr>
        <p:spPr>
          <a:xfrm>
            <a:off x="76200" y="499525"/>
            <a:ext cx="4436400" cy="1317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a:latin typeface="Calibri"/>
                <a:ea typeface="Calibri"/>
                <a:cs typeface="Calibri"/>
                <a:sym typeface="Calibri"/>
              </a:rPr>
              <a:t>"</a:t>
            </a:r>
            <a:r>
              <a:rPr lang="en" sz="1300" b="1">
                <a:solidFill>
                  <a:srgbClr val="3C78D8"/>
                </a:solidFill>
                <a:latin typeface="Calibri"/>
                <a:ea typeface="Calibri"/>
                <a:cs typeface="Calibri"/>
                <a:sym typeface="Calibri"/>
              </a:rPr>
              <a:t>Infinite-LLM</a:t>
            </a:r>
            <a:r>
              <a:rPr lang="en" sz="1300">
                <a:latin typeface="Calibri"/>
                <a:ea typeface="Calibri"/>
                <a:cs typeface="Calibri"/>
                <a:sym typeface="Calibri"/>
              </a:rPr>
              <a:t>: Efficient LLM Service for Long Context with </a:t>
            </a:r>
            <a:r>
              <a:rPr lang="en" sz="1300" b="1">
                <a:solidFill>
                  <a:srgbClr val="FF0000"/>
                </a:solidFill>
                <a:latin typeface="Calibri"/>
                <a:ea typeface="Calibri"/>
                <a:cs typeface="Calibri"/>
                <a:sym typeface="Calibri"/>
              </a:rPr>
              <a:t>DistAttention</a:t>
            </a:r>
            <a:r>
              <a:rPr lang="en" sz="1300">
                <a:latin typeface="Calibri"/>
                <a:ea typeface="Calibri"/>
                <a:cs typeface="Calibri"/>
                <a:sym typeface="Calibri"/>
              </a:rPr>
              <a:t> and </a:t>
            </a:r>
            <a:r>
              <a:rPr lang="en" sz="1300" b="1">
                <a:solidFill>
                  <a:srgbClr val="FF0000"/>
                </a:solidFill>
                <a:latin typeface="Calibri"/>
                <a:ea typeface="Calibri"/>
                <a:cs typeface="Calibri"/>
                <a:sym typeface="Calibri"/>
              </a:rPr>
              <a:t>Distributed KVCache</a:t>
            </a:r>
            <a:r>
              <a:rPr lang="en" sz="1300">
                <a:latin typeface="Calibri"/>
                <a:ea typeface="Calibri"/>
                <a:cs typeface="Calibri"/>
                <a:sym typeface="Calibri"/>
              </a:rPr>
              <a:t>" (Alibaba Group)</a:t>
            </a:r>
            <a:endParaRPr sz="1300">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3"/>
              </a:rPr>
              <a:t>https://arxiv.org/abs/2401.02669</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4"/>
              </a:rPr>
              <a:t>https://twitter.com/rohanpaul_ai/status/1781701594825781391</a:t>
            </a:r>
            <a:endParaRPr sz="1000">
              <a:solidFill>
                <a:schemeClr val="dk1"/>
              </a:solidFill>
              <a:latin typeface="Calibri"/>
              <a:ea typeface="Calibri"/>
              <a:cs typeface="Calibri"/>
              <a:sym typeface="Calibri"/>
            </a:endParaRPr>
          </a:p>
          <a:p>
            <a:pPr marL="0" lvl="0" indent="0" algn="l" rtl="0">
              <a:spcBef>
                <a:spcPts val="0"/>
              </a:spcBef>
              <a:spcAft>
                <a:spcPts val="0"/>
              </a:spcAft>
              <a:buNone/>
            </a:pPr>
            <a:r>
              <a:rPr lang="en" sz="1200" b="1">
                <a:solidFill>
                  <a:srgbClr val="FF0000"/>
                </a:solidFill>
                <a:latin typeface="Calibri"/>
                <a:ea typeface="Calibri"/>
                <a:cs typeface="Calibri"/>
                <a:sym typeface="Calibri"/>
              </a:rPr>
              <a:t>DistAttention</a:t>
            </a:r>
            <a:r>
              <a:rPr lang="en" sz="1200">
                <a:solidFill>
                  <a:schemeClr val="dk1"/>
                </a:solidFill>
                <a:latin typeface="Calibri"/>
                <a:ea typeface="Calibri"/>
                <a:cs typeface="Calibri"/>
                <a:sym typeface="Calibri"/>
              </a:rPr>
              <a:t>, a novel distributed attention algorithm that segments the </a:t>
            </a:r>
            <a:r>
              <a:rPr lang="en" sz="1200" b="1">
                <a:solidFill>
                  <a:srgbClr val="FF0000"/>
                </a:solidFill>
                <a:latin typeface="Calibri"/>
                <a:ea typeface="Calibri"/>
                <a:cs typeface="Calibri"/>
                <a:sym typeface="Calibri"/>
              </a:rPr>
              <a:t>KVCache</a:t>
            </a:r>
            <a:r>
              <a:rPr lang="en" sz="1200">
                <a:solidFill>
                  <a:schemeClr val="dk1"/>
                </a:solidFill>
                <a:latin typeface="Calibri"/>
                <a:ea typeface="Calibri"/>
                <a:cs typeface="Calibri"/>
                <a:sym typeface="Calibri"/>
              </a:rPr>
              <a:t> into smaller, manageable units, enabling distributed processing and storage of the attention module.</a:t>
            </a:r>
            <a:endParaRPr sz="1200">
              <a:solidFill>
                <a:schemeClr val="dk1"/>
              </a:solidFill>
              <a:latin typeface="Calibri"/>
              <a:ea typeface="Calibri"/>
              <a:cs typeface="Calibri"/>
              <a:sym typeface="Calibri"/>
            </a:endParaRPr>
          </a:p>
        </p:txBody>
      </p:sp>
      <p:sp>
        <p:nvSpPr>
          <p:cNvPr id="151" name="Google Shape;151;p23"/>
          <p:cNvSpPr txBox="1"/>
          <p:nvPr/>
        </p:nvSpPr>
        <p:spPr>
          <a:xfrm>
            <a:off x="76200" y="76200"/>
            <a:ext cx="2796900" cy="2955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800" b="1">
                <a:solidFill>
                  <a:srgbClr val="0F1419"/>
                </a:solidFill>
                <a:highlight>
                  <a:srgbClr val="FFFFFF"/>
                </a:highlight>
                <a:latin typeface="Calibri"/>
                <a:ea typeface="Calibri"/>
                <a:cs typeface="Calibri"/>
                <a:sym typeface="Calibri"/>
              </a:rPr>
              <a:t>Misc 1</a:t>
            </a:r>
            <a:endParaRPr sz="1800" b="1">
              <a:latin typeface="Calibri"/>
              <a:ea typeface="Calibri"/>
              <a:cs typeface="Calibri"/>
              <a:sym typeface="Calibri"/>
            </a:endParaRPr>
          </a:p>
        </p:txBody>
      </p:sp>
      <p:sp>
        <p:nvSpPr>
          <p:cNvPr id="152" name="Google Shape;152;p23"/>
          <p:cNvSpPr txBox="1"/>
          <p:nvPr/>
        </p:nvSpPr>
        <p:spPr>
          <a:xfrm>
            <a:off x="76200" y="1903400"/>
            <a:ext cx="4436400" cy="255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a:latin typeface="Calibri"/>
                <a:ea typeface="Calibri"/>
                <a:cs typeface="Calibri"/>
                <a:sym typeface="Calibri"/>
              </a:rPr>
              <a:t>Elon Musk - </a:t>
            </a:r>
            <a:r>
              <a:rPr lang="en" sz="1300" b="1">
                <a:solidFill>
                  <a:srgbClr val="FF0000"/>
                </a:solidFill>
                <a:latin typeface="Calibri"/>
                <a:ea typeface="Calibri"/>
                <a:cs typeface="Calibri"/>
                <a:sym typeface="Calibri"/>
              </a:rPr>
              <a:t>training Grok 3 will require 100K Nvidia H100 GPUs</a:t>
            </a:r>
            <a:endParaRPr sz="1200" b="1">
              <a:solidFill>
                <a:srgbClr val="FF0000"/>
              </a:solidFill>
              <a:latin typeface="Calibri"/>
              <a:ea typeface="Calibri"/>
              <a:cs typeface="Calibri"/>
              <a:sym typeface="Calibri"/>
            </a:endParaRPr>
          </a:p>
        </p:txBody>
      </p:sp>
      <p:sp>
        <p:nvSpPr>
          <p:cNvPr id="153" name="Google Shape;153;p23"/>
          <p:cNvSpPr txBox="1"/>
          <p:nvPr/>
        </p:nvSpPr>
        <p:spPr>
          <a:xfrm>
            <a:off x="76200" y="2540200"/>
            <a:ext cx="4436400" cy="809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Andrej Karpathy - llm.c</a:t>
            </a:r>
            <a:r>
              <a:rPr lang="en" sz="1300">
                <a:latin typeface="Calibri"/>
                <a:ea typeface="Calibri"/>
                <a:cs typeface="Calibri"/>
                <a:sym typeface="Calibri"/>
              </a:rPr>
              <a:t> update</a:t>
            </a:r>
            <a:endParaRPr sz="1300">
              <a:latin typeface="Calibri"/>
              <a:ea typeface="Calibri"/>
              <a:cs typeface="Calibri"/>
              <a:sym typeface="Calibri"/>
            </a:endParaRPr>
          </a:p>
          <a:p>
            <a:pPr marL="457200" lvl="0" indent="-311150" algn="l" rtl="0">
              <a:spcBef>
                <a:spcPts val="0"/>
              </a:spcBef>
              <a:spcAft>
                <a:spcPts val="0"/>
              </a:spcAft>
              <a:buSzPts val="1300"/>
              <a:buFont typeface="Calibri"/>
              <a:buChar char="●"/>
            </a:pPr>
            <a:r>
              <a:rPr lang="en" sz="1300">
                <a:latin typeface="Calibri"/>
                <a:ea typeface="Calibri"/>
                <a:cs typeface="Calibri"/>
                <a:sym typeface="Calibri"/>
              </a:rPr>
              <a:t>grew to 2,000 lines of C/CUDA</a:t>
            </a:r>
            <a:endParaRPr sz="1300">
              <a:latin typeface="Calibri"/>
              <a:ea typeface="Calibri"/>
              <a:cs typeface="Calibri"/>
              <a:sym typeface="Calibri"/>
            </a:endParaRPr>
          </a:p>
          <a:p>
            <a:pPr marL="457200" lvl="0" indent="-311150" algn="l" rtl="0">
              <a:spcBef>
                <a:spcPts val="0"/>
              </a:spcBef>
              <a:spcAft>
                <a:spcPts val="0"/>
              </a:spcAft>
              <a:buSzPts val="1300"/>
              <a:buFont typeface="Calibri"/>
              <a:buChar char="●"/>
            </a:pPr>
            <a:r>
              <a:rPr lang="en" sz="1300">
                <a:latin typeface="Calibri"/>
                <a:ea typeface="Calibri"/>
                <a:cs typeface="Calibri"/>
                <a:sym typeface="Calibri"/>
              </a:rPr>
              <a:t>trains GPT-2 (124M) on GPU as fast as PyTorch</a:t>
            </a:r>
            <a:endParaRPr sz="1300">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5"/>
              </a:rPr>
              <a:t>https://twitter.com/karpathy/status/1781387674978533427</a:t>
            </a:r>
            <a:r>
              <a:rPr lang="en" sz="1000">
                <a:latin typeface="Calibri"/>
                <a:ea typeface="Calibri"/>
                <a:cs typeface="Calibri"/>
                <a:sym typeface="Calibri"/>
              </a:rPr>
              <a:t> </a:t>
            </a:r>
            <a:endParaRPr sz="1000">
              <a:latin typeface="Calibri"/>
              <a:ea typeface="Calibri"/>
              <a:cs typeface="Calibri"/>
              <a:sym typeface="Calibri"/>
            </a:endParaRPr>
          </a:p>
        </p:txBody>
      </p:sp>
      <p:sp>
        <p:nvSpPr>
          <p:cNvPr id="154" name="Google Shape;154;p23"/>
          <p:cNvSpPr txBox="1"/>
          <p:nvPr/>
        </p:nvSpPr>
        <p:spPr>
          <a:xfrm>
            <a:off x="76200" y="3430950"/>
            <a:ext cx="4644600" cy="948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mistral-common</a:t>
            </a:r>
            <a:r>
              <a:rPr lang="en" sz="1300">
                <a:solidFill>
                  <a:schemeClr val="dk1"/>
                </a:solidFill>
                <a:latin typeface="Calibri"/>
                <a:ea typeface="Calibri"/>
                <a:cs typeface="Calibri"/>
                <a:sym typeface="Calibri"/>
              </a:rPr>
              <a:t> - </a:t>
            </a:r>
            <a:r>
              <a:rPr lang="en" sz="1300">
                <a:latin typeface="Calibri"/>
                <a:ea typeface="Calibri"/>
                <a:cs typeface="Calibri"/>
                <a:sym typeface="Calibri"/>
              </a:rPr>
              <a:t>python library (tokenizers)</a:t>
            </a:r>
            <a:endParaRPr sz="13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u="sng">
                <a:solidFill>
                  <a:schemeClr val="hlink"/>
                </a:solidFill>
                <a:latin typeface="Calibri"/>
                <a:ea typeface="Calibri"/>
                <a:cs typeface="Calibri"/>
                <a:sym typeface="Calibri"/>
                <a:hlinkClick r:id="rId6"/>
              </a:rPr>
              <a:t>https://github.com/mistralai/mistral-common</a:t>
            </a:r>
            <a:endParaRPr sz="13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800">
                <a:solidFill>
                  <a:srgbClr val="3C78D8"/>
                </a:solidFill>
                <a:latin typeface="Roboto Mono"/>
                <a:ea typeface="Roboto Mono"/>
                <a:cs typeface="Roboto Mono"/>
                <a:sym typeface="Roboto Mono"/>
              </a:rPr>
              <a:t>from mistral_common.protocol.instruct.messages import UserMessage</a:t>
            </a:r>
            <a:endParaRPr sz="8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800">
                <a:solidFill>
                  <a:srgbClr val="3C78D8"/>
                </a:solidFill>
                <a:latin typeface="Roboto Mono"/>
                <a:ea typeface="Roboto Mono"/>
                <a:cs typeface="Roboto Mono"/>
                <a:sym typeface="Roboto Mono"/>
              </a:rPr>
              <a:t>from mistral_common.protocol.instruct.request import ChatCompletionRequest</a:t>
            </a:r>
            <a:endParaRPr sz="8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800">
                <a:solidFill>
                  <a:srgbClr val="3C78D8"/>
                </a:solidFill>
                <a:latin typeface="Roboto Mono"/>
                <a:ea typeface="Roboto Mono"/>
                <a:cs typeface="Roboto Mono"/>
                <a:sym typeface="Roboto Mono"/>
              </a:rPr>
              <a:t>from mistral_common.protocol.instruct.tool_calls import Function, Tool</a:t>
            </a:r>
            <a:endParaRPr sz="8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800">
                <a:solidFill>
                  <a:srgbClr val="3C78D8"/>
                </a:solidFill>
                <a:latin typeface="Roboto Mono"/>
                <a:ea typeface="Roboto Mono"/>
                <a:cs typeface="Roboto Mono"/>
                <a:sym typeface="Roboto Mono"/>
              </a:rPr>
              <a:t>from mistral_common.tokens.tokenizers.mistral import MistralTokenizer</a:t>
            </a:r>
            <a:endParaRPr sz="1200">
              <a:solidFill>
                <a:srgbClr val="3C78D8"/>
              </a:solidFill>
              <a:latin typeface="Calibri"/>
              <a:ea typeface="Calibri"/>
              <a:cs typeface="Calibri"/>
              <a:sym typeface="Calibri"/>
            </a:endParaRPr>
          </a:p>
        </p:txBody>
      </p:sp>
      <p:sp>
        <p:nvSpPr>
          <p:cNvPr id="155" name="Google Shape;155;p23"/>
          <p:cNvSpPr txBox="1"/>
          <p:nvPr/>
        </p:nvSpPr>
        <p:spPr>
          <a:xfrm>
            <a:off x="76200" y="2203550"/>
            <a:ext cx="4436400" cy="255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AWS to acquire 20K B200 GPUs</a:t>
            </a:r>
            <a:r>
              <a:rPr lang="en" sz="1300">
                <a:latin typeface="Calibri"/>
                <a:ea typeface="Calibri"/>
                <a:cs typeface="Calibri"/>
                <a:sym typeface="Calibri"/>
              </a:rPr>
              <a:t> for a 27T param. model.</a:t>
            </a:r>
            <a:endParaRPr sz="1200">
              <a:solidFill>
                <a:schemeClr val="dk1"/>
              </a:solidFill>
              <a:latin typeface="Calibri"/>
              <a:ea typeface="Calibri"/>
              <a:cs typeface="Calibri"/>
              <a:sym typeface="Calibri"/>
            </a:endParaRPr>
          </a:p>
        </p:txBody>
      </p:sp>
      <p:sp>
        <p:nvSpPr>
          <p:cNvPr id="156" name="Google Shape;156;p23"/>
          <p:cNvSpPr txBox="1"/>
          <p:nvPr/>
        </p:nvSpPr>
        <p:spPr>
          <a:xfrm>
            <a:off x="5497325" y="499525"/>
            <a:ext cx="2562300" cy="255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8 Bln People   =&gt;   8 Bln Agents ??</a:t>
            </a:r>
            <a:endParaRPr sz="1200" b="1">
              <a:solidFill>
                <a:srgbClr val="FF0000"/>
              </a:solidFill>
              <a:latin typeface="Calibri"/>
              <a:ea typeface="Calibri"/>
              <a:cs typeface="Calibri"/>
              <a:sym typeface="Calibri"/>
            </a:endParaRPr>
          </a:p>
        </p:txBody>
      </p:sp>
      <p:pic>
        <p:nvPicPr>
          <p:cNvPr id="157" name="Google Shape;157;p23"/>
          <p:cNvPicPr preferRelativeResize="0"/>
          <p:nvPr/>
        </p:nvPicPr>
        <p:blipFill>
          <a:blip r:embed="rId7">
            <a:alphaModFix/>
          </a:blip>
          <a:stretch>
            <a:fillRect/>
          </a:stretch>
        </p:blipFill>
        <p:spPr>
          <a:xfrm>
            <a:off x="5497325" y="866300"/>
            <a:ext cx="2562225" cy="1781175"/>
          </a:xfrm>
          <a:prstGeom prst="rect">
            <a:avLst/>
          </a:prstGeom>
          <a:noFill/>
          <a:ln>
            <a:noFill/>
          </a:ln>
        </p:spPr>
      </p:pic>
      <p:pic>
        <p:nvPicPr>
          <p:cNvPr id="158" name="Google Shape;158;p23"/>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5497325" y="2758650"/>
            <a:ext cx="2562225" cy="1921673"/>
          </a:xfrm>
          <a:prstGeom prst="rect">
            <a:avLst/>
          </a:prstGeom>
          <a:noFill/>
          <a:ln>
            <a:noFill/>
          </a:ln>
        </p:spPr>
      </p:pic>
      <p:sp>
        <p:nvSpPr>
          <p:cNvPr id="159" name="Google Shape;159;p23"/>
          <p:cNvSpPr txBox="1"/>
          <p:nvPr/>
        </p:nvSpPr>
        <p:spPr>
          <a:xfrm>
            <a:off x="76200" y="4460300"/>
            <a:ext cx="4436400" cy="563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Fineweb = 15 Trillion Tokens dataset</a:t>
            </a:r>
            <a:endParaRPr sz="13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9"/>
              </a:rPr>
              <a:t>https://huggingface.co/datasets/HuggingFaceFW/fineweb</a:t>
            </a:r>
            <a:r>
              <a:rPr lang="en" sz="1000">
                <a:latin typeface="Calibri"/>
                <a:ea typeface="Calibri"/>
                <a:cs typeface="Calibri"/>
                <a:sym typeface="Calibri"/>
              </a:rPr>
              <a:t> </a:t>
            </a:r>
            <a:endParaRPr sz="10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10"/>
              </a:rPr>
              <a:t>https://twitter.com/Thom_Wolf/status/1781956600724345190</a:t>
            </a:r>
            <a:r>
              <a:rPr lang="en" sz="1000">
                <a:latin typeface="Calibri"/>
                <a:ea typeface="Calibri"/>
                <a:cs typeface="Calibri"/>
                <a:sym typeface="Calibri"/>
              </a:rPr>
              <a:t> </a:t>
            </a:r>
            <a:endParaRPr sz="1000">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4"/>
          <p:cNvSpPr txBox="1"/>
          <p:nvPr/>
        </p:nvSpPr>
        <p:spPr>
          <a:xfrm>
            <a:off x="76200" y="499525"/>
            <a:ext cx="4378200" cy="655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FlowMind</a:t>
            </a:r>
            <a:r>
              <a:rPr lang="en" sz="1300">
                <a:latin typeface="Calibri"/>
                <a:ea typeface="Calibri"/>
                <a:cs typeface="Calibri"/>
                <a:sym typeface="Calibri"/>
              </a:rPr>
              <a:t>: Automatic Workflow Generation with LLMs (JPMorgan AI Research) - </a:t>
            </a:r>
            <a:r>
              <a:rPr lang="en" sz="1000" u="sng">
                <a:solidFill>
                  <a:schemeClr val="hlink"/>
                </a:solidFill>
                <a:latin typeface="Calibri"/>
                <a:ea typeface="Calibri"/>
                <a:cs typeface="Calibri"/>
                <a:sym typeface="Calibri"/>
                <a:hlinkClick r:id="rId3"/>
              </a:rPr>
              <a:t>https://arxiv.org/abs/2404.13050</a:t>
            </a:r>
            <a:r>
              <a:rPr lang="en" sz="1000">
                <a:latin typeface="Calibri"/>
                <a:ea typeface="Calibri"/>
                <a:cs typeface="Calibri"/>
                <a:sym typeface="Calibri"/>
              </a:rPr>
              <a:t> </a:t>
            </a:r>
            <a:endParaRPr sz="10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Avoid hallucinations by combining LLMs with APIs</a:t>
            </a:r>
            <a:endParaRPr sz="1300">
              <a:latin typeface="Calibri"/>
              <a:ea typeface="Calibri"/>
              <a:cs typeface="Calibri"/>
              <a:sym typeface="Calibri"/>
            </a:endParaRPr>
          </a:p>
        </p:txBody>
      </p:sp>
      <p:sp>
        <p:nvSpPr>
          <p:cNvPr id="165" name="Google Shape;165;p24"/>
          <p:cNvSpPr txBox="1"/>
          <p:nvPr/>
        </p:nvSpPr>
        <p:spPr>
          <a:xfrm>
            <a:off x="76200" y="76200"/>
            <a:ext cx="2796900" cy="2955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800" b="1">
                <a:solidFill>
                  <a:srgbClr val="0F1419"/>
                </a:solidFill>
                <a:highlight>
                  <a:srgbClr val="FFFFFF"/>
                </a:highlight>
                <a:latin typeface="Calibri"/>
                <a:ea typeface="Calibri"/>
                <a:cs typeface="Calibri"/>
                <a:sym typeface="Calibri"/>
              </a:rPr>
              <a:t>Misc 2</a:t>
            </a:r>
            <a:endParaRPr sz="1800" b="1">
              <a:latin typeface="Calibri"/>
              <a:ea typeface="Calibri"/>
              <a:cs typeface="Calibri"/>
              <a:sym typeface="Calibri"/>
            </a:endParaRPr>
          </a:p>
        </p:txBody>
      </p:sp>
      <p:pic>
        <p:nvPicPr>
          <p:cNvPr id="166" name="Google Shape;166;p2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24991" y="1234625"/>
            <a:ext cx="3280625" cy="2755725"/>
          </a:xfrm>
          <a:prstGeom prst="rect">
            <a:avLst/>
          </a:prstGeom>
          <a:noFill/>
          <a:ln w="9525" cap="flat" cmpd="sng">
            <a:solidFill>
              <a:srgbClr val="FF0000"/>
            </a:solidFill>
            <a:prstDash val="solid"/>
            <a:round/>
            <a:headEnd type="none" w="sm" len="sm"/>
            <a:tailEnd type="none" w="sm" len="sm"/>
          </a:ln>
        </p:spPr>
      </p:pic>
      <p:sp>
        <p:nvSpPr>
          <p:cNvPr id="167" name="Google Shape;167;p24"/>
          <p:cNvSpPr txBox="1"/>
          <p:nvPr/>
        </p:nvSpPr>
        <p:spPr>
          <a:xfrm>
            <a:off x="4765800" y="118525"/>
            <a:ext cx="4378200" cy="1009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Baidu</a:t>
            </a:r>
            <a:r>
              <a:rPr lang="en" sz="1300">
                <a:latin typeface="Calibri"/>
                <a:ea typeface="Calibri"/>
                <a:cs typeface="Calibri"/>
                <a:sym typeface="Calibri"/>
              </a:rPr>
              <a:t> </a:t>
            </a:r>
            <a:r>
              <a:rPr lang="en" sz="1300">
                <a:solidFill>
                  <a:schemeClr val="dk1"/>
                </a:solidFill>
                <a:latin typeface="Calibri"/>
                <a:ea typeface="Calibri"/>
                <a:cs typeface="Calibri"/>
                <a:sym typeface="Calibri"/>
              </a:rPr>
              <a:t>launches three innovative AI development toolkits at Create 2024, allowing anyone to become a developer through natural language programming, with tools like </a:t>
            </a:r>
            <a:r>
              <a:rPr lang="en" sz="1300" b="1">
                <a:solidFill>
                  <a:srgbClr val="FF0000"/>
                </a:solidFill>
                <a:latin typeface="Calibri"/>
                <a:ea typeface="Calibri"/>
                <a:cs typeface="Calibri"/>
                <a:sym typeface="Calibri"/>
              </a:rPr>
              <a:t>AgentBuilder, AppBuilder and ModelBuilder</a:t>
            </a:r>
            <a:r>
              <a:rPr lang="en" sz="1300">
                <a:solidFill>
                  <a:schemeClr val="dk1"/>
                </a:solidFill>
                <a:latin typeface="Calibri"/>
                <a:ea typeface="Calibri"/>
                <a:cs typeface="Calibri"/>
                <a:sym typeface="Calibri"/>
              </a:rPr>
              <a:t>. </a:t>
            </a:r>
            <a:r>
              <a:rPr lang="en" sz="1000" u="sng">
                <a:solidFill>
                  <a:schemeClr val="hlink"/>
                </a:solidFill>
                <a:latin typeface="Calibri"/>
                <a:ea typeface="Calibri"/>
                <a:cs typeface="Calibri"/>
                <a:sym typeface="Calibri"/>
                <a:hlinkClick r:id="rId5"/>
              </a:rPr>
              <a:t>https://twitter.com/insidetelecom_/status/1781336963355709803</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pic>
        <p:nvPicPr>
          <p:cNvPr id="168" name="Google Shape;168;p24"/>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765800" y="1431238"/>
            <a:ext cx="4378199" cy="2281027"/>
          </a:xfrm>
          <a:prstGeom prst="rect">
            <a:avLst/>
          </a:prstGeom>
          <a:noFill/>
          <a:ln>
            <a:noFill/>
          </a:ln>
        </p:spPr>
      </p:pic>
      <p:pic>
        <p:nvPicPr>
          <p:cNvPr id="169" name="Google Shape;169;p24"/>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6085548" y="3788100"/>
            <a:ext cx="2137125" cy="1203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5"/>
          <p:cNvSpPr txBox="1"/>
          <p:nvPr/>
        </p:nvSpPr>
        <p:spPr>
          <a:xfrm>
            <a:off x="76200" y="499525"/>
            <a:ext cx="4432200" cy="455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Perplexity</a:t>
            </a:r>
            <a:r>
              <a:rPr lang="en" sz="1300">
                <a:latin typeface="Calibri"/>
                <a:ea typeface="Calibri"/>
                <a:cs typeface="Calibri"/>
                <a:sym typeface="Calibri"/>
              </a:rPr>
              <a:t> is raising $250M+ at a $2.5B-$3B valuation for its AI search business</a:t>
            </a:r>
            <a:endParaRPr sz="1200">
              <a:solidFill>
                <a:schemeClr val="dk1"/>
              </a:solidFill>
              <a:latin typeface="Calibri"/>
              <a:ea typeface="Calibri"/>
              <a:cs typeface="Calibri"/>
              <a:sym typeface="Calibri"/>
            </a:endParaRPr>
          </a:p>
        </p:txBody>
      </p:sp>
      <p:sp>
        <p:nvSpPr>
          <p:cNvPr id="175" name="Google Shape;175;p25"/>
          <p:cNvSpPr txBox="1"/>
          <p:nvPr/>
        </p:nvSpPr>
        <p:spPr>
          <a:xfrm>
            <a:off x="76200" y="76200"/>
            <a:ext cx="2796900" cy="2955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800" b="1">
                <a:solidFill>
                  <a:srgbClr val="0F1419"/>
                </a:solidFill>
                <a:highlight>
                  <a:srgbClr val="FFFFFF"/>
                </a:highlight>
                <a:latin typeface="Calibri"/>
                <a:ea typeface="Calibri"/>
                <a:cs typeface="Calibri"/>
                <a:sym typeface="Calibri"/>
              </a:rPr>
              <a:t>Misc 3</a:t>
            </a:r>
            <a:endParaRPr sz="1800" b="1">
              <a:latin typeface="Calibri"/>
              <a:ea typeface="Calibri"/>
              <a:cs typeface="Calibri"/>
              <a:sym typeface="Calibri"/>
            </a:endParaRPr>
          </a:p>
        </p:txBody>
      </p:sp>
      <p:sp>
        <p:nvSpPr>
          <p:cNvPr id="176" name="Google Shape;176;p25"/>
          <p:cNvSpPr txBox="1"/>
          <p:nvPr/>
        </p:nvSpPr>
        <p:spPr>
          <a:xfrm>
            <a:off x="76200" y="1064650"/>
            <a:ext cx="4432200" cy="245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The Instruction Hierarchy</a:t>
            </a:r>
            <a:r>
              <a:rPr lang="en" sz="1300">
                <a:latin typeface="Calibri"/>
                <a:ea typeface="Calibri"/>
                <a:cs typeface="Calibri"/>
                <a:sym typeface="Calibri"/>
              </a:rPr>
              <a:t>: Training LLMs to Prioritize Privileged Instructions - </a:t>
            </a:r>
            <a:r>
              <a:rPr lang="en" sz="1300" u="sng">
                <a:solidFill>
                  <a:schemeClr val="hlink"/>
                </a:solidFill>
                <a:latin typeface="Calibri"/>
                <a:ea typeface="Calibri"/>
                <a:cs typeface="Calibri"/>
                <a:sym typeface="Calibri"/>
                <a:hlinkClick r:id="rId3"/>
              </a:rPr>
              <a:t>https://arxiv.org/abs/2404.13208</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 we propose an instruction hierarchy that explicitly defines how models should behave when instructions of different priorities conflict. </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We then propose a data generation method to demonstrate this hierarchical instruction following behavior, which teaches LLMs to selectively ignore lower-privileged instructions. </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We apply this method to GPT-3.5, showing that it drastically increases robustness -- even for attack types not seen during training -- while imposing minimal degradations on standard capabilities.</a:t>
            </a:r>
            <a:endParaRPr sz="1300">
              <a:latin typeface="Calibri"/>
              <a:ea typeface="Calibri"/>
              <a:cs typeface="Calibri"/>
              <a:sym typeface="Calibri"/>
            </a:endParaRPr>
          </a:p>
        </p:txBody>
      </p:sp>
      <p:sp>
        <p:nvSpPr>
          <p:cNvPr id="177" name="Google Shape;177;p25"/>
          <p:cNvSpPr txBox="1"/>
          <p:nvPr/>
        </p:nvSpPr>
        <p:spPr>
          <a:xfrm>
            <a:off x="4625450" y="499525"/>
            <a:ext cx="4432200" cy="855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OpenAI </a:t>
            </a:r>
            <a:r>
              <a:rPr lang="en" sz="1300">
                <a:latin typeface="Calibri"/>
                <a:ea typeface="Calibri"/>
                <a:cs typeface="Calibri"/>
                <a:sym typeface="Calibri"/>
              </a:rPr>
              <a:t>has introduced more </a:t>
            </a:r>
            <a:r>
              <a:rPr lang="en" sz="1300" b="1">
                <a:solidFill>
                  <a:srgbClr val="FF0000"/>
                </a:solidFill>
                <a:latin typeface="Calibri"/>
                <a:ea typeface="Calibri"/>
                <a:cs typeface="Calibri"/>
                <a:sym typeface="Calibri"/>
              </a:rPr>
              <a:t>enterprise-grade features</a:t>
            </a:r>
            <a:r>
              <a:rPr lang="en" sz="1300">
                <a:latin typeface="Calibri"/>
                <a:ea typeface="Calibri"/>
                <a:cs typeface="Calibri"/>
                <a:sym typeface="Calibri"/>
              </a:rPr>
              <a:t> for API customers, including enhanced security, administrative controls, new Assistants API capabilities, and tools to help better manage costs. </a:t>
            </a:r>
            <a:r>
              <a:rPr lang="en" sz="1000" u="sng">
                <a:solidFill>
                  <a:schemeClr val="hlink"/>
                </a:solidFill>
                <a:latin typeface="Calibri"/>
                <a:ea typeface="Calibri"/>
                <a:cs typeface="Calibri"/>
                <a:sym typeface="Calibri"/>
                <a:hlinkClick r:id="rId4"/>
              </a:rPr>
              <a:t>https://twitter.com/OpenAI/status/1782826546199408940</a:t>
            </a:r>
            <a:r>
              <a:rPr lang="en" sz="1000">
                <a:latin typeface="Calibri"/>
                <a:ea typeface="Calibri"/>
                <a:cs typeface="Calibri"/>
                <a:sym typeface="Calibri"/>
              </a:rPr>
              <a:t> </a:t>
            </a:r>
            <a:endParaRPr sz="1000">
              <a:latin typeface="Calibri"/>
              <a:ea typeface="Calibri"/>
              <a:cs typeface="Calibri"/>
              <a:sym typeface="Calibri"/>
            </a:endParaRPr>
          </a:p>
        </p:txBody>
      </p:sp>
      <p:sp>
        <p:nvSpPr>
          <p:cNvPr id="178" name="Google Shape;178;p25"/>
          <p:cNvSpPr txBox="1"/>
          <p:nvPr/>
        </p:nvSpPr>
        <p:spPr>
          <a:xfrm>
            <a:off x="76200" y="3630775"/>
            <a:ext cx="4432200" cy="455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Coca-Cola</a:t>
            </a:r>
            <a:r>
              <a:rPr lang="en" sz="1300">
                <a:latin typeface="Calibri"/>
                <a:ea typeface="Calibri"/>
                <a:cs typeface="Calibri"/>
                <a:sym typeface="Calibri"/>
              </a:rPr>
              <a:t> announced another five-year partnership with Microsoft - agreed to a $1.1 Bln commitment to Microsoft Cloud</a:t>
            </a:r>
            <a:endParaRPr sz="1300">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6"/>
          <p:cNvSpPr txBox="1"/>
          <p:nvPr/>
        </p:nvSpPr>
        <p:spPr>
          <a:xfrm>
            <a:off x="76200" y="499525"/>
            <a:ext cx="3241200" cy="455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First DGX H200 in the world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hand-delivered to OpenAI.</a:t>
            </a:r>
            <a:endParaRPr sz="1300">
              <a:solidFill>
                <a:schemeClr val="dk1"/>
              </a:solidFill>
              <a:latin typeface="Calibri"/>
              <a:ea typeface="Calibri"/>
              <a:cs typeface="Calibri"/>
              <a:sym typeface="Calibri"/>
            </a:endParaRPr>
          </a:p>
        </p:txBody>
      </p:sp>
      <p:sp>
        <p:nvSpPr>
          <p:cNvPr id="184" name="Google Shape;184;p26"/>
          <p:cNvSpPr txBox="1"/>
          <p:nvPr/>
        </p:nvSpPr>
        <p:spPr>
          <a:xfrm>
            <a:off x="76200" y="76200"/>
            <a:ext cx="2796900" cy="2955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800" b="1">
                <a:solidFill>
                  <a:srgbClr val="0F1419"/>
                </a:solidFill>
                <a:highlight>
                  <a:srgbClr val="FFFFFF"/>
                </a:highlight>
                <a:latin typeface="Calibri"/>
                <a:ea typeface="Calibri"/>
                <a:cs typeface="Calibri"/>
                <a:sym typeface="Calibri"/>
              </a:rPr>
              <a:t>NVIDIA DGX H200</a:t>
            </a:r>
            <a:endParaRPr sz="1800" b="1">
              <a:latin typeface="Calibri"/>
              <a:ea typeface="Calibri"/>
              <a:cs typeface="Calibri"/>
              <a:sym typeface="Calibri"/>
            </a:endParaRPr>
          </a:p>
        </p:txBody>
      </p:sp>
      <p:pic>
        <p:nvPicPr>
          <p:cNvPr id="185" name="Google Shape;185;p26"/>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581903" y="252113"/>
            <a:ext cx="2879850" cy="4639276"/>
          </a:xfrm>
          <a:prstGeom prst="rect">
            <a:avLst/>
          </a:prstGeom>
          <a:noFill/>
          <a:ln>
            <a:noFill/>
          </a:ln>
        </p:spPr>
      </p:pic>
      <p:sp>
        <p:nvSpPr>
          <p:cNvPr id="186" name="Google Shape;186;p26"/>
          <p:cNvSpPr txBox="1"/>
          <p:nvPr/>
        </p:nvSpPr>
        <p:spPr>
          <a:xfrm>
            <a:off x="76200" y="1083050"/>
            <a:ext cx="4378200" cy="3857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Unlike existing AI supercomputers that are designed to support workloads that fit within the memory of a single system, NVIDIA DGX GH200 is the only AI supercomputer that offers a shared memory space of 19.5TB across 32 Grace Hopper Superchips, providing developers with over 30X more fast-access memory to build massive models. </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DGX GH200 is the first supercomputer to pair Grace Hopper Superchips with the NVIDIA NVLink Switch System, which allows 32 GPUs to be united as one data-center-size GPU. </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Multiple DGX GH200 systems can be connected using NVIDIA InfiniBand to provide even more computing power. This architecture provides 10X more bandwidth than the previous generation, delivering the power of a massive AI supercomputer with the simplicity of programming a single GPU.</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4"/>
              </a:rPr>
              <a:t>https://resources.nvidia.com/en-us-dgx-systems/nvidia-dgx-gh200-datasheet-web-us</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7"/>
          <p:cNvSpPr txBox="1"/>
          <p:nvPr/>
        </p:nvSpPr>
        <p:spPr>
          <a:xfrm>
            <a:off x="49950" y="970050"/>
            <a:ext cx="4374900" cy="2610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3"/>
              </a:rPr>
              <a:t>https://www.ftc.gov/legal-library/browse/rules/noncompete-rule</a:t>
            </a:r>
            <a:endParaRPr sz="10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The </a:t>
            </a:r>
            <a:r>
              <a:rPr lang="en" sz="1300" b="1">
                <a:solidFill>
                  <a:srgbClr val="FF0000"/>
                </a:solidFill>
                <a:latin typeface="Calibri"/>
                <a:ea typeface="Calibri"/>
                <a:cs typeface="Calibri"/>
                <a:sym typeface="Calibri"/>
              </a:rPr>
              <a:t>U.S. Federal Trade Commission (FTC)</a:t>
            </a:r>
            <a:r>
              <a:rPr lang="en" sz="1300">
                <a:solidFill>
                  <a:schemeClr val="dk1"/>
                </a:solidFill>
                <a:latin typeface="Calibri"/>
                <a:ea typeface="Calibri"/>
                <a:cs typeface="Calibri"/>
                <a:sym typeface="Calibri"/>
              </a:rPr>
              <a:t> has issued a significant ruling that </a:t>
            </a:r>
            <a:r>
              <a:rPr lang="en" sz="1300" b="1">
                <a:solidFill>
                  <a:srgbClr val="FF0000"/>
                </a:solidFill>
                <a:latin typeface="Calibri"/>
                <a:ea typeface="Calibri"/>
                <a:cs typeface="Calibri"/>
                <a:sym typeface="Calibri"/>
              </a:rPr>
              <a:t>bans the enforcement of noncompete clauses</a:t>
            </a:r>
            <a:r>
              <a:rPr lang="en" sz="1300">
                <a:solidFill>
                  <a:schemeClr val="dk1"/>
                </a:solidFill>
                <a:latin typeface="Calibri"/>
                <a:ea typeface="Calibri"/>
                <a:cs typeface="Calibri"/>
                <a:sym typeface="Calibri"/>
              </a:rPr>
              <a:t> in employment contracts. </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b="1">
                <a:solidFill>
                  <a:srgbClr val="3C78D8"/>
                </a:solidFill>
                <a:latin typeface="Calibri"/>
                <a:ea typeface="Calibri"/>
                <a:cs typeface="Calibri"/>
                <a:sym typeface="Calibri"/>
              </a:rPr>
              <a:t>It is now considered an unfair practice under Section 5 of the FTC Act to impose noncompete clauses</a:t>
            </a:r>
            <a:r>
              <a:rPr lang="en" sz="1300">
                <a:solidFill>
                  <a:schemeClr val="dk1"/>
                </a:solidFill>
                <a:latin typeface="Calibri"/>
                <a:ea typeface="Calibri"/>
                <a:cs typeface="Calibri"/>
                <a:sym typeface="Calibri"/>
              </a:rPr>
              <a:t>, which could notably change the AI sector. </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b="1">
                <a:solidFill>
                  <a:srgbClr val="3C78D8"/>
                </a:solidFill>
                <a:latin typeface="Calibri"/>
                <a:ea typeface="Calibri"/>
                <a:cs typeface="Calibri"/>
                <a:sym typeface="Calibri"/>
              </a:rPr>
              <a:t>This change allows developers greater mobility between companies</a:t>
            </a:r>
            <a:r>
              <a:rPr lang="en" sz="1300">
                <a:solidFill>
                  <a:schemeClr val="dk1"/>
                </a:solidFill>
                <a:latin typeface="Calibri"/>
                <a:ea typeface="Calibri"/>
                <a:cs typeface="Calibri"/>
                <a:sym typeface="Calibri"/>
              </a:rPr>
              <a:t>, potentially accelerating innovation and distributing expertise more broadly throughout the industry. </a:t>
            </a:r>
            <a:endParaRPr sz="1300">
              <a:solidFill>
                <a:schemeClr val="dk1"/>
              </a:solidFill>
              <a:latin typeface="Calibri"/>
              <a:ea typeface="Calibri"/>
              <a:cs typeface="Calibri"/>
              <a:sym typeface="Calibri"/>
            </a:endParaRPr>
          </a:p>
        </p:txBody>
      </p:sp>
      <p:pic>
        <p:nvPicPr>
          <p:cNvPr id="192" name="Google Shape;192;p2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78050" y="78600"/>
            <a:ext cx="4374900" cy="1008499"/>
          </a:xfrm>
          <a:prstGeom prst="rect">
            <a:avLst/>
          </a:prstGeom>
          <a:noFill/>
          <a:ln>
            <a:noFill/>
          </a:ln>
        </p:spPr>
      </p:pic>
      <p:sp>
        <p:nvSpPr>
          <p:cNvPr id="193" name="Google Shape;193;p27"/>
          <p:cNvSpPr txBox="1"/>
          <p:nvPr/>
        </p:nvSpPr>
        <p:spPr>
          <a:xfrm>
            <a:off x="49950" y="44825"/>
            <a:ext cx="2796900" cy="2955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800" b="1">
                <a:solidFill>
                  <a:srgbClr val="0F1419"/>
                </a:solidFill>
                <a:highlight>
                  <a:srgbClr val="FFFFFF"/>
                </a:highlight>
                <a:latin typeface="Calibri"/>
                <a:ea typeface="Calibri"/>
                <a:cs typeface="Calibri"/>
                <a:sym typeface="Calibri"/>
              </a:rPr>
              <a:t>No more noncompete</a:t>
            </a:r>
            <a:endParaRPr sz="1800" b="1">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8"/>
          <p:cNvSpPr txBox="1"/>
          <p:nvPr/>
        </p:nvSpPr>
        <p:spPr>
          <a:xfrm>
            <a:off x="152400" y="76200"/>
            <a:ext cx="3255900" cy="2955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800" b="1">
                <a:solidFill>
                  <a:srgbClr val="0F1419"/>
                </a:solidFill>
                <a:highlight>
                  <a:srgbClr val="FFFFFF"/>
                </a:highlight>
                <a:latin typeface="Calibri"/>
                <a:ea typeface="Calibri"/>
                <a:cs typeface="Calibri"/>
                <a:sym typeface="Calibri"/>
              </a:rPr>
              <a:t>12 Predictions of Vinod Khosla</a:t>
            </a:r>
            <a:endParaRPr sz="1800" b="1">
              <a:latin typeface="Calibri"/>
              <a:ea typeface="Calibri"/>
              <a:cs typeface="Calibri"/>
              <a:sym typeface="Calibri"/>
            </a:endParaRPr>
          </a:p>
        </p:txBody>
      </p:sp>
      <p:sp>
        <p:nvSpPr>
          <p:cNvPr id="199" name="Google Shape;199;p28"/>
          <p:cNvSpPr txBox="1"/>
          <p:nvPr/>
        </p:nvSpPr>
        <p:spPr>
          <a:xfrm>
            <a:off x="91775" y="600300"/>
            <a:ext cx="6693600" cy="4457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100">
                <a:solidFill>
                  <a:schemeClr val="dk1"/>
                </a:solidFill>
                <a:latin typeface="Calibri"/>
                <a:ea typeface="Calibri"/>
                <a:cs typeface="Calibri"/>
                <a:sym typeface="Calibri"/>
              </a:rPr>
              <a:t>#1: </a:t>
            </a:r>
            <a:r>
              <a:rPr lang="en" sz="1100" b="1">
                <a:solidFill>
                  <a:srgbClr val="FF0000"/>
                </a:solidFill>
                <a:latin typeface="Calibri"/>
                <a:ea typeface="Calibri"/>
                <a:cs typeface="Calibri"/>
                <a:sym typeface="Calibri"/>
              </a:rPr>
              <a:t>Expertise will be near free.</a:t>
            </a:r>
            <a:r>
              <a:rPr lang="en" sz="1100">
                <a:solidFill>
                  <a:schemeClr val="dk1"/>
                </a:solidFill>
                <a:latin typeface="Calibri"/>
                <a:ea typeface="Calibri"/>
                <a:cs typeface="Calibri"/>
                <a:sym typeface="Calibri"/>
              </a:rPr>
              <a:t> We will be capable of having near free AI doctor for every person &amp; AI tutors for every child, 24x7</a:t>
            </a:r>
            <a:endParaRPr sz="1100">
              <a:solidFill>
                <a:schemeClr val="dk1"/>
              </a:solidFill>
              <a:latin typeface="Calibri"/>
              <a:ea typeface="Calibri"/>
              <a:cs typeface="Calibri"/>
              <a:sym typeface="Calibri"/>
            </a:endParaRPr>
          </a:p>
          <a:p>
            <a:pPr marL="0" lvl="0" indent="0" algn="l" rtl="0">
              <a:spcBef>
                <a:spcPts val="0"/>
              </a:spcBef>
              <a:spcAft>
                <a:spcPts val="0"/>
              </a:spcAft>
              <a:buNone/>
            </a:pPr>
            <a:r>
              <a:rPr lang="en" sz="1100">
                <a:solidFill>
                  <a:schemeClr val="dk1"/>
                </a:solidFill>
                <a:latin typeface="Calibri"/>
                <a:ea typeface="Calibri"/>
                <a:cs typeface="Calibri"/>
                <a:sym typeface="Calibri"/>
              </a:rPr>
              <a:t>#2: </a:t>
            </a:r>
            <a:r>
              <a:rPr lang="en" sz="1100" b="1">
                <a:solidFill>
                  <a:srgbClr val="FF0000"/>
                </a:solidFill>
                <a:latin typeface="Calibri"/>
                <a:ea typeface="Calibri"/>
                <a:cs typeface="Calibri"/>
                <a:sym typeface="Calibri"/>
              </a:rPr>
              <a:t>Labor will be near free. </a:t>
            </a:r>
            <a:r>
              <a:rPr lang="en" sz="1100">
                <a:solidFill>
                  <a:schemeClr val="dk1"/>
                </a:solidFill>
                <a:latin typeface="Calibri"/>
                <a:ea typeface="Calibri"/>
                <a:cs typeface="Calibri"/>
                <a:sym typeface="Calibri"/>
              </a:rPr>
              <a:t>We will have a billion bipedal (and other) robots freeing humans from the servitude of undesirable jobs</a:t>
            </a:r>
            <a:endParaRPr sz="1100">
              <a:solidFill>
                <a:schemeClr val="dk1"/>
              </a:solidFill>
              <a:latin typeface="Calibri"/>
              <a:ea typeface="Calibri"/>
              <a:cs typeface="Calibri"/>
              <a:sym typeface="Calibri"/>
            </a:endParaRPr>
          </a:p>
          <a:p>
            <a:pPr marL="0" lvl="0" indent="0" algn="l" rtl="0">
              <a:spcBef>
                <a:spcPts val="0"/>
              </a:spcBef>
              <a:spcAft>
                <a:spcPts val="0"/>
              </a:spcAft>
              <a:buNone/>
            </a:pPr>
            <a:r>
              <a:rPr lang="en" sz="1100">
                <a:solidFill>
                  <a:schemeClr val="dk1"/>
                </a:solidFill>
                <a:latin typeface="Calibri"/>
                <a:ea typeface="Calibri"/>
                <a:cs typeface="Calibri"/>
                <a:sym typeface="Calibri"/>
              </a:rPr>
              <a:t>#3: </a:t>
            </a:r>
            <a:r>
              <a:rPr lang="en" sz="1100" b="1">
                <a:solidFill>
                  <a:srgbClr val="FF0000"/>
                </a:solidFill>
                <a:latin typeface="Calibri"/>
                <a:ea typeface="Calibri"/>
                <a:cs typeface="Calibri"/>
                <a:sym typeface="Calibri"/>
              </a:rPr>
              <a:t>Computer use will grow expansively.</a:t>
            </a:r>
            <a:r>
              <a:rPr lang="en" sz="1100">
                <a:solidFill>
                  <a:schemeClr val="dk1"/>
                </a:solidFill>
                <a:latin typeface="Calibri"/>
                <a:ea typeface="Calibri"/>
                <a:cs typeface="Calibri"/>
                <a:sym typeface="Calibri"/>
              </a:rPr>
              <a:t> There will be a billion+ programmers all "programming" in human language, dramatically increasing the scope of computers. Computers will adapt to humans, not humans to computers.</a:t>
            </a:r>
            <a:endParaRPr sz="1100">
              <a:solidFill>
                <a:schemeClr val="dk1"/>
              </a:solidFill>
              <a:latin typeface="Calibri"/>
              <a:ea typeface="Calibri"/>
              <a:cs typeface="Calibri"/>
              <a:sym typeface="Calibri"/>
            </a:endParaRPr>
          </a:p>
          <a:p>
            <a:pPr marL="0" lvl="0" indent="0" algn="l" rtl="0">
              <a:spcBef>
                <a:spcPts val="0"/>
              </a:spcBef>
              <a:spcAft>
                <a:spcPts val="0"/>
              </a:spcAft>
              <a:buNone/>
            </a:pPr>
            <a:r>
              <a:rPr lang="en" sz="1100">
                <a:solidFill>
                  <a:schemeClr val="dk1"/>
                </a:solidFill>
                <a:latin typeface="Calibri"/>
                <a:ea typeface="Calibri"/>
                <a:cs typeface="Calibri"/>
                <a:sym typeface="Calibri"/>
              </a:rPr>
              <a:t>#4: </a:t>
            </a:r>
            <a:r>
              <a:rPr lang="en" sz="1100" b="1">
                <a:solidFill>
                  <a:srgbClr val="FF0000"/>
                </a:solidFill>
                <a:latin typeface="Calibri"/>
                <a:ea typeface="Calibri"/>
                <a:cs typeface="Calibri"/>
                <a:sym typeface="Calibri"/>
              </a:rPr>
              <a:t>AI will play a large role in entertainment and design.</a:t>
            </a:r>
            <a:r>
              <a:rPr lang="en" sz="1100">
                <a:solidFill>
                  <a:schemeClr val="dk1"/>
                </a:solidFill>
                <a:latin typeface="Calibri"/>
                <a:ea typeface="Calibri"/>
                <a:cs typeface="Calibri"/>
                <a:sym typeface="Calibri"/>
              </a:rPr>
              <a:t> Music and entertainment will be plentiful &amp; personalized for you and your mood! Diversity if content &amp; creativity will increase. The celebrity-fan relationship won't change.</a:t>
            </a:r>
            <a:endParaRPr sz="1100">
              <a:solidFill>
                <a:schemeClr val="dk1"/>
              </a:solidFill>
              <a:latin typeface="Calibri"/>
              <a:ea typeface="Calibri"/>
              <a:cs typeface="Calibri"/>
              <a:sym typeface="Calibri"/>
            </a:endParaRPr>
          </a:p>
          <a:p>
            <a:pPr marL="0" lvl="0" indent="0" algn="l" rtl="0">
              <a:spcBef>
                <a:spcPts val="0"/>
              </a:spcBef>
              <a:spcAft>
                <a:spcPts val="0"/>
              </a:spcAft>
              <a:buNone/>
            </a:pPr>
            <a:r>
              <a:rPr lang="en" sz="1100">
                <a:solidFill>
                  <a:schemeClr val="dk1"/>
                </a:solidFill>
                <a:latin typeface="Calibri"/>
                <a:ea typeface="Calibri"/>
                <a:cs typeface="Calibri"/>
                <a:sym typeface="Calibri"/>
              </a:rPr>
              <a:t>#5: </a:t>
            </a:r>
            <a:r>
              <a:rPr lang="en" sz="1100" b="1">
                <a:solidFill>
                  <a:srgbClr val="FF0000"/>
                </a:solidFill>
                <a:latin typeface="Calibri"/>
                <a:ea typeface="Calibri"/>
                <a:cs typeface="Calibri"/>
                <a:sym typeface="Calibri"/>
              </a:rPr>
              <a:t>Internet access will be mostly by agents. </a:t>
            </a:r>
            <a:r>
              <a:rPr lang="en" sz="1100">
                <a:solidFill>
                  <a:schemeClr val="dk1"/>
                </a:solidFill>
                <a:latin typeface="Calibri"/>
                <a:ea typeface="Calibri"/>
                <a:cs typeface="Calibri"/>
                <a:sym typeface="Calibri"/>
              </a:rPr>
              <a:t>Most consumer access of the internet will be agents acting for consumers doing tasks and fending off marketers and bots. Tens of billions of agents on the internet will be normal.</a:t>
            </a:r>
            <a:endParaRPr sz="1100">
              <a:solidFill>
                <a:schemeClr val="dk1"/>
              </a:solidFill>
              <a:latin typeface="Calibri"/>
              <a:ea typeface="Calibri"/>
              <a:cs typeface="Calibri"/>
              <a:sym typeface="Calibri"/>
            </a:endParaRPr>
          </a:p>
          <a:p>
            <a:pPr marL="0" lvl="0" indent="0" algn="l" rtl="0">
              <a:spcBef>
                <a:spcPts val="0"/>
              </a:spcBef>
              <a:spcAft>
                <a:spcPts val="0"/>
              </a:spcAft>
              <a:buNone/>
            </a:pPr>
            <a:r>
              <a:rPr lang="en" sz="1100">
                <a:solidFill>
                  <a:schemeClr val="dk1"/>
                </a:solidFill>
                <a:latin typeface="Calibri"/>
                <a:ea typeface="Calibri"/>
                <a:cs typeface="Calibri"/>
                <a:sym typeface="Calibri"/>
              </a:rPr>
              <a:t>#6: </a:t>
            </a:r>
            <a:r>
              <a:rPr lang="en" sz="1100" b="1">
                <a:solidFill>
                  <a:srgbClr val="FF0000"/>
                </a:solidFill>
                <a:latin typeface="Calibri"/>
                <a:ea typeface="Calibri"/>
                <a:cs typeface="Calibri"/>
                <a:sym typeface="Calibri"/>
              </a:rPr>
              <a:t>From the practice to the science of medicine.</a:t>
            </a:r>
            <a:r>
              <a:rPr lang="en" sz="1100">
                <a:solidFill>
                  <a:schemeClr val="dk1"/>
                </a:solidFill>
                <a:latin typeface="Calibri"/>
                <a:ea typeface="Calibri"/>
                <a:cs typeface="Calibri"/>
                <a:sym typeface="Calibri"/>
              </a:rPr>
              <a:t> We will be capable of providing precision care based on patients' -omics, as well as AI models for each individual, enabling simulation of each body for therapeutics, dosages, etc.</a:t>
            </a:r>
            <a:endParaRPr sz="1100">
              <a:solidFill>
                <a:schemeClr val="dk1"/>
              </a:solidFill>
              <a:latin typeface="Calibri"/>
              <a:ea typeface="Calibri"/>
              <a:cs typeface="Calibri"/>
              <a:sym typeface="Calibri"/>
            </a:endParaRPr>
          </a:p>
          <a:p>
            <a:pPr marL="0" lvl="0" indent="0" algn="l" rtl="0">
              <a:spcBef>
                <a:spcPts val="0"/>
              </a:spcBef>
              <a:spcAft>
                <a:spcPts val="0"/>
              </a:spcAft>
              <a:buNone/>
            </a:pPr>
            <a:r>
              <a:rPr lang="en" sz="1100">
                <a:solidFill>
                  <a:schemeClr val="dk1"/>
                </a:solidFill>
                <a:latin typeface="Calibri"/>
                <a:ea typeface="Calibri"/>
                <a:cs typeface="Calibri"/>
                <a:sym typeface="Calibri"/>
              </a:rPr>
              <a:t>#7: </a:t>
            </a:r>
            <a:r>
              <a:rPr lang="en" sz="1100" b="1">
                <a:solidFill>
                  <a:srgbClr val="FF0000"/>
                </a:solidFill>
                <a:latin typeface="Calibri"/>
                <a:ea typeface="Calibri"/>
                <a:cs typeface="Calibri"/>
                <a:sym typeface="Calibri"/>
              </a:rPr>
              <a:t>We will have new food &amp; fertilizers.</a:t>
            </a:r>
            <a:r>
              <a:rPr lang="en" sz="1100">
                <a:solidFill>
                  <a:schemeClr val="dk1"/>
                </a:solidFill>
                <a:latin typeface="Calibri"/>
                <a:ea typeface="Calibri"/>
                <a:cs typeface="Calibri"/>
                <a:sym typeface="Calibri"/>
              </a:rPr>
              <a:t> We will have much better alternate protein production to replace traditional animal protein, &amp; "green" fertilizer. And taste will far exceed that of traditional cows!</a:t>
            </a:r>
            <a:endParaRPr sz="1100">
              <a:solidFill>
                <a:schemeClr val="dk1"/>
              </a:solidFill>
              <a:latin typeface="Calibri"/>
              <a:ea typeface="Calibri"/>
              <a:cs typeface="Calibri"/>
              <a:sym typeface="Calibri"/>
            </a:endParaRPr>
          </a:p>
          <a:p>
            <a:pPr marL="0" lvl="0" indent="0" algn="l" rtl="0">
              <a:spcBef>
                <a:spcPts val="0"/>
              </a:spcBef>
              <a:spcAft>
                <a:spcPts val="0"/>
              </a:spcAft>
              <a:buNone/>
            </a:pPr>
            <a:r>
              <a:rPr lang="en" sz="1100">
                <a:solidFill>
                  <a:schemeClr val="dk1"/>
                </a:solidFill>
                <a:latin typeface="Calibri"/>
                <a:ea typeface="Calibri"/>
                <a:cs typeface="Calibri"/>
                <a:sym typeface="Calibri"/>
              </a:rPr>
              <a:t>#8: </a:t>
            </a:r>
            <a:r>
              <a:rPr lang="en" sz="1100" b="1">
                <a:solidFill>
                  <a:srgbClr val="FF0000"/>
                </a:solidFill>
                <a:latin typeface="Calibri"/>
                <a:ea typeface="Calibri"/>
                <a:cs typeface="Calibri"/>
                <a:sym typeface="Calibri"/>
              </a:rPr>
              <a:t>Cars could be displaced in cities. </a:t>
            </a:r>
            <a:r>
              <a:rPr lang="en" sz="1100">
                <a:solidFill>
                  <a:schemeClr val="dk1"/>
                </a:solidFill>
                <a:latin typeface="Calibri"/>
                <a:ea typeface="Calibri"/>
                <a:cs typeface="Calibri"/>
                <a:sym typeface="Calibri"/>
              </a:rPr>
              <a:t>We could replace majority of cars in cities with personal autonomous transit as on-demand, affordable, public transit, increasing street throughput dramatically.</a:t>
            </a:r>
            <a:endParaRPr sz="1100">
              <a:solidFill>
                <a:schemeClr val="dk1"/>
              </a:solidFill>
              <a:latin typeface="Calibri"/>
              <a:ea typeface="Calibri"/>
              <a:cs typeface="Calibri"/>
              <a:sym typeface="Calibri"/>
            </a:endParaRPr>
          </a:p>
          <a:p>
            <a:pPr marL="0" lvl="0" indent="0" algn="l" rtl="0">
              <a:spcBef>
                <a:spcPts val="0"/>
              </a:spcBef>
              <a:spcAft>
                <a:spcPts val="0"/>
              </a:spcAft>
              <a:buNone/>
            </a:pPr>
            <a:r>
              <a:rPr lang="en" sz="1100">
                <a:solidFill>
                  <a:schemeClr val="dk1"/>
                </a:solidFill>
                <a:latin typeface="Calibri"/>
                <a:ea typeface="Calibri"/>
                <a:cs typeface="Calibri"/>
                <a:sym typeface="Calibri"/>
              </a:rPr>
              <a:t>#9: </a:t>
            </a:r>
            <a:r>
              <a:rPr lang="en" sz="1100" b="1">
                <a:solidFill>
                  <a:srgbClr val="FF0000"/>
                </a:solidFill>
                <a:latin typeface="Calibri"/>
                <a:ea typeface="Calibri"/>
                <a:cs typeface="Calibri"/>
                <a:sym typeface="Calibri"/>
              </a:rPr>
              <a:t>Flying will be faster. </a:t>
            </a:r>
            <a:r>
              <a:rPr lang="en" sz="1100">
                <a:solidFill>
                  <a:schemeClr val="dk1"/>
                </a:solidFill>
                <a:latin typeface="Calibri"/>
                <a:ea typeface="Calibri"/>
                <a:cs typeface="Calibri"/>
                <a:sym typeface="Calibri"/>
              </a:rPr>
              <a:t>We will have Mach 5 planes that get us from NYC to London in 90 minutes - on sustainable aviation fuel, making the world closer.</a:t>
            </a:r>
            <a:endParaRPr sz="1100">
              <a:solidFill>
                <a:schemeClr val="dk1"/>
              </a:solidFill>
              <a:latin typeface="Calibri"/>
              <a:ea typeface="Calibri"/>
              <a:cs typeface="Calibri"/>
              <a:sym typeface="Calibri"/>
            </a:endParaRPr>
          </a:p>
          <a:p>
            <a:pPr marL="0" lvl="0" indent="0" algn="l" rtl="0">
              <a:spcBef>
                <a:spcPts val="0"/>
              </a:spcBef>
              <a:spcAft>
                <a:spcPts val="0"/>
              </a:spcAft>
              <a:buNone/>
            </a:pPr>
            <a:r>
              <a:rPr lang="en" sz="1100">
                <a:solidFill>
                  <a:schemeClr val="dk1"/>
                </a:solidFill>
                <a:latin typeface="Calibri"/>
                <a:ea typeface="Calibri"/>
                <a:cs typeface="Calibri"/>
                <a:sym typeface="Calibri"/>
              </a:rPr>
              <a:t>#10: There will be </a:t>
            </a:r>
            <a:r>
              <a:rPr lang="en" sz="1100" b="1">
                <a:solidFill>
                  <a:srgbClr val="FF0000"/>
                </a:solidFill>
                <a:latin typeface="Calibri"/>
                <a:ea typeface="Calibri"/>
                <a:cs typeface="Calibri"/>
                <a:sym typeface="Calibri"/>
              </a:rPr>
              <a:t>clean, dispatchable electric power</a:t>
            </a:r>
            <a:r>
              <a:rPr lang="en" sz="1100">
                <a:solidFill>
                  <a:schemeClr val="dk1"/>
                </a:solidFill>
                <a:latin typeface="Calibri"/>
                <a:ea typeface="Calibri"/>
                <a:cs typeface="Calibri"/>
                <a:sym typeface="Calibri"/>
              </a:rPr>
              <a:t>. By 2050, fusion boilers will retrofit and replace coal and natural gas boilers reducing the need to build whole new fusion plants. Superhot geothermal &gt; 400C is also a real alternative.</a:t>
            </a:r>
            <a:endParaRPr sz="1100">
              <a:solidFill>
                <a:schemeClr val="dk1"/>
              </a:solidFill>
              <a:latin typeface="Calibri"/>
              <a:ea typeface="Calibri"/>
              <a:cs typeface="Calibri"/>
              <a:sym typeface="Calibri"/>
            </a:endParaRPr>
          </a:p>
          <a:p>
            <a:pPr marL="0" lvl="0" indent="0" algn="l" rtl="0">
              <a:spcBef>
                <a:spcPts val="0"/>
              </a:spcBef>
              <a:spcAft>
                <a:spcPts val="0"/>
              </a:spcAft>
              <a:buNone/>
            </a:pPr>
            <a:r>
              <a:rPr lang="en" sz="1100">
                <a:solidFill>
                  <a:schemeClr val="dk1"/>
                </a:solidFill>
                <a:latin typeface="Calibri"/>
                <a:ea typeface="Calibri"/>
                <a:cs typeface="Calibri"/>
                <a:sym typeface="Calibri"/>
              </a:rPr>
              <a:t>#11: </a:t>
            </a:r>
            <a:r>
              <a:rPr lang="en" sz="1100" b="1">
                <a:solidFill>
                  <a:srgbClr val="FF0000"/>
                </a:solidFill>
                <a:latin typeface="Calibri"/>
                <a:ea typeface="Calibri"/>
                <a:cs typeface="Calibri"/>
                <a:sym typeface="Calibri"/>
              </a:rPr>
              <a:t>Resources will be plentiful</a:t>
            </a:r>
            <a:r>
              <a:rPr lang="en" sz="1100">
                <a:solidFill>
                  <a:schemeClr val="dk1"/>
                </a:solidFill>
                <a:latin typeface="Calibri"/>
                <a:ea typeface="Calibri"/>
                <a:cs typeface="Calibri"/>
                <a:sym typeface="Calibri"/>
              </a:rPr>
              <a:t>. We will discover more natural resources than we consume &amp; prove resource doomers wrong on lithium, cobalt, copper.</a:t>
            </a:r>
            <a:endParaRPr sz="11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#12: Carbon will have solutions ... if we have time. Carbon emissions could be a smaller issue because entrepreneurs will develop and scale better technologies for cement, steel, agriculture, transportation, power production, DAC, etc.</a:t>
            </a:r>
            <a:endParaRPr sz="1100">
              <a:solidFill>
                <a:schemeClr val="dk1"/>
              </a:solidFill>
              <a:latin typeface="Calibri"/>
              <a:ea typeface="Calibri"/>
              <a:cs typeface="Calibri"/>
              <a:sym typeface="Calibri"/>
            </a:endParaRPr>
          </a:p>
        </p:txBody>
      </p:sp>
      <p:pic>
        <p:nvPicPr>
          <p:cNvPr id="200" name="Google Shape;200;p28"/>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7389753" y="152400"/>
            <a:ext cx="1487275" cy="1717976"/>
          </a:xfrm>
          <a:prstGeom prst="rect">
            <a:avLst/>
          </a:prstGeom>
          <a:noFill/>
          <a:ln>
            <a:noFill/>
          </a:ln>
        </p:spPr>
      </p:pic>
      <p:sp>
        <p:nvSpPr>
          <p:cNvPr id="201" name="Google Shape;201;p28"/>
          <p:cNvSpPr txBox="1"/>
          <p:nvPr/>
        </p:nvSpPr>
        <p:spPr>
          <a:xfrm>
            <a:off x="7187050" y="1930975"/>
            <a:ext cx="1911900" cy="1579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100">
                <a:solidFill>
                  <a:schemeClr val="dk1"/>
                </a:solidFill>
                <a:latin typeface="Calibri"/>
                <a:ea typeface="Calibri"/>
                <a:cs typeface="Calibri"/>
                <a:sym typeface="Calibri"/>
              </a:rPr>
              <a:t>Vinod Khosla (born 1955) is an billionaire businessman and venture capitalist. He is a co-founder of Sun Microsystems and the founder of Khosla Ventures. He is considered one of the most successful and influential venture capitalists. Estimated net worth at $6.8 Bln.</a:t>
            </a:r>
            <a:endParaRPr sz="1100">
              <a:solidFill>
                <a:schemeClr val="dk1"/>
              </a:solidFill>
              <a:latin typeface="Calibri"/>
              <a:ea typeface="Calibri"/>
              <a:cs typeface="Calibri"/>
              <a:sym typeface="Calibri"/>
            </a:endParaRPr>
          </a:p>
        </p:txBody>
      </p:sp>
      <p:sp>
        <p:nvSpPr>
          <p:cNvPr id="202" name="Google Shape;202;p28"/>
          <p:cNvSpPr txBox="1"/>
          <p:nvPr/>
        </p:nvSpPr>
        <p:spPr>
          <a:xfrm>
            <a:off x="6934200" y="3570775"/>
            <a:ext cx="2200500" cy="1262100"/>
          </a:xfrm>
          <a:prstGeom prst="rect">
            <a:avLst/>
          </a:prstGeom>
          <a:noFill/>
          <a:ln>
            <a:noFill/>
          </a:ln>
        </p:spPr>
        <p:txBody>
          <a:bodyPr spcFirstLastPara="1" wrap="square" lIns="91425" tIns="91425" rIns="91425" bIns="91425" anchor="t" anchorCtr="0">
            <a:spAutoFit/>
          </a:bodyPr>
          <a:lstStyle/>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https://www.khoslaventures.com/vinod-predictions-in-2023-of-what-the-next-10-to-25-years-might-look-like/</a:t>
            </a:r>
            <a:r>
              <a:rPr lang="en" sz="1000">
                <a:latin typeface="Calibri"/>
                <a:ea typeface="Calibri"/>
                <a:cs typeface="Calibri"/>
                <a:sym typeface="Calibri"/>
              </a:rPr>
              <a:t>  </a:t>
            </a:r>
            <a:br>
              <a:rPr lang="en" sz="1000">
                <a:latin typeface="Calibri"/>
                <a:ea typeface="Calibri"/>
                <a:cs typeface="Calibri"/>
                <a:sym typeface="Calibri"/>
              </a:rPr>
            </a:br>
            <a:endParaRPr sz="1000">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5"/>
              </a:rPr>
              <a:t>https://www.youtube.com/watch?v=_cfyERvND0w</a:t>
            </a:r>
            <a:r>
              <a:rPr lang="en" sz="1000">
                <a:latin typeface="Calibri"/>
                <a:ea typeface="Calibri"/>
                <a:cs typeface="Calibri"/>
                <a:sym typeface="Calibri"/>
              </a:rPr>
              <a:t> </a:t>
            </a:r>
            <a:endParaRPr sz="1000">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pic>
        <p:nvPicPr>
          <p:cNvPr id="207" name="Google Shape;207;p29"/>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396342" y="551487"/>
            <a:ext cx="8366998" cy="3611784"/>
          </a:xfrm>
          <a:prstGeom prst="rect">
            <a:avLst/>
          </a:prstGeom>
          <a:noFill/>
          <a:ln>
            <a:noFill/>
          </a:ln>
        </p:spPr>
      </p:pic>
      <p:sp>
        <p:nvSpPr>
          <p:cNvPr id="208" name="Google Shape;208;p29"/>
          <p:cNvSpPr txBox="1"/>
          <p:nvPr/>
        </p:nvSpPr>
        <p:spPr>
          <a:xfrm>
            <a:off x="72300" y="76200"/>
            <a:ext cx="3999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Tech Layoffs </a:t>
            </a:r>
            <a:r>
              <a:rPr lang="en" sz="2000" b="1">
                <a:solidFill>
                  <a:schemeClr val="dk1"/>
                </a:solidFill>
                <a:latin typeface="Calibri"/>
                <a:ea typeface="Calibri"/>
                <a:cs typeface="Calibri"/>
                <a:sym typeface="Calibri"/>
              </a:rPr>
              <a:t>were</a:t>
            </a:r>
            <a:r>
              <a:rPr lang="en" sz="2000" b="1" i="0" u="none" strike="noStrike" cap="none">
                <a:solidFill>
                  <a:schemeClr val="dk1"/>
                </a:solidFill>
                <a:latin typeface="Calibri"/>
                <a:ea typeface="Calibri"/>
                <a:cs typeface="Calibri"/>
                <a:sym typeface="Calibri"/>
              </a:rPr>
              <a:t> lower than in 2023</a:t>
            </a:r>
            <a:endParaRPr sz="2000" b="1" i="0" u="none" strike="noStrike" cap="none">
              <a:solidFill>
                <a:srgbClr val="000000"/>
              </a:solidFill>
              <a:latin typeface="Calibri"/>
              <a:ea typeface="Calibri"/>
              <a:cs typeface="Calibri"/>
              <a:sym typeface="Calibri"/>
            </a:endParaRPr>
          </a:p>
        </p:txBody>
      </p:sp>
      <p:sp>
        <p:nvSpPr>
          <p:cNvPr id="209" name="Google Shape;209;p29"/>
          <p:cNvSpPr txBox="1"/>
          <p:nvPr/>
        </p:nvSpPr>
        <p:spPr>
          <a:xfrm>
            <a:off x="6291625" y="109963"/>
            <a:ext cx="20025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F0F0F"/>
                </a:solidFill>
                <a:latin typeface="Calibri"/>
                <a:ea typeface="Calibri"/>
                <a:cs typeface="Calibri"/>
                <a:sym typeface="Calibri"/>
              </a:rPr>
              <a:t>Layoffs - </a:t>
            </a:r>
            <a:r>
              <a:rPr lang="en" sz="1300" b="0" i="0" u="sng" strike="noStrike" cap="none">
                <a:solidFill>
                  <a:schemeClr val="hlink"/>
                </a:solidFill>
                <a:latin typeface="Calibri"/>
                <a:ea typeface="Calibri"/>
                <a:cs typeface="Calibri"/>
                <a:sym typeface="Calibri"/>
                <a:hlinkClick r:id="rId4"/>
              </a:rPr>
              <a:t>https://layoffs.fyi</a:t>
            </a:r>
            <a:r>
              <a:rPr lang="en" sz="1300" b="0" i="0" u="none" strike="noStrike" cap="none">
                <a:solidFill>
                  <a:srgbClr val="0F0F0F"/>
                </a:solidFill>
                <a:latin typeface="Calibri"/>
                <a:ea typeface="Calibri"/>
                <a:cs typeface="Calibri"/>
                <a:sym typeface="Calibri"/>
              </a:rPr>
              <a:t> </a:t>
            </a:r>
            <a:endParaRPr sz="1300" b="0" i="0" u="none" strike="noStrike" cap="none">
              <a:solidFill>
                <a:srgbClr val="0F0F0F"/>
              </a:solidFill>
              <a:latin typeface="Calibri"/>
              <a:ea typeface="Calibri"/>
              <a:cs typeface="Calibri"/>
              <a:sym typeface="Calibri"/>
            </a:endParaRPr>
          </a:p>
        </p:txBody>
      </p:sp>
      <p:sp>
        <p:nvSpPr>
          <p:cNvPr id="210" name="Google Shape;210;p29"/>
          <p:cNvSpPr txBox="1"/>
          <p:nvPr/>
        </p:nvSpPr>
        <p:spPr>
          <a:xfrm>
            <a:off x="387275" y="4202375"/>
            <a:ext cx="8367000" cy="923400"/>
          </a:xfrm>
          <a:prstGeom prst="rect">
            <a:avLst/>
          </a:prstGeom>
          <a:solidFill>
            <a:srgbClr val="FFF2CC"/>
          </a:solidFill>
          <a:ln>
            <a:noFill/>
          </a:ln>
        </p:spPr>
        <p:txBody>
          <a:bodyPr spcFirstLastPara="1" wrap="square" lIns="91425" tIns="91425" rIns="91425" bIns="91425" anchor="t" anchorCtr="0">
            <a:spAutoFit/>
          </a:bodyPr>
          <a:lstStyle/>
          <a:p>
            <a:pPr marL="457200" marR="0" lvl="0" indent="-304800" algn="l" rtl="0">
              <a:lnSpc>
                <a:spcPct val="100000"/>
              </a:lnSpc>
              <a:spcBef>
                <a:spcPts val="0"/>
              </a:spcBef>
              <a:spcAft>
                <a:spcPts val="0"/>
              </a:spcAft>
              <a:buClr>
                <a:srgbClr val="000000"/>
              </a:buClr>
              <a:buSzPts val="1200"/>
              <a:buFont typeface="Calibri"/>
              <a:buChar char="●"/>
            </a:pPr>
            <a:r>
              <a:rPr lang="en" sz="1200" b="0" i="0" u="none" strike="noStrike" cap="none">
                <a:solidFill>
                  <a:srgbClr val="000000"/>
                </a:solidFill>
                <a:latin typeface="Calibri"/>
                <a:ea typeface="Calibri"/>
                <a:cs typeface="Calibri"/>
                <a:sym typeface="Calibri"/>
              </a:rPr>
              <a:t>Salaries for AI engineers rose 12% from the third to fourth quarter last year</a:t>
            </a:r>
            <a:endParaRPr sz="1200" b="0" i="0" u="none" strike="noStrike" cap="none">
              <a:solidFill>
                <a:srgbClr val="000000"/>
              </a:solidFill>
              <a:latin typeface="Calibri"/>
              <a:ea typeface="Calibri"/>
              <a:cs typeface="Calibri"/>
              <a:sym typeface="Calibri"/>
            </a:endParaRPr>
          </a:p>
          <a:p>
            <a:pPr marL="457200" marR="0" lvl="0" indent="-304800" algn="l" rtl="0">
              <a:lnSpc>
                <a:spcPct val="100000"/>
              </a:lnSpc>
              <a:spcBef>
                <a:spcPts val="0"/>
              </a:spcBef>
              <a:spcAft>
                <a:spcPts val="0"/>
              </a:spcAft>
              <a:buClr>
                <a:srgbClr val="000000"/>
              </a:buClr>
              <a:buSzPts val="1200"/>
              <a:buFont typeface="Calibri"/>
              <a:buChar char="●"/>
            </a:pPr>
            <a:r>
              <a:rPr lang="en" sz="1200" b="0" i="0" u="none" strike="noStrike" cap="none">
                <a:solidFill>
                  <a:srgbClr val="000000"/>
                </a:solidFill>
                <a:latin typeface="Calibri"/>
                <a:ea typeface="Calibri"/>
                <a:cs typeface="Calibri"/>
                <a:sym typeface="Calibri"/>
              </a:rPr>
              <a:t>The average salary for a senior AI engineer nationally is more than $190,000, according to Comprehensive.io.</a:t>
            </a:r>
            <a:endParaRPr sz="1200" b="0" i="0" u="none" strike="noStrike" cap="none">
              <a:solidFill>
                <a:srgbClr val="000000"/>
              </a:solidFill>
              <a:latin typeface="Calibri"/>
              <a:ea typeface="Calibri"/>
              <a:cs typeface="Calibri"/>
              <a:sym typeface="Calibri"/>
            </a:endParaRPr>
          </a:p>
          <a:p>
            <a:pPr marL="457200" marR="0" lvl="0" indent="-304800" algn="l" rtl="0">
              <a:lnSpc>
                <a:spcPct val="100000"/>
              </a:lnSpc>
              <a:spcBef>
                <a:spcPts val="0"/>
              </a:spcBef>
              <a:spcAft>
                <a:spcPts val="0"/>
              </a:spcAft>
              <a:buClr>
                <a:srgbClr val="000000"/>
              </a:buClr>
              <a:buSzPts val="1200"/>
              <a:buFont typeface="Calibri"/>
              <a:buChar char="●"/>
            </a:pPr>
            <a:r>
              <a:rPr lang="en" sz="1200" b="0" i="0" u="none" strike="noStrike" cap="none">
                <a:solidFill>
                  <a:srgbClr val="000000"/>
                </a:solidFill>
                <a:latin typeface="Calibri"/>
                <a:ea typeface="Calibri"/>
                <a:cs typeface="Calibri"/>
                <a:sym typeface="Calibri"/>
              </a:rPr>
              <a:t>AI has a talent shortage, meaning </a:t>
            </a:r>
            <a:r>
              <a:rPr lang="en" sz="1200" b="1" i="0" u="none" strike="noStrike" cap="none">
                <a:solidFill>
                  <a:srgbClr val="FF0000"/>
                </a:solidFill>
                <a:latin typeface="Calibri"/>
                <a:ea typeface="Calibri"/>
                <a:cs typeface="Calibri"/>
                <a:sym typeface="Calibri"/>
              </a:rPr>
              <a:t>$1 Mln salary job offers! </a:t>
            </a:r>
            <a:r>
              <a:rPr lang="en" sz="1200" b="0" i="0" u="none" strike="noStrike" cap="none">
                <a:solidFill>
                  <a:srgbClr val="000000"/>
                </a:solidFill>
                <a:latin typeface="Calibri"/>
                <a:ea typeface="Calibri"/>
                <a:cs typeface="Calibri"/>
                <a:sym typeface="Calibri"/>
              </a:rPr>
              <a:t>Even during tech layoffs</a:t>
            </a:r>
            <a:br>
              <a:rPr lang="en" sz="1200" b="0" i="0" u="none" strike="noStrike" cap="none">
                <a:solidFill>
                  <a:srgbClr val="000000"/>
                </a:solidFill>
                <a:latin typeface="Calibri"/>
                <a:ea typeface="Calibri"/>
                <a:cs typeface="Calibri"/>
                <a:sym typeface="Calibri"/>
              </a:rPr>
            </a:br>
            <a:r>
              <a:rPr lang="en" sz="1200" b="0" i="0" u="sng" strike="noStrike" cap="none">
                <a:solidFill>
                  <a:schemeClr val="hlink"/>
                </a:solidFill>
                <a:latin typeface="Calibri"/>
                <a:ea typeface="Calibri"/>
                <a:cs typeface="Calibri"/>
                <a:sym typeface="Calibri"/>
                <a:hlinkClick r:id="rId5"/>
              </a:rPr>
              <a:t>https://qz.com/tech-layoffs-high-ai-struggling-find-talent-1851368861</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211" name="Google Shape;211;p29"/>
          <p:cNvSpPr/>
          <p:nvPr/>
        </p:nvSpPr>
        <p:spPr>
          <a:xfrm>
            <a:off x="4287625" y="1553375"/>
            <a:ext cx="861300" cy="16653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2" name="Google Shape;212;p29"/>
          <p:cNvSpPr/>
          <p:nvPr/>
        </p:nvSpPr>
        <p:spPr>
          <a:xfrm>
            <a:off x="6972997" y="1553393"/>
            <a:ext cx="861300" cy="16653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pic>
        <p:nvPicPr>
          <p:cNvPr id="217" name="Google Shape;217;p30"/>
          <p:cNvPicPr preferRelativeResize="0"/>
          <p:nvPr/>
        </p:nvPicPr>
        <p:blipFill rotWithShape="1">
          <a:blip r:embed="rId3">
            <a:alphaModFix/>
          </a:blip>
          <a:srcRect/>
          <a:stretch/>
        </p:blipFill>
        <p:spPr>
          <a:xfrm>
            <a:off x="605238" y="1203525"/>
            <a:ext cx="2094075" cy="2094075"/>
          </a:xfrm>
          <a:prstGeom prst="rect">
            <a:avLst/>
          </a:prstGeom>
          <a:noFill/>
          <a:ln>
            <a:noFill/>
          </a:ln>
        </p:spPr>
      </p:pic>
      <p:sp>
        <p:nvSpPr>
          <p:cNvPr id="218" name="Google Shape;218;p30"/>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219" name="Google Shape;219;p30"/>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220" name="Google Shape;220;p30"/>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10941" y="3664175"/>
            <a:ext cx="1144600" cy="415875"/>
          </a:xfrm>
          <a:prstGeom prst="rect">
            <a:avLst/>
          </a:prstGeom>
          <a:noFill/>
          <a:ln>
            <a:noFill/>
          </a:ln>
        </p:spPr>
      </p:pic>
      <p:sp>
        <p:nvSpPr>
          <p:cNvPr id="221" name="Google Shape;221;p30"/>
          <p:cNvSpPr txBox="1"/>
          <p:nvPr/>
        </p:nvSpPr>
        <p:spPr>
          <a:xfrm>
            <a:off x="912377"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222" name="Google Shape;222;p30"/>
          <p:cNvSpPr txBox="1"/>
          <p:nvPr/>
        </p:nvSpPr>
        <p:spPr>
          <a:xfrm>
            <a:off x="536203" y="4360974"/>
            <a:ext cx="2094075" cy="430857"/>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1"/>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2452</Words>
  <Application>Microsoft Macintosh PowerPoint</Application>
  <PresentationFormat>On-screen Show (16:9)</PresentationFormat>
  <Paragraphs>195</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Calibri</vt:lpstr>
      <vt:lpstr>Roboto Mono</vt: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1</cp:revision>
  <dcterms:modified xsi:type="dcterms:W3CDTF">2024-04-26T13:00:28Z</dcterms:modified>
</cp:coreProperties>
</file>