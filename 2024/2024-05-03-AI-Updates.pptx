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Roboto Mono" pitchFamily="49"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 name="Google Shape;5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ff37f004d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g1ff37f004d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8f5bd0cd8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28f5bd0cd8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d115ffcd17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g2d115ffcd17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d13e027543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2d13e027543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d1ee32724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2d1ee32724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d1bbcf7b5f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g2d1bbcf7b5f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d18c1b555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2d18c1b555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d1ee327248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g2d1ee327248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1ff36643659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1ff36643659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d13e027543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g2d13e027543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d1e633be35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g2d1e633be35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1ea437d2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g2d1ea437d2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217086c0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g2d217086c0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f80c797b9f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g1f80c797b9f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d217086c09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g2d217086c09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1f80c797b9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g1f80c797b9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1f80c797b9f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g1f80c797b9f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6" name="Google Shape;24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rtl="0">
              <a:spcBef>
                <a:spcPts val="0"/>
              </a:spcBef>
              <a:spcAft>
                <a:spcPts val="0"/>
              </a:spcAft>
              <a:buSzPts val="2800"/>
              <a:buNone/>
              <a:defRPr/>
            </a:lvl1pPr>
            <a:lvl2pPr lvl="1" algn="l" rtl="0">
              <a:spcBef>
                <a:spcPts val="0"/>
              </a:spcBef>
              <a:spcAft>
                <a:spcPts val="0"/>
              </a:spcAft>
              <a:buSzPts val="2800"/>
              <a:buNone/>
              <a:defRPr/>
            </a:lvl2pPr>
            <a:lvl3pPr lvl="2" algn="l" rtl="0">
              <a:spcBef>
                <a:spcPts val="0"/>
              </a:spcBef>
              <a:spcAft>
                <a:spcPts val="0"/>
              </a:spcAft>
              <a:buSzPts val="2800"/>
              <a:buNone/>
              <a:defRPr/>
            </a:lvl3pPr>
            <a:lvl4pPr lvl="3" algn="l" rtl="0">
              <a:spcBef>
                <a:spcPts val="0"/>
              </a:spcBef>
              <a:spcAft>
                <a:spcPts val="0"/>
              </a:spcAft>
              <a:buSzPts val="2800"/>
              <a:buNone/>
              <a:defRPr/>
            </a:lvl4pPr>
            <a:lvl5pPr lvl="4" algn="l" rtl="0">
              <a:spcBef>
                <a:spcPts val="0"/>
              </a:spcBef>
              <a:spcAft>
                <a:spcPts val="0"/>
              </a:spcAft>
              <a:buSzPts val="2800"/>
              <a:buNone/>
              <a:defRPr/>
            </a:lvl5pPr>
            <a:lvl6pPr lvl="5" algn="l" rtl="0">
              <a:spcBef>
                <a:spcPts val="0"/>
              </a:spcBef>
              <a:spcAft>
                <a:spcPts val="0"/>
              </a:spcAft>
              <a:buSzPts val="2800"/>
              <a:buNone/>
              <a:defRPr/>
            </a:lvl6pPr>
            <a:lvl7pPr lvl="6" algn="l" rtl="0">
              <a:spcBef>
                <a:spcPts val="0"/>
              </a:spcBef>
              <a:spcAft>
                <a:spcPts val="0"/>
              </a:spcAft>
              <a:buSzPts val="2800"/>
              <a:buNone/>
              <a:defRPr/>
            </a:lvl7pPr>
            <a:lvl8pPr lvl="7" algn="l" rtl="0">
              <a:spcBef>
                <a:spcPts val="0"/>
              </a:spcBef>
              <a:spcAft>
                <a:spcPts val="0"/>
              </a:spcAft>
              <a:buSzPts val="2800"/>
              <a:buNone/>
              <a:defRPr/>
            </a:lvl8pPr>
            <a:lvl9pPr lvl="8" algn="l"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rtl="0">
              <a:spcBef>
                <a:spcPts val="0"/>
              </a:spcBef>
              <a:spcAft>
                <a:spcPts val="0"/>
              </a:spcAft>
              <a:buSzPts val="1800"/>
              <a:buNone/>
              <a:defRPr/>
            </a:lvl1pPr>
            <a:lvl2pPr marL="914400" lvl="1" indent="-228600" algn="l" rtl="0">
              <a:spcBef>
                <a:spcPts val="0"/>
              </a:spcBef>
              <a:spcAft>
                <a:spcPts val="0"/>
              </a:spcAft>
              <a:buSzPts val="1400"/>
              <a:buNone/>
              <a:defRPr/>
            </a:lvl2pPr>
            <a:lvl3pPr marL="1371600" lvl="2" indent="-228600" algn="l" rtl="0">
              <a:spcBef>
                <a:spcPts val="0"/>
              </a:spcBef>
              <a:spcAft>
                <a:spcPts val="0"/>
              </a:spcAft>
              <a:buSzPts val="1400"/>
              <a:buNone/>
              <a:defRPr/>
            </a:lvl3pPr>
            <a:lvl4pPr marL="1828800" lvl="3" indent="-228600" algn="l" rtl="0">
              <a:spcBef>
                <a:spcPts val="0"/>
              </a:spcBef>
              <a:spcAft>
                <a:spcPts val="0"/>
              </a:spcAft>
              <a:buSzPts val="1400"/>
              <a:buNone/>
              <a:defRPr/>
            </a:lvl4pPr>
            <a:lvl5pPr marL="2286000" lvl="4" indent="-228600" algn="l" rtl="0">
              <a:spcBef>
                <a:spcPts val="0"/>
              </a:spcBef>
              <a:spcAft>
                <a:spcPts val="0"/>
              </a:spcAft>
              <a:buSzPts val="1400"/>
              <a:buNone/>
              <a:defRPr/>
            </a:lvl5pPr>
            <a:lvl6pPr marL="2743200" lvl="5" indent="-228600" algn="l" rtl="0">
              <a:spcBef>
                <a:spcPts val="0"/>
              </a:spcBef>
              <a:spcAft>
                <a:spcPts val="0"/>
              </a:spcAft>
              <a:buSzPts val="1400"/>
              <a:buNone/>
              <a:defRPr/>
            </a:lvl6pPr>
            <a:lvl7pPr marL="3200400" lvl="6" indent="-228600" algn="l" rtl="0">
              <a:spcBef>
                <a:spcPts val="0"/>
              </a:spcBef>
              <a:spcAft>
                <a:spcPts val="0"/>
              </a:spcAft>
              <a:buSzPts val="1400"/>
              <a:buNone/>
              <a:defRPr/>
            </a:lvl7pPr>
            <a:lvl8pPr marL="3657600" lvl="7" indent="-228600" algn="l" rtl="0">
              <a:spcBef>
                <a:spcPts val="0"/>
              </a:spcBef>
              <a:spcAft>
                <a:spcPts val="0"/>
              </a:spcAft>
              <a:buSzPts val="1400"/>
              <a:buNone/>
              <a:defRPr/>
            </a:lvl8pPr>
            <a:lvl9pPr marL="4114800" lvl="8" indent="-228600" algn="l" rtl="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hyperlink" Target="https://ollama.com/library/llama3-gradient" TargetMode="External"/><Relationship Id="rId3" Type="http://schemas.openxmlformats.org/officeDocument/2006/relationships/hyperlink" Target="https://twitter.com/rohanpaul_ai/status/1783574428858696161" TargetMode="External"/><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gradient.ai" TargetMode="External"/><Relationship Id="rId5" Type="http://schemas.openxmlformats.org/officeDocument/2006/relationships/hyperlink" Target="https://huggingface.co/LoneStriker/Llama-3-8B-Instruct-262k-GGUF" TargetMode="External"/><Relationship Id="rId4" Type="http://schemas.openxmlformats.org/officeDocument/2006/relationships/hyperlink" Target="https://twitter.com/Gradient_AI_/status/1785030931407143040" TargetMode="External"/><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hyperlink" Target="https://rentry.co/GPT2" TargetMode="External"/><Relationship Id="rId7" Type="http://schemas.openxmlformats.org/officeDocument/2006/relationships/hyperlink" Target="https://twitter.com/albfresco/status/1784964830887104999"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analyticsvidhya.com/blog/2024/04/new-ai-model-gpt-chatbot-is-going-viral/" TargetMode="External"/><Relationship Id="rId5" Type="http://schemas.openxmlformats.org/officeDocument/2006/relationships/hyperlink" Target="https://www.youtube.com/watch?v=YDvHre2bAYc" TargetMode="External"/><Relationship Id="rId4" Type="http://schemas.openxmlformats.org/officeDocument/2006/relationships/hyperlink" Target="https://www.youtube.com/watch?v=3BDboYfjWE8"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www.youtube.com/watch?v=KgrSXWZIvAc" TargetMode="External"/><Relationship Id="rId7" Type="http://schemas.openxmlformats.org/officeDocument/2006/relationships/hyperlink" Target="https://apps.apple.com/us/app/claude/id6473753684"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jpeg"/><Relationship Id="rId11" Type="http://schemas.openxmlformats.org/officeDocument/2006/relationships/hyperlink" Target="https://github.com/EricLBuehler/mistral.rs" TargetMode="External"/><Relationship Id="rId5" Type="http://schemas.openxmlformats.org/officeDocument/2006/relationships/hyperlink" Target="https://www.youtube.com/watch?v=frOJDGG0Xds&amp;t=85s" TargetMode="External"/><Relationship Id="rId10" Type="http://schemas.openxmlformats.org/officeDocument/2006/relationships/hyperlink" Target="https://www.nytimes.com/2024/04/30/business/media/newspapers-sued-microsoft-openai.html" TargetMode="External"/><Relationship Id="rId4" Type="http://schemas.openxmlformats.org/officeDocument/2006/relationships/hyperlink" Target="https://levelup.gitconnected.com/inside-the-leaked-system-prompts-of-gpt-4-gemini-1-5-claude-3-and-more-4ecb3d22b447" TargetMode="External"/><Relationship Id="rId9" Type="http://schemas.openxmlformats.org/officeDocument/2006/relationships/hyperlink" Target="https://github.blog/2024-04-29-github-copilot-workspace/"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hyperlink" Target="https://console.cloud.google.com/vertex-ai/publishers/meta/model-garden/llama3" TargetMode="External"/><Relationship Id="rId3" Type="http://schemas.openxmlformats.org/officeDocument/2006/relationships/hyperlink" Target="https://writingmate.ai/blog/get-access-to-vidu-ai" TargetMode="External"/><Relationship Id="rId7" Type="http://schemas.openxmlformats.org/officeDocument/2006/relationships/hyperlink" Target="https://arxiv.org/abs/2404.19737" TargetMode="External"/><Relationship Id="rId12" Type="http://schemas.openxmlformats.org/officeDocument/2006/relationships/hyperlink" Target="https://azuremarketplace.microsoft.com/en-us/marketplace/apps/metagenai.meta-llama-3-8b-chat-offer"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hyperlink" Target="https://aws.amazon.com/bedrock/llama/" TargetMode="External"/><Relationship Id="rId5" Type="http://schemas.openxmlformats.org/officeDocument/2006/relationships/hyperlink" Target="https://twitter.com/AndrewYNg/status/1786057567178834328" TargetMode="External"/><Relationship Id="rId10" Type="http://schemas.openxmlformats.org/officeDocument/2006/relationships/hyperlink" Target="https://arxiv.org/abs/2404.19543" TargetMode="External"/><Relationship Id="rId4" Type="http://schemas.openxmlformats.org/officeDocument/2006/relationships/hyperlink" Target="https://www.youtube.com/watch?v=1pTCsI-7y-w" TargetMode="External"/><Relationship Id="rId9" Type="http://schemas.openxmlformats.org/officeDocument/2006/relationships/hyperlink" Target="https://github.com/2471023025/ralm_survey"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twitter.com/iScienceLuvr/status/1785247498744778886"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hyperlink" Target="https://twitter.com/rohanpaul_ai/status/1783835331529199748" TargetMode="External"/><Relationship Id="rId4" Type="http://schemas.openxmlformats.org/officeDocument/2006/relationships/hyperlink" Target="https://arxiv.org/abs/2404.18416"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hyperlink" Target="https://research.google/blog/scaling-hierarchical-agglomerative-clustering-to-trillion-edge-graphs/" TargetMode="External"/><Relationship Id="rId4" Type="http://schemas.openxmlformats.org/officeDocument/2006/relationships/hyperlink" Target="https://arxiv.org/abs/2404.16873"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dhs.gov/news/2024/04/29/fact-sheet-dhs-facilitates-safe-and-responsible-deployment-and-use-artificial"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www.dhs.gov/news/2024/04/26/over-20-technology-and-critical-infrastructure-executives-civil-rights-leaders" TargetMode="External"/><Relationship Id="rId5" Type="http://schemas.openxmlformats.org/officeDocument/2006/relationships/hyperlink" Target="https://www.youtube.com/watch?v=2GGLCvA6Rfg" TargetMode="Externa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hyperlink" Target="https://twitter.com/bgurley/status/1786073617316360670"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hyperlink" Target="https://twitter.com/ylecun/status/1785290144561373351"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hyperlink" Target="https://twitter.com/ylecun/status/1785504408534388878"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marktechpost.com/2024/04/25/understanding-key-terminologies-in-large-language-model-llm-universe/"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hyperlink" Target="https://github.com/KindXiaoming/pykan" TargetMode="External"/><Relationship Id="rId3" Type="http://schemas.openxmlformats.org/officeDocument/2006/relationships/hyperlink" Target="https://www.youtube.com/watch?v=O45AaRPQhuI" TargetMode="External"/><Relationship Id="rId7" Type="http://schemas.openxmlformats.org/officeDocument/2006/relationships/hyperlink" Target="https://arxiv.org/abs/2404.19756"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medium.com/@isaakmwangi2018/a-simplified-explanation-of-the-new-kolmogorov-arnold-network-kan-from-mit-cbb59793a040" TargetMode="External"/><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hyperlink" Target="https://kindxiaoming.github.io/pykan/"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nytimes.com/2024/04/29/technology/ai-google-microsoft.html"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hyperlink" Target="https://playbill.com/production/scarlett-dreams-off-broadway-greenwich-house-theater-2024" TargetMode="External"/><Relationship Id="rId7"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6.jpeg"/><Relationship Id="rId5" Type="http://schemas.openxmlformats.org/officeDocument/2006/relationships/image" Target="../media/image25.png"/><Relationship Id="rId4" Type="http://schemas.openxmlformats.org/officeDocument/2006/relationships/hyperlink" Target="https://www.tiktok.com/@scarlettdreamsplay/video/7358121249899449646"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hyperlink" Target="https://huggingface.co"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chat.lmsys.org/?leaderboard" TargetMode="External"/><Relationship Id="rId7"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hyperlink" Target="https://youtu.be/NQmN6xSorus?si=tobwvNj8T2iiNYe6" TargetMode="External"/><Relationship Id="rId7" Type="http://schemas.openxmlformats.org/officeDocument/2006/relationships/hyperlink" Target="https://theconversation.com/computer-says-no-more-employers-are-using-ai-to-recruit-increasing-the-risk-of-discrimination-218598"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www.cbsnews.com/news/ai-job-applications-mass-apply-autofill-job-search/" TargetMode="External"/><Relationship Id="rId11" Type="http://schemas.openxmlformats.org/officeDocument/2006/relationships/image" Target="../media/image37.jpeg"/><Relationship Id="rId5" Type="http://schemas.openxmlformats.org/officeDocument/2006/relationships/hyperlink" Target="https://www.forbes.com/sites/jodiecook/2023/12/08/outsmarting-ai-the-new-challenge-for-job-seekers-and-employers" TargetMode="External"/><Relationship Id="rId10" Type="http://schemas.openxmlformats.org/officeDocument/2006/relationships/hyperlink" Target="https://www.whitehouse.gov/oncd/briefing-room/2024/04/29/press-release-wh-cyber-workforce-convening/" TargetMode="External"/><Relationship Id="rId4" Type="http://schemas.openxmlformats.org/officeDocument/2006/relationships/hyperlink" Target="https://www.wired.com/story/recruiters-ai-application-overload/" TargetMode="External"/><Relationship Id="rId9" Type="http://schemas.openxmlformats.org/officeDocument/2006/relationships/image" Target="../media/image36.jpe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hyperlink" Target="https://layoffs.fyi"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4"/>
          <p:cNvSpPr txBox="1"/>
          <p:nvPr/>
        </p:nvSpPr>
        <p:spPr>
          <a:xfrm>
            <a:off x="86325" y="975425"/>
            <a:ext cx="4420200" cy="41097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Gradient.AI LLama3 8B with 1 Mln Tokens Context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Testing Llama3 on Apple Silicone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GPT2-Chatbot - temporary excitement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ChatGPT new long-term memory feature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System Prompts for GPT , Gemini, and Claude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Amazon Q Business - AI Assistant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on Apple App Store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GitHub Copilot Workspace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8 major U.S. newspapers sue OpenAI &amp; Microsoft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mistral.rs - Blazingly fast LLM inference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Vidu - Chinese Text-to-Video competitor to Sora</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Andrej Karpathy - LLM (llm.c) in space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Andrew Ng - Agents to create training data</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RALM_Survey - Retrieval Augmented LMs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Multi-token Prediction (Meta)</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Llama3 is available on AWS Bedrock, Azure, GCP</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Med-Gemini  (from Google)</a:t>
            </a:r>
            <a:endParaRPr sz="1500" b="1">
              <a:solidFill>
                <a:srgbClr val="3C78D8"/>
              </a:solidFill>
              <a:latin typeface="Calibri"/>
              <a:ea typeface="Calibri"/>
              <a:cs typeface="Calibri"/>
              <a:sym typeface="Calibri"/>
            </a:endParaRPr>
          </a:p>
        </p:txBody>
      </p:sp>
      <p:sp>
        <p:nvSpPr>
          <p:cNvPr id="58" name="Google Shape;58;p14"/>
          <p:cNvSpPr txBox="1"/>
          <p:nvPr/>
        </p:nvSpPr>
        <p:spPr>
          <a:xfrm>
            <a:off x="4599425" y="981719"/>
            <a:ext cx="4420200" cy="41097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Dilated Attention - path to Bln tokens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Sam Altman Q/A at Stanford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@gemini at Google Chrome browser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AdvPrompter - fast adversarial prompting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Google TeraHAC - trillion-edge graphs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Safety Board (Dept. of Homeland Security)</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Regulatory Capture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Yann LeCun: LLMs are flawed, but useful</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LLMs - Key Terminology</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Kolmogorov-Arnold Networks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Longevity Escape Velocity</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Demis Hassabis and Mustafa Suleyman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 Source Growth 2029-2013</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Scarlett Dreams - a Play About AI</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Crowd-sourced "Arena" Leaderboard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bots flooding job postings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Tech Layoffs are lower than in 2023</a:t>
            </a:r>
            <a:endParaRPr sz="1500" b="1">
              <a:solidFill>
                <a:srgbClr val="3C78D8"/>
              </a:solidFill>
              <a:latin typeface="Calibri"/>
              <a:ea typeface="Calibri"/>
              <a:cs typeface="Calibri"/>
              <a:sym typeface="Calibri"/>
            </a:endParaRPr>
          </a:p>
        </p:txBody>
      </p:sp>
      <p:sp>
        <p:nvSpPr>
          <p:cNvPr id="59" name="Google Shape;59;p14"/>
          <p:cNvSpPr txBox="1"/>
          <p:nvPr/>
        </p:nvSpPr>
        <p:spPr>
          <a:xfrm>
            <a:off x="86325" y="10975"/>
            <a:ext cx="2539200" cy="9420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600" b="1" i="0" u="none" strike="noStrike" cap="none">
                <a:solidFill>
                  <a:srgbClr val="3C78D8"/>
                </a:solidFill>
                <a:latin typeface="Calibri"/>
                <a:ea typeface="Calibri"/>
                <a:cs typeface="Calibri"/>
                <a:sym typeface="Calibri"/>
              </a:rPr>
              <a:t>AI Updates </a:t>
            </a:r>
            <a:endParaRPr sz="3600" b="1" i="0" u="none" strike="noStrike" cap="none">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n" sz="2400" b="1">
                <a:solidFill>
                  <a:srgbClr val="3C78D8"/>
                </a:solidFill>
                <a:latin typeface="Calibri"/>
                <a:ea typeface="Calibri"/>
                <a:cs typeface="Calibri"/>
                <a:sym typeface="Calibri"/>
              </a:rPr>
              <a:t>May 03</a:t>
            </a:r>
            <a:r>
              <a:rPr lang="en" sz="2400" b="1" i="0" u="none" strike="noStrike" cap="none">
                <a:solidFill>
                  <a:srgbClr val="3C78D8"/>
                </a:solidFill>
                <a:latin typeface="Calibri"/>
                <a:ea typeface="Calibri"/>
                <a:cs typeface="Calibri"/>
                <a:sym typeface="Calibri"/>
              </a:rPr>
              <a:t>, 2024</a:t>
            </a:r>
            <a:endParaRPr sz="2400" b="1" i="0" u="none" strike="noStrike" cap="none">
              <a:solidFill>
                <a:srgbClr val="3C78D8"/>
              </a:solidFill>
              <a:latin typeface="Calibri"/>
              <a:ea typeface="Calibri"/>
              <a:cs typeface="Calibri"/>
              <a:sym typeface="Calibri"/>
            </a:endParaRPr>
          </a:p>
        </p:txBody>
      </p:sp>
      <p:pic>
        <p:nvPicPr>
          <p:cNvPr id="60" name="Google Shape;60;p1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129676" y="91701"/>
            <a:ext cx="929200" cy="1408376"/>
          </a:xfrm>
          <a:prstGeom prst="rect">
            <a:avLst/>
          </a:prstGeom>
          <a:noFill/>
          <a:ln>
            <a:noFill/>
          </a:ln>
        </p:spPr>
      </p:pic>
      <p:pic>
        <p:nvPicPr>
          <p:cNvPr id="61" name="Google Shape;61;p1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694850" y="99133"/>
            <a:ext cx="1512450" cy="795250"/>
          </a:xfrm>
          <a:prstGeom prst="rect">
            <a:avLst/>
          </a:prstGeom>
          <a:noFill/>
          <a:ln>
            <a:noFill/>
          </a:ln>
        </p:spPr>
      </p:pic>
      <p:sp>
        <p:nvSpPr>
          <p:cNvPr id="62" name="Google Shape;62;p14"/>
          <p:cNvSpPr txBox="1"/>
          <p:nvPr/>
        </p:nvSpPr>
        <p:spPr>
          <a:xfrm>
            <a:off x="4276626" y="99125"/>
            <a:ext cx="3752100" cy="81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May 1 is a public holiday in 160+ countries! Mostly as an International Worker's Day. </a:t>
            </a:r>
            <a:r>
              <a:rPr lang="en" sz="1300" b="1">
                <a:solidFill>
                  <a:srgbClr val="3C78D8"/>
                </a:solidFill>
                <a:latin typeface="Calibri"/>
                <a:ea typeface="Calibri"/>
                <a:cs typeface="Calibri"/>
                <a:sym typeface="Calibri"/>
              </a:rPr>
              <a:t>Germany: Der Erste Mai is an ancient festival to welcome the spring weather and to drive away evil spirits</a:t>
            </a:r>
            <a:endParaRPr sz="1300">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p:nvPr/>
        </p:nvSpPr>
        <p:spPr>
          <a:xfrm>
            <a:off x="71300" y="2662271"/>
            <a:ext cx="3993600" cy="77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PoSE Technique: The Positional Skip-wisE (PoSE) method simulates long inputs during training to increase context length, powering Llama 3's extension to 128k tokens.</a:t>
            </a:r>
            <a:endParaRPr sz="1300">
              <a:solidFill>
                <a:schemeClr val="dk1"/>
              </a:solidFill>
              <a:latin typeface="Calibri"/>
              <a:ea typeface="Calibri"/>
              <a:cs typeface="Calibri"/>
              <a:sym typeface="Calibri"/>
            </a:endParaRPr>
          </a:p>
          <a:p>
            <a:pPr marL="457200" marR="0" lvl="0" indent="-2921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https://twitter.com/rohanpaul_ai/status/1783574428858696161</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68" name="Google Shape;68;p15"/>
          <p:cNvSpPr txBox="1"/>
          <p:nvPr/>
        </p:nvSpPr>
        <p:spPr>
          <a:xfrm>
            <a:off x="38150" y="44350"/>
            <a:ext cx="5827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a:solidFill>
                  <a:srgbClr val="FF0000"/>
                </a:solidFill>
                <a:latin typeface="Calibri"/>
                <a:ea typeface="Calibri"/>
                <a:cs typeface="Calibri"/>
                <a:sym typeface="Calibri"/>
              </a:rPr>
              <a:t>Gradient.AI</a:t>
            </a:r>
            <a:r>
              <a:rPr lang="en" sz="1800" b="1">
                <a:solidFill>
                  <a:schemeClr val="dk1"/>
                </a:solidFill>
                <a:latin typeface="Calibri"/>
                <a:ea typeface="Calibri"/>
                <a:cs typeface="Calibri"/>
                <a:sym typeface="Calibri"/>
              </a:rPr>
              <a:t> - LLama-3 8B with </a:t>
            </a:r>
            <a:r>
              <a:rPr lang="en" sz="1800" b="1">
                <a:solidFill>
                  <a:srgbClr val="FF0000"/>
                </a:solidFill>
                <a:latin typeface="Calibri"/>
                <a:ea typeface="Calibri"/>
                <a:cs typeface="Calibri"/>
                <a:sym typeface="Calibri"/>
              </a:rPr>
              <a:t>1 Mln Tokens Context Length</a:t>
            </a:r>
            <a:endParaRPr sz="1800" b="1" i="0" u="none" strike="noStrike" cap="none">
              <a:solidFill>
                <a:srgbClr val="FF0000"/>
              </a:solidFill>
              <a:latin typeface="Calibri"/>
              <a:ea typeface="Calibri"/>
              <a:cs typeface="Calibri"/>
              <a:sym typeface="Calibri"/>
            </a:endParaRPr>
          </a:p>
        </p:txBody>
      </p:sp>
      <p:sp>
        <p:nvSpPr>
          <p:cNvPr id="69" name="Google Shape;69;p15"/>
          <p:cNvSpPr txBox="1"/>
          <p:nvPr/>
        </p:nvSpPr>
        <p:spPr>
          <a:xfrm>
            <a:off x="71300" y="1382200"/>
            <a:ext cx="3993600" cy="121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96850" algn="l" rtl="0">
              <a:lnSpc>
                <a:spcPct val="100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This model extends LLama-3-8b context length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from 8k to more than 1 Mln tokens</a:t>
            </a:r>
            <a:endParaRPr sz="1300">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It is developed by Gradient</a:t>
            </a:r>
            <a:endParaRPr sz="1300">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It demonstrates that SOTA LLMs can learn to operate on long context with minimal training by appropriately adjusting RoPE theta</a:t>
            </a:r>
            <a:endParaRPr sz="1300">
              <a:solidFill>
                <a:schemeClr val="dk1"/>
              </a:solidFill>
              <a:latin typeface="Calibri"/>
              <a:ea typeface="Calibri"/>
              <a:cs typeface="Calibri"/>
              <a:sym typeface="Calibri"/>
            </a:endParaRPr>
          </a:p>
        </p:txBody>
      </p:sp>
      <p:sp>
        <p:nvSpPr>
          <p:cNvPr id="70" name="Google Shape;70;p15"/>
          <p:cNvSpPr txBox="1"/>
          <p:nvPr/>
        </p:nvSpPr>
        <p:spPr>
          <a:xfrm>
            <a:off x="71300" y="436225"/>
            <a:ext cx="3993600" cy="880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"Excited to release the first @AIatMeta LLama-3 8B with a context length of over 1M on @huggingface"</a:t>
            </a:r>
            <a:endParaRPr sz="13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https://twitter.com/Gradient_AI_/status/1785030931407143040</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https://huggingface.co/LoneStriker/Llama-3-8B-Instruct-262k-GGUF</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6"/>
              </a:rPr>
              <a:t>https://gradient.ai</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71" name="Google Shape;71;p15"/>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890562" y="44350"/>
            <a:ext cx="3203526" cy="2998000"/>
          </a:xfrm>
          <a:prstGeom prst="rect">
            <a:avLst/>
          </a:prstGeom>
          <a:noFill/>
          <a:ln w="9525" cap="flat" cmpd="sng">
            <a:solidFill>
              <a:srgbClr val="FF0000"/>
            </a:solidFill>
            <a:prstDash val="solid"/>
            <a:round/>
            <a:headEnd type="none" w="sm" len="sm"/>
            <a:tailEnd type="none" w="sm" len="sm"/>
          </a:ln>
        </p:spPr>
      </p:pic>
      <p:sp>
        <p:nvSpPr>
          <p:cNvPr id="72" name="Google Shape;72;p15"/>
          <p:cNvSpPr txBox="1"/>
          <p:nvPr/>
        </p:nvSpPr>
        <p:spPr>
          <a:xfrm>
            <a:off x="71300" y="3496246"/>
            <a:ext cx="3993600" cy="158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The gradient models are available in LM Studio &amp; ollama.</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8"/>
              </a:rPr>
              <a:t>https://ollama.com/library/llama3-gradient</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You can have 1 Mln tokens context, but it takes a lot of memory. 512K tokens take ~ 95 GB memory. Ollama allocates this memory even if actual input/output are small.</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rgbClr val="3C78D8"/>
                </a:solidFill>
                <a:latin typeface="Roboto Mono"/>
                <a:ea typeface="Roboto Mono"/>
                <a:cs typeface="Roboto Mono"/>
                <a:sym typeface="Roboto Mono"/>
              </a:rPr>
              <a:t>ollama run llama3-gradient --verbose</a:t>
            </a:r>
            <a:endParaRPr sz="12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3C78D8"/>
                </a:solidFill>
                <a:latin typeface="Roboto Mono"/>
                <a:ea typeface="Roboto Mono"/>
                <a:cs typeface="Roboto Mono"/>
                <a:sym typeface="Roboto Mono"/>
              </a:rPr>
              <a:t>&gt;&gt;&gt; /set parameter num_ctx 512000</a:t>
            </a:r>
            <a:endParaRPr sz="1200">
              <a:solidFill>
                <a:srgbClr val="3C78D8"/>
              </a:solidFill>
              <a:latin typeface="Roboto Mono"/>
              <a:ea typeface="Roboto Mono"/>
              <a:cs typeface="Roboto Mono"/>
              <a:sym typeface="Roboto Mono"/>
            </a:endParaRPr>
          </a:p>
        </p:txBody>
      </p:sp>
      <p:pic>
        <p:nvPicPr>
          <p:cNvPr id="73" name="Google Shape;73;p15"/>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4113625" y="2944804"/>
            <a:ext cx="1706187" cy="213994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p:nvPr/>
        </p:nvSpPr>
        <p:spPr>
          <a:xfrm>
            <a:off x="31350" y="57975"/>
            <a:ext cx="5586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Testing Llama3 on Apple Silicone MacBook Pro</a:t>
            </a:r>
            <a:endParaRPr sz="2000" b="1" i="0" u="none" strike="noStrike" cap="none">
              <a:solidFill>
                <a:srgbClr val="000000"/>
              </a:solidFill>
              <a:latin typeface="Calibri"/>
              <a:ea typeface="Calibri"/>
              <a:cs typeface="Calibri"/>
              <a:sym typeface="Calibri"/>
            </a:endParaRPr>
          </a:p>
        </p:txBody>
      </p:sp>
      <p:sp>
        <p:nvSpPr>
          <p:cNvPr id="79" name="Google Shape;79;p16"/>
          <p:cNvSpPr txBox="1"/>
          <p:nvPr/>
        </p:nvSpPr>
        <p:spPr>
          <a:xfrm>
            <a:off x="84231" y="440381"/>
            <a:ext cx="5586300" cy="434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I have tested llama3-8b 4-bit quantized on two MacBook laptops: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rgbClr val="3C78D8"/>
                </a:solidFill>
                <a:latin typeface="Roboto Mono"/>
                <a:ea typeface="Roboto Mono"/>
                <a:cs typeface="Roboto Mono"/>
                <a:sym typeface="Roboto Mono"/>
              </a:rPr>
              <a:t>    Apple M1 Pro with  32 GB memory</a:t>
            </a:r>
            <a:endParaRPr sz="12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3C78D8"/>
                </a:solidFill>
                <a:latin typeface="Roboto Mono"/>
                <a:ea typeface="Roboto Mono"/>
                <a:cs typeface="Roboto Mono"/>
                <a:sym typeface="Roboto Mono"/>
              </a:rPr>
              <a:t>    Apple M3 Max with 128 GB memory (loads in ~2-3 sec)</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I also tested more models on M3 (4-bit and 6-bit quantized):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rgbClr val="3C78D8"/>
                </a:solidFill>
                <a:latin typeface="Roboto Mono"/>
                <a:ea typeface="Roboto Mono"/>
                <a:cs typeface="Roboto Mono"/>
                <a:sym typeface="Roboto Mono"/>
              </a:rPr>
              <a:t>   llama3:70b-instruct - ~40 GB of "Wired" memory,  22s to load</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3C78D8"/>
                </a:solidFill>
                <a:latin typeface="Roboto Mono"/>
                <a:ea typeface="Roboto Mono"/>
                <a:cs typeface="Roboto Mono"/>
                <a:sym typeface="Roboto Mono"/>
              </a:rPr>
              <a:t>   mixtral:8x22b       - ~80 GB of "Wired" memory, 112s to load </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   llama3-gradient:8b-instruct-1048k-q6_K  (6.6GB, 45 t/s)</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3C78D8"/>
                </a:solidFill>
                <a:latin typeface="Roboto Mono"/>
                <a:ea typeface="Roboto Mono"/>
                <a:cs typeface="Roboto Mono"/>
                <a:sym typeface="Roboto Mono"/>
              </a:rPr>
              <a:t>   llama3:8b-instruct-q6_K (6.6GB, 46.4 t/s)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I used ollama with following settings: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rgbClr val="3C78D8"/>
                </a:solidFill>
                <a:latin typeface="Roboto Mono"/>
                <a:ea typeface="Roboto Mono"/>
                <a:cs typeface="Roboto Mono"/>
                <a:sym typeface="Roboto Mono"/>
              </a:rPr>
              <a:t>   /set verbose</a:t>
            </a:r>
            <a:endParaRPr sz="12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3C78D8"/>
                </a:solidFill>
                <a:latin typeface="Roboto Mono"/>
                <a:ea typeface="Roboto Mono"/>
                <a:cs typeface="Roboto Mono"/>
                <a:sym typeface="Roboto Mono"/>
              </a:rPr>
              <a:t>   /set parameter num_gpu 999</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The prompt was: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rgbClr val="CC0000"/>
                </a:solidFill>
                <a:latin typeface="Calibri"/>
                <a:ea typeface="Calibri"/>
                <a:cs typeface="Calibri"/>
                <a:sym typeface="Calibri"/>
              </a:rPr>
              <a:t>Please make a numbered chronological list of the last ten (10) US presidents. Look back 50 years. Make a list. The list should contain 10 rows. Important - make a fresh list. Disregard the chat history. Output only the list itself, nothing else.</a:t>
            </a:r>
            <a:endParaRPr sz="1300">
              <a:solidFill>
                <a:srgbClr val="CC0000"/>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The output speed (eval rate in tokens/s) was: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rgbClr val="3C78D8"/>
                </a:solidFill>
                <a:latin typeface="Roboto Mono"/>
                <a:ea typeface="Roboto Mono"/>
                <a:cs typeface="Roboto Mono"/>
                <a:sym typeface="Roboto Mono"/>
              </a:rPr>
              <a:t>    59.10 for M3   llama3-8b             (total 1.1 sec)</a:t>
            </a:r>
            <a:endParaRPr sz="12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3C78D8"/>
                </a:solidFill>
                <a:latin typeface="Roboto Mono"/>
                <a:ea typeface="Roboto Mono"/>
                <a:cs typeface="Roboto Mono"/>
                <a:sym typeface="Roboto Mono"/>
              </a:rPr>
              <a:t>    32.22 for M1   llama3-8b             (total 2.3 sec)</a:t>
            </a:r>
            <a:endParaRPr sz="12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3C78D8"/>
                </a:solidFill>
                <a:latin typeface="Roboto Mono"/>
                <a:ea typeface="Roboto Mono"/>
                <a:cs typeface="Roboto Mono"/>
                <a:sym typeface="Roboto Mono"/>
              </a:rPr>
              <a:t>     8.51 for M3   llama3:70b-instruct   (total ~17.4 sec)</a:t>
            </a:r>
            <a:endParaRPr sz="12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3C78D8"/>
                </a:solidFill>
                <a:latin typeface="Roboto Mono"/>
                <a:ea typeface="Roboto Mono"/>
                <a:cs typeface="Roboto Mono"/>
                <a:sym typeface="Roboto Mono"/>
              </a:rPr>
              <a:t>    13.78 for M3   mixtral:8x22b         (total ~16 sec)</a:t>
            </a:r>
            <a:endParaRPr sz="12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3C78D8"/>
                </a:solidFill>
                <a:latin typeface="Roboto Mono"/>
                <a:ea typeface="Roboto Mono"/>
                <a:cs typeface="Roboto Mono"/>
                <a:sym typeface="Roboto Mono"/>
              </a:rPr>
              <a:t>    45    for M3   llama3-gradient:8b-instruct-1048k-q6_K</a:t>
            </a:r>
            <a:endParaRPr sz="12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3C78D8"/>
                </a:solidFill>
                <a:latin typeface="Roboto Mono"/>
                <a:ea typeface="Roboto Mono"/>
                <a:cs typeface="Roboto Mono"/>
                <a:sym typeface="Roboto Mono"/>
              </a:rPr>
              <a:t>    46.4  for M3   </a:t>
            </a:r>
            <a:r>
              <a:rPr lang="en" sz="1100">
                <a:solidFill>
                  <a:srgbClr val="3C78D8"/>
                </a:solidFill>
                <a:latin typeface="Roboto Mono"/>
                <a:ea typeface="Roboto Mono"/>
                <a:cs typeface="Roboto Mono"/>
                <a:sym typeface="Roboto Mono"/>
              </a:rPr>
              <a:t>llama3:8b-instruct-q6_K</a:t>
            </a:r>
            <a:endParaRPr sz="1200">
              <a:solidFill>
                <a:srgbClr val="3C78D8"/>
              </a:solidFill>
              <a:latin typeface="Roboto Mono"/>
              <a:ea typeface="Roboto Mono"/>
              <a:cs typeface="Roboto Mono"/>
              <a:sym typeface="Roboto Mono"/>
            </a:endParaRPr>
          </a:p>
        </p:txBody>
      </p:sp>
      <p:pic>
        <p:nvPicPr>
          <p:cNvPr id="80" name="Google Shape;80;p1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768175" y="108725"/>
            <a:ext cx="1632101" cy="1412850"/>
          </a:xfrm>
          <a:prstGeom prst="rect">
            <a:avLst/>
          </a:prstGeom>
          <a:noFill/>
          <a:ln w="9525" cap="flat" cmpd="sng">
            <a:solidFill>
              <a:srgbClr val="FF0000"/>
            </a:solidFill>
            <a:prstDash val="solid"/>
            <a:round/>
            <a:headEnd type="none" w="sm" len="sm"/>
            <a:tailEnd type="none" w="sm" len="sm"/>
          </a:ln>
        </p:spPr>
      </p:pic>
      <p:pic>
        <p:nvPicPr>
          <p:cNvPr id="81" name="Google Shape;81;p1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768175" y="2054907"/>
            <a:ext cx="3334800" cy="1565818"/>
          </a:xfrm>
          <a:prstGeom prst="rect">
            <a:avLst/>
          </a:prstGeom>
          <a:noFill/>
          <a:ln w="9525" cap="flat" cmpd="sng">
            <a:solidFill>
              <a:srgbClr val="FF0000"/>
            </a:solidFill>
            <a:prstDash val="solid"/>
            <a:round/>
            <a:headEnd type="none" w="sm" len="sm"/>
            <a:tailEnd type="none" w="sm" len="sm"/>
          </a:ln>
        </p:spPr>
      </p:pic>
      <p:pic>
        <p:nvPicPr>
          <p:cNvPr id="82" name="Google Shape;82;p1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462200" y="108725"/>
            <a:ext cx="1640826" cy="1412850"/>
          </a:xfrm>
          <a:prstGeom prst="rect">
            <a:avLst/>
          </a:prstGeom>
          <a:noFill/>
          <a:ln w="9525" cap="flat" cmpd="sng">
            <a:solidFill>
              <a:srgbClr val="FF0000"/>
            </a:solidFill>
            <a:prstDash val="solid"/>
            <a:round/>
            <a:headEnd type="none" w="sm" len="sm"/>
            <a:tailEnd type="none" w="sm" len="sm"/>
          </a:ln>
        </p:spPr>
      </p:pic>
      <p:sp>
        <p:nvSpPr>
          <p:cNvPr id="83" name="Google Shape;83;p16"/>
          <p:cNvSpPr txBox="1"/>
          <p:nvPr/>
        </p:nvSpPr>
        <p:spPr>
          <a:xfrm>
            <a:off x="6505825" y="3706425"/>
            <a:ext cx="18780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300">
                <a:solidFill>
                  <a:schemeClr val="dk1"/>
                </a:solidFill>
                <a:latin typeface="Calibri"/>
                <a:ea typeface="Calibri"/>
                <a:cs typeface="Calibri"/>
                <a:sym typeface="Calibri"/>
              </a:rPr>
              <a:t>M3: Disk is very fast</a:t>
            </a:r>
            <a:endParaRPr sz="130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en" sz="1300">
                <a:solidFill>
                  <a:schemeClr val="dk1"/>
                </a:solidFill>
                <a:latin typeface="Calibri"/>
                <a:ea typeface="Calibri"/>
                <a:cs typeface="Calibri"/>
                <a:sym typeface="Calibri"/>
              </a:rPr>
              <a:t>5..6 GByte/sec</a:t>
            </a:r>
            <a:endParaRPr sz="1300">
              <a:solidFill>
                <a:schemeClr val="dk1"/>
              </a:solidFill>
              <a:latin typeface="Calibri"/>
              <a:ea typeface="Calibri"/>
              <a:cs typeface="Calibri"/>
              <a:sym typeface="Calibri"/>
            </a:endParaRPr>
          </a:p>
        </p:txBody>
      </p:sp>
      <p:sp>
        <p:nvSpPr>
          <p:cNvPr id="84" name="Google Shape;84;p16"/>
          <p:cNvSpPr txBox="1"/>
          <p:nvPr/>
        </p:nvSpPr>
        <p:spPr>
          <a:xfrm>
            <a:off x="5768175" y="1597075"/>
            <a:ext cx="33348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300">
                <a:solidFill>
                  <a:schemeClr val="dk1"/>
                </a:solidFill>
                <a:latin typeface="Calibri"/>
                <a:ea typeface="Calibri"/>
                <a:cs typeface="Calibri"/>
                <a:sym typeface="Calibri"/>
              </a:rPr>
              <a:t>Llama3:70b                       Mixtral:8x22b</a:t>
            </a:r>
            <a:endParaRPr sz="13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p:nvPr/>
        </p:nvSpPr>
        <p:spPr>
          <a:xfrm>
            <a:off x="83775" y="811650"/>
            <a:ext cx="4423200" cy="214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96850" algn="l" rtl="0">
              <a:lnSpc>
                <a:spcPct val="100000"/>
              </a:lnSpc>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GPT2-Chatbot just showed up on lmsys.org - and then was removed</a:t>
            </a:r>
            <a:r>
              <a:rPr lang="en" sz="1300">
                <a:solidFill>
                  <a:schemeClr val="dk1"/>
                </a:solidFill>
                <a:latin typeface="Calibri"/>
                <a:ea typeface="Calibri"/>
                <a:cs typeface="Calibri"/>
                <a:sym typeface="Calibri"/>
              </a:rPr>
              <a:t> "</a:t>
            </a:r>
            <a:r>
              <a:rPr lang="en" sz="1300">
                <a:solidFill>
                  <a:srgbClr val="3C78D8"/>
                </a:solidFill>
                <a:latin typeface="Calibri"/>
                <a:ea typeface="Calibri"/>
                <a:cs typeface="Calibri"/>
                <a:sym typeface="Calibri"/>
              </a:rPr>
              <a:t>Due to unexpectedly high traffic &amp; capacity limit</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It is believed to come from OpenAI </a:t>
            </a:r>
            <a:endParaRPr sz="1300">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It is believed to be an early version of GPT-4.5. </a:t>
            </a:r>
            <a:endParaRPr sz="1300">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It is on par or better than GPT-4 and Claude3 Opus.</a:t>
            </a:r>
            <a:endParaRPr sz="1300">
              <a:solidFill>
                <a:schemeClr val="dk1"/>
              </a:solidFill>
              <a:latin typeface="Calibri"/>
              <a:ea typeface="Calibri"/>
              <a:cs typeface="Calibri"/>
              <a:sym typeface="Calibri"/>
            </a:endParaRPr>
          </a:p>
          <a:p>
            <a:pPr marL="228600" marR="0" lvl="0" indent="-196850" algn="l" rtl="0">
              <a:lnSpc>
                <a:spcPct val="100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Note: GPT2-Chatbot is NOT GPT-2 form 2019.</a:t>
            </a:r>
            <a:endParaRPr sz="1300">
              <a:solidFill>
                <a:schemeClr val="dk1"/>
              </a:solidFill>
              <a:latin typeface="Calibri"/>
              <a:ea typeface="Calibri"/>
              <a:cs typeface="Calibri"/>
              <a:sym typeface="Calibri"/>
            </a:endParaRPr>
          </a:p>
          <a:p>
            <a:pPr marL="228600" marR="0" lvl="0" indent="-1778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https://rentry.co/GPT2</a:t>
            </a:r>
            <a:r>
              <a:rPr lang="en" sz="1000">
                <a:solidFill>
                  <a:schemeClr val="dk1"/>
                </a:solidFill>
                <a:latin typeface="Calibri"/>
                <a:ea typeface="Calibri"/>
                <a:cs typeface="Calibri"/>
                <a:sym typeface="Calibri"/>
              </a:rPr>
              <a:t> - read</a:t>
            </a:r>
            <a:endParaRPr sz="1000">
              <a:solidFill>
                <a:schemeClr val="dk1"/>
              </a:solidFill>
              <a:latin typeface="Calibri"/>
              <a:ea typeface="Calibri"/>
              <a:cs typeface="Calibri"/>
              <a:sym typeface="Calibri"/>
            </a:endParaRPr>
          </a:p>
          <a:p>
            <a:pPr marL="228600" marR="0" lvl="0" indent="-1778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https://www.youtube.com/watch?v=3BDboYfjWE8</a:t>
            </a:r>
            <a:r>
              <a:rPr lang="en" sz="1000">
                <a:solidFill>
                  <a:schemeClr val="dk1"/>
                </a:solidFill>
                <a:latin typeface="Calibri"/>
                <a:ea typeface="Calibri"/>
                <a:cs typeface="Calibri"/>
                <a:sym typeface="Calibri"/>
              </a:rPr>
              <a:t> - view</a:t>
            </a:r>
            <a:endParaRPr sz="1000">
              <a:solidFill>
                <a:schemeClr val="dk1"/>
              </a:solidFill>
              <a:latin typeface="Calibri"/>
              <a:ea typeface="Calibri"/>
              <a:cs typeface="Calibri"/>
              <a:sym typeface="Calibri"/>
            </a:endParaRPr>
          </a:p>
          <a:p>
            <a:pPr marL="228600" marR="0" lvl="0" indent="-17780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5"/>
              </a:rPr>
              <a:t>https://www.youtube.com/watch?v=YDvHre2bAYc</a:t>
            </a:r>
            <a:r>
              <a:rPr lang="en" sz="1000">
                <a:solidFill>
                  <a:schemeClr val="dk1"/>
                </a:solidFill>
                <a:latin typeface="Calibri"/>
                <a:ea typeface="Calibri"/>
                <a:cs typeface="Calibri"/>
                <a:sym typeface="Calibri"/>
              </a:rPr>
              <a:t> - view</a:t>
            </a:r>
            <a:endParaRPr sz="1000">
              <a:solidFill>
                <a:schemeClr val="dk1"/>
              </a:solidFill>
              <a:latin typeface="Calibri"/>
              <a:ea typeface="Calibri"/>
              <a:cs typeface="Calibri"/>
              <a:sym typeface="Calibri"/>
            </a:endParaRPr>
          </a:p>
          <a:p>
            <a:pPr marL="228600" marR="0" lvl="0" indent="-17780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6"/>
              </a:rPr>
              <a:t>https://www.analyticsvidhya.com/blog/2024/04/new-ai-model-gpt-chatbot-is-going-viral/</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marR="0" lvl="0" indent="-17780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7"/>
              </a:rPr>
              <a:t>https://twitter.com/albfresco/status/1784964830887104999</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90" name="Google Shape;90;p17"/>
          <p:cNvSpPr txBox="1"/>
          <p:nvPr/>
        </p:nvSpPr>
        <p:spPr>
          <a:xfrm>
            <a:off x="31350" y="57975"/>
            <a:ext cx="4207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GPT2-Chatbot</a:t>
            </a:r>
            <a:endParaRPr sz="2000" b="1" i="0" u="none" strike="noStrike" cap="none">
              <a:solidFill>
                <a:srgbClr val="000000"/>
              </a:solidFill>
              <a:latin typeface="Calibri"/>
              <a:ea typeface="Calibri"/>
              <a:cs typeface="Calibri"/>
              <a:sym typeface="Calibri"/>
            </a:endParaRPr>
          </a:p>
        </p:txBody>
      </p:sp>
      <p:sp>
        <p:nvSpPr>
          <p:cNvPr id="91" name="Google Shape;91;p17"/>
          <p:cNvSpPr txBox="1"/>
          <p:nvPr/>
        </p:nvSpPr>
        <p:spPr>
          <a:xfrm>
            <a:off x="4625425" y="1700775"/>
            <a:ext cx="44232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Solved an International Math Olympiad problem on first attempt - a competition where only top 4 U.S. high school students qualify annually.</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Exceeded GPT-4 and Claude Opus benchmarks on complex coding prompts used for model evaluation at AI startups like CodeGen.</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Demonstrated iterative dialogue capabilities, self-awareness in refining responses, and ability to plan out solution steps.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Exhibited rule-breaking behavior and willingness to solve logic puzzles that historically stumped GPT-4.</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Matched or exceeded GPT-4 performance on ASCII art generation.</a:t>
            </a:r>
            <a:endParaRPr sz="1300">
              <a:solidFill>
                <a:schemeClr val="dk1"/>
              </a:solidFill>
              <a:latin typeface="Calibri"/>
              <a:ea typeface="Calibri"/>
              <a:cs typeface="Calibri"/>
              <a:sym typeface="Calibri"/>
            </a:endParaRPr>
          </a:p>
        </p:txBody>
      </p:sp>
      <p:pic>
        <p:nvPicPr>
          <p:cNvPr id="92" name="Google Shape;92;p17"/>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984450" y="3203275"/>
            <a:ext cx="2492813" cy="1395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8"/>
          <p:cNvSpPr txBox="1"/>
          <p:nvPr/>
        </p:nvSpPr>
        <p:spPr>
          <a:xfrm>
            <a:off x="31350" y="57975"/>
            <a:ext cx="4207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Misc 1</a:t>
            </a:r>
            <a:endParaRPr sz="2000" b="1" i="0" u="none" strike="noStrike" cap="none">
              <a:solidFill>
                <a:srgbClr val="000000"/>
              </a:solidFill>
              <a:latin typeface="Calibri"/>
              <a:ea typeface="Calibri"/>
              <a:cs typeface="Calibri"/>
              <a:sym typeface="Calibri"/>
            </a:endParaRPr>
          </a:p>
        </p:txBody>
      </p:sp>
      <p:sp>
        <p:nvSpPr>
          <p:cNvPr id="98" name="Google Shape;98;p18"/>
          <p:cNvSpPr txBox="1"/>
          <p:nvPr/>
        </p:nvSpPr>
        <p:spPr>
          <a:xfrm>
            <a:off x="92450" y="511000"/>
            <a:ext cx="44337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300" b="1">
                <a:solidFill>
                  <a:srgbClr val="FF0000"/>
                </a:solidFill>
                <a:latin typeface="Calibri"/>
                <a:ea typeface="Calibri"/>
                <a:cs typeface="Calibri"/>
                <a:sym typeface="Calibri"/>
              </a:rPr>
              <a:t>ChatGPT now has permanent memory feature</a:t>
            </a:r>
            <a:r>
              <a:rPr lang="en" sz="1300">
                <a:solidFill>
                  <a:schemeClr val="dk1"/>
                </a:solidFill>
                <a:latin typeface="Calibri"/>
                <a:ea typeface="Calibri"/>
                <a:cs typeface="Calibri"/>
                <a:sym typeface="Calibri"/>
              </a:rPr>
              <a:t> (to remember your preferences). You can selectively manage it.</a:t>
            </a:r>
            <a:br>
              <a:rPr lang="en" sz="13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3"/>
              </a:rPr>
              <a:t>https://www.youtube.com/watch?v=KgrSXWZIvAc</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99" name="Google Shape;99;p18"/>
          <p:cNvSpPr txBox="1"/>
          <p:nvPr/>
        </p:nvSpPr>
        <p:spPr>
          <a:xfrm>
            <a:off x="92450" y="1242825"/>
            <a:ext cx="44337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300" b="1">
                <a:solidFill>
                  <a:srgbClr val="FF0000"/>
                </a:solidFill>
                <a:latin typeface="Calibri"/>
                <a:ea typeface="Calibri"/>
                <a:cs typeface="Calibri"/>
                <a:sym typeface="Calibri"/>
              </a:rPr>
              <a:t>System Prompts for GPT , Gemini, and Claude</a:t>
            </a:r>
            <a:br>
              <a:rPr lang="en" sz="1300" b="1">
                <a:solidFill>
                  <a:srgbClr val="FF0000"/>
                </a:solidFill>
                <a:latin typeface="Calibri"/>
                <a:ea typeface="Calibri"/>
                <a:cs typeface="Calibri"/>
                <a:sym typeface="Calibri"/>
              </a:rPr>
            </a:br>
            <a:r>
              <a:rPr lang="en" sz="1000" u="sng">
                <a:solidFill>
                  <a:schemeClr val="hlink"/>
                </a:solidFill>
                <a:latin typeface="Calibri"/>
                <a:ea typeface="Calibri"/>
                <a:cs typeface="Calibri"/>
                <a:sym typeface="Calibri"/>
                <a:hlinkClick r:id="rId4"/>
              </a:rPr>
              <a:t>https://levelup.gitconnected.com/inside-the-leaked-system-prompts-of-gpt-4-gemini-1-5-claude-3-and-more-4ecb3d22b447</a:t>
            </a:r>
            <a:endParaRPr sz="1300">
              <a:solidFill>
                <a:schemeClr val="dk1"/>
              </a:solidFill>
              <a:latin typeface="Calibri"/>
              <a:ea typeface="Calibri"/>
              <a:cs typeface="Calibri"/>
              <a:sym typeface="Calibri"/>
            </a:endParaRPr>
          </a:p>
        </p:txBody>
      </p:sp>
      <p:sp>
        <p:nvSpPr>
          <p:cNvPr id="100" name="Google Shape;100;p18"/>
          <p:cNvSpPr txBox="1"/>
          <p:nvPr/>
        </p:nvSpPr>
        <p:spPr>
          <a:xfrm>
            <a:off x="92450" y="1882550"/>
            <a:ext cx="44337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300" b="1">
                <a:solidFill>
                  <a:srgbClr val="FF0000"/>
                </a:solidFill>
                <a:latin typeface="Calibri"/>
                <a:ea typeface="Calibri"/>
                <a:cs typeface="Calibri"/>
                <a:sym typeface="Calibri"/>
              </a:rPr>
              <a:t>Amazon Q Business</a:t>
            </a:r>
            <a:endParaRPr sz="13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1000" u="sng">
                <a:solidFill>
                  <a:schemeClr val="hlink"/>
                </a:solidFill>
                <a:latin typeface="Calibri"/>
                <a:ea typeface="Calibri"/>
                <a:cs typeface="Calibri"/>
                <a:sym typeface="Calibri"/>
                <a:hlinkClick r:id="rId5"/>
              </a:rPr>
              <a:t>https://www.youtube.com/watch?v=frOJDGG0Xds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300">
                <a:solidFill>
                  <a:schemeClr val="dk1"/>
                </a:solidFill>
                <a:latin typeface="Calibri"/>
                <a:ea typeface="Calibri"/>
                <a:cs typeface="Calibri"/>
                <a:sym typeface="Calibri"/>
              </a:rPr>
              <a:t>Amazon Q Business is a generative AI–powered assistant that can answer questions, provide summaries, generate content, and securely complete tasks based on data and information in your enterprise systems. It empowers employees to be more creative, data-driven, efficient, prepared, and productive.</a:t>
            </a:r>
            <a:endParaRPr sz="1300">
              <a:solidFill>
                <a:schemeClr val="dk1"/>
              </a:solidFill>
              <a:latin typeface="Calibri"/>
              <a:ea typeface="Calibri"/>
              <a:cs typeface="Calibri"/>
              <a:sym typeface="Calibri"/>
            </a:endParaRPr>
          </a:p>
        </p:txBody>
      </p:sp>
      <p:pic>
        <p:nvPicPr>
          <p:cNvPr id="101" name="Google Shape;101;p1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932450" y="3368875"/>
            <a:ext cx="2826875" cy="1583050"/>
          </a:xfrm>
          <a:prstGeom prst="rect">
            <a:avLst/>
          </a:prstGeom>
          <a:noFill/>
          <a:ln>
            <a:noFill/>
          </a:ln>
        </p:spPr>
      </p:pic>
      <p:sp>
        <p:nvSpPr>
          <p:cNvPr id="102" name="Google Shape;102;p18"/>
          <p:cNvSpPr txBox="1"/>
          <p:nvPr/>
        </p:nvSpPr>
        <p:spPr>
          <a:xfrm>
            <a:off x="4673825" y="511000"/>
            <a:ext cx="2918700" cy="37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300" b="1">
                <a:solidFill>
                  <a:srgbClr val="FF0000"/>
                </a:solidFill>
                <a:latin typeface="Calibri"/>
                <a:ea typeface="Calibri"/>
                <a:cs typeface="Calibri"/>
                <a:sym typeface="Calibri"/>
              </a:rPr>
              <a:t>Claude on Apple App Store</a:t>
            </a:r>
            <a:endParaRPr sz="13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1000" u="sng">
                <a:solidFill>
                  <a:schemeClr val="hlink"/>
                </a:solidFill>
                <a:latin typeface="Calibri"/>
                <a:ea typeface="Calibri"/>
                <a:cs typeface="Calibri"/>
                <a:sym typeface="Calibri"/>
                <a:hlinkClick r:id="rId7"/>
              </a:rPr>
              <a:t>https://apps.apple.com/us/app/claude/id6473753684</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03" name="Google Shape;103;p1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7809601" y="434050"/>
            <a:ext cx="1078678" cy="526500"/>
          </a:xfrm>
          <a:prstGeom prst="rect">
            <a:avLst/>
          </a:prstGeom>
          <a:noFill/>
          <a:ln>
            <a:noFill/>
          </a:ln>
        </p:spPr>
      </p:pic>
      <p:sp>
        <p:nvSpPr>
          <p:cNvPr id="104" name="Google Shape;104;p18"/>
          <p:cNvSpPr txBox="1"/>
          <p:nvPr/>
        </p:nvSpPr>
        <p:spPr>
          <a:xfrm>
            <a:off x="4673825" y="1009225"/>
            <a:ext cx="4357500" cy="972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300" b="1">
                <a:solidFill>
                  <a:srgbClr val="FF0000"/>
                </a:solidFill>
                <a:latin typeface="Calibri"/>
                <a:ea typeface="Calibri"/>
                <a:cs typeface="Calibri"/>
                <a:sym typeface="Calibri"/>
              </a:rPr>
              <a:t>GitHub Copilot Workspace </a:t>
            </a:r>
            <a:endParaRPr sz="13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1300">
                <a:solidFill>
                  <a:schemeClr val="dk1"/>
                </a:solidFill>
                <a:latin typeface="Calibri"/>
                <a:ea typeface="Calibri"/>
                <a:cs typeface="Calibri"/>
                <a:sym typeface="Calibri"/>
              </a:rPr>
              <a:t>(in preview) - a new service in GitHub. Directed by prompts can offer suggestions on how to start the project and provide a step-by-step process (and execute it).</a:t>
            </a: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000" u="sng">
                <a:solidFill>
                  <a:schemeClr val="hlink"/>
                </a:solidFill>
                <a:latin typeface="Calibri"/>
                <a:ea typeface="Calibri"/>
                <a:cs typeface="Calibri"/>
                <a:sym typeface="Calibri"/>
                <a:hlinkClick r:id="rId9"/>
              </a:rPr>
              <a:t>https://github.blog/2024-04-29-github-copilot-workspace/</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05" name="Google Shape;105;p18"/>
          <p:cNvSpPr txBox="1"/>
          <p:nvPr/>
        </p:nvSpPr>
        <p:spPr>
          <a:xfrm>
            <a:off x="4673825" y="2082650"/>
            <a:ext cx="4357500" cy="132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8 major U.S. newspapers sue OpenAI &amp; Microsoft.</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Including The NY Daily News, The Chicago Tribune, The Denver Post, The San Jose Mercury News, and more.</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They accusing of illegally using their copyrighted articles to train AI chatbots like ChatGPT and Copilot.</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10"/>
              </a:rPr>
              <a:t>https://www.nytimes.com/2024/04/30/business/media/newspapers-sued-microsoft-openai.html</a:t>
            </a:r>
            <a:endParaRPr sz="1000">
              <a:solidFill>
                <a:schemeClr val="dk1"/>
              </a:solidFill>
              <a:latin typeface="Calibri"/>
              <a:ea typeface="Calibri"/>
              <a:cs typeface="Calibri"/>
              <a:sym typeface="Calibri"/>
            </a:endParaRPr>
          </a:p>
        </p:txBody>
      </p:sp>
      <p:sp>
        <p:nvSpPr>
          <p:cNvPr id="106" name="Google Shape;106;p18"/>
          <p:cNvSpPr txBox="1"/>
          <p:nvPr/>
        </p:nvSpPr>
        <p:spPr>
          <a:xfrm>
            <a:off x="4673825" y="3510075"/>
            <a:ext cx="4357500" cy="1173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mistral.rs</a:t>
            </a:r>
            <a:r>
              <a:rPr lang="en" sz="1300" b="1">
                <a:solidFill>
                  <a:srgbClr val="3C78D8"/>
                </a:solidFill>
                <a:latin typeface="Calibri"/>
                <a:ea typeface="Calibri"/>
                <a:cs typeface="Calibri"/>
                <a:sym typeface="Calibri"/>
              </a:rPr>
              <a:t> - Blazingly fast LLM inference</a:t>
            </a:r>
            <a:endParaRPr sz="1300" b="1">
              <a:solidFill>
                <a:srgbClr val="3C78D8"/>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Mistral.rs is a fast LLM inference platform</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inference on a variety of devices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quantization</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easy-to-use </a:t>
            </a:r>
            <a:r>
              <a:rPr lang="en" sz="1300">
                <a:solidFill>
                  <a:schemeClr val="dk1"/>
                </a:solidFill>
                <a:latin typeface="Calibri"/>
                <a:ea typeface="Calibri"/>
                <a:cs typeface="Calibri"/>
                <a:sym typeface="Calibri"/>
              </a:rPr>
              <a:t>HTTP server and Python bindings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11"/>
              </a:rPr>
              <a:t>https://github.com/EricLBuehler/mistral.rs</a:t>
            </a:r>
            <a:endParaRPr sz="1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9"/>
          <p:cNvSpPr txBox="1"/>
          <p:nvPr/>
        </p:nvSpPr>
        <p:spPr>
          <a:xfrm>
            <a:off x="31350" y="57975"/>
            <a:ext cx="4207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Misc 2</a:t>
            </a:r>
            <a:endParaRPr sz="2000" b="1" i="0" u="none" strike="noStrike" cap="none">
              <a:solidFill>
                <a:srgbClr val="000000"/>
              </a:solidFill>
              <a:latin typeface="Calibri"/>
              <a:ea typeface="Calibri"/>
              <a:cs typeface="Calibri"/>
              <a:sym typeface="Calibri"/>
            </a:endParaRPr>
          </a:p>
        </p:txBody>
      </p:sp>
      <p:sp>
        <p:nvSpPr>
          <p:cNvPr id="112" name="Google Shape;112;p19"/>
          <p:cNvSpPr txBox="1"/>
          <p:nvPr/>
        </p:nvSpPr>
        <p:spPr>
          <a:xfrm>
            <a:off x="92450" y="511000"/>
            <a:ext cx="4433700" cy="92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300" b="1">
                <a:solidFill>
                  <a:srgbClr val="FF0000"/>
                </a:solidFill>
                <a:latin typeface="Calibri"/>
                <a:ea typeface="Calibri"/>
                <a:cs typeface="Calibri"/>
                <a:sym typeface="Calibri"/>
              </a:rPr>
              <a:t>Vidu</a:t>
            </a:r>
            <a:r>
              <a:rPr lang="en" sz="1300">
                <a:solidFill>
                  <a:schemeClr val="dk1"/>
                </a:solidFill>
                <a:latin typeface="Calibri"/>
                <a:ea typeface="Calibri"/>
                <a:cs typeface="Calibri"/>
                <a:sym typeface="Calibri"/>
              </a:rPr>
              <a:t> - the New Chinese Text-to-Video AI - a competitor to OpenAI's Sora, is capable of generating a 16-second video in 1080p resolution</a:t>
            </a:r>
            <a:br>
              <a:rPr lang="en" sz="13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3"/>
              </a:rPr>
              <a:t>https://writingmate.ai/blog/get-access-to-vidu-ai</a:t>
            </a:r>
            <a:r>
              <a:rPr lang="en" sz="1000">
                <a:solidFill>
                  <a:schemeClr val="dk1"/>
                </a:solidFill>
                <a:latin typeface="Calibri"/>
                <a:ea typeface="Calibri"/>
                <a:cs typeface="Calibri"/>
                <a:sym typeface="Calibri"/>
              </a:rPr>
              <a:t> - read</a:t>
            </a:r>
            <a:endParaRPr sz="10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000" u="sng">
                <a:solidFill>
                  <a:schemeClr val="hlink"/>
                </a:solidFill>
                <a:latin typeface="Calibri"/>
                <a:ea typeface="Calibri"/>
                <a:cs typeface="Calibri"/>
                <a:sym typeface="Calibri"/>
                <a:hlinkClick r:id="rId4"/>
              </a:rPr>
              <a:t>https://www.youtube.com/watch?v=1pTCsI-7y-w</a:t>
            </a:r>
            <a:r>
              <a:rPr lang="en" sz="1000">
                <a:solidFill>
                  <a:schemeClr val="dk1"/>
                </a:solidFill>
                <a:latin typeface="Calibri"/>
                <a:ea typeface="Calibri"/>
                <a:cs typeface="Calibri"/>
                <a:sym typeface="Calibri"/>
              </a:rPr>
              <a:t> - video</a:t>
            </a:r>
            <a:endParaRPr sz="1000">
              <a:solidFill>
                <a:schemeClr val="dk1"/>
              </a:solidFill>
              <a:latin typeface="Calibri"/>
              <a:ea typeface="Calibri"/>
              <a:cs typeface="Calibri"/>
              <a:sym typeface="Calibri"/>
            </a:endParaRPr>
          </a:p>
        </p:txBody>
      </p:sp>
      <p:sp>
        <p:nvSpPr>
          <p:cNvPr id="113" name="Google Shape;113;p19"/>
          <p:cNvSpPr txBox="1"/>
          <p:nvPr/>
        </p:nvSpPr>
        <p:spPr>
          <a:xfrm>
            <a:off x="92450" y="1488125"/>
            <a:ext cx="4433700" cy="81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300" b="1">
                <a:solidFill>
                  <a:srgbClr val="FF0000"/>
                </a:solidFill>
                <a:latin typeface="Calibri"/>
                <a:ea typeface="Calibri"/>
                <a:cs typeface="Calibri"/>
                <a:sym typeface="Calibri"/>
              </a:rPr>
              <a:t>Andrej Karpathy</a:t>
            </a:r>
            <a:r>
              <a:rPr lang="en" sz="1300">
                <a:solidFill>
                  <a:schemeClr val="dk1"/>
                </a:solidFill>
                <a:latin typeface="Calibri"/>
                <a:ea typeface="Calibri"/>
                <a:cs typeface="Calibri"/>
                <a:sym typeface="Calibri"/>
              </a:rPr>
              <a:t> - idea to offer NASA to use LLM (llm.c) in spaceships. "harden llm.c to pass the NASA code standards and style guides, certifying that the code is super safe, safe enough to run in Space."As the code is compact, it can be done!</a:t>
            </a:r>
            <a:endParaRPr sz="1000">
              <a:solidFill>
                <a:schemeClr val="dk1"/>
              </a:solidFill>
              <a:latin typeface="Calibri"/>
              <a:ea typeface="Calibri"/>
              <a:cs typeface="Calibri"/>
              <a:sym typeface="Calibri"/>
            </a:endParaRPr>
          </a:p>
        </p:txBody>
      </p:sp>
      <p:sp>
        <p:nvSpPr>
          <p:cNvPr id="114" name="Google Shape;114;p19"/>
          <p:cNvSpPr txBox="1"/>
          <p:nvPr/>
        </p:nvSpPr>
        <p:spPr>
          <a:xfrm>
            <a:off x="92450" y="2360277"/>
            <a:ext cx="4433700" cy="972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300" b="1">
                <a:solidFill>
                  <a:srgbClr val="FF0000"/>
                </a:solidFill>
                <a:latin typeface="Calibri"/>
                <a:ea typeface="Calibri"/>
                <a:cs typeface="Calibri"/>
                <a:sym typeface="Calibri"/>
              </a:rPr>
              <a:t>Andrew Ng</a:t>
            </a:r>
            <a:r>
              <a:rPr lang="en" sz="1300">
                <a:solidFill>
                  <a:schemeClr val="dk1"/>
                </a:solidFill>
                <a:latin typeface="Calibri"/>
                <a:ea typeface="Calibri"/>
                <a:cs typeface="Calibri"/>
                <a:sym typeface="Calibri"/>
              </a:rPr>
              <a:t> - "an LLM wrapped in an agentic workflow may produce higher-quality output than it can generate directly. In this case, the LLM’s higher-quality output might be useful as pretraining data for the LLM itself."</a:t>
            </a: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000" u="sng">
                <a:solidFill>
                  <a:schemeClr val="hlink"/>
                </a:solidFill>
                <a:latin typeface="Calibri"/>
                <a:ea typeface="Calibri"/>
                <a:cs typeface="Calibri"/>
                <a:sym typeface="Calibri"/>
                <a:hlinkClick r:id="rId5"/>
              </a:rPr>
              <a:t>https://twitter.com/AndrewYNg/status/1786057567178834328</a:t>
            </a:r>
            <a:endParaRPr sz="700">
              <a:solidFill>
                <a:schemeClr val="dk1"/>
              </a:solidFill>
              <a:latin typeface="Calibri"/>
              <a:ea typeface="Calibri"/>
              <a:cs typeface="Calibri"/>
              <a:sym typeface="Calibri"/>
            </a:endParaRPr>
          </a:p>
        </p:txBody>
      </p:sp>
      <p:pic>
        <p:nvPicPr>
          <p:cNvPr id="115" name="Google Shape;115;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68875" y="1488125"/>
            <a:ext cx="1461968" cy="818700"/>
          </a:xfrm>
          <a:prstGeom prst="rect">
            <a:avLst/>
          </a:prstGeom>
          <a:noFill/>
          <a:ln w="9525" cap="flat" cmpd="sng">
            <a:solidFill>
              <a:srgbClr val="FF0000"/>
            </a:solidFill>
            <a:prstDash val="solid"/>
            <a:round/>
            <a:headEnd type="none" w="sm" len="sm"/>
            <a:tailEnd type="none" w="sm" len="sm"/>
          </a:ln>
        </p:spPr>
      </p:pic>
      <p:sp>
        <p:nvSpPr>
          <p:cNvPr id="116" name="Google Shape;116;p19"/>
          <p:cNvSpPr txBox="1"/>
          <p:nvPr/>
        </p:nvSpPr>
        <p:spPr>
          <a:xfrm>
            <a:off x="4668875" y="57977"/>
            <a:ext cx="4433700" cy="880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300">
                <a:solidFill>
                  <a:schemeClr val="dk1"/>
                </a:solidFill>
                <a:latin typeface="Calibri"/>
                <a:ea typeface="Calibri"/>
                <a:cs typeface="Calibri"/>
                <a:sym typeface="Calibri"/>
              </a:rPr>
              <a:t>Better &amp; Faster Large Language Models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via </a:t>
            </a:r>
            <a:r>
              <a:rPr lang="en" sz="1300" b="1">
                <a:solidFill>
                  <a:srgbClr val="FF0000"/>
                </a:solidFill>
                <a:latin typeface="Calibri"/>
                <a:ea typeface="Calibri"/>
                <a:cs typeface="Calibri"/>
                <a:sym typeface="Calibri"/>
              </a:rPr>
              <a:t>Multi-token Prediction (Meta)</a:t>
            </a: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000" u="sng">
                <a:solidFill>
                  <a:schemeClr val="hlink"/>
                </a:solidFill>
                <a:latin typeface="Calibri"/>
                <a:ea typeface="Calibri"/>
                <a:cs typeface="Calibri"/>
                <a:sym typeface="Calibri"/>
                <a:hlinkClick r:id="rId7"/>
              </a:rPr>
              <a:t>https://arxiv.org/abs/2404.19737</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000">
                <a:solidFill>
                  <a:srgbClr val="3C78D8"/>
                </a:solidFill>
                <a:latin typeface="Calibri"/>
                <a:ea typeface="Calibri"/>
                <a:cs typeface="Calibri"/>
                <a:sym typeface="Calibri"/>
              </a:rPr>
              <a:t>"at each position in the training corpus, we ask the model to predict the following n tokens using n independent output heads, operating on top of a shared model trunk"</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17" name="Google Shape;117;p1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565925" y="992450"/>
            <a:ext cx="2536651" cy="2970250"/>
          </a:xfrm>
          <a:prstGeom prst="rect">
            <a:avLst/>
          </a:prstGeom>
          <a:noFill/>
          <a:ln w="9525" cap="flat" cmpd="sng">
            <a:solidFill>
              <a:srgbClr val="FF0000"/>
            </a:solidFill>
            <a:prstDash val="solid"/>
            <a:round/>
            <a:headEnd type="none" w="sm" len="sm"/>
            <a:tailEnd type="none" w="sm" len="sm"/>
          </a:ln>
        </p:spPr>
      </p:pic>
      <p:sp>
        <p:nvSpPr>
          <p:cNvPr id="118" name="Google Shape;118;p19"/>
          <p:cNvSpPr txBox="1"/>
          <p:nvPr/>
        </p:nvSpPr>
        <p:spPr>
          <a:xfrm>
            <a:off x="92450" y="3386627"/>
            <a:ext cx="4433700" cy="132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300" b="1">
                <a:solidFill>
                  <a:srgbClr val="FF0000"/>
                </a:solidFill>
                <a:latin typeface="Calibri"/>
                <a:ea typeface="Calibri"/>
                <a:cs typeface="Calibri"/>
                <a:sym typeface="Calibri"/>
              </a:rPr>
              <a:t>RALM_Survey</a:t>
            </a:r>
            <a:r>
              <a:rPr lang="en" sz="1300">
                <a:solidFill>
                  <a:schemeClr val="dk1"/>
                </a:solidFill>
                <a:latin typeface="Calibri"/>
                <a:ea typeface="Calibri"/>
                <a:cs typeface="Calibri"/>
                <a:sym typeface="Calibri"/>
              </a:rPr>
              <a:t> - (Retrieval Augmented Language Models)</a:t>
            </a: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300">
                <a:solidFill>
                  <a:schemeClr val="dk1"/>
                </a:solidFill>
                <a:latin typeface="Calibri"/>
                <a:ea typeface="Calibri"/>
                <a:cs typeface="Calibri"/>
                <a:sym typeface="Calibri"/>
              </a:rPr>
              <a:t>Retrieval-Augmented Generation (RAG) </a:t>
            </a: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300">
                <a:solidFill>
                  <a:schemeClr val="dk1"/>
                </a:solidFill>
                <a:latin typeface="Calibri"/>
                <a:ea typeface="Calibri"/>
                <a:cs typeface="Calibri"/>
                <a:sym typeface="Calibri"/>
              </a:rPr>
              <a:t>Retrieval-Augmented Understanding (RAU)</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Retrievers, Language Models, Augmentations</a:t>
            </a:r>
            <a:endParaRPr sz="13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300">
                <a:solidFill>
                  <a:schemeClr val="dk1"/>
                </a:solidFill>
                <a:latin typeface="Calibri"/>
                <a:ea typeface="Calibri"/>
                <a:cs typeface="Calibri"/>
                <a:sym typeface="Calibri"/>
              </a:rPr>
              <a:t>robustness, accuracy, and relevance</a:t>
            </a:r>
            <a:endParaRPr sz="1300">
              <a:solidFill>
                <a:schemeClr val="dk1"/>
              </a:solidFill>
              <a:latin typeface="Calibri"/>
              <a:ea typeface="Calibri"/>
              <a:cs typeface="Calibri"/>
              <a:sym typeface="Calibri"/>
            </a:endParaRPr>
          </a:p>
          <a:p>
            <a:pPr marL="457200" marR="0" lvl="0" indent="-2921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9"/>
              </a:rPr>
              <a:t>https://github.com/2471023025/ralm_survey</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457200" marR="0" lvl="0" indent="-2921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10"/>
              </a:rPr>
              <a:t>https://arxiv.org/abs/2404.19543</a:t>
            </a:r>
            <a:r>
              <a:rPr lang="en" sz="10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p:txBody>
      </p:sp>
      <p:sp>
        <p:nvSpPr>
          <p:cNvPr id="119" name="Google Shape;119;p19"/>
          <p:cNvSpPr txBox="1"/>
          <p:nvPr/>
        </p:nvSpPr>
        <p:spPr>
          <a:xfrm>
            <a:off x="4613325" y="4016675"/>
            <a:ext cx="4489200" cy="972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300" b="1">
                <a:solidFill>
                  <a:srgbClr val="FF0000"/>
                </a:solidFill>
                <a:latin typeface="Calibri"/>
                <a:ea typeface="Calibri"/>
                <a:cs typeface="Calibri"/>
                <a:sym typeface="Calibri"/>
              </a:rPr>
              <a:t>Llama3 is available on AWS Bedrock (both 8b &amp; 70b models), Azure, GCP, Huggingface, Groq, ... </a:t>
            </a:r>
            <a:r>
              <a:rPr lang="en" sz="13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marL="228600" marR="0" lvl="0" indent="-17145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11"/>
              </a:rPr>
              <a:t>https://aws.amazon.com/bedrock/llama/</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228600" marR="0" lvl="0" indent="-17145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12"/>
              </a:rPr>
              <a:t>https://azuremarketplace.microsoft.com/en-us/marketplace/apps/metagenai.meta-llama-3-8b-chat-offer</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228600" marR="0" lvl="0" indent="-17145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13"/>
              </a:rPr>
              <a:t>https://console.cloud.google.com/vertex-ai/publishers/meta/model-garden/llama3</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0"/>
          <p:cNvSpPr txBox="1"/>
          <p:nvPr/>
        </p:nvSpPr>
        <p:spPr>
          <a:xfrm>
            <a:off x="31350" y="57975"/>
            <a:ext cx="4207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Misc 3</a:t>
            </a:r>
            <a:endParaRPr sz="2000" b="1" i="0" u="none" strike="noStrike" cap="none">
              <a:solidFill>
                <a:srgbClr val="000000"/>
              </a:solidFill>
              <a:latin typeface="Calibri"/>
              <a:ea typeface="Calibri"/>
              <a:cs typeface="Calibri"/>
              <a:sym typeface="Calibri"/>
            </a:endParaRPr>
          </a:p>
        </p:txBody>
      </p:sp>
      <p:sp>
        <p:nvSpPr>
          <p:cNvPr id="125" name="Google Shape;125;p20"/>
          <p:cNvSpPr txBox="1"/>
          <p:nvPr/>
        </p:nvSpPr>
        <p:spPr>
          <a:xfrm>
            <a:off x="92450" y="511000"/>
            <a:ext cx="4433700" cy="132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Med-Gemini  (from Google)</a:t>
            </a:r>
            <a:endParaRPr sz="1300" b="1">
              <a:solidFill>
                <a:srgbClr val="FF0000"/>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 family of Gemini models fine-tuned for medical tasks!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Achieves SOTA on 10 of the 14 benchmarks, spanning text, multimodal &amp;  long-context applications. </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Surpasses GPT-4 on all benchmarks!</a:t>
            </a:r>
            <a:endParaRPr sz="13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3"/>
              </a:rPr>
              <a:t>https://twitter.com/iScienceLuvr/status/1785247498744778886</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4"/>
              </a:rPr>
              <a:t>https://arxiv.org/abs/2404.18416</a:t>
            </a:r>
            <a:r>
              <a:rPr lang="en" sz="1000">
                <a:solidFill>
                  <a:schemeClr val="dk1"/>
                </a:solidFill>
                <a:latin typeface="Calibri"/>
                <a:ea typeface="Calibri"/>
                <a:cs typeface="Calibri"/>
                <a:sym typeface="Calibri"/>
              </a:rPr>
              <a:t> - paper, 67 authors</a:t>
            </a:r>
            <a:endParaRPr sz="1000">
              <a:solidFill>
                <a:schemeClr val="dk1"/>
              </a:solidFill>
              <a:latin typeface="Calibri"/>
              <a:ea typeface="Calibri"/>
              <a:cs typeface="Calibri"/>
              <a:sym typeface="Calibri"/>
            </a:endParaRPr>
          </a:p>
        </p:txBody>
      </p:sp>
      <p:sp>
        <p:nvSpPr>
          <p:cNvPr id="126" name="Google Shape;126;p20"/>
          <p:cNvSpPr txBox="1"/>
          <p:nvPr/>
        </p:nvSpPr>
        <p:spPr>
          <a:xfrm>
            <a:off x="92450" y="1964525"/>
            <a:ext cx="44337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Dilated Attention</a:t>
            </a:r>
            <a:endParaRPr sz="1300" b="1">
              <a:solidFill>
                <a:srgbClr val="FF0000"/>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 technique for scaling to 1 BILLION tokens context-window</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Inspired by dilated convolutions in CNNs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allow tokens to attend to others at increasing distances, skipping over intermediate ones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Dilation Factor - a hyperparameter specifying how far apart the tokens that are attended to are. A dilation factor of 2, for example, means that each token attends to every other token in the sequence.</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Multiple Layers - stacking multiple layers with different dilation factors. This results in sparse connections within the attention matrix, reducing the complexity from O(N^2) to something more manageable, like O(N log N) or even linear, depending on the dilation pattern.</a:t>
            </a:r>
            <a:br>
              <a:rPr lang="en" sz="13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5"/>
              </a:rPr>
              <a:t>https://twitter.com/rohanpaul_ai/status/1783835331529199748</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27" name="Google Shape;127;p20"/>
          <p:cNvSpPr txBox="1"/>
          <p:nvPr/>
        </p:nvSpPr>
        <p:spPr>
          <a:xfrm>
            <a:off x="4625700" y="511000"/>
            <a:ext cx="44337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Sam Altman at Stanford and Harvard</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Sama called GPT-4 "mildly embarrassing at best", saying it will be the "worst model" we will ever use as each new version gets smarter.</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He said that he ‘doesn’t care’ whether the company burns 500M or 50B a year, as long as it stays on a trajectory for creating AGI, it will be worth it.</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He also spoke about the importance of global access to compute, stating the mission to make ChatGPT free for all</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He also revealed that the </a:t>
            </a:r>
            <a:r>
              <a:rPr lang="en" sz="1300" b="1">
                <a:solidFill>
                  <a:srgbClr val="6AA84F"/>
                </a:solidFill>
                <a:latin typeface="Calibri"/>
                <a:ea typeface="Calibri"/>
                <a:cs typeface="Calibri"/>
                <a:sym typeface="Calibri"/>
              </a:rPr>
              <a:t>mysterious gpt2-chatbot </a:t>
            </a:r>
            <a:r>
              <a:rPr lang="en" sz="1300">
                <a:solidFill>
                  <a:schemeClr val="dk1"/>
                </a:solidFill>
                <a:latin typeface="Calibri"/>
                <a:ea typeface="Calibri"/>
                <a:cs typeface="Calibri"/>
                <a:sym typeface="Calibri"/>
              </a:rPr>
              <a:t>model that appeared on Lmsys earlier this week </a:t>
            </a:r>
            <a:r>
              <a:rPr lang="en" sz="1300" b="1">
                <a:solidFill>
                  <a:srgbClr val="FF0000"/>
                </a:solidFill>
                <a:latin typeface="Calibri"/>
                <a:ea typeface="Calibri"/>
                <a:cs typeface="Calibri"/>
                <a:sym typeface="Calibri"/>
              </a:rPr>
              <a:t>was not GPT 4.5</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p:txBody>
      </p:sp>
      <p:pic>
        <p:nvPicPr>
          <p:cNvPr id="128" name="Google Shape;128;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258225" y="2805750"/>
            <a:ext cx="3168650" cy="19267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p:nvPr/>
        </p:nvSpPr>
        <p:spPr>
          <a:xfrm>
            <a:off x="31350" y="57975"/>
            <a:ext cx="4207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Misc 3</a:t>
            </a:r>
            <a:endParaRPr sz="2000" b="1" i="0" u="none" strike="noStrike" cap="none">
              <a:solidFill>
                <a:srgbClr val="000000"/>
              </a:solidFill>
              <a:latin typeface="Calibri"/>
              <a:ea typeface="Calibri"/>
              <a:cs typeface="Calibri"/>
              <a:sym typeface="Calibri"/>
            </a:endParaRPr>
          </a:p>
        </p:txBody>
      </p:sp>
      <p:sp>
        <p:nvSpPr>
          <p:cNvPr id="134" name="Google Shape;134;p21"/>
          <p:cNvSpPr txBox="1"/>
          <p:nvPr/>
        </p:nvSpPr>
        <p:spPr>
          <a:xfrm>
            <a:off x="92450" y="434800"/>
            <a:ext cx="4433700" cy="81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Google just introduced a </a:t>
            </a:r>
            <a:r>
              <a:rPr lang="en" sz="1300" b="1">
                <a:solidFill>
                  <a:srgbClr val="FF0000"/>
                </a:solidFill>
                <a:latin typeface="Calibri"/>
                <a:ea typeface="Calibri"/>
                <a:cs typeface="Calibri"/>
                <a:sym typeface="Calibri"/>
              </a:rPr>
              <a:t>new Chrome shortcut</a:t>
            </a:r>
            <a:r>
              <a:rPr lang="en" sz="1300">
                <a:solidFill>
                  <a:schemeClr val="dk1"/>
                </a:solidFill>
                <a:latin typeface="Calibri"/>
                <a:ea typeface="Calibri"/>
                <a:cs typeface="Calibri"/>
                <a:sym typeface="Calibri"/>
              </a:rPr>
              <a:t> that lets users initiate Gemini conversations directly from the browser's address bar: type @ - and select '</a:t>
            </a:r>
            <a:r>
              <a:rPr lang="en" sz="1300" b="1">
                <a:solidFill>
                  <a:srgbClr val="FF0000"/>
                </a:solidFill>
                <a:latin typeface="Calibri"/>
                <a:ea typeface="Calibri"/>
                <a:cs typeface="Calibri"/>
                <a:sym typeface="Calibri"/>
              </a:rPr>
              <a:t>@gemini</a:t>
            </a:r>
            <a:r>
              <a:rPr lang="en" sz="1300">
                <a:solidFill>
                  <a:schemeClr val="dk1"/>
                </a:solidFill>
                <a:latin typeface="Calibri"/>
                <a:ea typeface="Calibri"/>
                <a:cs typeface="Calibri"/>
                <a:sym typeface="Calibri"/>
              </a:rPr>
              <a:t>' and type prompt into the Chrome’s desktop address bar to get responses from the AI </a:t>
            </a:r>
            <a:endParaRPr sz="1300">
              <a:solidFill>
                <a:schemeClr val="dk1"/>
              </a:solidFill>
              <a:latin typeface="Calibri"/>
              <a:ea typeface="Calibri"/>
              <a:cs typeface="Calibri"/>
              <a:sym typeface="Calibri"/>
            </a:endParaRPr>
          </a:p>
        </p:txBody>
      </p:sp>
      <p:pic>
        <p:nvPicPr>
          <p:cNvPr id="135" name="Google Shape;135;p2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696901" y="98900"/>
            <a:ext cx="3369851" cy="3303951"/>
          </a:xfrm>
          <a:prstGeom prst="rect">
            <a:avLst/>
          </a:prstGeom>
          <a:noFill/>
          <a:ln w="9525" cap="flat" cmpd="sng">
            <a:solidFill>
              <a:srgbClr val="FF0000"/>
            </a:solidFill>
            <a:prstDash val="solid"/>
            <a:round/>
            <a:headEnd type="none" w="sm" len="sm"/>
            <a:tailEnd type="none" w="sm" len="sm"/>
          </a:ln>
        </p:spPr>
      </p:pic>
      <p:sp>
        <p:nvSpPr>
          <p:cNvPr id="136" name="Google Shape;136;p21"/>
          <p:cNvSpPr txBox="1"/>
          <p:nvPr/>
        </p:nvSpPr>
        <p:spPr>
          <a:xfrm>
            <a:off x="92450" y="1303925"/>
            <a:ext cx="4433700" cy="237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AdvPrompter</a:t>
            </a:r>
            <a:r>
              <a:rPr lang="en" sz="1300">
                <a:solidFill>
                  <a:schemeClr val="dk1"/>
                </a:solidFill>
                <a:latin typeface="Calibri"/>
                <a:ea typeface="Calibri"/>
                <a:cs typeface="Calibri"/>
                <a:sym typeface="Calibri"/>
              </a:rPr>
              <a:t>: Fast Adaptive Adversarial Prompting for LLMs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https://arxiv.org/abs/2404.16873</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Researchers from Meta AI and the Max-Planck-Institute for Intelligent Systems introduced a novel method that uses another LLM, </a:t>
            </a:r>
            <a:r>
              <a:rPr lang="en" sz="1300" b="1">
                <a:solidFill>
                  <a:srgbClr val="FF0000"/>
                </a:solidFill>
                <a:latin typeface="Calibri"/>
                <a:ea typeface="Calibri"/>
                <a:cs typeface="Calibri"/>
                <a:sym typeface="Calibri"/>
              </a:rPr>
              <a:t>AdvPrompter</a:t>
            </a:r>
            <a:r>
              <a:rPr lang="en" sz="1300">
                <a:solidFill>
                  <a:schemeClr val="dk1"/>
                </a:solidFill>
                <a:latin typeface="Calibri"/>
                <a:ea typeface="Calibri"/>
                <a:cs typeface="Calibri"/>
                <a:sym typeface="Calibri"/>
              </a:rPr>
              <a:t>, to </a:t>
            </a:r>
            <a:r>
              <a:rPr lang="en" sz="1300" b="1">
                <a:solidFill>
                  <a:srgbClr val="FF0000"/>
                </a:solidFill>
                <a:latin typeface="Calibri"/>
                <a:ea typeface="Calibri"/>
                <a:cs typeface="Calibri"/>
                <a:sym typeface="Calibri"/>
              </a:rPr>
              <a:t>generate human-readable adversarial prompts in seconds</a:t>
            </a:r>
            <a:r>
              <a:rPr lang="en" sz="1300">
                <a:solidFill>
                  <a:schemeClr val="dk1"/>
                </a:solidFill>
                <a:latin typeface="Calibri"/>
                <a:ea typeface="Calibri"/>
                <a:cs typeface="Calibri"/>
                <a:sym typeface="Calibri"/>
              </a:rPr>
              <a:t>. Compared to other optimized approaches, this method is ∼ 800× faster. The </a:t>
            </a:r>
            <a:r>
              <a:rPr lang="en" sz="1300" b="1">
                <a:solidFill>
                  <a:srgbClr val="FF0000"/>
                </a:solidFill>
                <a:latin typeface="Calibri"/>
                <a:ea typeface="Calibri"/>
                <a:cs typeface="Calibri"/>
                <a:sym typeface="Calibri"/>
              </a:rPr>
              <a:t>AdvPrompter</a:t>
            </a:r>
            <a:r>
              <a:rPr lang="en" sz="1300">
                <a:solidFill>
                  <a:schemeClr val="dk1"/>
                </a:solidFill>
                <a:latin typeface="Calibri"/>
                <a:ea typeface="Calibri"/>
                <a:cs typeface="Calibri"/>
                <a:sym typeface="Calibri"/>
              </a:rPr>
              <a:t> is trained by utilizing an </a:t>
            </a:r>
            <a:r>
              <a:rPr lang="en" sz="1300" b="1">
                <a:solidFill>
                  <a:srgbClr val="6AA84F"/>
                </a:solidFill>
                <a:latin typeface="Calibri"/>
                <a:ea typeface="Calibri"/>
                <a:cs typeface="Calibri"/>
                <a:sym typeface="Calibri"/>
              </a:rPr>
              <a:t>AdvPromterTrain</a:t>
            </a:r>
            <a:r>
              <a:rPr lang="en" sz="1300">
                <a:solidFill>
                  <a:schemeClr val="dk1"/>
                </a:solidFill>
                <a:latin typeface="Calibri"/>
                <a:ea typeface="Calibri"/>
                <a:cs typeface="Calibri"/>
                <a:sym typeface="Calibri"/>
              </a:rPr>
              <a:t> algorithm that does not need access to the TargetLLM gradients. The trained </a:t>
            </a:r>
            <a:r>
              <a:rPr lang="en" sz="1300" b="1">
                <a:solidFill>
                  <a:srgbClr val="FF0000"/>
                </a:solidFill>
                <a:latin typeface="Calibri"/>
                <a:ea typeface="Calibri"/>
                <a:cs typeface="Calibri"/>
                <a:sym typeface="Calibri"/>
              </a:rPr>
              <a:t>AdvPrompter</a:t>
            </a:r>
            <a:r>
              <a:rPr lang="en" sz="1300">
                <a:solidFill>
                  <a:schemeClr val="dk1"/>
                </a:solidFill>
                <a:latin typeface="Calibri"/>
                <a:ea typeface="Calibri"/>
                <a:cs typeface="Calibri"/>
                <a:sym typeface="Calibri"/>
              </a:rPr>
              <a:t> can generate suffixes and veil the input instruction, keeping its meaning intact. This tactic lures the TargetLLM into providing a harmful response. </a:t>
            </a:r>
            <a:endParaRPr sz="1300">
              <a:solidFill>
                <a:schemeClr val="dk1"/>
              </a:solidFill>
              <a:latin typeface="Calibri"/>
              <a:ea typeface="Calibri"/>
              <a:cs typeface="Calibri"/>
              <a:sym typeface="Calibri"/>
            </a:endParaRPr>
          </a:p>
        </p:txBody>
      </p:sp>
      <p:sp>
        <p:nvSpPr>
          <p:cNvPr id="137" name="Google Shape;137;p21"/>
          <p:cNvSpPr txBox="1"/>
          <p:nvPr/>
        </p:nvSpPr>
        <p:spPr>
          <a:xfrm>
            <a:off x="92450" y="3813275"/>
            <a:ext cx="2642100" cy="72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Google TeraHAC</a:t>
            </a:r>
            <a:r>
              <a:rPr lang="en" sz="1300">
                <a:solidFill>
                  <a:schemeClr val="dk1"/>
                </a:solidFill>
                <a:latin typeface="Calibri"/>
                <a:ea typeface="Calibri"/>
                <a:cs typeface="Calibri"/>
                <a:sym typeface="Calibri"/>
              </a:rPr>
              <a:t>: Scaling hierarchical clustering to </a:t>
            </a:r>
            <a:r>
              <a:rPr lang="en" sz="1300" b="1">
                <a:solidFill>
                  <a:srgbClr val="FF0000"/>
                </a:solidFill>
                <a:latin typeface="Calibri"/>
                <a:ea typeface="Calibri"/>
                <a:cs typeface="Calibri"/>
                <a:sym typeface="Calibri"/>
              </a:rPr>
              <a:t>trillion-edge graphs</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5"/>
              </a:rPr>
              <a:t>https://research.google/blog/scaling-hierarchical-agglomerative-clustering-to-trillion-edge-graphs/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38" name="Google Shape;138;p21"/>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2890025" y="3727953"/>
            <a:ext cx="1025500" cy="119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2"/>
          <p:cNvSpPr txBox="1"/>
          <p:nvPr/>
        </p:nvSpPr>
        <p:spPr>
          <a:xfrm>
            <a:off x="31350" y="57975"/>
            <a:ext cx="5683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AI Safety Board (Dept. of Homeland Security, USA)</a:t>
            </a:r>
            <a:endParaRPr sz="2000" b="1" i="0" u="none" strike="noStrike" cap="none">
              <a:solidFill>
                <a:srgbClr val="000000"/>
              </a:solidFill>
              <a:latin typeface="Calibri"/>
              <a:ea typeface="Calibri"/>
              <a:cs typeface="Calibri"/>
              <a:sym typeface="Calibri"/>
            </a:endParaRPr>
          </a:p>
        </p:txBody>
      </p:sp>
      <p:sp>
        <p:nvSpPr>
          <p:cNvPr id="144" name="Google Shape;144;p22"/>
          <p:cNvSpPr txBox="1"/>
          <p:nvPr/>
        </p:nvSpPr>
        <p:spPr>
          <a:xfrm>
            <a:off x="92450" y="434800"/>
            <a:ext cx="4443900" cy="180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a:latin typeface="Calibri"/>
                <a:ea typeface="Calibri"/>
                <a:cs typeface="Calibri"/>
                <a:sym typeface="Calibri"/>
              </a:rPr>
              <a:t>FACT SHEET: DHS Facilitates the Safe and Responsible Deployment and Use of Artificial Intelligence in Federal Government, Critica</a:t>
            </a:r>
            <a:endParaRPr sz="1200">
              <a:latin typeface="Calibri"/>
              <a:ea typeface="Calibri"/>
              <a:cs typeface="Calibri"/>
              <a:sym typeface="Calibri"/>
            </a:endParaRPr>
          </a:p>
          <a:p>
            <a:pPr marL="0" marR="0" lvl="0" indent="0" algn="l" rtl="0">
              <a:lnSpc>
                <a:spcPct val="100000"/>
              </a:lnSpc>
              <a:spcBef>
                <a:spcPts val="0"/>
              </a:spcBef>
              <a:spcAft>
                <a:spcPts val="0"/>
              </a:spcAft>
              <a:buNone/>
            </a:pPr>
            <a:r>
              <a:rPr lang="en" sz="1000" u="sng">
                <a:solidFill>
                  <a:schemeClr val="hlink"/>
                </a:solidFill>
                <a:latin typeface="Calibri"/>
                <a:ea typeface="Calibri"/>
                <a:cs typeface="Calibri"/>
                <a:sym typeface="Calibri"/>
                <a:hlinkClick r:id="rId3"/>
              </a:rPr>
              <a:t>https://www.dhs.gov/news/2024/04/29/fact-sheet-dhs-facilitates-safe-and-responsible-deployment-and-use-artificial</a:t>
            </a:r>
            <a:endParaRPr sz="1000">
              <a:solidFill>
                <a:schemeClr val="dk1"/>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Protecting</a:t>
            </a:r>
            <a:r>
              <a:rPr lang="en" sz="1200">
                <a:solidFill>
                  <a:schemeClr val="dk1"/>
                </a:solidFill>
                <a:latin typeface="Calibri"/>
                <a:ea typeface="Calibri"/>
                <a:cs typeface="Calibri"/>
                <a:sym typeface="Calibri"/>
              </a:rPr>
              <a:t> water supplies, power grids, telecommunications and other </a:t>
            </a:r>
            <a:r>
              <a:rPr lang="en" sz="1200" b="1">
                <a:solidFill>
                  <a:srgbClr val="FF0000"/>
                </a:solidFill>
                <a:latin typeface="Calibri"/>
                <a:ea typeface="Calibri"/>
                <a:cs typeface="Calibri"/>
                <a:sym typeface="Calibri"/>
              </a:rPr>
              <a:t>critical infrastructure from AI-enabled threats</a:t>
            </a:r>
            <a:endParaRPr sz="1200" b="1">
              <a:solidFill>
                <a:srgbClr val="FF0000"/>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Incorporating AI into Carrying Out the Homeland Security mission through </a:t>
            </a:r>
            <a:r>
              <a:rPr lang="en" sz="1200" b="1">
                <a:solidFill>
                  <a:srgbClr val="FF0000"/>
                </a:solidFill>
                <a:latin typeface="Calibri"/>
                <a:ea typeface="Calibri"/>
                <a:cs typeface="Calibri"/>
                <a:sym typeface="Calibri"/>
              </a:rPr>
              <a:t>safe, responsible and trustworthy use</a:t>
            </a:r>
            <a:endParaRPr sz="1200" b="1">
              <a:solidFill>
                <a:srgbClr val="FF0000"/>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Ensuring the </a:t>
            </a:r>
            <a:r>
              <a:rPr lang="en" sz="1200" b="1">
                <a:solidFill>
                  <a:srgbClr val="FF0000"/>
                </a:solidFill>
                <a:latin typeface="Calibri"/>
                <a:ea typeface="Calibri"/>
                <a:cs typeface="Calibri"/>
                <a:sym typeface="Calibri"/>
              </a:rPr>
              <a:t>economic security</a:t>
            </a:r>
            <a:r>
              <a:rPr lang="en" sz="1200">
                <a:solidFill>
                  <a:schemeClr val="dk1"/>
                </a:solidFill>
                <a:latin typeface="Calibri"/>
                <a:ea typeface="Calibri"/>
                <a:cs typeface="Calibri"/>
                <a:sym typeface="Calibri"/>
              </a:rPr>
              <a:t>, and competitiveness of American AI innovation</a:t>
            </a:r>
            <a:endParaRPr sz="1200">
              <a:solidFill>
                <a:schemeClr val="dk1"/>
              </a:solidFill>
              <a:latin typeface="Calibri"/>
              <a:ea typeface="Calibri"/>
              <a:cs typeface="Calibri"/>
              <a:sym typeface="Calibri"/>
            </a:endParaRPr>
          </a:p>
        </p:txBody>
      </p:sp>
      <p:pic>
        <p:nvPicPr>
          <p:cNvPr id="145" name="Google Shape;145;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013984" y="76200"/>
            <a:ext cx="2071675" cy="600775"/>
          </a:xfrm>
          <a:prstGeom prst="rect">
            <a:avLst/>
          </a:prstGeom>
          <a:noFill/>
          <a:ln>
            <a:noFill/>
          </a:ln>
        </p:spPr>
      </p:pic>
      <p:sp>
        <p:nvSpPr>
          <p:cNvPr id="146" name="Google Shape;146;p22"/>
          <p:cNvSpPr txBox="1"/>
          <p:nvPr/>
        </p:nvSpPr>
        <p:spPr>
          <a:xfrm>
            <a:off x="92450" y="2291206"/>
            <a:ext cx="4443900" cy="27891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a:latin typeface="Calibri"/>
                <a:ea typeface="Calibri"/>
                <a:cs typeface="Calibri"/>
                <a:sym typeface="Calibri"/>
              </a:rPr>
              <a:t>Established the AI Safety and Security Board (AISSB) - 22 members.</a:t>
            </a:r>
            <a:endParaRPr sz="1200">
              <a:latin typeface="Calibri"/>
              <a:ea typeface="Calibri"/>
              <a:cs typeface="Calibri"/>
              <a:sym typeface="Calibri"/>
            </a:endParaRPr>
          </a:p>
          <a:p>
            <a:pPr marL="0" marR="0" lvl="0" indent="0" algn="l" rtl="0">
              <a:lnSpc>
                <a:spcPct val="100000"/>
              </a:lnSpc>
              <a:spcBef>
                <a:spcPts val="0"/>
              </a:spcBef>
              <a:spcAft>
                <a:spcPts val="0"/>
              </a:spcAft>
              <a:buNone/>
            </a:pPr>
            <a:r>
              <a:rPr lang="en" sz="1200" b="1">
                <a:solidFill>
                  <a:srgbClr val="3C78D8"/>
                </a:solidFill>
                <a:latin typeface="Calibri"/>
                <a:ea typeface="Calibri"/>
                <a:cs typeface="Calibri"/>
                <a:sym typeface="Calibri"/>
              </a:rPr>
              <a:t>Mostly CEOs of big companies - effectively capturing regulations in their own corporate interests.</a:t>
            </a:r>
            <a:endParaRPr sz="1200" b="1">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Note - Elon Musk, Mark Zuckerberg, Yann LeCun are NOT included.</a:t>
            </a:r>
            <a:endParaRPr sz="12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u="sng">
                <a:solidFill>
                  <a:schemeClr val="hlink"/>
                </a:solidFill>
                <a:latin typeface="Calibri"/>
                <a:ea typeface="Calibri"/>
                <a:cs typeface="Calibri"/>
                <a:sym typeface="Calibri"/>
                <a:hlinkClick r:id="rId5"/>
              </a:rPr>
              <a:t>https://www.youtube.com/watch?v=2GGLCvA6Rfg</a:t>
            </a:r>
            <a:r>
              <a:rPr lang="en" sz="1200">
                <a:solidFill>
                  <a:srgbClr val="FF0000"/>
                </a:solidFill>
                <a:latin typeface="Calibri"/>
                <a:ea typeface="Calibri"/>
                <a:cs typeface="Calibri"/>
                <a:sym typeface="Calibri"/>
              </a:rPr>
              <a:t> </a:t>
            </a:r>
            <a:endParaRPr sz="1200">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u="sng">
                <a:solidFill>
                  <a:schemeClr val="hlink"/>
                </a:solidFill>
                <a:latin typeface="Calibri"/>
                <a:ea typeface="Calibri"/>
                <a:cs typeface="Calibri"/>
                <a:sym typeface="Calibri"/>
                <a:hlinkClick r:id="rId6"/>
              </a:rPr>
              <a:t>https://www.dhs.gov/news/2024/04/26/over-20-technology-and-critical-infrastructure-executives-civil-rights-leaders</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Sam Altman,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OpenAI;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Dario Amodei,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and Co-Founder, Anthropic;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Ed Bastian,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Delta Air Lines;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Rumman Chowdhury, Ph.D.,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Humane Intelligence;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Alexandra Reeve Givens, President and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Center for Democracy and Technology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Bruce Harrell, Mayor of Seattle, Washington; </a:t>
            </a:r>
            <a:r>
              <a:rPr lang="en" sz="1200" b="1">
                <a:solidFill>
                  <a:srgbClr val="3C78D8"/>
                </a:solidFill>
                <a:latin typeface="Calibri"/>
                <a:ea typeface="Calibri"/>
                <a:cs typeface="Calibri"/>
                <a:sym typeface="Calibri"/>
              </a:rPr>
              <a:t>Chair</a:t>
            </a:r>
            <a:r>
              <a:rPr lang="en" sz="1200">
                <a:latin typeface="Calibri"/>
                <a:ea typeface="Calibri"/>
                <a:cs typeface="Calibri"/>
                <a:sym typeface="Calibri"/>
              </a:rPr>
              <a:t>, Technology and Innovation Committee, US Conference of Mayors; </a:t>
            </a:r>
            <a:endParaRPr sz="1200">
              <a:latin typeface="Calibri"/>
              <a:ea typeface="Calibri"/>
              <a:cs typeface="Calibri"/>
              <a:sym typeface="Calibri"/>
            </a:endParaRPr>
          </a:p>
        </p:txBody>
      </p:sp>
      <p:sp>
        <p:nvSpPr>
          <p:cNvPr id="147" name="Google Shape;147;p22"/>
          <p:cNvSpPr txBox="1"/>
          <p:nvPr/>
        </p:nvSpPr>
        <p:spPr>
          <a:xfrm>
            <a:off x="4655475" y="981775"/>
            <a:ext cx="4443900" cy="40821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90500" algn="l" rtl="0">
              <a:spcBef>
                <a:spcPts val="0"/>
              </a:spcBef>
              <a:spcAft>
                <a:spcPts val="0"/>
              </a:spcAft>
              <a:buSzPts val="1200"/>
              <a:buFont typeface="Calibri"/>
              <a:buChar char="●"/>
            </a:pPr>
            <a:r>
              <a:rPr lang="en" sz="1200">
                <a:latin typeface="Calibri"/>
                <a:ea typeface="Calibri"/>
                <a:cs typeface="Calibri"/>
                <a:sym typeface="Calibri"/>
              </a:rPr>
              <a:t>Damon Hewitt, </a:t>
            </a:r>
            <a:r>
              <a:rPr lang="en" sz="1200" b="1">
                <a:solidFill>
                  <a:srgbClr val="3C78D8"/>
                </a:solidFill>
                <a:latin typeface="Calibri"/>
                <a:ea typeface="Calibri"/>
                <a:cs typeface="Calibri"/>
                <a:sym typeface="Calibri"/>
              </a:rPr>
              <a:t>President and Executive Director</a:t>
            </a:r>
            <a:r>
              <a:rPr lang="en" sz="1200">
                <a:latin typeface="Calibri"/>
                <a:ea typeface="Calibri"/>
                <a:cs typeface="Calibri"/>
                <a:sym typeface="Calibri"/>
              </a:rPr>
              <a:t>, Lawyers’ Committee for Civil Rights Under Law;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Vicki Hollub, President and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Occidental Petroleum;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Jensen Huang, President and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NVIDIA;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Arvind Krishna, Chairman and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IBM;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Fei-Fei Li, Ph.D., </a:t>
            </a:r>
            <a:r>
              <a:rPr lang="en" sz="1200" b="1">
                <a:solidFill>
                  <a:srgbClr val="6AA84F"/>
                </a:solidFill>
                <a:latin typeface="Calibri"/>
                <a:ea typeface="Calibri"/>
                <a:cs typeface="Calibri"/>
                <a:sym typeface="Calibri"/>
              </a:rPr>
              <a:t>Co-Director, Stanford Human-centered Artificial Intelligence Institute;</a:t>
            </a:r>
            <a:r>
              <a:rPr lang="en" sz="1200">
                <a:latin typeface="Calibri"/>
                <a:ea typeface="Calibri"/>
                <a:cs typeface="Calibri"/>
                <a:sym typeface="Calibri"/>
              </a:rPr>
              <a:t>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Wes Moore, </a:t>
            </a:r>
            <a:r>
              <a:rPr lang="en" sz="1200" b="1">
                <a:solidFill>
                  <a:srgbClr val="3C78D8"/>
                </a:solidFill>
                <a:latin typeface="Calibri"/>
                <a:ea typeface="Calibri"/>
                <a:cs typeface="Calibri"/>
                <a:sym typeface="Calibri"/>
              </a:rPr>
              <a:t>Governor</a:t>
            </a:r>
            <a:r>
              <a:rPr lang="en" sz="1200">
                <a:latin typeface="Calibri"/>
                <a:ea typeface="Calibri"/>
                <a:cs typeface="Calibri"/>
                <a:sym typeface="Calibri"/>
              </a:rPr>
              <a:t> of Maryland;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Satya Nadella, Chairman and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Microsoft;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Shantanu Narayen, Chair and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Adobe;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Sundar Pichai,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Alphabet;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Arati Prabhakar, Ph.D., </a:t>
            </a:r>
            <a:r>
              <a:rPr lang="en" sz="1200" b="1">
                <a:solidFill>
                  <a:srgbClr val="3C78D8"/>
                </a:solidFill>
                <a:latin typeface="Calibri"/>
                <a:ea typeface="Calibri"/>
                <a:cs typeface="Calibri"/>
                <a:sym typeface="Calibri"/>
              </a:rPr>
              <a:t>Assistant to the President</a:t>
            </a:r>
            <a:r>
              <a:rPr lang="en" sz="1200">
                <a:latin typeface="Calibri"/>
                <a:ea typeface="Calibri"/>
                <a:cs typeface="Calibri"/>
                <a:sym typeface="Calibri"/>
              </a:rPr>
              <a:t> for Science and Technology; Director, the White House Office of Science and Technology Policy;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Chuck Robbins, Chair and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Cisco; Chair, Business Roundtable;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Adam Selipsky,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Amazon Web Services;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Dr. Lisa Su, Chair and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Advanced Micro Devices (AMD);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Nicol Turner Lee, Ph.D., </a:t>
            </a:r>
            <a:r>
              <a:rPr lang="en" sz="1200" b="1">
                <a:solidFill>
                  <a:srgbClr val="3C78D8"/>
                </a:solidFill>
                <a:latin typeface="Calibri"/>
                <a:ea typeface="Calibri"/>
                <a:cs typeface="Calibri"/>
                <a:sym typeface="Calibri"/>
              </a:rPr>
              <a:t>Senior Fellow and Director</a:t>
            </a:r>
            <a:r>
              <a:rPr lang="en" sz="1200">
                <a:latin typeface="Calibri"/>
                <a:ea typeface="Calibri"/>
                <a:cs typeface="Calibri"/>
                <a:sym typeface="Calibri"/>
              </a:rPr>
              <a:t> of the Center for Technology Innovation, Brookings Institution;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Kathy Warden, Chair,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and President, Northrop Grumman; and </a:t>
            </a:r>
            <a:endParaRPr sz="1200">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latin typeface="Calibri"/>
                <a:ea typeface="Calibri"/>
                <a:cs typeface="Calibri"/>
                <a:sym typeface="Calibri"/>
              </a:rPr>
              <a:t>Maya Wiley, President and </a:t>
            </a:r>
            <a:r>
              <a:rPr lang="en" sz="1200" b="1">
                <a:solidFill>
                  <a:srgbClr val="FF0000"/>
                </a:solidFill>
                <a:latin typeface="Calibri"/>
                <a:ea typeface="Calibri"/>
                <a:cs typeface="Calibri"/>
                <a:sym typeface="Calibri"/>
              </a:rPr>
              <a:t>CEO</a:t>
            </a:r>
            <a:r>
              <a:rPr lang="en" sz="1200">
                <a:latin typeface="Calibri"/>
                <a:ea typeface="Calibri"/>
                <a:cs typeface="Calibri"/>
                <a:sym typeface="Calibri"/>
              </a:rPr>
              <a:t>, The Leadership Conference on Civil and Human Rights. </a:t>
            </a:r>
            <a:endParaRPr sz="12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txBox="1"/>
          <p:nvPr/>
        </p:nvSpPr>
        <p:spPr>
          <a:xfrm>
            <a:off x="31350" y="57975"/>
            <a:ext cx="2423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Regulatory Capture</a:t>
            </a:r>
            <a:endParaRPr sz="2000" b="1" i="0" u="none" strike="noStrike" cap="none">
              <a:solidFill>
                <a:srgbClr val="000000"/>
              </a:solidFill>
              <a:latin typeface="Calibri"/>
              <a:ea typeface="Calibri"/>
              <a:cs typeface="Calibri"/>
              <a:sym typeface="Calibri"/>
            </a:endParaRPr>
          </a:p>
        </p:txBody>
      </p:sp>
      <p:sp>
        <p:nvSpPr>
          <p:cNvPr id="153" name="Google Shape;153;p23"/>
          <p:cNvSpPr txBox="1"/>
          <p:nvPr/>
        </p:nvSpPr>
        <p:spPr>
          <a:xfrm>
            <a:off x="23300" y="434800"/>
            <a:ext cx="4024200" cy="35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a:latin typeface="Calibri"/>
                <a:ea typeface="Calibri"/>
                <a:cs typeface="Calibri"/>
                <a:sym typeface="Calibri"/>
              </a:rPr>
              <a:t>What’s really happening in the background around AI regulation</a:t>
            </a:r>
            <a:endParaRPr sz="1200">
              <a:latin typeface="Calibri"/>
              <a:ea typeface="Calibri"/>
              <a:cs typeface="Calibri"/>
              <a:sym typeface="Calibri"/>
            </a:endParaRPr>
          </a:p>
          <a:p>
            <a:pPr marL="0" marR="0" lvl="0" indent="0" algn="l" rtl="0">
              <a:lnSpc>
                <a:spcPct val="100000"/>
              </a:lnSpc>
              <a:spcBef>
                <a:spcPts val="0"/>
              </a:spcBef>
              <a:spcAft>
                <a:spcPts val="0"/>
              </a:spcAft>
              <a:buNone/>
            </a:pPr>
            <a:r>
              <a:rPr lang="en" sz="1000" u="sng">
                <a:solidFill>
                  <a:schemeClr val="hlink"/>
                </a:solidFill>
                <a:latin typeface="Calibri"/>
                <a:ea typeface="Calibri"/>
                <a:cs typeface="Calibri"/>
                <a:sym typeface="Calibri"/>
                <a:hlinkClick r:id="rId3"/>
              </a:rPr>
              <a:t>https://twitter.com/bgurley/status/1786073617316360670</a:t>
            </a:r>
            <a:r>
              <a:rPr lang="en" sz="1000">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54" name="Google Shape;154;p2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086654" y="434800"/>
            <a:ext cx="5040309" cy="4677151"/>
          </a:xfrm>
          <a:prstGeom prst="rect">
            <a:avLst/>
          </a:prstGeom>
          <a:noFill/>
          <a:ln>
            <a:noFill/>
          </a:ln>
        </p:spPr>
      </p:pic>
      <p:pic>
        <p:nvPicPr>
          <p:cNvPr id="155" name="Google Shape;155;p2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385475" y="882050"/>
            <a:ext cx="1417800" cy="1417800"/>
          </a:xfrm>
          <a:prstGeom prst="rect">
            <a:avLst/>
          </a:prstGeom>
          <a:noFill/>
          <a:ln>
            <a:noFill/>
          </a:ln>
        </p:spPr>
      </p:pic>
      <p:sp>
        <p:nvSpPr>
          <p:cNvPr id="156" name="Google Shape;156;p23"/>
          <p:cNvSpPr txBox="1"/>
          <p:nvPr/>
        </p:nvSpPr>
        <p:spPr>
          <a:xfrm>
            <a:off x="410695" y="2338825"/>
            <a:ext cx="13206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a:latin typeface="Calibri"/>
                <a:ea typeface="Calibri"/>
                <a:cs typeface="Calibri"/>
                <a:sym typeface="Calibri"/>
              </a:rPr>
              <a:t>Bill Gurley, Investor</a:t>
            </a:r>
            <a:endParaRPr sz="1000">
              <a:solidFill>
                <a:schemeClr val="dk1"/>
              </a:solidFill>
              <a:latin typeface="Calibri"/>
              <a:ea typeface="Calibri"/>
              <a:cs typeface="Calibri"/>
              <a:sym typeface="Calibri"/>
            </a:endParaRPr>
          </a:p>
        </p:txBody>
      </p:sp>
      <p:sp>
        <p:nvSpPr>
          <p:cNvPr id="157" name="Google Shape;157;p23"/>
          <p:cNvSpPr/>
          <p:nvPr/>
        </p:nvSpPr>
        <p:spPr>
          <a:xfrm>
            <a:off x="3086100" y="4317425"/>
            <a:ext cx="1098900" cy="405300"/>
          </a:xfrm>
          <a:prstGeom prst="rightArrow">
            <a:avLst>
              <a:gd name="adj1" fmla="val 50000"/>
              <a:gd name="adj2" fmla="val 500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4"/>
          <p:cNvSpPr txBox="1"/>
          <p:nvPr/>
        </p:nvSpPr>
        <p:spPr>
          <a:xfrm>
            <a:off x="31350" y="57975"/>
            <a:ext cx="525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"LLMs are flawed, but useful in the short term"</a:t>
            </a:r>
            <a:endParaRPr sz="2000" b="1" i="0" u="none" strike="noStrike" cap="none">
              <a:solidFill>
                <a:srgbClr val="000000"/>
              </a:solidFill>
              <a:latin typeface="Calibri"/>
              <a:ea typeface="Calibri"/>
              <a:cs typeface="Calibri"/>
              <a:sym typeface="Calibri"/>
            </a:endParaRPr>
          </a:p>
        </p:txBody>
      </p:sp>
      <p:sp>
        <p:nvSpPr>
          <p:cNvPr id="163" name="Google Shape;163;p24"/>
          <p:cNvSpPr txBox="1"/>
          <p:nvPr/>
        </p:nvSpPr>
        <p:spPr>
          <a:xfrm>
            <a:off x="7196925" y="2084975"/>
            <a:ext cx="18780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300" b="1">
                <a:solidFill>
                  <a:srgbClr val="FF0000"/>
                </a:solidFill>
                <a:latin typeface="Calibri"/>
                <a:ea typeface="Calibri"/>
                <a:cs typeface="Calibri"/>
                <a:sym typeface="Calibri"/>
              </a:rPr>
              <a:t>Yann LeCun</a:t>
            </a:r>
            <a:endParaRPr sz="1300">
              <a:solidFill>
                <a:schemeClr val="dk1"/>
              </a:solidFill>
              <a:latin typeface="Calibri"/>
              <a:ea typeface="Calibri"/>
              <a:cs typeface="Calibri"/>
              <a:sym typeface="Calibri"/>
            </a:endParaRPr>
          </a:p>
        </p:txBody>
      </p:sp>
      <p:sp>
        <p:nvSpPr>
          <p:cNvPr id="164" name="Google Shape;164;p24"/>
          <p:cNvSpPr txBox="1"/>
          <p:nvPr/>
        </p:nvSpPr>
        <p:spPr>
          <a:xfrm>
            <a:off x="66675" y="484250"/>
            <a:ext cx="5257500" cy="3928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300" b="1">
                <a:solidFill>
                  <a:srgbClr val="FF0000"/>
                </a:solidFill>
                <a:latin typeface="Calibri"/>
                <a:ea typeface="Calibri"/>
                <a:cs typeface="Calibri"/>
                <a:sym typeface="Calibri"/>
              </a:rPr>
              <a:t>Yann LeCun - how to be smart as auto-regressive LLMs</a:t>
            </a:r>
            <a:endParaRPr sz="13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1000" u="sng">
                <a:solidFill>
                  <a:schemeClr val="hlink"/>
                </a:solidFill>
                <a:latin typeface="Calibri"/>
                <a:ea typeface="Calibri"/>
                <a:cs typeface="Calibri"/>
                <a:sym typeface="Calibri"/>
                <a:hlinkClick r:id="rId3"/>
              </a:rPr>
              <a:t>https://twitter.com/ylecun/status/1785290144561373351</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https://twitter.com/ylecun/status/1785504408534388878</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memorize lots of problem statements together with recipes on how to solve them.</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to solve a new problem, retrieve the recipe whose problem statement superficially matches the new problem.</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apply the recipe blindly and declare victory.</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do not use basic logic.</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do not use common sense to check your solution.</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do not use a mental model of the situation as a sanity check.</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do not simulate the scenario in your mind using your world model.</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when someone tells you your solution is wrong, reply "I'm sorry, you are right" and apply another irrelevant recipe.</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Knowledge accumulation is not a substitute for actual understanding. I'm pointing out that merely scaling up LLMs will not lead to human-level AI.</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 don't hate LLMs. They are useful. Some of my best friends are LLMs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LLMs are flawed but useful in the short term. FAIR is working on the next generation of AI systems.</a:t>
            </a:r>
            <a:endParaRPr sz="1300">
              <a:solidFill>
                <a:schemeClr val="dk1"/>
              </a:solidFill>
              <a:latin typeface="Calibri"/>
              <a:ea typeface="Calibri"/>
              <a:cs typeface="Calibri"/>
              <a:sym typeface="Calibri"/>
            </a:endParaRPr>
          </a:p>
        </p:txBody>
      </p:sp>
      <p:pic>
        <p:nvPicPr>
          <p:cNvPr id="165" name="Google Shape;165;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196928" y="101125"/>
            <a:ext cx="1877975" cy="1915675"/>
          </a:xfrm>
          <a:prstGeom prst="rect">
            <a:avLst/>
          </a:prstGeom>
          <a:noFill/>
          <a:ln>
            <a:noFill/>
          </a:ln>
        </p:spPr>
      </p:pic>
      <p:pic>
        <p:nvPicPr>
          <p:cNvPr id="166" name="Google Shape;166;p2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399550" y="2557821"/>
            <a:ext cx="2535324" cy="25353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5"/>
          <p:cNvSpPr txBox="1"/>
          <p:nvPr/>
        </p:nvSpPr>
        <p:spPr>
          <a:xfrm>
            <a:off x="31350" y="57975"/>
            <a:ext cx="289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LLMs - Key Terminology</a:t>
            </a:r>
            <a:endParaRPr sz="2000" b="1" i="0" u="none" strike="noStrike" cap="none">
              <a:solidFill>
                <a:srgbClr val="000000"/>
              </a:solidFill>
              <a:latin typeface="Calibri"/>
              <a:ea typeface="Calibri"/>
              <a:cs typeface="Calibri"/>
              <a:sym typeface="Calibri"/>
            </a:endParaRPr>
          </a:p>
        </p:txBody>
      </p:sp>
      <p:sp>
        <p:nvSpPr>
          <p:cNvPr id="172" name="Google Shape;172;p25"/>
          <p:cNvSpPr txBox="1"/>
          <p:nvPr/>
        </p:nvSpPr>
        <p:spPr>
          <a:xfrm>
            <a:off x="66675" y="484250"/>
            <a:ext cx="4452900" cy="4174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3"/>
              </a:rPr>
              <a:t>https://www.marktechpost.com/2024/04/25/understanding-key-terminologies-in-large-language-model-llm-universe/</a:t>
            </a:r>
            <a:endParaRPr sz="13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LM = Language Model, LLM = Large LM</a:t>
            </a:r>
            <a:endParaRPr sz="1200" b="1">
              <a:solidFill>
                <a:srgbClr val="FF0000"/>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Training LLM</a:t>
            </a:r>
            <a:r>
              <a:rPr lang="en" sz="1200">
                <a:solidFill>
                  <a:schemeClr val="dk1"/>
                </a:solidFill>
                <a:latin typeface="Calibri"/>
                <a:ea typeface="Calibri"/>
                <a:cs typeface="Calibri"/>
                <a:sym typeface="Calibri"/>
              </a:rPr>
              <a:t> (usually on Tera-tokens of text)</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Fine-tuning</a:t>
            </a:r>
            <a:r>
              <a:rPr lang="en" sz="1200">
                <a:solidFill>
                  <a:schemeClr val="dk1"/>
                </a:solidFill>
                <a:latin typeface="Calibri"/>
                <a:ea typeface="Calibri"/>
                <a:cs typeface="Calibri"/>
                <a:sym typeface="Calibri"/>
              </a:rPr>
              <a:t> - training a pre-trained model for specific tasks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Parameters</a:t>
            </a:r>
            <a:r>
              <a:rPr lang="en" sz="1200">
                <a:solidFill>
                  <a:schemeClr val="dk1"/>
                </a:solidFill>
                <a:latin typeface="Calibri"/>
                <a:ea typeface="Calibri"/>
                <a:cs typeface="Calibri"/>
                <a:sym typeface="Calibri"/>
              </a:rPr>
              <a:t> (network weights) are adjusted during training</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Vector</a:t>
            </a:r>
            <a:r>
              <a:rPr lang="en" sz="1200">
                <a:solidFill>
                  <a:schemeClr val="dk1"/>
                </a:solidFill>
                <a:latin typeface="Calibri"/>
                <a:ea typeface="Calibri"/>
                <a:cs typeface="Calibri"/>
                <a:sym typeface="Calibri"/>
              </a:rPr>
              <a:t> - array of numbers. Words or phrases are converted into vectors (called embeddings), which capture semantic meanings.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Embeddings</a:t>
            </a:r>
            <a:r>
              <a:rPr lang="en" sz="1200">
                <a:solidFill>
                  <a:schemeClr val="dk1"/>
                </a:solidFill>
                <a:latin typeface="Calibri"/>
                <a:ea typeface="Calibri"/>
                <a:cs typeface="Calibri"/>
                <a:sym typeface="Calibri"/>
              </a:rPr>
              <a:t> - vector representations of text where familiar words have similar representations in vector space.</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Tokenization</a:t>
            </a:r>
            <a:r>
              <a:rPr lang="en" sz="1200">
                <a:solidFill>
                  <a:schemeClr val="dk1"/>
                </a:solidFill>
                <a:latin typeface="Calibri"/>
                <a:ea typeface="Calibri"/>
                <a:cs typeface="Calibri"/>
                <a:sym typeface="Calibri"/>
              </a:rPr>
              <a:t> - splitting text into pieces, called tokens, which could be words, subwords, or characters. 4K tokens ~ 6 pages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Transformer</a:t>
            </a:r>
            <a:r>
              <a:rPr lang="en" sz="1200">
                <a:solidFill>
                  <a:schemeClr val="dk1"/>
                </a:solidFill>
                <a:latin typeface="Calibri"/>
                <a:ea typeface="Calibri"/>
                <a:cs typeface="Calibri"/>
                <a:sym typeface="Calibri"/>
              </a:rPr>
              <a:t> - neural network architecture that uses self-attention mechanism to weigh the influence of different parts of the input data differently.</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Attention</a:t>
            </a:r>
            <a:r>
              <a:rPr lang="en" sz="1200">
                <a:solidFill>
                  <a:schemeClr val="dk1"/>
                </a:solidFill>
                <a:latin typeface="Calibri"/>
                <a:ea typeface="Calibri"/>
                <a:cs typeface="Calibri"/>
                <a:sym typeface="Calibri"/>
              </a:rPr>
              <a:t> - mechanisms to concentrate on different segments of the input, mirroring how human attention operates.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Inference</a:t>
            </a:r>
            <a:r>
              <a:rPr lang="en" sz="1200">
                <a:solidFill>
                  <a:schemeClr val="dk1"/>
                </a:solidFill>
                <a:latin typeface="Calibri"/>
                <a:ea typeface="Calibri"/>
                <a:cs typeface="Calibri"/>
                <a:sym typeface="Calibri"/>
              </a:rPr>
              <a:t> - using a trained model to make predictions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Temperature</a:t>
            </a:r>
            <a:r>
              <a:rPr lang="en" sz="1200">
                <a:solidFill>
                  <a:schemeClr val="dk1"/>
                </a:solidFill>
                <a:latin typeface="Calibri"/>
                <a:ea typeface="Calibri"/>
                <a:cs typeface="Calibri"/>
                <a:sym typeface="Calibri"/>
              </a:rPr>
              <a:t> - a hyperparameter that controls the randomness. Higher temperature - more random output, lower - more deterministic.</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Frequency</a:t>
            </a:r>
            <a:r>
              <a:rPr lang="en" sz="1200">
                <a:solidFill>
                  <a:schemeClr val="dk1"/>
                </a:solidFill>
                <a:latin typeface="Calibri"/>
                <a:ea typeface="Calibri"/>
                <a:cs typeface="Calibri"/>
                <a:sym typeface="Calibri"/>
              </a:rPr>
              <a:t> - a parameter that adjusts the likelihood of tokens based on their frequency of occurrence (common versus rare words).</a:t>
            </a:r>
            <a:endParaRPr sz="1200">
              <a:solidFill>
                <a:schemeClr val="dk1"/>
              </a:solidFill>
              <a:latin typeface="Calibri"/>
              <a:ea typeface="Calibri"/>
              <a:cs typeface="Calibri"/>
              <a:sym typeface="Calibri"/>
            </a:endParaRPr>
          </a:p>
        </p:txBody>
      </p:sp>
      <p:sp>
        <p:nvSpPr>
          <p:cNvPr id="173" name="Google Shape;173;p25"/>
          <p:cNvSpPr txBox="1"/>
          <p:nvPr/>
        </p:nvSpPr>
        <p:spPr>
          <a:xfrm>
            <a:off x="4629825" y="195866"/>
            <a:ext cx="4452900" cy="482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Sampling</a:t>
            </a:r>
            <a:r>
              <a:rPr lang="en" sz="1200">
                <a:solidFill>
                  <a:schemeClr val="dk1"/>
                </a:solidFill>
                <a:latin typeface="Calibri"/>
                <a:ea typeface="Calibri"/>
                <a:cs typeface="Calibri"/>
                <a:sym typeface="Calibri"/>
              </a:rPr>
              <a:t> - generating text by randomly picking the next word based on its probability distribution.</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Top-k Sampling</a:t>
            </a:r>
            <a:r>
              <a:rPr lang="en" sz="1200">
                <a:solidFill>
                  <a:schemeClr val="dk1"/>
                </a:solidFill>
                <a:latin typeface="Calibri"/>
                <a:ea typeface="Calibri"/>
                <a:cs typeface="Calibri"/>
                <a:sym typeface="Calibri"/>
              </a:rPr>
              <a:t> - model’s choice for the next word is limited to the k most likely next words according to the model’s predictions.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RLHF (Reinforcement Learning from Human Feedback)</a:t>
            </a:r>
            <a:r>
              <a:rPr lang="en" sz="1200">
                <a:solidFill>
                  <a:schemeClr val="dk1"/>
                </a:solidFill>
                <a:latin typeface="Calibri"/>
                <a:ea typeface="Calibri"/>
                <a:cs typeface="Calibri"/>
                <a:sym typeface="Calibri"/>
              </a:rPr>
              <a:t> - a model is fine-tuned based on human feedback rather than just raw data.</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Decoding Strategies</a:t>
            </a:r>
            <a:r>
              <a:rPr lang="en" sz="1200">
                <a:solidFill>
                  <a:schemeClr val="dk1"/>
                </a:solidFill>
                <a:latin typeface="Calibri"/>
                <a:ea typeface="Calibri"/>
                <a:cs typeface="Calibri"/>
                <a:sym typeface="Calibri"/>
              </a:rPr>
              <a:t> - determine how LMs select output sequences during generation (</a:t>
            </a:r>
            <a:r>
              <a:rPr lang="en" sz="1200" b="1">
                <a:solidFill>
                  <a:srgbClr val="FF0000"/>
                </a:solidFill>
                <a:latin typeface="Calibri"/>
                <a:ea typeface="Calibri"/>
                <a:cs typeface="Calibri"/>
                <a:sym typeface="Calibri"/>
              </a:rPr>
              <a:t>greedy decoding, beam search</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Prompt Engineering</a:t>
            </a:r>
            <a:r>
              <a:rPr lang="en" sz="1200">
                <a:solidFill>
                  <a:schemeClr val="dk1"/>
                </a:solidFill>
                <a:latin typeface="Calibri"/>
                <a:ea typeface="Calibri"/>
                <a:cs typeface="Calibri"/>
                <a:sym typeface="Calibri"/>
              </a:rPr>
              <a:t> - designing inputs (prompts) that guide the model in generating specific types of outputs.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Transformer-XL</a:t>
            </a:r>
            <a:r>
              <a:rPr lang="en" sz="1200">
                <a:solidFill>
                  <a:schemeClr val="dk1"/>
                </a:solidFill>
                <a:latin typeface="Calibri"/>
                <a:ea typeface="Calibri"/>
                <a:cs typeface="Calibri"/>
                <a:sym typeface="Calibri"/>
              </a:rPr>
              <a:t> - extends the existing transformer architecture, enabling learning dependencies beyond a fixed length. </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MLM (Masked Language Modeling) </a:t>
            </a:r>
            <a:r>
              <a:rPr lang="en" sz="1200">
                <a:solidFill>
                  <a:schemeClr val="dk1"/>
                </a:solidFill>
                <a:latin typeface="Calibri"/>
                <a:ea typeface="Calibri"/>
                <a:cs typeface="Calibri"/>
                <a:sym typeface="Calibri"/>
              </a:rPr>
              <a:t>- train the model to predict masked input segments.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Seq2Seq (Sequence-to-Sequence Models)</a:t>
            </a:r>
            <a:r>
              <a:rPr lang="en" sz="1200">
                <a:solidFill>
                  <a:schemeClr val="dk1"/>
                </a:solidFill>
                <a:latin typeface="Calibri"/>
                <a:ea typeface="Calibri"/>
                <a:cs typeface="Calibri"/>
                <a:sym typeface="Calibri"/>
              </a:rPr>
              <a:t> - convert sequences from one domain to another (encoder+decoder) - translation between languages, converting questions to answers, etc.</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GPT (Generative Pre-trained Transformer)</a:t>
            </a:r>
            <a:r>
              <a:rPr lang="en" sz="1200">
                <a:solidFill>
                  <a:schemeClr val="dk1"/>
                </a:solidFill>
                <a:latin typeface="Calibri"/>
                <a:ea typeface="Calibri"/>
                <a:cs typeface="Calibri"/>
                <a:sym typeface="Calibri"/>
              </a:rPr>
              <a:t> - OpenAI models.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Perplexity</a:t>
            </a:r>
            <a:r>
              <a:rPr lang="en" sz="1200">
                <a:solidFill>
                  <a:schemeClr val="dk1"/>
                </a:solidFill>
                <a:latin typeface="Calibri"/>
                <a:ea typeface="Calibri"/>
                <a:cs typeface="Calibri"/>
                <a:sym typeface="Calibri"/>
              </a:rPr>
              <a:t> - related to predictive accuracy. Low perplexity suggests superior prediction of test data.</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Multi-head Attention</a:t>
            </a:r>
            <a:r>
              <a:rPr lang="en" sz="1200">
                <a:solidFill>
                  <a:schemeClr val="dk1"/>
                </a:solidFill>
                <a:latin typeface="Calibri"/>
                <a:ea typeface="Calibri"/>
                <a:cs typeface="Calibri"/>
                <a:sym typeface="Calibri"/>
              </a:rPr>
              <a:t> - enables the model to focus on various representation subspaces at different positions simultaneously.</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Contextual Embeddings</a:t>
            </a:r>
            <a:r>
              <a:rPr lang="en" sz="1200">
                <a:solidFill>
                  <a:schemeClr val="dk1"/>
                </a:solidFill>
                <a:latin typeface="Calibri"/>
                <a:ea typeface="Calibri"/>
                <a:cs typeface="Calibri"/>
                <a:sym typeface="Calibri"/>
              </a:rPr>
              <a:t> - dynamic embeddings that consider the context (surrounding text).</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Autoregressive Models</a:t>
            </a:r>
            <a:r>
              <a:rPr lang="en" sz="1200">
                <a:solidFill>
                  <a:schemeClr val="dk1"/>
                </a:solidFill>
                <a:latin typeface="Calibri"/>
                <a:ea typeface="Calibri"/>
                <a:cs typeface="Calibri"/>
                <a:sym typeface="Calibri"/>
              </a:rPr>
              <a:t> - predict subsequent words based on previous ones. This is the foundation of LLMs.</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6"/>
          <p:cNvSpPr txBox="1"/>
          <p:nvPr/>
        </p:nvSpPr>
        <p:spPr>
          <a:xfrm>
            <a:off x="31350" y="57975"/>
            <a:ext cx="3961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Kolmogorov-Arnold Networks</a:t>
            </a:r>
            <a:endParaRPr sz="2000" b="1" i="0" u="none" strike="noStrike" cap="none">
              <a:solidFill>
                <a:srgbClr val="000000"/>
              </a:solidFill>
              <a:latin typeface="Calibri"/>
              <a:ea typeface="Calibri"/>
              <a:cs typeface="Calibri"/>
              <a:sym typeface="Calibri"/>
            </a:endParaRPr>
          </a:p>
        </p:txBody>
      </p:sp>
      <p:sp>
        <p:nvSpPr>
          <p:cNvPr id="179" name="Google Shape;179;p26"/>
          <p:cNvSpPr txBox="1"/>
          <p:nvPr/>
        </p:nvSpPr>
        <p:spPr>
          <a:xfrm>
            <a:off x="62426" y="2362812"/>
            <a:ext cx="4452900" cy="120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Neural networks can compute any function.</a:t>
            </a:r>
            <a:br>
              <a:rPr lang="en" sz="13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3"/>
              </a:rPr>
              <a:t>https://www.youtube.com/watch?v=O45AaRPQhuI</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Kolmogorov-Arnold representation: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any continuous multivariate function can be presented by using two functions (outer and inner):  </a:t>
            </a:r>
            <a:r>
              <a:rPr lang="en" sz="1500" b="1">
                <a:solidFill>
                  <a:srgbClr val="FF0000"/>
                </a:solidFill>
                <a:latin typeface="Calibri"/>
                <a:ea typeface="Calibri"/>
                <a:cs typeface="Calibri"/>
                <a:sym typeface="Calibri"/>
              </a:rPr>
              <a:t>ρ</a:t>
            </a:r>
            <a:r>
              <a:rPr lang="en" sz="1300">
                <a:solidFill>
                  <a:schemeClr val="dk1"/>
                </a:solidFill>
                <a:latin typeface="Calibri"/>
                <a:ea typeface="Calibri"/>
                <a:cs typeface="Calibri"/>
                <a:sym typeface="Calibri"/>
              </a:rPr>
              <a:t> and </a:t>
            </a:r>
            <a:r>
              <a:rPr lang="en" sz="1300" b="1">
                <a:solidFill>
                  <a:srgbClr val="FF0000"/>
                </a:solidFill>
              </a:rPr>
              <a:t>Φ</a:t>
            </a:r>
            <a:r>
              <a:rPr lang="en" sz="1100">
                <a:solidFill>
                  <a:srgbClr val="333333"/>
                </a:solidFill>
              </a:rPr>
              <a:t> :</a:t>
            </a:r>
            <a:endParaRPr sz="1300">
              <a:solidFill>
                <a:schemeClr val="dk1"/>
              </a:solidFill>
              <a:latin typeface="Calibri"/>
              <a:ea typeface="Calibri"/>
              <a:cs typeface="Calibri"/>
              <a:sym typeface="Calibri"/>
            </a:endParaRPr>
          </a:p>
        </p:txBody>
      </p:sp>
      <p:pic>
        <p:nvPicPr>
          <p:cNvPr id="180" name="Google Shape;180;p26"/>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774900" y="57975"/>
            <a:ext cx="4306951" cy="1770850"/>
          </a:xfrm>
          <a:prstGeom prst="rect">
            <a:avLst/>
          </a:prstGeom>
          <a:noFill/>
          <a:ln>
            <a:noFill/>
          </a:ln>
        </p:spPr>
      </p:pic>
      <p:pic>
        <p:nvPicPr>
          <p:cNvPr id="181" name="Google Shape;181;p2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276901" y="3806875"/>
            <a:ext cx="3961800" cy="981295"/>
          </a:xfrm>
          <a:prstGeom prst="rect">
            <a:avLst/>
          </a:prstGeom>
          <a:noFill/>
          <a:ln>
            <a:noFill/>
          </a:ln>
        </p:spPr>
      </p:pic>
      <p:sp>
        <p:nvSpPr>
          <p:cNvPr id="182" name="Google Shape;182;p26"/>
          <p:cNvSpPr txBox="1"/>
          <p:nvPr/>
        </p:nvSpPr>
        <p:spPr>
          <a:xfrm>
            <a:off x="4628950" y="1828825"/>
            <a:ext cx="4452900" cy="161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14300"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Imagine you have a big box full of all sorts of colorful building blocks. The Kolmogorov-Arnold representation theorem says that no matter how complicated a building you can make with those blocks, you only need two special moves:</a:t>
            </a:r>
            <a:endParaRPr sz="1300">
              <a:solidFill>
                <a:schemeClr val="dk1"/>
              </a:solidFill>
              <a:latin typeface="Calibri"/>
              <a:ea typeface="Calibri"/>
              <a:cs typeface="Calibri"/>
              <a:sym typeface="Calibri"/>
            </a:endParaRPr>
          </a:p>
          <a:p>
            <a:pPr marL="2286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You can use single-colored blocks, like only blue blocks or only green blocks.</a:t>
            </a:r>
            <a:endParaRPr sz="1300">
              <a:solidFill>
                <a:schemeClr val="dk1"/>
              </a:solidFill>
              <a:latin typeface="Calibri"/>
              <a:ea typeface="Calibri"/>
              <a:cs typeface="Calibri"/>
              <a:sym typeface="Calibri"/>
            </a:endParaRPr>
          </a:p>
          <a:p>
            <a:pPr marL="2286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You can stack the single-colored block buildings on top of each other.</a:t>
            </a:r>
            <a:endParaRPr sz="1300">
              <a:solidFill>
                <a:schemeClr val="dk1"/>
              </a:solidFill>
              <a:latin typeface="Calibri"/>
              <a:ea typeface="Calibri"/>
              <a:cs typeface="Calibri"/>
              <a:sym typeface="Calibri"/>
            </a:endParaRPr>
          </a:p>
        </p:txBody>
      </p:sp>
      <p:sp>
        <p:nvSpPr>
          <p:cNvPr id="183" name="Google Shape;183;p26"/>
          <p:cNvSpPr txBox="1"/>
          <p:nvPr/>
        </p:nvSpPr>
        <p:spPr>
          <a:xfrm>
            <a:off x="31350" y="438175"/>
            <a:ext cx="4452900" cy="178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A new AI architecture promises a revolution in how we understand and construct neural networks.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Dubbed the </a:t>
            </a:r>
            <a:r>
              <a:rPr lang="en" sz="1300" b="1">
                <a:solidFill>
                  <a:srgbClr val="FF0000"/>
                </a:solidFill>
                <a:latin typeface="Calibri"/>
                <a:ea typeface="Calibri"/>
                <a:cs typeface="Calibri"/>
                <a:sym typeface="Calibri"/>
              </a:rPr>
              <a:t>Kolmogorov-Arnold Network (KAN)</a:t>
            </a:r>
            <a:r>
              <a:rPr lang="en" sz="1300">
                <a:solidFill>
                  <a:schemeClr val="dk1"/>
                </a:solidFill>
                <a:latin typeface="Calibri"/>
                <a:ea typeface="Calibri"/>
                <a:cs typeface="Calibri"/>
                <a:sym typeface="Calibri"/>
              </a:rPr>
              <a:t>, this innovative framework from </a:t>
            </a:r>
            <a:r>
              <a:rPr lang="en" sz="1300" b="1">
                <a:solidFill>
                  <a:srgbClr val="3C78D8"/>
                </a:solidFill>
                <a:latin typeface="Calibri"/>
                <a:ea typeface="Calibri"/>
                <a:cs typeface="Calibri"/>
                <a:sym typeface="Calibri"/>
              </a:rPr>
              <a:t>MIT</a:t>
            </a:r>
            <a:r>
              <a:rPr lang="en" sz="1300">
                <a:solidFill>
                  <a:schemeClr val="dk1"/>
                </a:solidFill>
                <a:latin typeface="Calibri"/>
                <a:ea typeface="Calibri"/>
                <a:cs typeface="Calibri"/>
                <a:sym typeface="Calibri"/>
              </a:rPr>
              <a:t> is poised to transform traditional models with its unique approach.</a:t>
            </a:r>
            <a:endParaRPr sz="1300">
              <a:solidFill>
                <a:schemeClr val="dk1"/>
              </a:solidFill>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6"/>
              </a:rPr>
              <a:t>https://medium.com/@isaakmwangi2018/a-simplified-explanation-of-the-new-kolmogorov-arnold-network-kan-from-mit-cbb59793a040</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7"/>
              </a:rPr>
              <a:t>https://arxiv.org/abs/2404.19756</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8"/>
              </a:rPr>
              <a:t>https://github.com/KindXiaoming/pykan</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9"/>
              </a:rPr>
              <a:t>https://kindxiaoming.github.io/pykan/</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84" name="Google Shape;184;p26"/>
          <p:cNvSpPr txBox="1"/>
          <p:nvPr/>
        </p:nvSpPr>
        <p:spPr>
          <a:xfrm>
            <a:off x="4628950" y="3562800"/>
            <a:ext cx="4452900" cy="1419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Traditional Neural Networks (MLPs):</a:t>
            </a:r>
            <a:r>
              <a:rPr lang="en" sz="1300">
                <a:solidFill>
                  <a:schemeClr val="dk1"/>
                </a:solidFill>
                <a:latin typeface="Calibri"/>
                <a:ea typeface="Calibri"/>
                <a:cs typeface="Calibri"/>
                <a:sym typeface="Calibri"/>
              </a:rPr>
              <a:t> Information moves in "layers" (like building upwards). Each "neuron" does a simple calculation and passes it on to the next layer.</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Kolmogorov-Arnold Networks (KANs):</a:t>
            </a:r>
            <a:r>
              <a:rPr lang="en" sz="1300">
                <a:solidFill>
                  <a:schemeClr val="dk1"/>
                </a:solidFill>
                <a:latin typeface="Calibri"/>
                <a:ea typeface="Calibri"/>
                <a:cs typeface="Calibri"/>
                <a:sym typeface="Calibri"/>
              </a:rPr>
              <a:t> Information flows along connections between pieces, like putting puzzle pieces together. Each connection has its own function, like a strangely shaped puzzle piece that changes the information it connects.</a:t>
            </a:r>
            <a:endParaRPr sz="13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7"/>
          <p:cNvSpPr txBox="1"/>
          <p:nvPr/>
        </p:nvSpPr>
        <p:spPr>
          <a:xfrm>
            <a:off x="31350" y="57975"/>
            <a:ext cx="289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Longevity Escape Velocity</a:t>
            </a:r>
            <a:endParaRPr sz="2000" b="1" i="0" u="none" strike="noStrike" cap="none">
              <a:solidFill>
                <a:srgbClr val="000000"/>
              </a:solidFill>
              <a:latin typeface="Calibri"/>
              <a:ea typeface="Calibri"/>
              <a:cs typeface="Calibri"/>
              <a:sym typeface="Calibri"/>
            </a:endParaRPr>
          </a:p>
        </p:txBody>
      </p:sp>
      <p:sp>
        <p:nvSpPr>
          <p:cNvPr id="190" name="Google Shape;190;p27"/>
          <p:cNvSpPr txBox="1"/>
          <p:nvPr/>
        </p:nvSpPr>
        <p:spPr>
          <a:xfrm>
            <a:off x="66675" y="484250"/>
            <a:ext cx="4452900" cy="322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“Today, by some estimates, science is adding about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three (3) months</a:t>
            </a:r>
            <a:r>
              <a:rPr lang="en" sz="1300">
                <a:solidFill>
                  <a:schemeClr val="dk1"/>
                </a:solidFill>
                <a:latin typeface="Calibri"/>
                <a:ea typeface="Calibri"/>
                <a:cs typeface="Calibri"/>
                <a:sym typeface="Calibri"/>
              </a:rPr>
              <a:t> to your lifespan </a:t>
            </a:r>
            <a:r>
              <a:rPr lang="en" sz="1300" b="1">
                <a:solidFill>
                  <a:srgbClr val="FF0000"/>
                </a:solidFill>
                <a:latin typeface="Calibri"/>
                <a:ea typeface="Calibri"/>
                <a:cs typeface="Calibri"/>
                <a:sym typeface="Calibri"/>
              </a:rPr>
              <a:t>every year</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In the near future (at some point), additional scientific breakthroughs will extend your lifespan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by more than a year for every year you remain alive</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Once that happens, we have reached </a:t>
            </a:r>
            <a:r>
              <a:rPr lang="en" sz="1300" b="1">
                <a:solidFill>
                  <a:srgbClr val="FF0000"/>
                </a:solidFill>
                <a:latin typeface="Calibri"/>
                <a:ea typeface="Calibri"/>
                <a:cs typeface="Calibri"/>
                <a:sym typeface="Calibri"/>
              </a:rPr>
              <a:t>Longevity Escape Velocity.</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Question: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when we might reach Longevity Escape Velocity. </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Ray Kurzweil: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rgbClr val="3C78D8"/>
                </a:solidFill>
                <a:latin typeface="Calibri"/>
                <a:ea typeface="Calibri"/>
                <a:cs typeface="Calibri"/>
                <a:sym typeface="Calibri"/>
              </a:rPr>
              <a:t>“Sooner Than You Might Imagine! For those in reasonably good shape and with reasonable means, I believe they will have access to longevity escape velocity by the end of 2030.”</a:t>
            </a:r>
            <a:endParaRPr sz="1300">
              <a:solidFill>
                <a:srgbClr val="3C78D8"/>
              </a:solidFill>
              <a:latin typeface="Calibri"/>
              <a:ea typeface="Calibri"/>
              <a:cs typeface="Calibri"/>
              <a:sym typeface="Calibri"/>
            </a:endParaRPr>
          </a:p>
        </p:txBody>
      </p:sp>
      <p:pic>
        <p:nvPicPr>
          <p:cNvPr id="191" name="Google Shape;191;p2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362607" y="135200"/>
            <a:ext cx="1571450" cy="1890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8"/>
          <p:cNvSpPr txBox="1"/>
          <p:nvPr/>
        </p:nvSpPr>
        <p:spPr>
          <a:xfrm>
            <a:off x="31350" y="57975"/>
            <a:ext cx="448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Demis Hassabis and Mustafa Suleyman</a:t>
            </a:r>
            <a:endParaRPr sz="2000" b="1" i="0" u="none" strike="noStrike" cap="none">
              <a:solidFill>
                <a:srgbClr val="000000"/>
              </a:solidFill>
              <a:latin typeface="Calibri"/>
              <a:ea typeface="Calibri"/>
              <a:cs typeface="Calibri"/>
              <a:sym typeface="Calibri"/>
            </a:endParaRPr>
          </a:p>
        </p:txBody>
      </p:sp>
      <p:sp>
        <p:nvSpPr>
          <p:cNvPr id="197" name="Google Shape;197;p28"/>
          <p:cNvSpPr txBox="1"/>
          <p:nvPr/>
        </p:nvSpPr>
        <p:spPr>
          <a:xfrm>
            <a:off x="66675" y="484250"/>
            <a:ext cx="44529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latin typeface="Calibri"/>
                <a:ea typeface="Calibri"/>
                <a:cs typeface="Calibri"/>
                <a:sym typeface="Calibri"/>
              </a:rPr>
              <a:t>Demis Hassabis and Mustafa Suleyman:</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both grew up in London and knew each other.</a:t>
            </a:r>
            <a:endParaRPr sz="1300">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Nowadays:</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Dr. Hassabis, 47, is the chief executive of Google DeepMind</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Mr. Suleyman, 39, was recently named Chief Executive of Microsoft AI overseeing A.I. consumer products.</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https://www.nytimes.com/2024/04/29/technology/ai-google-microsoft.html</a:t>
            </a:r>
            <a:endParaRPr sz="1300">
              <a:solidFill>
                <a:schemeClr val="dk1"/>
              </a:solidFill>
              <a:latin typeface="Calibri"/>
              <a:ea typeface="Calibri"/>
              <a:cs typeface="Calibri"/>
              <a:sym typeface="Calibri"/>
            </a:endParaRPr>
          </a:p>
        </p:txBody>
      </p:sp>
      <p:pic>
        <p:nvPicPr>
          <p:cNvPr id="198" name="Google Shape;198;p2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71975" y="152400"/>
            <a:ext cx="4319622" cy="407323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9"/>
          <p:cNvSpPr txBox="1"/>
          <p:nvPr/>
        </p:nvSpPr>
        <p:spPr>
          <a:xfrm>
            <a:off x="64175" y="460750"/>
            <a:ext cx="3579600" cy="443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Scarlett Dreams</a:t>
            </a:r>
            <a:r>
              <a:rPr lang="en" sz="1300">
                <a:solidFill>
                  <a:schemeClr val="dk1"/>
                </a:solidFill>
                <a:latin typeface="Calibri"/>
                <a:ea typeface="Calibri"/>
                <a:cs typeface="Calibri"/>
                <a:sym typeface="Calibri"/>
              </a:rPr>
              <a:t> - Off-Broadway Play</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Directed by S. Asher Gelman</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Greenwich House Theater, NY,NY</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SYNOPSIS: Two siblings, Milo and Liza, have created a fitness app "RealFit" for a virtual reality headset that runs on artificial intelligence.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Against Milo’s better judgment, they convince Milo’s husband, Kevin, to be their beta tester. Kevin quickly become obsessed with Scarlett - an AI fitness instructor programmed by Liza.</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The AI app begins to change the world as they know it by changing people's motivations and destroying relationships.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The play is very energetic, engaging, funny</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228600" marR="0" lvl="0" indent="-1778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https://playbill.com/production/scarlett-dreams-off-broadway-greenwich-house-theater-2024</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marR="0" lvl="0" indent="-177800" algn="l" rtl="0">
              <a:lnSpc>
                <a:spcPct val="100000"/>
              </a:lnSpc>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https://www.tiktok.com/@scarlettdreamsplay/video/7358121249899449646</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204" name="Google Shape;204;p29"/>
          <p:cNvSpPr txBox="1"/>
          <p:nvPr/>
        </p:nvSpPr>
        <p:spPr>
          <a:xfrm>
            <a:off x="-38049" y="-108050"/>
            <a:ext cx="2081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Scarlett Dreams</a:t>
            </a:r>
            <a:endParaRPr sz="2000" b="1" i="0" u="none" strike="noStrike" cap="none">
              <a:solidFill>
                <a:srgbClr val="000000"/>
              </a:solidFill>
              <a:latin typeface="Calibri"/>
              <a:ea typeface="Calibri"/>
              <a:cs typeface="Calibri"/>
              <a:sym typeface="Calibri"/>
            </a:endParaRPr>
          </a:p>
        </p:txBody>
      </p:sp>
      <p:pic>
        <p:nvPicPr>
          <p:cNvPr id="205" name="Google Shape;205;p2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618024" y="97475"/>
            <a:ext cx="1466850" cy="2314376"/>
          </a:xfrm>
          <a:prstGeom prst="rect">
            <a:avLst/>
          </a:prstGeom>
          <a:noFill/>
          <a:ln>
            <a:noFill/>
          </a:ln>
        </p:spPr>
      </p:pic>
      <p:pic>
        <p:nvPicPr>
          <p:cNvPr id="206" name="Google Shape;206;p2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3976225" y="2534250"/>
            <a:ext cx="5108650" cy="2554325"/>
          </a:xfrm>
          <a:prstGeom prst="rect">
            <a:avLst/>
          </a:prstGeom>
          <a:noFill/>
          <a:ln>
            <a:noFill/>
          </a:ln>
        </p:spPr>
      </p:pic>
      <p:pic>
        <p:nvPicPr>
          <p:cNvPr id="207" name="Google Shape;207;p2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3794750" y="97475"/>
            <a:ext cx="3471548" cy="2314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p:nvPr/>
        </p:nvSpPr>
        <p:spPr>
          <a:xfrm>
            <a:off x="31350" y="57975"/>
            <a:ext cx="4488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Open Source Growth 2029-2013</a:t>
            </a:r>
            <a:endParaRPr sz="2000" b="1" i="0" u="none" strike="noStrike" cap="none">
              <a:solidFill>
                <a:srgbClr val="000000"/>
              </a:solidFill>
              <a:latin typeface="Calibri"/>
              <a:ea typeface="Calibri"/>
              <a:cs typeface="Calibri"/>
              <a:sym typeface="Calibri"/>
            </a:endParaRPr>
          </a:p>
        </p:txBody>
      </p:sp>
      <p:pic>
        <p:nvPicPr>
          <p:cNvPr id="213" name="Google Shape;213;p30"/>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7950" y="481450"/>
            <a:ext cx="3922299" cy="2118195"/>
          </a:xfrm>
          <a:prstGeom prst="rect">
            <a:avLst/>
          </a:prstGeom>
          <a:noFill/>
          <a:ln w="9525" cap="flat" cmpd="sng">
            <a:solidFill>
              <a:srgbClr val="FF0000"/>
            </a:solidFill>
            <a:prstDash val="solid"/>
            <a:round/>
            <a:headEnd type="none" w="sm" len="sm"/>
            <a:tailEnd type="none" w="sm" len="sm"/>
          </a:ln>
        </p:spPr>
      </p:pic>
      <p:sp>
        <p:nvSpPr>
          <p:cNvPr id="214" name="Google Shape;214;p30"/>
          <p:cNvSpPr txBox="1"/>
          <p:nvPr/>
        </p:nvSpPr>
        <p:spPr>
          <a:xfrm>
            <a:off x="4206050" y="485463"/>
            <a:ext cx="4877700" cy="184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u="sng">
                <a:solidFill>
                  <a:schemeClr val="hlink"/>
                </a:solidFill>
                <a:latin typeface="Roboto Mono"/>
                <a:ea typeface="Roboto Mono"/>
                <a:cs typeface="Roboto Mono"/>
                <a:sym typeface="Roboto Mono"/>
                <a:hlinkClick r:id="rId4"/>
              </a:rPr>
              <a:t>https://huggingface.co</a:t>
            </a:r>
            <a:endParaRPr sz="1200">
              <a:latin typeface="Roboto Mono"/>
              <a:ea typeface="Roboto Mono"/>
              <a:cs typeface="Roboto Mono"/>
              <a:sym typeface="Roboto Mono"/>
            </a:endParaRPr>
          </a:p>
          <a:p>
            <a:pPr marL="0" lvl="0" indent="0" algn="l" rtl="0">
              <a:spcBef>
                <a:spcPts val="0"/>
              </a:spcBef>
              <a:spcAft>
                <a:spcPts val="0"/>
              </a:spcAft>
              <a:buNone/>
            </a:pPr>
            <a:endParaRPr sz="1200">
              <a:latin typeface="Roboto Mono"/>
              <a:ea typeface="Roboto Mono"/>
              <a:cs typeface="Roboto Mono"/>
              <a:sym typeface="Roboto Mono"/>
            </a:endParaRPr>
          </a:p>
          <a:p>
            <a:pPr marL="0" lvl="0" indent="0" algn="l" rtl="0">
              <a:spcBef>
                <a:spcPts val="0"/>
              </a:spcBef>
              <a:spcAft>
                <a:spcPts val="0"/>
              </a:spcAft>
              <a:buNone/>
            </a:pPr>
            <a:r>
              <a:rPr lang="en" sz="1200">
                <a:latin typeface="Roboto Mono"/>
                <a:ea typeface="Roboto Mono"/>
                <a:cs typeface="Roboto Mono"/>
                <a:sym typeface="Roboto Mono"/>
              </a:rPr>
              <a:t>Models: 635K (was 300K in January)</a:t>
            </a:r>
            <a:endParaRPr sz="1200">
              <a:latin typeface="Roboto Mono"/>
              <a:ea typeface="Roboto Mono"/>
              <a:cs typeface="Roboto Mono"/>
              <a:sym typeface="Roboto Mono"/>
            </a:endParaRPr>
          </a:p>
          <a:p>
            <a:pPr marL="0" lvl="0" indent="0" algn="l" rtl="0">
              <a:spcBef>
                <a:spcPts val="0"/>
              </a:spcBef>
              <a:spcAft>
                <a:spcPts val="0"/>
              </a:spcAft>
              <a:buNone/>
            </a:pPr>
            <a:r>
              <a:rPr lang="en" sz="1200">
                <a:latin typeface="Roboto Mono"/>
                <a:ea typeface="Roboto Mono"/>
                <a:cs typeface="Roboto Mono"/>
                <a:sym typeface="Roboto Mono"/>
              </a:rPr>
              <a:t>Text generation     : 88K (was 20K+ in Summer 2023)</a:t>
            </a:r>
            <a:endParaRPr sz="1200">
              <a:latin typeface="Roboto Mono"/>
              <a:ea typeface="Roboto Mono"/>
              <a:cs typeface="Roboto Mono"/>
              <a:sym typeface="Roboto Mono"/>
            </a:endParaRPr>
          </a:p>
          <a:p>
            <a:pPr marL="0" lvl="0" indent="0" algn="l" rtl="0">
              <a:spcBef>
                <a:spcPts val="0"/>
              </a:spcBef>
              <a:spcAft>
                <a:spcPts val="0"/>
              </a:spcAft>
              <a:buNone/>
            </a:pPr>
            <a:r>
              <a:rPr lang="en" sz="1200">
                <a:latin typeface="Roboto Mono"/>
                <a:ea typeface="Roboto Mono"/>
                <a:cs typeface="Roboto Mono"/>
                <a:sym typeface="Roboto Mono"/>
              </a:rPr>
              <a:t>Text Classification : 58K</a:t>
            </a:r>
            <a:endParaRPr sz="1200">
              <a:latin typeface="Roboto Mono"/>
              <a:ea typeface="Roboto Mono"/>
              <a:cs typeface="Roboto Mono"/>
              <a:sym typeface="Roboto Mono"/>
            </a:endParaRPr>
          </a:p>
          <a:p>
            <a:pPr marL="0" lvl="0" indent="0" algn="l" rtl="0">
              <a:spcBef>
                <a:spcPts val="0"/>
              </a:spcBef>
              <a:spcAft>
                <a:spcPts val="0"/>
              </a:spcAft>
              <a:buNone/>
            </a:pPr>
            <a:r>
              <a:rPr lang="en" sz="1200">
                <a:latin typeface="Roboto Mono"/>
                <a:ea typeface="Roboto Mono"/>
                <a:cs typeface="Roboto Mono"/>
                <a:sym typeface="Roboto Mono"/>
              </a:rPr>
              <a:t>Text2Text Generation: 28K</a:t>
            </a:r>
            <a:endParaRPr sz="1200">
              <a:latin typeface="Roboto Mono"/>
              <a:ea typeface="Roboto Mono"/>
              <a:cs typeface="Roboto Mono"/>
              <a:sym typeface="Roboto Mono"/>
            </a:endParaRPr>
          </a:p>
          <a:p>
            <a:pPr marL="0" lvl="0" indent="0" algn="l" rtl="0">
              <a:spcBef>
                <a:spcPts val="0"/>
              </a:spcBef>
              <a:spcAft>
                <a:spcPts val="0"/>
              </a:spcAft>
              <a:buNone/>
            </a:pPr>
            <a:r>
              <a:rPr lang="en" sz="1200">
                <a:latin typeface="Roboto Mono"/>
                <a:ea typeface="Roboto Mono"/>
                <a:cs typeface="Roboto Mono"/>
                <a:sym typeface="Roboto Mono"/>
              </a:rPr>
              <a:t>etc.</a:t>
            </a:r>
            <a:endParaRPr sz="1200">
              <a:latin typeface="Roboto Mono"/>
              <a:ea typeface="Roboto Mono"/>
              <a:cs typeface="Roboto Mono"/>
              <a:sym typeface="Roboto Mono"/>
            </a:endParaRPr>
          </a:p>
          <a:p>
            <a:pPr marL="0" lvl="0" indent="0" algn="l" rtl="0">
              <a:spcBef>
                <a:spcPts val="0"/>
              </a:spcBef>
              <a:spcAft>
                <a:spcPts val="0"/>
              </a:spcAft>
              <a:buNone/>
            </a:pPr>
            <a:endParaRPr sz="1200">
              <a:latin typeface="Roboto Mono"/>
              <a:ea typeface="Roboto Mono"/>
              <a:cs typeface="Roboto Mono"/>
              <a:sym typeface="Roboto Mono"/>
            </a:endParaRPr>
          </a:p>
          <a:p>
            <a:pPr marL="0" lvl="0" indent="0" algn="l" rtl="0">
              <a:spcBef>
                <a:spcPts val="0"/>
              </a:spcBef>
              <a:spcAft>
                <a:spcPts val="0"/>
              </a:spcAft>
              <a:buNone/>
            </a:pPr>
            <a:r>
              <a:rPr lang="en" sz="1200">
                <a:latin typeface="Roboto Mono"/>
                <a:ea typeface="Roboto Mono"/>
                <a:cs typeface="Roboto Mono"/>
                <a:sym typeface="Roboto Mono"/>
              </a:rPr>
              <a:t>Datasets: 141K (was 60K in September 2023)</a:t>
            </a:r>
            <a:endParaRPr sz="1200">
              <a:latin typeface="Roboto Mono"/>
              <a:ea typeface="Roboto Mono"/>
              <a:cs typeface="Roboto Mono"/>
              <a:sym typeface="Roboto Mono"/>
            </a:endParaRPr>
          </a:p>
        </p:txBody>
      </p:sp>
      <p:pic>
        <p:nvPicPr>
          <p:cNvPr id="215" name="Google Shape;215;p30"/>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67950" y="2866475"/>
            <a:ext cx="3922309" cy="2195675"/>
          </a:xfrm>
          <a:prstGeom prst="rect">
            <a:avLst/>
          </a:prstGeom>
          <a:noFill/>
          <a:ln w="9525" cap="flat" cmpd="sng">
            <a:solidFill>
              <a:srgbClr val="FF0000"/>
            </a:solidFill>
            <a:prstDash val="solid"/>
            <a:round/>
            <a:headEnd type="none" w="sm" len="sm"/>
            <a:tailEnd type="none" w="sm" len="sm"/>
          </a:ln>
        </p:spPr>
      </p:pic>
      <p:pic>
        <p:nvPicPr>
          <p:cNvPr id="216" name="Google Shape;216;p30"/>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981747" y="2898775"/>
            <a:ext cx="4102129" cy="21956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1"/>
          <p:cNvSpPr txBox="1"/>
          <p:nvPr/>
        </p:nvSpPr>
        <p:spPr>
          <a:xfrm>
            <a:off x="4770375" y="52350"/>
            <a:ext cx="1669500" cy="526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Total #models: 92</a:t>
            </a:r>
            <a:endParaRPr sz="1100">
              <a:solidFill>
                <a:srgbClr val="1F2937"/>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Total #votes: 910,122</a:t>
            </a:r>
            <a:endParaRPr sz="1100">
              <a:solidFill>
                <a:srgbClr val="1F2937"/>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Last updated: 2024-05-01</a:t>
            </a:r>
            <a:endParaRPr sz="1100" b="1">
              <a:solidFill>
                <a:srgbClr val="FF0000"/>
              </a:solidFill>
              <a:latin typeface="Calibri"/>
              <a:ea typeface="Calibri"/>
              <a:cs typeface="Calibri"/>
              <a:sym typeface="Calibri"/>
            </a:endParaRPr>
          </a:p>
        </p:txBody>
      </p:sp>
      <p:sp>
        <p:nvSpPr>
          <p:cNvPr id="222" name="Google Shape;222;p31"/>
          <p:cNvSpPr txBox="1"/>
          <p:nvPr/>
        </p:nvSpPr>
        <p:spPr>
          <a:xfrm>
            <a:off x="7261325" y="52350"/>
            <a:ext cx="1831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95% CI = Confidence Interval</a:t>
            </a:r>
            <a:endParaRPr sz="1200" b="0" i="0" u="none" strike="noStrike" cap="none">
              <a:solidFill>
                <a:schemeClr val="dk1"/>
              </a:solidFill>
              <a:latin typeface="Calibri"/>
              <a:ea typeface="Calibri"/>
              <a:cs typeface="Calibri"/>
              <a:sym typeface="Calibri"/>
            </a:endParaRPr>
          </a:p>
        </p:txBody>
      </p:sp>
      <p:sp>
        <p:nvSpPr>
          <p:cNvPr id="223" name="Google Shape;223;p31"/>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Crowd-sourced "Arena" Leaderboard</a:t>
            </a:r>
            <a:endParaRPr sz="2000" b="1" i="0" u="none" strike="noStrike" cap="none">
              <a:solidFill>
                <a:srgbClr val="000000"/>
              </a:solidFill>
              <a:latin typeface="Calibri"/>
              <a:ea typeface="Calibri"/>
              <a:cs typeface="Calibri"/>
              <a:sym typeface="Calibri"/>
            </a:endParaRPr>
          </a:p>
        </p:txBody>
      </p:sp>
      <p:sp>
        <p:nvSpPr>
          <p:cNvPr id="224" name="Google Shape;224;p31"/>
          <p:cNvSpPr txBox="1"/>
          <p:nvPr/>
        </p:nvSpPr>
        <p:spPr>
          <a:xfrm>
            <a:off x="0" y="157800"/>
            <a:ext cx="2076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https://chat.lmsys.org/?leaderboard</a:t>
            </a:r>
            <a:r>
              <a:rPr lang="en" sz="1000">
                <a:solidFill>
                  <a:schemeClr val="dk1"/>
                </a:solidFill>
                <a:latin typeface="Calibri"/>
                <a:ea typeface="Calibri"/>
                <a:cs typeface="Calibri"/>
                <a:sym typeface="Calibri"/>
              </a:rPr>
              <a:t> </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p:txBody>
      </p:sp>
      <p:sp>
        <p:nvSpPr>
          <p:cNvPr id="225" name="Google Shape;225;p31"/>
          <p:cNvSpPr txBox="1"/>
          <p:nvPr/>
        </p:nvSpPr>
        <p:spPr>
          <a:xfrm>
            <a:off x="4694175" y="4124125"/>
            <a:ext cx="43653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This is for English-only queries.</a:t>
            </a:r>
            <a:endParaRPr sz="1200" b="1">
              <a:solidFill>
                <a:srgbClr val="FF0000"/>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Llama3 70b is on 2nd place, better than Claude 3 Opus</a:t>
            </a:r>
            <a:endParaRPr sz="1200">
              <a:solidFill>
                <a:schemeClr val="dk1"/>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Llama3 8b is like Claude 3 Sonnet, better than Mixtral 8x22b</a:t>
            </a:r>
            <a:endParaRPr sz="1200">
              <a:solidFill>
                <a:schemeClr val="dk1"/>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GPT-3.5-Turbo-0613 is on 27th place</a:t>
            </a:r>
            <a:endParaRPr sz="1200">
              <a:solidFill>
                <a:schemeClr val="dk1"/>
              </a:solidFill>
              <a:latin typeface="Calibri"/>
              <a:ea typeface="Calibri"/>
              <a:cs typeface="Calibri"/>
              <a:sym typeface="Calibri"/>
            </a:endParaRPr>
          </a:p>
        </p:txBody>
      </p:sp>
      <p:sp>
        <p:nvSpPr>
          <p:cNvPr id="226" name="Google Shape;226;p31"/>
          <p:cNvSpPr/>
          <p:nvPr/>
        </p:nvSpPr>
        <p:spPr>
          <a:xfrm>
            <a:off x="6869350" y="157802"/>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27" name="Google Shape;227;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82323" y="496504"/>
            <a:ext cx="4301148" cy="2878494"/>
          </a:xfrm>
          <a:prstGeom prst="rect">
            <a:avLst/>
          </a:prstGeom>
          <a:noFill/>
          <a:ln>
            <a:noFill/>
          </a:ln>
        </p:spPr>
      </p:pic>
      <p:pic>
        <p:nvPicPr>
          <p:cNvPr id="228" name="Google Shape;228;p31"/>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781475" y="653898"/>
            <a:ext cx="4301148" cy="991674"/>
          </a:xfrm>
          <a:prstGeom prst="rect">
            <a:avLst/>
          </a:prstGeom>
          <a:noFill/>
          <a:ln>
            <a:noFill/>
          </a:ln>
        </p:spPr>
      </p:pic>
      <p:pic>
        <p:nvPicPr>
          <p:cNvPr id="229" name="Google Shape;229;p3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81477" y="1660376"/>
            <a:ext cx="4301148" cy="659171"/>
          </a:xfrm>
          <a:prstGeom prst="rect">
            <a:avLst/>
          </a:prstGeom>
          <a:noFill/>
          <a:ln>
            <a:noFill/>
          </a:ln>
        </p:spPr>
      </p:pic>
      <p:pic>
        <p:nvPicPr>
          <p:cNvPr id="230" name="Google Shape;230;p31"/>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82325" y="3375000"/>
            <a:ext cx="4301148" cy="1691126"/>
          </a:xfrm>
          <a:prstGeom prst="rect">
            <a:avLst/>
          </a:prstGeom>
          <a:noFill/>
          <a:ln>
            <a:noFill/>
          </a:ln>
        </p:spPr>
      </p:pic>
      <p:sp>
        <p:nvSpPr>
          <p:cNvPr id="231" name="Google Shape;231;p31"/>
          <p:cNvSpPr/>
          <p:nvPr/>
        </p:nvSpPr>
        <p:spPr>
          <a:xfrm>
            <a:off x="725625" y="1377903"/>
            <a:ext cx="125400" cy="1254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 name="Google Shape;232;p31"/>
          <p:cNvSpPr/>
          <p:nvPr/>
        </p:nvSpPr>
        <p:spPr>
          <a:xfrm>
            <a:off x="725625" y="2550128"/>
            <a:ext cx="125400" cy="1254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2"/>
          <p:cNvSpPr txBox="1"/>
          <p:nvPr/>
        </p:nvSpPr>
        <p:spPr>
          <a:xfrm>
            <a:off x="78050" y="384550"/>
            <a:ext cx="4392000" cy="452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Software Engineers REAL problem with "AI" and Jobs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https://youtu.be/NQmN6xSorus?si=tobwvNj8T2iiNYe6</a:t>
            </a:r>
            <a:r>
              <a:rPr lang="en" sz="10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AI bots are flooding job postings</a:t>
            </a:r>
            <a:r>
              <a:rPr lang="en" sz="1300">
                <a:solidFill>
                  <a:srgbClr val="FF0000"/>
                </a:solidFill>
                <a:latin typeface="Calibri"/>
                <a:ea typeface="Calibri"/>
                <a:cs typeface="Calibri"/>
                <a:sym typeface="Calibri"/>
              </a:rPr>
              <a:t> with applications - thus making it almost impossible for competent software engineers to have their resumes seen by hiring managers.</a:t>
            </a:r>
            <a:r>
              <a:rPr lang="en" sz="1300">
                <a:solidFill>
                  <a:schemeClr val="dk1"/>
                </a:solidFill>
                <a:latin typeface="Calibri"/>
                <a:ea typeface="Calibri"/>
                <a:cs typeface="Calibri"/>
                <a:sym typeface="Calibri"/>
              </a:rPr>
              <a:t> </a:t>
            </a:r>
            <a:r>
              <a:rPr lang="en" sz="1300" b="1">
                <a:solidFill>
                  <a:srgbClr val="3C78D8"/>
                </a:solidFill>
                <a:latin typeface="Calibri"/>
                <a:ea typeface="Calibri"/>
                <a:cs typeface="Calibri"/>
                <a:sym typeface="Calibri"/>
              </a:rPr>
              <a:t>Linkedin and other services stopped being as effective as they used to be.</a:t>
            </a:r>
            <a:endParaRPr sz="1300" b="1">
              <a:solidFill>
                <a:srgbClr val="3C78D8"/>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AI bots use </a:t>
            </a:r>
            <a:r>
              <a:rPr lang="en" sz="1300" b="1">
                <a:solidFill>
                  <a:srgbClr val="6AA84F"/>
                </a:solidFill>
                <a:latin typeface="Calibri"/>
                <a:ea typeface="Calibri"/>
                <a:cs typeface="Calibri"/>
                <a:sym typeface="Calibri"/>
              </a:rPr>
              <a:t>GPT-generated spam cover letters and auto-submitted resumes with buzzwords added to match the job posting list</a:t>
            </a:r>
            <a:r>
              <a:rPr lang="en" sz="1300">
                <a:solidFill>
                  <a:schemeClr val="dk1"/>
                </a:solidFill>
                <a:latin typeface="Calibri"/>
                <a:ea typeface="Calibri"/>
                <a:cs typeface="Calibri"/>
                <a:sym typeface="Calibri"/>
              </a:rPr>
              <a:t>.  And they can submit your resume to different postings 100s of times per hour.</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AI bots to screen out applicants</a:t>
            </a:r>
            <a:r>
              <a:rPr lang="en" sz="1300">
                <a:solidFill>
                  <a:schemeClr val="dk1"/>
                </a:solidFill>
                <a:latin typeface="Calibri"/>
                <a:ea typeface="Calibri"/>
                <a:cs typeface="Calibri"/>
                <a:sym typeface="Calibri"/>
              </a:rPr>
              <a:t>. These are becoming a necessity as the number of bot submitted job applications is otherwise too large for humans to filter</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You can't beat the "AI" at job postings! </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So the best thing to do is go back to the old ways - </a:t>
            </a:r>
            <a:r>
              <a:rPr lang="en" sz="1300" b="1">
                <a:solidFill>
                  <a:srgbClr val="FF0000"/>
                </a:solidFill>
                <a:latin typeface="Calibri"/>
                <a:ea typeface="Calibri"/>
                <a:cs typeface="Calibri"/>
                <a:sym typeface="Calibri"/>
              </a:rPr>
              <a:t>talk to humans</a:t>
            </a:r>
            <a:r>
              <a:rPr lang="en" sz="1300">
                <a:solidFill>
                  <a:schemeClr val="dk1"/>
                </a:solidFill>
                <a:latin typeface="Calibri"/>
                <a:ea typeface="Calibri"/>
                <a:cs typeface="Calibri"/>
                <a:sym typeface="Calibri"/>
              </a:rPr>
              <a:t>. Meet with people. Meetup groups. Conferences. Organizations. Call the recruiters yourself. Find their websites - and call them. Human to human.</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To stand out, add more to your packaging - articles, videos, books, github, personal website.</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Recruiters also return to old-school methods:</a:t>
            </a:r>
            <a:br>
              <a:rPr lang="en" sz="13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4"/>
              </a:rPr>
              <a:t>https://www.wired.com/story/recruiters-ai-application-overload/</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238" name="Google Shape;238;p32"/>
          <p:cNvSpPr txBox="1"/>
          <p:nvPr/>
        </p:nvSpPr>
        <p:spPr>
          <a:xfrm>
            <a:off x="-38050" y="-108050"/>
            <a:ext cx="5908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AI bots are flooding job postings with applications </a:t>
            </a:r>
            <a:endParaRPr sz="2000" b="1" i="0" u="none" strike="noStrike" cap="none">
              <a:solidFill>
                <a:srgbClr val="000000"/>
              </a:solidFill>
              <a:latin typeface="Calibri"/>
              <a:ea typeface="Calibri"/>
              <a:cs typeface="Calibri"/>
              <a:sym typeface="Calibri"/>
            </a:endParaRPr>
          </a:p>
        </p:txBody>
      </p:sp>
      <p:sp>
        <p:nvSpPr>
          <p:cNvPr id="239" name="Google Shape;239;p32"/>
          <p:cNvSpPr txBox="1"/>
          <p:nvPr/>
        </p:nvSpPr>
        <p:spPr>
          <a:xfrm>
            <a:off x="4563125" y="384550"/>
            <a:ext cx="4530000" cy="71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https://www.forbes.com/sites/jodiecook/2023/12/08/outsmarting-ai-the-new-challenge-for-job-seekers-and-employers</a:t>
            </a:r>
            <a:endParaRPr sz="900">
              <a:solidFill>
                <a:schemeClr val="dk1"/>
              </a:solidFill>
              <a:latin typeface="Calibri"/>
              <a:ea typeface="Calibri"/>
              <a:cs typeface="Calibri"/>
              <a:sym typeface="Calibri"/>
            </a:endParaRPr>
          </a:p>
          <a:p>
            <a:pPr marL="2286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https://www.cbsnews.com/news/ai-job-applications-mass-apply-autofill-job-search/</a:t>
            </a:r>
            <a:endParaRPr sz="900">
              <a:solidFill>
                <a:schemeClr val="dk1"/>
              </a:solidFill>
              <a:latin typeface="Calibri"/>
              <a:ea typeface="Calibri"/>
              <a:cs typeface="Calibri"/>
              <a:sym typeface="Calibri"/>
            </a:endParaRPr>
          </a:p>
          <a:p>
            <a:pPr marL="228600" lvl="0" indent="-171450" algn="l" rtl="0">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https://theconversation.com/computer-says-no-more-employers-are-using-ai-to-recruit-increasing-the-risk-of-discrimination-218598</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40" name="Google Shape;240;p3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231862" y="1172750"/>
            <a:ext cx="1301424" cy="1301424"/>
          </a:xfrm>
          <a:prstGeom prst="rect">
            <a:avLst/>
          </a:prstGeom>
          <a:noFill/>
          <a:ln>
            <a:noFill/>
          </a:ln>
        </p:spPr>
      </p:pic>
      <p:pic>
        <p:nvPicPr>
          <p:cNvPr id="241" name="Google Shape;241;p32"/>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829213" y="1172750"/>
            <a:ext cx="1301437" cy="1301437"/>
          </a:xfrm>
          <a:prstGeom prst="rect">
            <a:avLst/>
          </a:prstGeom>
          <a:noFill/>
          <a:ln>
            <a:noFill/>
          </a:ln>
        </p:spPr>
      </p:pic>
      <p:sp>
        <p:nvSpPr>
          <p:cNvPr id="242" name="Google Shape;242;p32"/>
          <p:cNvSpPr txBox="1"/>
          <p:nvPr/>
        </p:nvSpPr>
        <p:spPr>
          <a:xfrm>
            <a:off x="4563125" y="3980624"/>
            <a:ext cx="4486500" cy="92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Skills-based hiring for IT: </a:t>
            </a:r>
            <a:r>
              <a:rPr lang="en" sz="1300" b="1">
                <a:solidFill>
                  <a:srgbClr val="3C78D8"/>
                </a:solidFill>
                <a:latin typeface="Calibri"/>
                <a:ea typeface="Calibri"/>
                <a:cs typeface="Calibri"/>
                <a:sym typeface="Calibri"/>
              </a:rPr>
              <a:t>The White House Press Release</a:t>
            </a:r>
            <a:r>
              <a:rPr lang="en" sz="1300">
                <a:latin typeface="Calibri"/>
                <a:ea typeface="Calibri"/>
                <a:cs typeface="Calibri"/>
                <a:sym typeface="Calibri"/>
              </a:rPr>
              <a:t>: National Cyber Director Encourages Adoption of Skill-Based Hiring to Connect Americans to Good-Paying Cyber Jobs</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10"/>
              </a:rPr>
              <a:t>https://www.whitehouse.gov/oncd/briefing-room/2024/04/29/press-release-wh-cyber-workforce-convening/</a:t>
            </a:r>
            <a:endParaRPr sz="1000">
              <a:solidFill>
                <a:schemeClr val="dk1"/>
              </a:solidFill>
              <a:latin typeface="Calibri"/>
              <a:ea typeface="Calibri"/>
              <a:cs typeface="Calibri"/>
              <a:sym typeface="Calibri"/>
            </a:endParaRPr>
          </a:p>
        </p:txBody>
      </p:sp>
      <p:pic>
        <p:nvPicPr>
          <p:cNvPr id="243" name="Google Shape;243;p32"/>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7587100" y="2967453"/>
            <a:ext cx="1462525" cy="92834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pic>
        <p:nvPicPr>
          <p:cNvPr id="248" name="Google Shape;248;p3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87275" y="590592"/>
            <a:ext cx="8366998" cy="3611782"/>
          </a:xfrm>
          <a:prstGeom prst="rect">
            <a:avLst/>
          </a:prstGeom>
          <a:noFill/>
          <a:ln>
            <a:noFill/>
          </a:ln>
        </p:spPr>
      </p:pic>
      <p:sp>
        <p:nvSpPr>
          <p:cNvPr id="249" name="Google Shape;249;p33"/>
          <p:cNvSpPr txBox="1"/>
          <p:nvPr/>
        </p:nvSpPr>
        <p:spPr>
          <a:xfrm>
            <a:off x="72300" y="76200"/>
            <a:ext cx="399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Tech Layoffs </a:t>
            </a:r>
            <a:r>
              <a:rPr lang="en" sz="2000" b="1">
                <a:solidFill>
                  <a:schemeClr val="dk1"/>
                </a:solidFill>
                <a:latin typeface="Calibri"/>
                <a:ea typeface="Calibri"/>
                <a:cs typeface="Calibri"/>
                <a:sym typeface="Calibri"/>
              </a:rPr>
              <a:t>were</a:t>
            </a:r>
            <a:r>
              <a:rPr lang="en" sz="2000" b="1" i="0" u="none" strike="noStrike" cap="none">
                <a:solidFill>
                  <a:schemeClr val="dk1"/>
                </a:solidFill>
                <a:latin typeface="Calibri"/>
                <a:ea typeface="Calibri"/>
                <a:cs typeface="Calibri"/>
                <a:sym typeface="Calibri"/>
              </a:rPr>
              <a:t> lower than in 2023</a:t>
            </a:r>
            <a:endParaRPr sz="2000" b="1" i="0" u="none" strike="noStrike" cap="none">
              <a:solidFill>
                <a:srgbClr val="000000"/>
              </a:solidFill>
              <a:latin typeface="Calibri"/>
              <a:ea typeface="Calibri"/>
              <a:cs typeface="Calibri"/>
              <a:sym typeface="Calibri"/>
            </a:endParaRPr>
          </a:p>
        </p:txBody>
      </p:sp>
      <p:sp>
        <p:nvSpPr>
          <p:cNvPr id="250" name="Google Shape;250;p33"/>
          <p:cNvSpPr txBox="1"/>
          <p:nvPr/>
        </p:nvSpPr>
        <p:spPr>
          <a:xfrm>
            <a:off x="6291625" y="109963"/>
            <a:ext cx="20025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F0F0F"/>
                </a:solidFill>
                <a:latin typeface="Calibri"/>
                <a:ea typeface="Calibri"/>
                <a:cs typeface="Calibri"/>
                <a:sym typeface="Calibri"/>
              </a:rPr>
              <a:t>Layoffs - </a:t>
            </a:r>
            <a:r>
              <a:rPr lang="en" sz="1300" b="0" i="0" u="sng" strike="noStrike" cap="none">
                <a:solidFill>
                  <a:schemeClr val="hlink"/>
                </a:solidFill>
                <a:latin typeface="Calibri"/>
                <a:ea typeface="Calibri"/>
                <a:cs typeface="Calibri"/>
                <a:sym typeface="Calibri"/>
                <a:hlinkClick r:id="rId4"/>
              </a:rPr>
              <a:t>https://layoffs.fyi</a:t>
            </a:r>
            <a:r>
              <a:rPr lang="en" sz="1300" b="0" i="0" u="none" strike="noStrike" cap="none">
                <a:solidFill>
                  <a:srgbClr val="0F0F0F"/>
                </a:solidFill>
                <a:latin typeface="Calibri"/>
                <a:ea typeface="Calibri"/>
                <a:cs typeface="Calibri"/>
                <a:sym typeface="Calibri"/>
              </a:rPr>
              <a:t> </a:t>
            </a:r>
            <a:endParaRPr sz="1300" b="0" i="0" u="none" strike="noStrike" cap="none">
              <a:solidFill>
                <a:srgbClr val="0F0F0F"/>
              </a:solidFill>
              <a:latin typeface="Calibri"/>
              <a:ea typeface="Calibri"/>
              <a:cs typeface="Calibri"/>
              <a:sym typeface="Calibri"/>
            </a:endParaRPr>
          </a:p>
        </p:txBody>
      </p:sp>
      <p:sp>
        <p:nvSpPr>
          <p:cNvPr id="251" name="Google Shape;251;p33"/>
          <p:cNvSpPr txBox="1"/>
          <p:nvPr/>
        </p:nvSpPr>
        <p:spPr>
          <a:xfrm>
            <a:off x="387275" y="4278575"/>
            <a:ext cx="8367000" cy="738900"/>
          </a:xfrm>
          <a:prstGeom prst="rect">
            <a:avLst/>
          </a:prstGeom>
          <a:solidFill>
            <a:srgbClr val="FFF2CC"/>
          </a:solidFill>
          <a:ln>
            <a:noFill/>
          </a:ln>
        </p:spPr>
        <p:txBody>
          <a:bodyPr spcFirstLastPara="1" wrap="square" lIns="91425" tIns="91425" rIns="91425" bIns="91425" anchor="t" anchorCtr="0">
            <a:spAutoFit/>
          </a:bodyPr>
          <a:lstStyle/>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Salaries for AI engineers rose 12% from the third to fourth quarter last year</a:t>
            </a:r>
            <a:endParaRPr sz="1200" b="0" i="0" u="none" strike="noStrike" cap="none">
              <a:solidFill>
                <a:srgbClr val="000000"/>
              </a:solidFill>
              <a:latin typeface="Calibri"/>
              <a:ea typeface="Calibri"/>
              <a:cs typeface="Calibri"/>
              <a:sym typeface="Calibri"/>
            </a:endParaRPr>
          </a:p>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The average salary for a senior AI engineer nationally is more than $190,000, according to Comprehensive.io.</a:t>
            </a:r>
            <a:endParaRPr sz="1200" b="0" i="0" u="none" strike="noStrike" cap="none">
              <a:solidFill>
                <a:srgbClr val="000000"/>
              </a:solidFill>
              <a:latin typeface="Calibri"/>
              <a:ea typeface="Calibri"/>
              <a:cs typeface="Calibri"/>
              <a:sym typeface="Calibri"/>
            </a:endParaRPr>
          </a:p>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AI has a talent shortage, meaning </a:t>
            </a:r>
            <a:r>
              <a:rPr lang="en" sz="1200" b="1" i="0" u="none" strike="noStrike" cap="none">
                <a:solidFill>
                  <a:srgbClr val="FF0000"/>
                </a:solidFill>
                <a:latin typeface="Calibri"/>
                <a:ea typeface="Calibri"/>
                <a:cs typeface="Calibri"/>
                <a:sym typeface="Calibri"/>
              </a:rPr>
              <a:t>$1 Mln salary job offers! </a:t>
            </a:r>
            <a:r>
              <a:rPr lang="en" sz="1200" b="0" i="0" u="none" strike="noStrike" cap="none">
                <a:solidFill>
                  <a:srgbClr val="000000"/>
                </a:solidFill>
                <a:latin typeface="Calibri"/>
                <a:ea typeface="Calibri"/>
                <a:cs typeface="Calibri"/>
                <a:sym typeface="Calibri"/>
              </a:rPr>
              <a:t>Even during tech layoffs</a:t>
            </a:r>
            <a:endParaRPr sz="1200" b="0" i="0" u="none" strike="noStrike" cap="none">
              <a:solidFill>
                <a:srgbClr val="000000"/>
              </a:solidFill>
              <a:latin typeface="Calibri"/>
              <a:ea typeface="Calibri"/>
              <a:cs typeface="Calibri"/>
              <a:sym typeface="Calibri"/>
            </a:endParaRPr>
          </a:p>
        </p:txBody>
      </p:sp>
      <p:sp>
        <p:nvSpPr>
          <p:cNvPr id="252" name="Google Shape;252;p33"/>
          <p:cNvSpPr/>
          <p:nvPr/>
        </p:nvSpPr>
        <p:spPr>
          <a:xfrm>
            <a:off x="4170625" y="1597677"/>
            <a:ext cx="1076400" cy="16653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 name="Google Shape;253;p33"/>
          <p:cNvSpPr/>
          <p:nvPr/>
        </p:nvSpPr>
        <p:spPr>
          <a:xfrm>
            <a:off x="6773830" y="1597677"/>
            <a:ext cx="1076400" cy="16653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Google Shape;258;p34"/>
          <p:cNvPicPr preferRelativeResize="0"/>
          <p:nvPr/>
        </p:nvPicPr>
        <p:blipFill rotWithShape="1">
          <a:blip r:embed="rId3">
            <a:alphaModFix/>
          </a:blip>
          <a:srcRect/>
          <a:stretch/>
        </p:blipFill>
        <p:spPr>
          <a:xfrm>
            <a:off x="605238" y="1203525"/>
            <a:ext cx="2094075" cy="2094075"/>
          </a:xfrm>
          <a:prstGeom prst="rect">
            <a:avLst/>
          </a:prstGeom>
          <a:noFill/>
          <a:ln>
            <a:noFill/>
          </a:ln>
        </p:spPr>
      </p:pic>
      <p:sp>
        <p:nvSpPr>
          <p:cNvPr id="259" name="Google Shape;259;p34"/>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60" name="Google Shape;260;p34"/>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61" name="Google Shape;261;p3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10941" y="3664175"/>
            <a:ext cx="1144600" cy="415875"/>
          </a:xfrm>
          <a:prstGeom prst="rect">
            <a:avLst/>
          </a:prstGeom>
          <a:noFill/>
          <a:ln>
            <a:noFill/>
          </a:ln>
        </p:spPr>
      </p:pic>
      <p:sp>
        <p:nvSpPr>
          <p:cNvPr id="262" name="Google Shape;262;p34"/>
          <p:cNvSpPr txBox="1"/>
          <p:nvPr/>
        </p:nvSpPr>
        <p:spPr>
          <a:xfrm>
            <a:off x="912377"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63" name="Google Shape;263;p34"/>
          <p:cNvSpPr txBox="1"/>
          <p:nvPr/>
        </p:nvSpPr>
        <p:spPr>
          <a:xfrm>
            <a:off x="536203" y="4360974"/>
            <a:ext cx="2094075" cy="430857"/>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5"/>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4368</Words>
  <Application>Microsoft Macintosh PowerPoint</Application>
  <PresentationFormat>On-screen Show (16:9)</PresentationFormat>
  <Paragraphs>350</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Roboto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cp:revision>
  <dcterms:modified xsi:type="dcterms:W3CDTF">2024-05-03T19:17:03Z</dcterms:modified>
</cp:coreProperties>
</file>