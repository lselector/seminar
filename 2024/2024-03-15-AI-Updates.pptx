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embeddedFontLst>
    <p:embeddedFont>
      <p:font typeface="Roboto Mono" pitchFamily="49" charset="0"/>
      <p:regular r:id="rId19"/>
      <p:bold r:id="rId20"/>
      <p:italic r:id="rId21"/>
      <p:boldItalic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p:cViewPr varScale="1">
        <p:scale>
          <a:sx n="161" d="100"/>
          <a:sy n="161" d="100"/>
        </p:scale>
        <p:origin x="7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 name="Google Shape;5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9" name="Google Shape;59;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c11ba157d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9" name="Google Shape;69;g2c11ba157d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2c151b83d7e_1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8" name="Google Shape;78;g2c151b83d7e_1_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2c16af3600b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g2c16af3600b_0_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2c1eb3d23a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2" name="Google Shape;102;g2c1eb3d23a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1f3d6018bb6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4" name="Google Shape;114;g1f3d6018bb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2c16eb6df1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6" name="Google Shape;126;g2c16eb6df1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c16af3600b_0_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4" name="Google Shape;134;g2c16af3600b_0_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c0f8481a4a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g2c0f8481a4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2c14357e2c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g2c14357e2c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2c14357e2c1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8" name="Google Shape;158;g2c14357e2c1_0_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6" name="Google Shape;166;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2c109c6039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5" name="Google Shape;175;g2c109c6039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g2c109c60394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5" name="Google Shape;185;g2c109c60394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2c109c60394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g2c109c60394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arxiv.org/abs/2304.05332" TargetMode="External"/><Relationship Id="rId7" Type="http://schemas.openxmlformats.org/officeDocument/2006/relationships/hyperlink" Target="https://arxiv.org/abs/2304.15004"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twitter.com/AndrewYNg/status/1766554536192446957" TargetMode="External"/><Relationship Id="rId5" Type="http://schemas.openxmlformats.org/officeDocument/2006/relationships/hyperlink" Target="https://www.latent.space/p/jan-feb-2024-recap-audio" TargetMode="External"/><Relationship Id="rId4" Type="http://schemas.openxmlformats.org/officeDocument/2006/relationships/hyperlink" Target="https://twitter.com/ylecun/status/1766498677751787723"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arxiv.org/abs/2401.17464" TargetMode="External"/><Relationship Id="rId7" Type="http://schemas.openxmlformats.org/officeDocument/2006/relationships/hyperlink" Target="https://arxiv.org/abs/2402.11753"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s://www.youtube.com/watch?v=5cEvNO9rZgI" TargetMode="External"/><Relationship Id="rId5" Type="http://schemas.openxmlformats.org/officeDocument/2006/relationships/hyperlink" Target="https://twitter.com/jobergum/status/1765844532560625689" TargetMode="External"/><Relationship Id="rId10" Type="http://schemas.openxmlformats.org/officeDocument/2006/relationships/image" Target="../media/image4.jpeg"/><Relationship Id="rId4" Type="http://schemas.openxmlformats.org/officeDocument/2006/relationships/hyperlink" Target="https://twitter.com/silin_gao/status/1765778821620343078" TargetMode="External"/><Relationship Id="rId9" Type="http://schemas.openxmlformats.org/officeDocument/2006/relationships/hyperlink" Target="https://www.axios.com/2024/03/01/meta-ai-google-gemini-black-founding-father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docs.anthropic.com/claude/prompt-library"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hyperlink" Target="https://github.com/OpenAccess-AI-Collective/axolotl/blob/main/examples/mistral/mixtral-qlora-fsdp.yml" TargetMode="Externa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twitter.com/rohanpaul_ai/status/1766887420992299195"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hyperlink" Target="https://github.com/huggingface/optimum-nvidia" TargetMode="External"/></Relationships>
</file>

<file path=ppt/slides/_rels/slide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community.aws/concepts/vector-embeddings-and-rag-demystified-2" TargetMode="External"/><Relationship Id="rId7" Type="http://schemas.openxmlformats.org/officeDocument/2006/relationships/hyperlink" Target="https://docs.aws.amazon.com/bedrock/latest/userguide/models-supported.html"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aws.amazon.com/lex/" TargetMode="External"/><Relationship Id="rId5" Type="http://schemas.openxmlformats.org/officeDocument/2006/relationships/hyperlink" Target="https://aws.amazon.com/opensearch-service" TargetMode="External"/><Relationship Id="rId10" Type="http://schemas.openxmlformats.org/officeDocument/2006/relationships/hyperlink" Target="https://investors.snowflake.com/news/news-details/2024/Snowflake-Partners-with-Mistral-AI-to-Bring-Industry-Leading-Language-Models-to-Enterprises-Through-Snowflake-Cortex/default.aspx" TargetMode="External"/><Relationship Id="rId4" Type="http://schemas.openxmlformats.org/officeDocument/2006/relationships/hyperlink" Target="https://aws.amazon.com/kendra" TargetMode="External"/><Relationship Id="rId9" Type="http://schemas.openxmlformats.org/officeDocument/2006/relationships/hyperlink" Target="https://docs.aws.amazon.com/AmazonRDS/latest/AuroraUserGuide/Aurora.AuroraPostgreSQL.html"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hyperlink" Target="https://towardsdatascience.com/large-language-models-in-molecular-biology-9eb6b65d8a30" TargetMode="External"/><Relationship Id="rId7" Type="http://schemas.openxmlformats.org/officeDocument/2006/relationships/hyperlink" Target="https://www.axios.com/2023/11/17/generative-ai-dna-biology"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www.datasciencecentral.com/genai-synthesizing-dna-sequences-with-llm-techniques/" TargetMode="External"/><Relationship Id="rId5" Type="http://schemas.openxmlformats.org/officeDocument/2006/relationships/hyperlink" Target="https://bigthink.com/health/how-generative-ai-language-models-are-unlocking-the-secrets-of-dna/" TargetMode="External"/><Relationship Id="rId4" Type="http://schemas.openxmlformats.org/officeDocument/2006/relationships/hyperlink" Target="https://www.azorobotics.com/News.aspx?newsID=14638"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luv-bansal.medium.com/advance-rag-improve-rag-performance-208ffad5bb6a"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hyperlink" Target="https://arxiv.org/pdf/2401.05856.pdf" TargetMode="External"/></Relationships>
</file>

<file path=ppt/slides/_rels/slide10.xml.rels><?xml version="1.0" encoding="UTF-8" standalone="yes"?>
<Relationships xmlns="http://schemas.openxmlformats.org/package/2006/relationships"><Relationship Id="rId8" Type="http://schemas.openxmlformats.org/officeDocument/2006/relationships/hyperlink" Target="https://www.diffbot.com" TargetMode="External"/><Relationship Id="rId3" Type="http://schemas.openxmlformats.org/officeDocument/2006/relationships/hyperlink" Target="https://github.com/assafelovic/gpt-researcher" TargetMode="External"/><Relationship Id="rId7" Type="http://schemas.openxmlformats.org/officeDocument/2006/relationships/hyperlink" Target="https://www.youtube.com/watch?v=WJIzVok-0GI" TargetMode="External"/><Relationship Id="rId12" Type="http://schemas.openxmlformats.org/officeDocument/2006/relationships/hyperlink" Target="https://serpapi.com"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ai.plainenglish.io/pioneering-the-future-of-web-scraping-with-intelligent-ai-agents-unleash-the-power-of-autogen-222aa73daad6" TargetMode="External"/><Relationship Id="rId11" Type="http://schemas.openxmlformats.org/officeDocument/2006/relationships/hyperlink" Target="https://github.com/leannchen86/graph-rag-ai-assistant" TargetMode="External"/><Relationship Id="rId5" Type="http://schemas.openxmlformats.org/officeDocument/2006/relationships/hyperlink" Target="https://medium.com/simform-engineering/creating-a-web-research-chatbot-using-langchain-and-openai-aa7113c9ccbf" TargetMode="External"/><Relationship Id="rId10" Type="http://schemas.openxmlformats.org/officeDocument/2006/relationships/hyperlink" Target="https://www.youtube.com/watch?v=eIDitSyhs7s" TargetMode="External"/><Relationship Id="rId4" Type="http://schemas.openxmlformats.org/officeDocument/2006/relationships/hyperlink" Target="https://python.langchain.com/docs/use_cases/web_scraping" TargetMode="External"/><Relationship Id="rId9" Type="http://schemas.openxmlformats.org/officeDocument/2006/relationships/hyperlink" Target="https://app.diffbot.com/get-started/" TargetMode="External"/></Relationships>
</file>

<file path=ppt/slides/_rels/slide11.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hyperlink" Target="https://ml-explore.github.io/mlx/build/html/" TargetMode="External"/><Relationship Id="rId7"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1.jpeg"/><Relationship Id="rId5" Type="http://schemas.openxmlformats.org/officeDocument/2006/relationships/hyperlink" Target="https://www.youtube.com/@code4AI/community" TargetMode="External"/><Relationship Id="rId4" Type="http://schemas.openxmlformats.org/officeDocument/2006/relationships/hyperlink" Target="https://github.com/ml-explore"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mlc-ai/mlc-llm"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hyperlink" Target="https://llm.mlc.ai"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hyperlink" Target="https://www.rungalileo.io/blog/mastering-rag-how-to-architect-an-enterprise-rag-system"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huggingface.co/spaces/lmsys/chatbot-arena-leaderboard"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86325" y="1356425"/>
            <a:ext cx="4420200" cy="4155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Font typeface="Arial"/>
              <a:buChar char="●"/>
            </a:pPr>
            <a:r>
              <a:rPr lang="en" sz="1500" b="1">
                <a:solidFill>
                  <a:srgbClr val="3C78D8"/>
                </a:solidFill>
              </a:rPr>
              <a:t>xxx</a:t>
            </a:r>
            <a:endParaRPr sz="1500" b="1" i="0" u="none" strike="noStrike" cap="none">
              <a:solidFill>
                <a:srgbClr val="3C78D8"/>
              </a:solidFill>
              <a:latin typeface="Arial"/>
              <a:ea typeface="Arial"/>
              <a:cs typeface="Arial"/>
              <a:sym typeface="Arial"/>
            </a:endParaRPr>
          </a:p>
        </p:txBody>
      </p:sp>
      <p:sp>
        <p:nvSpPr>
          <p:cNvPr id="55" name="Google Shape;55;p13"/>
          <p:cNvSpPr txBox="1"/>
          <p:nvPr/>
        </p:nvSpPr>
        <p:spPr>
          <a:xfrm>
            <a:off x="4636000" y="1353450"/>
            <a:ext cx="4420200" cy="6465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Font typeface="Arial"/>
              <a:buChar char="●"/>
            </a:pPr>
            <a:r>
              <a:rPr lang="en" sz="1500" b="1">
                <a:solidFill>
                  <a:srgbClr val="3C78D8"/>
                </a:solidFill>
              </a:rPr>
              <a:t>xxx</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Crowd-sourced "Arena" Leaderboard</a:t>
            </a:r>
            <a:endParaRPr sz="1500" b="1" i="0" u="none" strike="noStrike" cap="none">
              <a:solidFill>
                <a:srgbClr val="3C78D8"/>
              </a:solidFill>
              <a:latin typeface="Arial"/>
              <a:ea typeface="Arial"/>
              <a:cs typeface="Arial"/>
              <a:sym typeface="Arial"/>
            </a:endParaRPr>
          </a:p>
        </p:txBody>
      </p:sp>
      <p:sp>
        <p:nvSpPr>
          <p:cNvPr id="56" name="Google Shape;56;p13"/>
          <p:cNvSpPr txBox="1"/>
          <p:nvPr/>
        </p:nvSpPr>
        <p:spPr>
          <a:xfrm>
            <a:off x="3027550" y="228175"/>
            <a:ext cx="3192600" cy="9420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600" b="1" i="0" u="none" strike="noStrike" cap="none">
                <a:solidFill>
                  <a:srgbClr val="3C78D8"/>
                </a:solidFill>
                <a:latin typeface="Arial"/>
                <a:ea typeface="Arial"/>
                <a:cs typeface="Arial"/>
                <a:sym typeface="Arial"/>
              </a:rPr>
              <a:t>AI Updates </a:t>
            </a:r>
            <a:endParaRPr sz="3600" b="1" i="0" u="none" strike="noStrike" cap="none">
              <a:solidFill>
                <a:srgbClr val="3C78D8"/>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3C78D8"/>
                </a:solidFill>
                <a:latin typeface="Arial"/>
                <a:ea typeface="Arial"/>
                <a:cs typeface="Arial"/>
                <a:sym typeface="Arial"/>
              </a:rPr>
              <a:t>March </a:t>
            </a:r>
            <a:r>
              <a:rPr lang="en" sz="2400" b="1">
                <a:solidFill>
                  <a:srgbClr val="3C78D8"/>
                </a:solidFill>
              </a:rPr>
              <a:t>15</a:t>
            </a:r>
            <a:r>
              <a:rPr lang="en" sz="2400" b="1" i="0" u="none" strike="noStrike" cap="none">
                <a:solidFill>
                  <a:srgbClr val="3C78D8"/>
                </a:solidFill>
                <a:latin typeface="Arial"/>
                <a:ea typeface="Arial"/>
                <a:cs typeface="Arial"/>
                <a:sym typeface="Arial"/>
              </a:rPr>
              <a:t>, 2024</a:t>
            </a:r>
            <a:endParaRPr sz="2400" b="1" i="0" u="none" strike="noStrike" cap="none">
              <a:solidFill>
                <a:srgbClr val="3C78D8"/>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pic>
        <p:nvPicPr>
          <p:cNvPr id="61" name="Google Shape;61;p14"/>
          <p:cNvPicPr preferRelativeResize="0"/>
          <p:nvPr/>
        </p:nvPicPr>
        <p:blipFill rotWithShape="1">
          <a:blip r:embed="rId3">
            <a:alphaModFix/>
          </a:blip>
          <a:srcRect/>
          <a:stretch/>
        </p:blipFill>
        <p:spPr>
          <a:xfrm>
            <a:off x="605238" y="1203525"/>
            <a:ext cx="2094075" cy="2094075"/>
          </a:xfrm>
          <a:prstGeom prst="rect">
            <a:avLst/>
          </a:prstGeom>
          <a:noFill/>
          <a:ln>
            <a:noFill/>
          </a:ln>
        </p:spPr>
      </p:pic>
      <p:sp>
        <p:nvSpPr>
          <p:cNvPr id="62" name="Google Shape;62;p14"/>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63" name="Google Shape;63;p14"/>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64" name="Google Shape;64;p14"/>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10941" y="3664175"/>
            <a:ext cx="1144600" cy="415875"/>
          </a:xfrm>
          <a:prstGeom prst="rect">
            <a:avLst/>
          </a:prstGeom>
          <a:noFill/>
          <a:ln>
            <a:noFill/>
          </a:ln>
        </p:spPr>
      </p:pic>
      <p:sp>
        <p:nvSpPr>
          <p:cNvPr id="65" name="Google Shape;65;p14"/>
          <p:cNvSpPr txBox="1"/>
          <p:nvPr/>
        </p:nvSpPr>
        <p:spPr>
          <a:xfrm>
            <a:off x="912377"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66" name="Google Shape;66;p14"/>
          <p:cNvSpPr txBox="1"/>
          <p:nvPr/>
        </p:nvSpPr>
        <p:spPr>
          <a:xfrm>
            <a:off x="536203" y="4360974"/>
            <a:ext cx="2094075" cy="430857"/>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15"/>
          <p:cNvSpPr txBox="1"/>
          <p:nvPr/>
        </p:nvSpPr>
        <p:spPr>
          <a:xfrm>
            <a:off x="72300" y="0"/>
            <a:ext cx="41334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Misc 1</a:t>
            </a:r>
            <a:endParaRPr sz="2000" b="1">
              <a:solidFill>
                <a:schemeClr val="dk1"/>
              </a:solidFill>
              <a:latin typeface="Calibri"/>
              <a:ea typeface="Calibri"/>
              <a:cs typeface="Calibri"/>
              <a:sym typeface="Calibri"/>
            </a:endParaRPr>
          </a:p>
        </p:txBody>
      </p:sp>
      <p:sp>
        <p:nvSpPr>
          <p:cNvPr id="72" name="Google Shape;72;p15"/>
          <p:cNvSpPr txBox="1"/>
          <p:nvPr/>
        </p:nvSpPr>
        <p:spPr>
          <a:xfrm>
            <a:off x="128725" y="340025"/>
            <a:ext cx="4381500" cy="350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200">
                <a:latin typeface="Calibri"/>
                <a:ea typeface="Calibri"/>
                <a:cs typeface="Calibri"/>
                <a:sym typeface="Calibri"/>
              </a:rPr>
              <a:t>Emergent autonomous scientific research capabilities of large language models - April 2023, Chemistry Dept at CMU - by Daniil A. Boiko, Robert MacKnight, Gabe Gomes</a:t>
            </a:r>
            <a:endParaRPr sz="1200">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200" u="sng">
                <a:solidFill>
                  <a:schemeClr val="hlink"/>
                </a:solidFill>
                <a:latin typeface="Calibri"/>
                <a:ea typeface="Calibri"/>
                <a:cs typeface="Calibri"/>
                <a:sym typeface="Calibri"/>
                <a:hlinkClick r:id="rId3"/>
              </a:rPr>
              <a:t>https://arxiv.org/abs/2304.05332</a:t>
            </a:r>
            <a:r>
              <a:rPr lang="en" sz="1200">
                <a:latin typeface="Calibri"/>
                <a:ea typeface="Calibri"/>
                <a:cs typeface="Calibri"/>
                <a:sym typeface="Calibri"/>
              </a:rPr>
              <a:t> </a:t>
            </a:r>
            <a:endParaRPr sz="12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latin typeface="Calibri"/>
                <a:ea typeface="Calibri"/>
                <a:cs typeface="Calibri"/>
                <a:sym typeface="Calibri"/>
              </a:rPr>
              <a:t>Documentation for laboratory equipment was processed into embedding vectors using OpenAI API. </a:t>
            </a:r>
            <a:r>
              <a:rPr lang="en" sz="1200">
                <a:solidFill>
                  <a:schemeClr val="dk1"/>
                </a:solidFill>
                <a:latin typeface="Calibri"/>
                <a:ea typeface="Calibri"/>
                <a:cs typeface="Calibri"/>
                <a:sym typeface="Calibri"/>
              </a:rPr>
              <a:t>The documents contained text, pictures, and formulas. Encoded information </a:t>
            </a:r>
            <a:r>
              <a:rPr lang="en" sz="1200">
                <a:latin typeface="Calibri"/>
                <a:ea typeface="Calibri"/>
                <a:cs typeface="Calibri"/>
                <a:sym typeface="Calibri"/>
              </a:rPr>
              <a:t>was used to write Python scripts to automate experiments. </a:t>
            </a:r>
            <a:endParaRPr sz="12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LLM was a</a:t>
            </a:r>
            <a:r>
              <a:rPr lang="en" sz="1200">
                <a:latin typeface="Calibri"/>
                <a:ea typeface="Calibri"/>
                <a:cs typeface="Calibri"/>
                <a:sym typeface="Calibri"/>
              </a:rPr>
              <a:t>lso used for searching </a:t>
            </a:r>
            <a:r>
              <a:rPr lang="en" sz="1200">
                <a:solidFill>
                  <a:schemeClr val="dk1"/>
                </a:solidFill>
                <a:latin typeface="Calibri"/>
                <a:ea typeface="Calibri"/>
                <a:cs typeface="Calibri"/>
                <a:sym typeface="Calibri"/>
              </a:rPr>
              <a:t>in scientific journals </a:t>
            </a:r>
            <a:r>
              <a:rPr lang="en" sz="1200">
                <a:latin typeface="Calibri"/>
                <a:ea typeface="Calibri"/>
                <a:cs typeface="Calibri"/>
                <a:sym typeface="Calibri"/>
              </a:rPr>
              <a:t>for documentation for the synthesis steps. S</a:t>
            </a:r>
            <a:r>
              <a:rPr lang="en" sz="1200">
                <a:solidFill>
                  <a:schemeClr val="dk1"/>
                </a:solidFill>
                <a:latin typeface="Calibri"/>
                <a:ea typeface="Calibri"/>
                <a:cs typeface="Calibri"/>
                <a:sym typeface="Calibri"/>
              </a:rPr>
              <a:t>ystem proposes a Google search that can be performed by researcher.</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latin typeface="Calibri"/>
                <a:ea typeface="Calibri"/>
                <a:cs typeface="Calibri"/>
                <a:sym typeface="Calibri"/>
              </a:rPr>
              <a:t>System generally refuses to search for or synthesize hazardous substances. The result of the queries is interpreted and summarized by another LLM. Interesting that the planner part is just an LLM and a memory buffer</a:t>
            </a:r>
            <a:endParaRPr sz="1200">
              <a:latin typeface="Calibri"/>
              <a:ea typeface="Calibri"/>
              <a:cs typeface="Calibri"/>
              <a:sym typeface="Calibri"/>
            </a:endParaRPr>
          </a:p>
        </p:txBody>
      </p:sp>
      <p:sp>
        <p:nvSpPr>
          <p:cNvPr id="73" name="Google Shape;73;p15"/>
          <p:cNvSpPr txBox="1"/>
          <p:nvPr/>
        </p:nvSpPr>
        <p:spPr>
          <a:xfrm>
            <a:off x="4689250" y="111425"/>
            <a:ext cx="4381500" cy="253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a:latin typeface="Calibri"/>
                <a:ea typeface="Calibri"/>
                <a:cs typeface="Calibri"/>
                <a:sym typeface="Calibri"/>
              </a:rPr>
              <a:t>Yann LeCun</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accent5"/>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https://twitter.com/ylecun/status/1766498677751787723</a:t>
            </a:r>
            <a:endParaRPr sz="1000">
              <a:solidFill>
                <a:schemeClr val="dk1"/>
              </a:solidFill>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"The data bandwidth of visual perception is roughly 16 Mln  times higher than the data bandwidth of written (or spoken) language."</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"Most of human knowledge (and almost all of animal knowledge) comes from our sensory experience of the physical world. Language is the icing on the cake. We need the cake to support the icing. There is </a:t>
            </a:r>
            <a:r>
              <a:rPr lang="en" sz="1300" b="1">
                <a:solidFill>
                  <a:srgbClr val="FF0000"/>
                </a:solidFill>
                <a:latin typeface="Calibri"/>
                <a:ea typeface="Calibri"/>
                <a:cs typeface="Calibri"/>
                <a:sym typeface="Calibri"/>
              </a:rPr>
              <a:t>absolutely no way in hell we will ever reach human-level AI without getting machines to learn from high-bandwidth sensory inputs</a:t>
            </a:r>
            <a:r>
              <a:rPr lang="en" sz="1300">
                <a:latin typeface="Calibri"/>
                <a:ea typeface="Calibri"/>
                <a:cs typeface="Calibri"/>
                <a:sym typeface="Calibri"/>
              </a:rPr>
              <a:t>, such as vision ... audition ... touch"</a:t>
            </a:r>
            <a:endParaRPr sz="1300">
              <a:latin typeface="Calibri"/>
              <a:ea typeface="Calibri"/>
              <a:cs typeface="Calibri"/>
              <a:sym typeface="Calibri"/>
            </a:endParaRPr>
          </a:p>
        </p:txBody>
      </p:sp>
      <p:sp>
        <p:nvSpPr>
          <p:cNvPr id="74" name="Google Shape;74;p15"/>
          <p:cNvSpPr txBox="1"/>
          <p:nvPr/>
        </p:nvSpPr>
        <p:spPr>
          <a:xfrm>
            <a:off x="4689250" y="2908025"/>
            <a:ext cx="4381500" cy="198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Latent Space</a:t>
            </a:r>
            <a:r>
              <a:rPr lang="en" sz="1300">
                <a:latin typeface="Calibri"/>
                <a:ea typeface="Calibri"/>
                <a:cs typeface="Calibri"/>
                <a:sym typeface="Calibri"/>
              </a:rPr>
              <a:t>: </a:t>
            </a:r>
            <a:r>
              <a:rPr lang="en" sz="1000" u="sng">
                <a:solidFill>
                  <a:schemeClr val="hlink"/>
                </a:solidFill>
                <a:latin typeface="Calibri"/>
                <a:ea typeface="Calibri"/>
                <a:cs typeface="Calibri"/>
                <a:sym typeface="Calibri"/>
                <a:hlinkClick r:id="rId5"/>
              </a:rPr>
              <a:t>https://www.latent.space/p/jan-feb-2024-recap-audio</a:t>
            </a:r>
            <a:endParaRPr sz="1000">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The Five Research Directions:</a:t>
            </a:r>
            <a:endParaRPr sz="1300" b="1">
              <a:solidFill>
                <a:srgbClr val="FF0000"/>
              </a:solidFill>
              <a:latin typeface="Calibri"/>
              <a:ea typeface="Calibri"/>
              <a:cs typeface="Calibri"/>
              <a:sym typeface="Calibri"/>
            </a:endParaRPr>
          </a:p>
          <a:p>
            <a:pPr marL="228600" lvl="0" indent="-196850" algn="l" rtl="0">
              <a:spcBef>
                <a:spcPts val="0"/>
              </a:spcBef>
              <a:spcAft>
                <a:spcPts val="0"/>
              </a:spcAft>
              <a:buSzPts val="1300"/>
              <a:buFont typeface="Calibri"/>
              <a:buAutoNum type="arabicPeriod"/>
            </a:pPr>
            <a:r>
              <a:rPr lang="en" sz="1300">
                <a:latin typeface="Calibri"/>
                <a:ea typeface="Calibri"/>
                <a:cs typeface="Calibri"/>
                <a:sym typeface="Calibri"/>
              </a:rPr>
              <a:t>Long Inference (Planning, Search, AlphaGeometry, Flow Engineering)</a:t>
            </a:r>
            <a:endParaRPr sz="1300">
              <a:latin typeface="Calibri"/>
              <a:ea typeface="Calibri"/>
              <a:cs typeface="Calibri"/>
              <a:sym typeface="Calibri"/>
            </a:endParaRPr>
          </a:p>
          <a:p>
            <a:pPr marL="228600" lvl="0" indent="-196850" algn="l" rtl="0">
              <a:spcBef>
                <a:spcPts val="0"/>
              </a:spcBef>
              <a:spcAft>
                <a:spcPts val="0"/>
              </a:spcAft>
              <a:buSzPts val="1300"/>
              <a:buFont typeface="Calibri"/>
              <a:buAutoNum type="arabicPeriod"/>
            </a:pPr>
            <a:r>
              <a:rPr lang="en" sz="1300">
                <a:latin typeface="Calibri"/>
                <a:ea typeface="Calibri"/>
                <a:cs typeface="Calibri"/>
                <a:sym typeface="Calibri"/>
              </a:rPr>
              <a:t>Synthetic Data (WRAP, SPIN)</a:t>
            </a:r>
            <a:endParaRPr sz="1300">
              <a:latin typeface="Calibri"/>
              <a:ea typeface="Calibri"/>
              <a:cs typeface="Calibri"/>
              <a:sym typeface="Calibri"/>
            </a:endParaRPr>
          </a:p>
          <a:p>
            <a:pPr marL="228600" lvl="0" indent="-196850" algn="l" rtl="0">
              <a:spcBef>
                <a:spcPts val="0"/>
              </a:spcBef>
              <a:spcAft>
                <a:spcPts val="0"/>
              </a:spcAft>
              <a:buSzPts val="1300"/>
              <a:buFont typeface="Calibri"/>
              <a:buAutoNum type="arabicPeriod"/>
            </a:pPr>
            <a:r>
              <a:rPr lang="en" sz="1300">
                <a:latin typeface="Calibri"/>
                <a:ea typeface="Calibri"/>
                <a:cs typeface="Calibri"/>
                <a:sym typeface="Calibri"/>
              </a:rPr>
              <a:t>Alternative Architectures (Mamba, RWKV, RingAttention, Diffusion Transformers)</a:t>
            </a:r>
            <a:endParaRPr sz="1300">
              <a:latin typeface="Calibri"/>
              <a:ea typeface="Calibri"/>
              <a:cs typeface="Calibri"/>
              <a:sym typeface="Calibri"/>
            </a:endParaRPr>
          </a:p>
          <a:p>
            <a:pPr marL="228600" lvl="0" indent="-196850" algn="l" rtl="0">
              <a:spcBef>
                <a:spcPts val="0"/>
              </a:spcBef>
              <a:spcAft>
                <a:spcPts val="0"/>
              </a:spcAft>
              <a:buSzPts val="1300"/>
              <a:buFont typeface="Calibri"/>
              <a:buAutoNum type="arabicPeriod"/>
            </a:pPr>
            <a:r>
              <a:rPr lang="en" sz="1300">
                <a:latin typeface="Calibri"/>
                <a:ea typeface="Calibri"/>
                <a:cs typeface="Calibri"/>
                <a:sym typeface="Calibri"/>
              </a:rPr>
              <a:t>Mixture of Experts (DeepSeekMoE, Samba-1)</a:t>
            </a:r>
            <a:endParaRPr sz="1300">
              <a:latin typeface="Calibri"/>
              <a:ea typeface="Calibri"/>
              <a:cs typeface="Calibri"/>
              <a:sym typeface="Calibri"/>
            </a:endParaRPr>
          </a:p>
          <a:p>
            <a:pPr marL="228600" lvl="0" indent="-196850" algn="l" rtl="0">
              <a:spcBef>
                <a:spcPts val="0"/>
              </a:spcBef>
              <a:spcAft>
                <a:spcPts val="0"/>
              </a:spcAft>
              <a:buSzPts val="1300"/>
              <a:buFont typeface="Calibri"/>
              <a:buAutoNum type="arabicPeriod"/>
            </a:pPr>
            <a:r>
              <a:rPr lang="en" sz="1300">
                <a:latin typeface="Calibri"/>
                <a:ea typeface="Calibri"/>
                <a:cs typeface="Calibri"/>
                <a:sym typeface="Calibri"/>
              </a:rPr>
              <a:t>Online LLMs (Gemini Pro, Exa)</a:t>
            </a:r>
            <a:endParaRPr sz="1300">
              <a:latin typeface="Calibri"/>
              <a:ea typeface="Calibri"/>
              <a:cs typeface="Calibri"/>
              <a:sym typeface="Calibri"/>
            </a:endParaRPr>
          </a:p>
        </p:txBody>
      </p:sp>
      <p:sp>
        <p:nvSpPr>
          <p:cNvPr id="75" name="Google Shape;75;p15"/>
          <p:cNvSpPr txBox="1"/>
          <p:nvPr/>
        </p:nvSpPr>
        <p:spPr>
          <a:xfrm>
            <a:off x="128725" y="3921650"/>
            <a:ext cx="4381500" cy="104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6"/>
              </a:rPr>
              <a:t>https://twitter.com/AndrewYNg/status/1766554536192446957</a:t>
            </a:r>
            <a:endParaRPr sz="10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7"/>
              </a:rPr>
              <a:t>https://arxiv.org/abs/2304.15004</a:t>
            </a:r>
            <a:endParaRPr sz="10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latin typeface="Calibri"/>
                <a:ea typeface="Calibri"/>
                <a:cs typeface="Calibri"/>
                <a:sym typeface="Calibri"/>
              </a:rPr>
              <a:t>... emergent abilities (in larger models) appear due to the researcher's choice of metric rather than due to fundamental changes in model behavior with scale. </a:t>
            </a:r>
            <a:endParaRPr sz="1200">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6"/>
          <p:cNvSpPr txBox="1"/>
          <p:nvPr/>
        </p:nvSpPr>
        <p:spPr>
          <a:xfrm>
            <a:off x="72300" y="0"/>
            <a:ext cx="41334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Misc 2</a:t>
            </a:r>
            <a:endParaRPr sz="2000" b="1">
              <a:solidFill>
                <a:schemeClr val="dk1"/>
              </a:solidFill>
              <a:latin typeface="Calibri"/>
              <a:ea typeface="Calibri"/>
              <a:cs typeface="Calibri"/>
              <a:sym typeface="Calibri"/>
            </a:endParaRPr>
          </a:p>
        </p:txBody>
      </p:sp>
      <p:sp>
        <p:nvSpPr>
          <p:cNvPr id="81" name="Google Shape;81;p16"/>
          <p:cNvSpPr txBox="1"/>
          <p:nvPr/>
        </p:nvSpPr>
        <p:spPr>
          <a:xfrm>
            <a:off x="72300" y="397425"/>
            <a:ext cx="43815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Chain-of-Abstraction Reasoning</a:t>
            </a:r>
            <a:endParaRPr sz="13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a:latin typeface="Calibri"/>
                <a:ea typeface="Calibri"/>
                <a:cs typeface="Calibri"/>
                <a:sym typeface="Calibri"/>
              </a:rPr>
              <a:t>Efficient Tool Use with Chain-of-Abstraction Reasoning</a:t>
            </a:r>
            <a:br>
              <a:rPr lang="en" sz="1300">
                <a:latin typeface="Calibri"/>
                <a:ea typeface="Calibri"/>
                <a:cs typeface="Calibri"/>
                <a:sym typeface="Calibri"/>
              </a:rPr>
            </a:br>
            <a:r>
              <a:rPr lang="en" sz="1300">
                <a:latin typeface="Calibri"/>
                <a:ea typeface="Calibri"/>
                <a:cs typeface="Calibri"/>
                <a:sym typeface="Calibri"/>
              </a:rPr>
              <a:t>Paper:</a:t>
            </a:r>
            <a:endParaRPr sz="1300">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u="sng">
                <a:solidFill>
                  <a:schemeClr val="hlink"/>
                </a:solidFill>
                <a:latin typeface="Calibri"/>
                <a:ea typeface="Calibri"/>
                <a:cs typeface="Calibri"/>
                <a:sym typeface="Calibri"/>
                <a:hlinkClick r:id="rId3"/>
              </a:rPr>
              <a:t>https://arxiv.org/abs/2401.17464</a:t>
            </a:r>
            <a:r>
              <a:rPr lang="en" sz="1300">
                <a:latin typeface="Calibri"/>
                <a:ea typeface="Calibri"/>
                <a:cs typeface="Calibri"/>
                <a:sym typeface="Calibri"/>
              </a:rPr>
              <a:t> </a:t>
            </a:r>
            <a:endParaRPr sz="1300">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a:latin typeface="Calibri"/>
                <a:ea typeface="Calibri"/>
                <a:cs typeface="Calibri"/>
                <a:sym typeface="Calibri"/>
              </a:rPr>
              <a:t>Tweet:</a:t>
            </a:r>
            <a:endParaRPr sz="1300">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u="sng">
                <a:solidFill>
                  <a:schemeClr val="hlink"/>
                </a:solidFill>
                <a:latin typeface="Calibri"/>
                <a:ea typeface="Calibri"/>
                <a:cs typeface="Calibri"/>
                <a:sym typeface="Calibri"/>
                <a:hlinkClick r:id="rId4"/>
              </a:rPr>
              <a:t>https://twitter.com/silin_gao/status/1765778821620343078</a:t>
            </a:r>
            <a:r>
              <a:rPr lang="en" sz="1300">
                <a:latin typeface="Calibri"/>
                <a:ea typeface="Calibri"/>
                <a:cs typeface="Calibri"/>
                <a:sym typeface="Calibri"/>
              </a:rPr>
              <a:t> </a:t>
            </a:r>
            <a:endParaRPr sz="1300">
              <a:latin typeface="Calibri"/>
              <a:ea typeface="Calibri"/>
              <a:cs typeface="Calibri"/>
              <a:sym typeface="Calibri"/>
            </a:endParaRPr>
          </a:p>
        </p:txBody>
      </p:sp>
      <p:sp>
        <p:nvSpPr>
          <p:cNvPr id="82" name="Google Shape;82;p16"/>
          <p:cNvSpPr txBox="1"/>
          <p:nvPr/>
        </p:nvSpPr>
        <p:spPr>
          <a:xfrm>
            <a:off x="72300" y="1835935"/>
            <a:ext cx="43815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b="1">
                <a:solidFill>
                  <a:srgbClr val="FF0000"/>
                </a:solidFill>
                <a:latin typeface="Calibri"/>
                <a:ea typeface="Calibri"/>
                <a:cs typeface="Calibri"/>
                <a:sym typeface="Calibri"/>
              </a:rPr>
              <a:t>Amazon reviews dataset</a:t>
            </a:r>
            <a:endParaRPr sz="13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u="sng">
                <a:solidFill>
                  <a:schemeClr val="hlink"/>
                </a:solidFill>
                <a:latin typeface="Calibri"/>
                <a:ea typeface="Calibri"/>
                <a:cs typeface="Calibri"/>
                <a:sym typeface="Calibri"/>
                <a:hlinkClick r:id="rId5"/>
              </a:rPr>
              <a:t>https://twitter.com/jobergum/status/1765844532560625689</a:t>
            </a:r>
            <a:r>
              <a:rPr lang="en" sz="1300">
                <a:latin typeface="Calibri"/>
                <a:ea typeface="Calibri"/>
                <a:cs typeface="Calibri"/>
                <a:sym typeface="Calibri"/>
              </a:rPr>
              <a:t> </a:t>
            </a:r>
            <a:endParaRPr sz="1300">
              <a:latin typeface="Calibri"/>
              <a:ea typeface="Calibri"/>
              <a:cs typeface="Calibri"/>
              <a:sym typeface="Calibri"/>
            </a:endParaRPr>
          </a:p>
        </p:txBody>
      </p:sp>
      <p:sp>
        <p:nvSpPr>
          <p:cNvPr id="83" name="Google Shape;83;p16"/>
          <p:cNvSpPr txBox="1"/>
          <p:nvPr/>
        </p:nvSpPr>
        <p:spPr>
          <a:xfrm>
            <a:off x="72300" y="2490675"/>
            <a:ext cx="4381500" cy="78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a:latin typeface="Calibri"/>
                <a:ea typeface="Calibri"/>
                <a:cs typeface="Calibri"/>
                <a:sym typeface="Calibri"/>
              </a:rPr>
              <a:t>LLM Jailbreaking using </a:t>
            </a:r>
            <a:r>
              <a:rPr lang="en" sz="1300" b="1">
                <a:solidFill>
                  <a:srgbClr val="3C78D8"/>
                </a:solidFill>
                <a:latin typeface="Calibri"/>
                <a:ea typeface="Calibri"/>
                <a:cs typeface="Calibri"/>
                <a:sym typeface="Calibri"/>
              </a:rPr>
              <a:t>morse code</a:t>
            </a:r>
            <a:r>
              <a:rPr lang="en" sz="1300">
                <a:latin typeface="Calibri"/>
                <a:ea typeface="Calibri"/>
                <a:cs typeface="Calibri"/>
                <a:sym typeface="Calibri"/>
              </a:rPr>
              <a:t>  or  </a:t>
            </a:r>
            <a:r>
              <a:rPr lang="en" sz="1300" b="1">
                <a:solidFill>
                  <a:srgbClr val="3C78D8"/>
                </a:solidFill>
                <a:latin typeface="Calibri"/>
                <a:ea typeface="Calibri"/>
                <a:cs typeface="Calibri"/>
                <a:sym typeface="Calibri"/>
              </a:rPr>
              <a:t>ASCII Art</a:t>
            </a:r>
            <a:r>
              <a:rPr lang="en" sz="1300">
                <a:latin typeface="Calibri"/>
                <a:ea typeface="Calibri"/>
                <a:cs typeface="Calibri"/>
                <a:sym typeface="Calibri"/>
              </a:rPr>
              <a:t> </a:t>
            </a:r>
            <a:endParaRPr sz="1300">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u="sng">
                <a:solidFill>
                  <a:schemeClr val="hlink"/>
                </a:solidFill>
                <a:latin typeface="Calibri"/>
                <a:ea typeface="Calibri"/>
                <a:cs typeface="Calibri"/>
                <a:sym typeface="Calibri"/>
                <a:hlinkClick r:id="rId6"/>
              </a:rPr>
              <a:t>https://www.youtube.com/watch?v=5cEvNO9rZgI</a:t>
            </a:r>
            <a:endParaRPr sz="1300">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u="sng">
                <a:solidFill>
                  <a:schemeClr val="hlink"/>
                </a:solidFill>
                <a:latin typeface="Calibri"/>
                <a:ea typeface="Calibri"/>
                <a:cs typeface="Calibri"/>
                <a:sym typeface="Calibri"/>
                <a:hlinkClick r:id="rId7"/>
              </a:rPr>
              <a:t>https://arxiv.org/abs/2402.11753</a:t>
            </a:r>
            <a:r>
              <a:rPr lang="en" sz="1300">
                <a:latin typeface="Calibri"/>
                <a:ea typeface="Calibri"/>
                <a:cs typeface="Calibri"/>
                <a:sym typeface="Calibri"/>
              </a:rPr>
              <a:t> </a:t>
            </a:r>
            <a:endParaRPr sz="1300">
              <a:latin typeface="Calibri"/>
              <a:ea typeface="Calibri"/>
              <a:cs typeface="Calibri"/>
              <a:sym typeface="Calibri"/>
            </a:endParaRPr>
          </a:p>
        </p:txBody>
      </p:sp>
      <p:pic>
        <p:nvPicPr>
          <p:cNvPr id="84" name="Google Shape;84;p1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1802300" y="3345525"/>
            <a:ext cx="3065433" cy="1708500"/>
          </a:xfrm>
          <a:prstGeom prst="rect">
            <a:avLst/>
          </a:prstGeom>
          <a:noFill/>
          <a:ln w="9525" cap="flat" cmpd="sng">
            <a:solidFill>
              <a:srgbClr val="FF0000"/>
            </a:solidFill>
            <a:prstDash val="solid"/>
            <a:round/>
            <a:headEnd type="none" w="sm" len="sm"/>
            <a:tailEnd type="none" w="sm" len="sm"/>
          </a:ln>
        </p:spPr>
      </p:pic>
      <p:sp>
        <p:nvSpPr>
          <p:cNvPr id="85" name="Google Shape;85;p16"/>
          <p:cNvSpPr txBox="1"/>
          <p:nvPr/>
        </p:nvSpPr>
        <p:spPr>
          <a:xfrm>
            <a:off x="4644300" y="397425"/>
            <a:ext cx="43815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u="sng">
                <a:solidFill>
                  <a:schemeClr val="hlink"/>
                </a:solidFill>
                <a:latin typeface="Calibri"/>
                <a:ea typeface="Calibri"/>
                <a:cs typeface="Calibri"/>
                <a:sym typeface="Calibri"/>
                <a:hlinkClick r:id="rId9"/>
              </a:rPr>
              <a:t>https://www.axios.com/2024/03/01/meta-ai-google-gemini-black-founding-fathers</a:t>
            </a:r>
            <a:r>
              <a:rPr lang="en" sz="1300">
                <a:latin typeface="Calibri"/>
                <a:ea typeface="Calibri"/>
                <a:cs typeface="Calibri"/>
                <a:sym typeface="Calibri"/>
              </a:rPr>
              <a:t> - First Google - now Meta.</a:t>
            </a:r>
            <a:endParaRPr sz="1300">
              <a:latin typeface="Calibri"/>
              <a:ea typeface="Calibri"/>
              <a:cs typeface="Calibri"/>
              <a:sym typeface="Calibri"/>
            </a:endParaRPr>
          </a:p>
        </p:txBody>
      </p:sp>
      <p:pic>
        <p:nvPicPr>
          <p:cNvPr id="86" name="Google Shape;86;p16"/>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4642350" y="1037888"/>
            <a:ext cx="4385400" cy="1767801"/>
          </a:xfrm>
          <a:prstGeom prst="rect">
            <a:avLst/>
          </a:prstGeom>
          <a:noFill/>
          <a:ln w="9525" cap="flat" cmpd="sng">
            <a:solidFill>
              <a:srgbClr val="FF0000"/>
            </a:solidFill>
            <a:prstDash val="solid"/>
            <a:round/>
            <a:headEnd type="none" w="sm" len="sm"/>
            <a:tailEnd type="none" w="sm" len="sm"/>
          </a:ln>
        </p:spPr>
      </p:pic>
      <p:sp>
        <p:nvSpPr>
          <p:cNvPr id="87" name="Google Shape;87;p16"/>
          <p:cNvSpPr txBox="1"/>
          <p:nvPr/>
        </p:nvSpPr>
        <p:spPr>
          <a:xfrm>
            <a:off x="5566644" y="3022125"/>
            <a:ext cx="3461100" cy="203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New OpenAI Board:</a:t>
            </a:r>
            <a:endParaRPr sz="1200" b="1">
              <a:solidFill>
                <a:srgbClr val="FF0000"/>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Sam Altman (CEO)</a:t>
            </a: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Sue Desmond-Hellmann (Gates foundation)</a:t>
            </a: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Nicole Seligman (Sony Entertainment)</a:t>
            </a: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Fidji Simo (Metrodora Institute)</a:t>
            </a: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Bret Taylor (Chairman, Salesforce)</a:t>
            </a: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Adam D'Angelo: CEO of Quora</a:t>
            </a: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Larry Summers (Economist, former Harvard president, former US Treasury Secretary)</a:t>
            </a: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Microsoft observer seat</a:t>
            </a:r>
            <a:endParaRPr sz="1200">
              <a:solidFill>
                <a:schemeClr val="dk1"/>
              </a:solidFill>
              <a:latin typeface="Calibri"/>
              <a:ea typeface="Calibri"/>
              <a:cs typeface="Calibri"/>
              <a:sym typeface="Calibri"/>
            </a:endParaRPr>
          </a:p>
        </p:txBody>
      </p:sp>
      <p:sp>
        <p:nvSpPr>
          <p:cNvPr id="88" name="Google Shape;88;p16"/>
          <p:cNvSpPr txBox="1"/>
          <p:nvPr/>
        </p:nvSpPr>
        <p:spPr>
          <a:xfrm>
            <a:off x="72300" y="3345525"/>
            <a:ext cx="1566000" cy="169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200">
                <a:latin typeface="Calibri"/>
                <a:ea typeface="Calibri"/>
                <a:cs typeface="Calibri"/>
                <a:sym typeface="Calibri"/>
              </a:rPr>
              <a:t>Morse code for Pizza?</a:t>
            </a:r>
            <a:endParaRPr sz="12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b="1">
                <a:solidFill>
                  <a:srgbClr val="FF0000"/>
                </a:solidFill>
                <a:latin typeface="Calibri"/>
                <a:ea typeface="Calibri"/>
                <a:cs typeface="Calibri"/>
                <a:sym typeface="Calibri"/>
              </a:rPr>
              <a:t> .--.   ..   --..   --..   .- </a:t>
            </a:r>
            <a:endParaRPr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latin typeface="Calibri"/>
                <a:ea typeface="Calibri"/>
                <a:cs typeface="Calibri"/>
                <a:sym typeface="Calibri"/>
              </a:rPr>
              <a:t>or </a:t>
            </a:r>
            <a:endParaRPr sz="12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di-da-da-dit </a:t>
            </a:r>
            <a:endParaRPr sz="12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di-dit </a:t>
            </a:r>
            <a:endParaRPr sz="12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da-da-di-dit </a:t>
            </a:r>
            <a:endParaRPr sz="12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da-da-di-dit </a:t>
            </a:r>
            <a:endParaRPr sz="12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di-dah</a:t>
            </a:r>
            <a:endParaRPr sz="1200" b="1">
              <a:solidFill>
                <a:srgbClr val="FF0000"/>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7"/>
          <p:cNvSpPr txBox="1"/>
          <p:nvPr/>
        </p:nvSpPr>
        <p:spPr>
          <a:xfrm>
            <a:off x="119316" y="0"/>
            <a:ext cx="287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Misc 3</a:t>
            </a:r>
            <a:endParaRPr sz="2000" b="1" i="0" u="none" strike="noStrike" cap="none">
              <a:solidFill>
                <a:srgbClr val="000000"/>
              </a:solidFill>
              <a:latin typeface="Calibri"/>
              <a:ea typeface="Calibri"/>
              <a:cs typeface="Calibri"/>
              <a:sym typeface="Calibri"/>
            </a:endParaRPr>
          </a:p>
        </p:txBody>
      </p:sp>
      <p:sp>
        <p:nvSpPr>
          <p:cNvPr id="94" name="Google Shape;94;p17"/>
          <p:cNvSpPr txBox="1"/>
          <p:nvPr/>
        </p:nvSpPr>
        <p:spPr>
          <a:xfrm>
            <a:off x="119337" y="426947"/>
            <a:ext cx="4381500" cy="38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a:solidFill>
                  <a:schemeClr val="dk1"/>
                </a:solidFill>
                <a:latin typeface="Calibri"/>
                <a:ea typeface="Calibri"/>
                <a:cs typeface="Calibri"/>
                <a:sym typeface="Calibri"/>
              </a:rPr>
              <a:t>Google's Struggles to battle AI-generated spam in search.</a:t>
            </a:r>
            <a:endParaRPr sz="1000">
              <a:solidFill>
                <a:schemeClr val="dk1"/>
              </a:solidFill>
              <a:latin typeface="Calibri"/>
              <a:ea typeface="Calibri"/>
              <a:cs typeface="Calibri"/>
              <a:sym typeface="Calibri"/>
            </a:endParaRPr>
          </a:p>
        </p:txBody>
      </p:sp>
      <p:sp>
        <p:nvSpPr>
          <p:cNvPr id="95" name="Google Shape;95;p17"/>
          <p:cNvSpPr txBox="1"/>
          <p:nvPr/>
        </p:nvSpPr>
        <p:spPr>
          <a:xfrm>
            <a:off x="119337" y="909322"/>
            <a:ext cx="4381500" cy="118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Korea Advanced Institute of Science and Technology (KAIST) have developed the "Complementary-Transformer" (C-Transformer) AI chip - ultra-low power AI accelerator capable of processing LLMs. It is using 625 times less power, and is 41 times smaller than Nvidia's A100 GPU.</a:t>
            </a:r>
            <a:endParaRPr sz="1300">
              <a:solidFill>
                <a:schemeClr val="dk1"/>
              </a:solidFill>
              <a:latin typeface="Calibri"/>
              <a:ea typeface="Calibri"/>
              <a:cs typeface="Calibri"/>
              <a:sym typeface="Calibri"/>
            </a:endParaRPr>
          </a:p>
        </p:txBody>
      </p:sp>
      <p:sp>
        <p:nvSpPr>
          <p:cNvPr id="96" name="Google Shape;96;p17"/>
          <p:cNvSpPr txBox="1"/>
          <p:nvPr/>
        </p:nvSpPr>
        <p:spPr>
          <a:xfrm>
            <a:off x="119337" y="2192097"/>
            <a:ext cx="4381500" cy="985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Europe new "AI office" at The European Commission - to serve as the epicenter of AI expertise, support governance structures, identify AI safety risks and develop respective policies to ensure safety.</a:t>
            </a:r>
            <a:endParaRPr sz="1300">
              <a:solidFill>
                <a:schemeClr val="dk1"/>
              </a:solidFill>
              <a:latin typeface="Calibri"/>
              <a:ea typeface="Calibri"/>
              <a:cs typeface="Calibri"/>
              <a:sym typeface="Calibri"/>
            </a:endParaRPr>
          </a:p>
        </p:txBody>
      </p:sp>
      <p:sp>
        <p:nvSpPr>
          <p:cNvPr id="97" name="Google Shape;97;p17"/>
          <p:cNvSpPr txBox="1"/>
          <p:nvPr/>
        </p:nvSpPr>
        <p:spPr>
          <a:xfrm>
            <a:off x="119337" y="3274772"/>
            <a:ext cx="4381500" cy="53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Prompt library</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3"/>
              </a:rPr>
              <a:t>https://docs.anthropic.com/claude/prompt-library</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98" name="Google Shape;98;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53237" y="152400"/>
            <a:ext cx="4338362" cy="4602686"/>
          </a:xfrm>
          <a:prstGeom prst="rect">
            <a:avLst/>
          </a:prstGeom>
          <a:noFill/>
          <a:ln>
            <a:noFill/>
          </a:ln>
        </p:spPr>
      </p:pic>
      <p:sp>
        <p:nvSpPr>
          <p:cNvPr id="99" name="Google Shape;99;p17"/>
          <p:cNvSpPr txBox="1"/>
          <p:nvPr/>
        </p:nvSpPr>
        <p:spPr>
          <a:xfrm>
            <a:off x="119337" y="3911047"/>
            <a:ext cx="4381500" cy="69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Train Mixtral on consumer hardware:</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5"/>
              </a:rPr>
              <a:t>https://github.com/OpenAccess-AI-Collective/axolotl/blob/main/examples/mistral/mixtral-qlora-fsdp.yml</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18"/>
          <p:cNvSpPr txBox="1"/>
          <p:nvPr/>
        </p:nvSpPr>
        <p:spPr>
          <a:xfrm>
            <a:off x="119316" y="0"/>
            <a:ext cx="287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rgbClr val="0F1419"/>
                </a:solidFill>
                <a:highlight>
                  <a:srgbClr val="FFFFFF"/>
                </a:highlight>
                <a:latin typeface="Calibri"/>
                <a:ea typeface="Calibri"/>
                <a:cs typeface="Calibri"/>
                <a:sym typeface="Calibri"/>
              </a:rPr>
              <a:t>Optimum-NVIDIA</a:t>
            </a:r>
            <a:endParaRPr sz="2000" b="1" i="0" u="none" strike="noStrike" cap="none">
              <a:solidFill>
                <a:srgbClr val="000000"/>
              </a:solidFill>
              <a:latin typeface="Calibri"/>
              <a:ea typeface="Calibri"/>
              <a:cs typeface="Calibri"/>
              <a:sym typeface="Calibri"/>
            </a:endParaRPr>
          </a:p>
        </p:txBody>
      </p:sp>
      <p:sp>
        <p:nvSpPr>
          <p:cNvPr id="105" name="Google Shape;105;p18"/>
          <p:cNvSpPr txBox="1"/>
          <p:nvPr/>
        </p:nvSpPr>
        <p:spPr>
          <a:xfrm>
            <a:off x="119337" y="2340822"/>
            <a:ext cx="4381500" cy="198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Optimum-NVIDIA is supported on 4090, L40S, and H100 Tensor Core GPUs; </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it is expected to work on any GPU based on the following architectures: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Turing (with experimental support for T4 / RTX Quadro x000)</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Ampere (A100/A30 are supported. Experimental support for A10, A40, RTX Ax000)</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Hopper</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Ada-Lovelace</a:t>
            </a:r>
            <a:endParaRPr sz="1300">
              <a:solidFill>
                <a:schemeClr val="dk1"/>
              </a:solidFill>
              <a:latin typeface="Calibri"/>
              <a:ea typeface="Calibri"/>
              <a:cs typeface="Calibri"/>
              <a:sym typeface="Calibri"/>
            </a:endParaRPr>
          </a:p>
        </p:txBody>
      </p:sp>
      <p:sp>
        <p:nvSpPr>
          <p:cNvPr id="106" name="Google Shape;106;p18"/>
          <p:cNvSpPr txBox="1"/>
          <p:nvPr/>
        </p:nvSpPr>
        <p:spPr>
          <a:xfrm>
            <a:off x="4678577" y="367400"/>
            <a:ext cx="36861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a:solidFill>
                  <a:schemeClr val="dk1"/>
                </a:solidFill>
                <a:latin typeface="Calibri"/>
                <a:ea typeface="Calibri"/>
                <a:cs typeface="Calibri"/>
                <a:sym typeface="Calibri"/>
              </a:rPr>
              <a:t>FP8 support is only available on GPUs </a:t>
            </a: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a:solidFill>
                  <a:schemeClr val="dk1"/>
                </a:solidFill>
                <a:latin typeface="Calibri"/>
                <a:ea typeface="Calibri"/>
                <a:cs typeface="Calibri"/>
                <a:sym typeface="Calibri"/>
              </a:rPr>
              <a:t>based on Hopper and Ada-Lovelace architectures.</a:t>
            </a:r>
            <a:endParaRPr sz="1000">
              <a:solidFill>
                <a:schemeClr val="dk1"/>
              </a:solidFill>
              <a:latin typeface="Calibri"/>
              <a:ea typeface="Calibri"/>
              <a:cs typeface="Calibri"/>
              <a:sym typeface="Calibri"/>
            </a:endParaRPr>
          </a:p>
        </p:txBody>
      </p:sp>
      <p:sp>
        <p:nvSpPr>
          <p:cNvPr id="107" name="Google Shape;107;p18"/>
          <p:cNvSpPr txBox="1"/>
          <p:nvPr/>
        </p:nvSpPr>
        <p:spPr>
          <a:xfrm>
            <a:off x="119337" y="367397"/>
            <a:ext cx="4381500" cy="189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3"/>
              </a:rPr>
              <a:t>https://twitter.com/rohanpaul_ai/status/1766887420992299195</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4"/>
              </a:rPr>
              <a:t>https://github.com/huggingface/optimum-nvidia</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Optimum-NVIDIA is a new Hugging Face inference library</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It has a new float8 format (FP8) which allows you to run a bigger model on a single GPU, at faster speeds, and without sacrificing accuracy.</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28x faster inference (up to 1,200 tokens/second) - allows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Can be enabled with one flag.</a:t>
            </a:r>
            <a:endParaRPr sz="1300">
              <a:solidFill>
                <a:schemeClr val="dk1"/>
              </a:solidFill>
              <a:latin typeface="Calibri"/>
              <a:ea typeface="Calibri"/>
              <a:cs typeface="Calibri"/>
              <a:sym typeface="Calibri"/>
            </a:endParaRPr>
          </a:p>
        </p:txBody>
      </p:sp>
      <p:pic>
        <p:nvPicPr>
          <p:cNvPr id="108" name="Google Shape;108;p1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53232" y="1104799"/>
            <a:ext cx="1760325" cy="1652700"/>
          </a:xfrm>
          <a:prstGeom prst="rect">
            <a:avLst/>
          </a:prstGeom>
          <a:noFill/>
          <a:ln>
            <a:noFill/>
          </a:ln>
        </p:spPr>
      </p:pic>
      <p:pic>
        <p:nvPicPr>
          <p:cNvPr id="109" name="Google Shape;109;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565952" y="1104799"/>
            <a:ext cx="1798769" cy="1652700"/>
          </a:xfrm>
          <a:prstGeom prst="rect">
            <a:avLst/>
          </a:prstGeom>
          <a:noFill/>
          <a:ln>
            <a:noFill/>
          </a:ln>
        </p:spPr>
      </p:pic>
      <p:sp>
        <p:nvSpPr>
          <p:cNvPr id="110" name="Google Shape;110;p18"/>
          <p:cNvSpPr txBox="1"/>
          <p:nvPr/>
        </p:nvSpPr>
        <p:spPr>
          <a:xfrm>
            <a:off x="4903996" y="2909900"/>
            <a:ext cx="1258800" cy="3849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 sz="1300">
                <a:solidFill>
                  <a:schemeClr val="dk1"/>
                </a:solidFill>
                <a:latin typeface="Calibri"/>
                <a:ea typeface="Calibri"/>
                <a:cs typeface="Calibri"/>
                <a:sym typeface="Calibri"/>
              </a:rPr>
              <a:t>Ada Lovelace</a:t>
            </a:r>
            <a:endParaRPr sz="1000">
              <a:solidFill>
                <a:schemeClr val="dk1"/>
              </a:solidFill>
              <a:latin typeface="Calibri"/>
              <a:ea typeface="Calibri"/>
              <a:cs typeface="Calibri"/>
              <a:sym typeface="Calibri"/>
            </a:endParaRPr>
          </a:p>
        </p:txBody>
      </p:sp>
      <p:sp>
        <p:nvSpPr>
          <p:cNvPr id="111" name="Google Shape;111;p18"/>
          <p:cNvSpPr txBox="1"/>
          <p:nvPr/>
        </p:nvSpPr>
        <p:spPr>
          <a:xfrm>
            <a:off x="6914959" y="2909900"/>
            <a:ext cx="1258800" cy="3849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 sz="1300">
                <a:solidFill>
                  <a:schemeClr val="dk1"/>
                </a:solidFill>
                <a:latin typeface="Calibri"/>
                <a:ea typeface="Calibri"/>
                <a:cs typeface="Calibri"/>
                <a:sym typeface="Calibri"/>
              </a:rPr>
              <a:t>Grace Hopper</a:t>
            </a:r>
            <a:endParaRPr sz="10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19"/>
          <p:cNvSpPr txBox="1"/>
          <p:nvPr/>
        </p:nvSpPr>
        <p:spPr>
          <a:xfrm>
            <a:off x="119330" y="0"/>
            <a:ext cx="4381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rgbClr val="0F1419"/>
                </a:solidFill>
                <a:highlight>
                  <a:srgbClr val="FFFFFF"/>
                </a:highlight>
                <a:latin typeface="Calibri"/>
                <a:ea typeface="Calibri"/>
                <a:cs typeface="Calibri"/>
                <a:sym typeface="Calibri"/>
              </a:rPr>
              <a:t>Build Company Chatbot on AWS</a:t>
            </a:r>
            <a:endParaRPr sz="2000" b="1" i="0" u="none" strike="noStrike" cap="none">
              <a:solidFill>
                <a:srgbClr val="000000"/>
              </a:solidFill>
              <a:latin typeface="Calibri"/>
              <a:ea typeface="Calibri"/>
              <a:cs typeface="Calibri"/>
              <a:sym typeface="Calibri"/>
            </a:endParaRPr>
          </a:p>
        </p:txBody>
      </p:sp>
      <p:sp>
        <p:nvSpPr>
          <p:cNvPr id="117" name="Google Shape;117;p19"/>
          <p:cNvSpPr txBox="1"/>
          <p:nvPr/>
        </p:nvSpPr>
        <p:spPr>
          <a:xfrm>
            <a:off x="119325" y="369100"/>
            <a:ext cx="43404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RAG system: </a:t>
            </a:r>
            <a:r>
              <a:rPr lang="en" sz="1300" b="1">
                <a:solidFill>
                  <a:srgbClr val="FF0000"/>
                </a:solidFill>
                <a:latin typeface="Calibri"/>
                <a:ea typeface="Calibri"/>
                <a:cs typeface="Calibri"/>
                <a:sym typeface="Calibri"/>
              </a:rPr>
              <a:t>Lex chatbot</a:t>
            </a:r>
            <a:r>
              <a:rPr lang="en" sz="1300">
                <a:solidFill>
                  <a:schemeClr val="dk1"/>
                </a:solidFill>
                <a:latin typeface="Calibri"/>
                <a:ea typeface="Calibri"/>
                <a:cs typeface="Calibri"/>
                <a:sym typeface="Calibri"/>
              </a:rPr>
              <a:t> interface, </a:t>
            </a:r>
            <a:r>
              <a:rPr lang="en" sz="1300" b="1">
                <a:solidFill>
                  <a:srgbClr val="FF0000"/>
                </a:solidFill>
                <a:latin typeface="Calibri"/>
                <a:ea typeface="Calibri"/>
                <a:cs typeface="Calibri"/>
                <a:sym typeface="Calibri"/>
              </a:rPr>
              <a:t>LLM on Bedrock</a:t>
            </a:r>
            <a:r>
              <a:rPr lang="en" sz="1300">
                <a:solidFill>
                  <a:schemeClr val="dk1"/>
                </a:solidFill>
                <a:latin typeface="Calibri"/>
                <a:ea typeface="Calibri"/>
                <a:cs typeface="Calibri"/>
                <a:sym typeface="Calibri"/>
              </a:rPr>
              <a:t>, </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vector DB for semantic search</a:t>
            </a:r>
            <a:endParaRPr sz="900">
              <a:solidFill>
                <a:schemeClr val="dk1"/>
              </a:solidFill>
              <a:latin typeface="Calibri"/>
              <a:ea typeface="Calibri"/>
              <a:cs typeface="Calibri"/>
              <a:sym typeface="Calibri"/>
            </a:endParaRPr>
          </a:p>
        </p:txBody>
      </p:sp>
      <p:sp>
        <p:nvSpPr>
          <p:cNvPr id="118" name="Google Shape;118;p19"/>
          <p:cNvSpPr txBox="1"/>
          <p:nvPr/>
        </p:nvSpPr>
        <p:spPr>
          <a:xfrm>
            <a:off x="119325" y="2469950"/>
            <a:ext cx="4340400" cy="136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1"/>
                </a:solidFill>
                <a:latin typeface="Calibri"/>
                <a:ea typeface="Calibri"/>
                <a:cs typeface="Calibri"/>
                <a:sym typeface="Calibri"/>
              </a:rPr>
              <a:t>AWS offers various vector DBs and related services:</a:t>
            </a:r>
            <a:br>
              <a:rPr lang="en" sz="13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3"/>
              </a:rPr>
              <a:t>https://community.aws/concepts/vector-embeddings-and-rag-demystified-2</a:t>
            </a:r>
            <a:r>
              <a:rPr lang="en" sz="9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200" b="1">
                <a:solidFill>
                  <a:srgbClr val="FF0000"/>
                </a:solidFill>
                <a:latin typeface="Calibri"/>
                <a:ea typeface="Calibri"/>
                <a:cs typeface="Calibri"/>
                <a:sym typeface="Calibri"/>
              </a:rPr>
              <a:t>Kendra - low-code semantic search over vast unstructured data (S3)</a:t>
            </a:r>
            <a:r>
              <a:rPr lang="en" sz="1200">
                <a:solidFill>
                  <a:schemeClr val="dk1"/>
                </a:solidFill>
                <a:latin typeface="Calibri"/>
                <a:ea typeface="Calibri"/>
                <a:cs typeface="Calibri"/>
                <a:sym typeface="Calibri"/>
              </a:rPr>
              <a:t>. Uses OpenSearch under the hood?</a:t>
            </a:r>
            <a:br>
              <a:rPr lang="en" sz="13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4"/>
              </a:rPr>
              <a:t>https://aws.amazon.com/kendra</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200" b="1">
                <a:solidFill>
                  <a:srgbClr val="FF0000"/>
                </a:solidFill>
                <a:latin typeface="Calibri"/>
                <a:ea typeface="Calibri"/>
                <a:cs typeface="Calibri"/>
                <a:sym typeface="Calibri"/>
              </a:rPr>
              <a:t>OpenSearch</a:t>
            </a:r>
            <a:r>
              <a:rPr lang="en" sz="1200">
                <a:solidFill>
                  <a:schemeClr val="dk1"/>
                </a:solidFill>
                <a:latin typeface="Calibri"/>
                <a:ea typeface="Calibri"/>
                <a:cs typeface="Calibri"/>
                <a:sym typeface="Calibri"/>
              </a:rPr>
              <a:t> (~ ElasticSearch) - open source, NoSQL</a:t>
            </a:r>
            <a:br>
              <a:rPr lang="en" sz="13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5"/>
              </a:rPr>
              <a:t>https://aws.amazon.com/opensearch-service</a:t>
            </a:r>
            <a:r>
              <a:rPr lang="en" sz="900">
                <a:solidFill>
                  <a:schemeClr val="dk1"/>
                </a:solidFill>
                <a:latin typeface="Calibri"/>
                <a:ea typeface="Calibri"/>
                <a:cs typeface="Calibri"/>
                <a:sym typeface="Calibri"/>
              </a:rPr>
              <a:t> </a:t>
            </a:r>
            <a:endParaRPr sz="700">
              <a:solidFill>
                <a:schemeClr val="dk1"/>
              </a:solidFill>
              <a:latin typeface="Calibri"/>
              <a:ea typeface="Calibri"/>
              <a:cs typeface="Calibri"/>
              <a:sym typeface="Calibri"/>
            </a:endParaRPr>
          </a:p>
        </p:txBody>
      </p:sp>
      <p:sp>
        <p:nvSpPr>
          <p:cNvPr id="119" name="Google Shape;119;p19"/>
          <p:cNvSpPr txBox="1"/>
          <p:nvPr/>
        </p:nvSpPr>
        <p:spPr>
          <a:xfrm>
            <a:off x="119325" y="968300"/>
            <a:ext cx="43404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AWS Lex</a:t>
            </a:r>
            <a:r>
              <a:rPr lang="en" sz="1300">
                <a:solidFill>
                  <a:schemeClr val="dk1"/>
                </a:solidFill>
                <a:latin typeface="Calibri"/>
                <a:ea typeface="Calibri"/>
                <a:cs typeface="Calibri"/>
                <a:sym typeface="Calibri"/>
              </a:rPr>
              <a:t> - building chatbots. Can use </a:t>
            </a:r>
            <a:r>
              <a:rPr lang="en" sz="1300" b="1">
                <a:solidFill>
                  <a:srgbClr val="FF0000"/>
                </a:solidFill>
                <a:latin typeface="Calibri"/>
                <a:ea typeface="Calibri"/>
                <a:cs typeface="Calibri"/>
                <a:sym typeface="Calibri"/>
              </a:rPr>
              <a:t>AWS Kendra</a:t>
            </a:r>
            <a:r>
              <a:rPr lang="en" sz="1300">
                <a:solidFill>
                  <a:schemeClr val="dk1"/>
                </a:solidFill>
                <a:latin typeface="Calibri"/>
                <a:ea typeface="Calibri"/>
                <a:cs typeface="Calibri"/>
                <a:sym typeface="Calibri"/>
              </a:rPr>
              <a:t> for data search - </a:t>
            </a:r>
            <a:r>
              <a:rPr lang="en" sz="1000" u="sng">
                <a:solidFill>
                  <a:schemeClr val="hlink"/>
                </a:solidFill>
                <a:latin typeface="Calibri"/>
                <a:ea typeface="Calibri"/>
                <a:cs typeface="Calibri"/>
                <a:sym typeface="Calibri"/>
                <a:hlinkClick r:id="rId6"/>
              </a:rPr>
              <a:t>https://aws.amazon.com/lex/</a:t>
            </a:r>
            <a:r>
              <a:rPr lang="en" sz="1000">
                <a:solidFill>
                  <a:schemeClr val="dk1"/>
                </a:solidFill>
                <a:latin typeface="Calibri"/>
                <a:ea typeface="Calibri"/>
                <a:cs typeface="Calibri"/>
                <a:sym typeface="Calibri"/>
              </a:rPr>
              <a:t> </a:t>
            </a:r>
            <a:endParaRPr sz="600">
              <a:solidFill>
                <a:schemeClr val="dk1"/>
              </a:solidFill>
              <a:latin typeface="Calibri"/>
              <a:ea typeface="Calibri"/>
              <a:cs typeface="Calibri"/>
              <a:sym typeface="Calibri"/>
            </a:endParaRPr>
          </a:p>
        </p:txBody>
      </p:sp>
      <p:sp>
        <p:nvSpPr>
          <p:cNvPr id="120" name="Google Shape;120;p19"/>
          <p:cNvSpPr txBox="1"/>
          <p:nvPr/>
        </p:nvSpPr>
        <p:spPr>
          <a:xfrm>
            <a:off x="119325" y="1546550"/>
            <a:ext cx="4340400" cy="923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AWS Bedrock</a:t>
            </a:r>
            <a:r>
              <a:rPr lang="en" sz="1300">
                <a:solidFill>
                  <a:schemeClr val="dk1"/>
                </a:solidFill>
                <a:latin typeface="Calibri"/>
                <a:ea typeface="Calibri"/>
                <a:cs typeface="Calibri"/>
                <a:sym typeface="Calibri"/>
              </a:rPr>
              <a:t> (available since Sept 2023) - API to run foundation models (Amazon Titan, Claude, AI21, Cohere, Meta Llama, Mistral, Stability)</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7"/>
              </a:rPr>
              <a:t>https://docs.aws.amazon.com/bedrock/latest/userguide/models-supported.html</a:t>
            </a:r>
            <a:endParaRPr sz="900">
              <a:solidFill>
                <a:schemeClr val="dk1"/>
              </a:solidFill>
              <a:latin typeface="Calibri"/>
              <a:ea typeface="Calibri"/>
              <a:cs typeface="Calibri"/>
              <a:sym typeface="Calibri"/>
            </a:endParaRPr>
          </a:p>
        </p:txBody>
      </p:sp>
      <p:pic>
        <p:nvPicPr>
          <p:cNvPr id="121" name="Google Shape;121;p19"/>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4587657" y="49775"/>
            <a:ext cx="4506126" cy="2161275"/>
          </a:xfrm>
          <a:prstGeom prst="rect">
            <a:avLst/>
          </a:prstGeom>
          <a:noFill/>
          <a:ln>
            <a:noFill/>
          </a:ln>
        </p:spPr>
      </p:pic>
      <p:sp>
        <p:nvSpPr>
          <p:cNvPr id="122" name="Google Shape;122;p19"/>
          <p:cNvSpPr txBox="1"/>
          <p:nvPr/>
        </p:nvSpPr>
        <p:spPr>
          <a:xfrm>
            <a:off x="4709650" y="2260336"/>
            <a:ext cx="4340400" cy="184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96850" algn="l" rtl="0">
              <a:spcBef>
                <a:spcPts val="0"/>
              </a:spcBef>
              <a:spcAft>
                <a:spcPts val="0"/>
              </a:spcAft>
              <a:buClr>
                <a:schemeClr val="dk1"/>
              </a:buClr>
              <a:buSzPts val="1300"/>
              <a:buFont typeface="Calibri"/>
              <a:buChar char="●"/>
            </a:pPr>
            <a:r>
              <a:rPr lang="en" sz="1200" b="1">
                <a:solidFill>
                  <a:srgbClr val="6AA84F"/>
                </a:solidFill>
                <a:latin typeface="Calibri"/>
                <a:ea typeface="Calibri"/>
                <a:cs typeface="Calibri"/>
                <a:sym typeface="Calibri"/>
              </a:rPr>
              <a:t>RDS/</a:t>
            </a:r>
            <a:r>
              <a:rPr lang="en" sz="1200" b="1">
                <a:solidFill>
                  <a:srgbClr val="FF0000"/>
                </a:solidFill>
                <a:latin typeface="Calibri"/>
                <a:ea typeface="Calibri"/>
                <a:cs typeface="Calibri"/>
                <a:sym typeface="Calibri"/>
              </a:rPr>
              <a:t>Aurora PostgreSQL </a:t>
            </a:r>
            <a:r>
              <a:rPr lang="en" sz="1200">
                <a:solidFill>
                  <a:schemeClr val="dk1"/>
                </a:solidFill>
                <a:latin typeface="Calibri"/>
                <a:ea typeface="Calibri"/>
                <a:cs typeface="Calibri"/>
                <a:sym typeface="Calibri"/>
              </a:rPr>
              <a:t>- vector similarity search using pgvector extension</a:t>
            </a:r>
            <a:br>
              <a:rPr lang="en" sz="1300">
                <a:solidFill>
                  <a:schemeClr val="dk1"/>
                </a:solidFill>
                <a:latin typeface="Calibri"/>
                <a:ea typeface="Calibri"/>
                <a:cs typeface="Calibri"/>
                <a:sym typeface="Calibri"/>
              </a:rPr>
            </a:br>
            <a:r>
              <a:rPr lang="en" sz="700" u="sng">
                <a:solidFill>
                  <a:schemeClr val="hlink"/>
                </a:solidFill>
                <a:latin typeface="Calibri"/>
                <a:ea typeface="Calibri"/>
                <a:cs typeface="Calibri"/>
                <a:sym typeface="Calibri"/>
                <a:hlinkClick r:id="rId9"/>
              </a:rPr>
              <a:t>https://docs.aws.amazon.com/AmazonRDS/latest/AuroraUserGuide/Aurora.AuroraPostgreSQL.html</a:t>
            </a:r>
            <a:r>
              <a:rPr lang="en" sz="700">
                <a:solidFill>
                  <a:schemeClr val="dk1"/>
                </a:solidFill>
                <a:latin typeface="Calibri"/>
                <a:ea typeface="Calibri"/>
                <a:cs typeface="Calibri"/>
                <a:sym typeface="Calibri"/>
              </a:rPr>
              <a:t> </a:t>
            </a:r>
            <a:endParaRPr sz="7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200" b="1">
                <a:solidFill>
                  <a:srgbClr val="FF0000"/>
                </a:solidFill>
                <a:latin typeface="Calibri"/>
                <a:ea typeface="Calibri"/>
                <a:cs typeface="Calibri"/>
                <a:sym typeface="Calibri"/>
              </a:rPr>
              <a:t>Snowflake DB</a:t>
            </a:r>
            <a:r>
              <a:rPr lang="en" sz="1200">
                <a:solidFill>
                  <a:schemeClr val="dk1"/>
                </a:solidFill>
                <a:latin typeface="Calibri"/>
                <a:ea typeface="Calibri"/>
                <a:cs typeface="Calibri"/>
                <a:sym typeface="Calibri"/>
              </a:rPr>
              <a:t> - (PostgreSQL) vector similarity, Mistral Large.</a:t>
            </a:r>
            <a:br>
              <a:rPr lang="en" sz="1300">
                <a:solidFill>
                  <a:schemeClr val="dk1"/>
                </a:solidFill>
                <a:latin typeface="Calibri"/>
                <a:ea typeface="Calibri"/>
                <a:cs typeface="Calibri"/>
                <a:sym typeface="Calibri"/>
              </a:rPr>
            </a:br>
            <a:r>
              <a:rPr lang="en" sz="700" u="sng">
                <a:solidFill>
                  <a:schemeClr val="hlink"/>
                </a:solidFill>
                <a:latin typeface="Calibri"/>
                <a:ea typeface="Calibri"/>
                <a:cs typeface="Calibri"/>
                <a:sym typeface="Calibri"/>
                <a:hlinkClick r:id="rId10"/>
              </a:rPr>
              <a:t>https://investors.snowflake.com/news/news-details/2024/Snowflake-Partners-with-Mistral-AI-to-Bring-Industry-Leading-Language-Models-to-Enterprises-Through-Snowflake-Cortex/default.aspx</a:t>
            </a:r>
            <a:r>
              <a:rPr lang="en" sz="700">
                <a:solidFill>
                  <a:schemeClr val="dk1"/>
                </a:solidFill>
                <a:latin typeface="Calibri"/>
                <a:ea typeface="Calibri"/>
                <a:cs typeface="Calibri"/>
                <a:sym typeface="Calibri"/>
              </a:rPr>
              <a:t>  </a:t>
            </a:r>
            <a:endParaRPr sz="7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200" b="1">
                <a:solidFill>
                  <a:srgbClr val="FF0000"/>
                </a:solidFill>
                <a:latin typeface="Calibri"/>
                <a:ea typeface="Calibri"/>
                <a:cs typeface="Calibri"/>
                <a:sym typeface="Calibri"/>
              </a:rPr>
              <a:t>DynamoDB</a:t>
            </a:r>
            <a:r>
              <a:rPr lang="en" sz="1200">
                <a:solidFill>
                  <a:schemeClr val="dk1"/>
                </a:solidFill>
                <a:latin typeface="Calibri"/>
                <a:ea typeface="Calibri"/>
                <a:cs typeface="Calibri"/>
                <a:sym typeface="Calibri"/>
              </a:rPr>
              <a:t> - store chat history (Key-Value DB)</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Athena </a:t>
            </a:r>
            <a:r>
              <a:rPr lang="en" sz="1200">
                <a:solidFill>
                  <a:schemeClr val="dk1"/>
                </a:solidFill>
                <a:latin typeface="Calibri"/>
                <a:ea typeface="Calibri"/>
                <a:cs typeface="Calibri"/>
                <a:sym typeface="Calibri"/>
              </a:rPr>
              <a:t>- store chat history (SQL over files in S3)</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Lambda</a:t>
            </a:r>
            <a:r>
              <a:rPr lang="en" sz="1200">
                <a:solidFill>
                  <a:schemeClr val="dk1"/>
                </a:solidFill>
                <a:latin typeface="Calibri"/>
                <a:ea typeface="Calibri"/>
                <a:cs typeface="Calibri"/>
                <a:sym typeface="Calibri"/>
              </a:rPr>
              <a:t> - serverless functions</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LangChain - python library</a:t>
            </a:r>
            <a:endParaRPr sz="1200">
              <a:solidFill>
                <a:schemeClr val="dk1"/>
              </a:solidFill>
              <a:latin typeface="Calibri"/>
              <a:ea typeface="Calibri"/>
              <a:cs typeface="Calibri"/>
              <a:sym typeface="Calibri"/>
            </a:endParaRPr>
          </a:p>
        </p:txBody>
      </p:sp>
      <p:sp>
        <p:nvSpPr>
          <p:cNvPr id="123" name="Google Shape;123;p19"/>
          <p:cNvSpPr txBox="1"/>
          <p:nvPr/>
        </p:nvSpPr>
        <p:spPr>
          <a:xfrm>
            <a:off x="4709650" y="4193757"/>
            <a:ext cx="4340400" cy="87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900">
                <a:solidFill>
                  <a:srgbClr val="6AA84F"/>
                </a:solidFill>
                <a:latin typeface="Roboto Mono"/>
                <a:ea typeface="Roboto Mono"/>
                <a:cs typeface="Roboto Mono"/>
                <a:sym typeface="Roboto Mono"/>
              </a:rPr>
              <a:t># simple Lamda function in AWS</a:t>
            </a:r>
            <a:endParaRPr sz="900">
              <a:solidFill>
                <a:srgbClr val="6AA84F"/>
              </a:solidFill>
              <a:latin typeface="Roboto Mono"/>
              <a:ea typeface="Roboto Mono"/>
              <a:cs typeface="Roboto Mono"/>
              <a:sym typeface="Roboto Mono"/>
            </a:endParaRPr>
          </a:p>
          <a:p>
            <a:pPr marL="0" lvl="0" indent="0" algn="l" rtl="0">
              <a:spcBef>
                <a:spcPts val="0"/>
              </a:spcBef>
              <a:spcAft>
                <a:spcPts val="0"/>
              </a:spcAft>
              <a:buNone/>
            </a:pPr>
            <a:r>
              <a:rPr lang="en" sz="900">
                <a:solidFill>
                  <a:srgbClr val="3C78D8"/>
                </a:solidFill>
                <a:latin typeface="Roboto Mono"/>
                <a:ea typeface="Roboto Mono"/>
                <a:cs typeface="Roboto Mono"/>
                <a:sym typeface="Roboto Mono"/>
              </a:rPr>
              <a:t>import json</a:t>
            </a:r>
            <a:endParaRPr sz="900">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a:solidFill>
                  <a:srgbClr val="3C78D8"/>
                </a:solidFill>
                <a:latin typeface="Roboto Mono"/>
                <a:ea typeface="Roboto Mono"/>
                <a:cs typeface="Roboto Mono"/>
                <a:sym typeface="Roboto Mono"/>
              </a:rPr>
              <a:t>def lambda_handler(event, context):</a:t>
            </a:r>
            <a:endParaRPr sz="900">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a:solidFill>
                  <a:srgbClr val="3C78D8"/>
                </a:solidFill>
                <a:latin typeface="Roboto Mono"/>
                <a:ea typeface="Roboto Mono"/>
                <a:cs typeface="Roboto Mono"/>
                <a:sym typeface="Roboto Mono"/>
              </a:rPr>
              <a:t>    message = "Hello from AWS Lambda!"  </a:t>
            </a:r>
            <a:endParaRPr sz="900">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a:solidFill>
                  <a:srgbClr val="3C78D8"/>
                </a:solidFill>
                <a:latin typeface="Roboto Mono"/>
                <a:ea typeface="Roboto Mono"/>
                <a:cs typeface="Roboto Mono"/>
                <a:sym typeface="Roboto Mono"/>
              </a:rPr>
              <a:t>    return {'statusCode': 200,'body': json.dumps(message)}</a:t>
            </a:r>
            <a:endParaRPr sz="1100">
              <a:solidFill>
                <a:srgbClr val="3C78D8"/>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0"/>
          <p:cNvSpPr txBox="1"/>
          <p:nvPr/>
        </p:nvSpPr>
        <p:spPr>
          <a:xfrm>
            <a:off x="119327" y="76200"/>
            <a:ext cx="5091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Using LLMs in Biology, Biochemistry, Medicine</a:t>
            </a:r>
            <a:endParaRPr sz="2000" b="1" i="0" u="none" strike="noStrike" cap="none">
              <a:solidFill>
                <a:srgbClr val="000000"/>
              </a:solidFill>
              <a:latin typeface="Calibri"/>
              <a:ea typeface="Calibri"/>
              <a:cs typeface="Calibri"/>
              <a:sym typeface="Calibri"/>
            </a:endParaRPr>
          </a:p>
        </p:txBody>
      </p:sp>
      <p:sp>
        <p:nvSpPr>
          <p:cNvPr id="129" name="Google Shape;129;p20"/>
          <p:cNvSpPr txBox="1"/>
          <p:nvPr/>
        </p:nvSpPr>
        <p:spPr>
          <a:xfrm>
            <a:off x="119337" y="426947"/>
            <a:ext cx="4381500" cy="298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3D shape of proteins is the determining factor for their function. </a:t>
            </a:r>
            <a:r>
              <a:rPr lang="en" sz="1300">
                <a:solidFill>
                  <a:srgbClr val="3C78D8"/>
                </a:solidFill>
                <a:latin typeface="Calibri"/>
                <a:ea typeface="Calibri"/>
                <a:cs typeface="Calibri"/>
                <a:sym typeface="Calibri"/>
              </a:rPr>
              <a:t>DNA/RNA -&gt; amino acid sequence -&gt; alpha helix -&gt; 3d form of proteins</a:t>
            </a:r>
            <a:r>
              <a:rPr lang="en" sz="1300">
                <a:solidFill>
                  <a:schemeClr val="dk1"/>
                </a:solidFill>
                <a:latin typeface="Calibri"/>
                <a:ea typeface="Calibri"/>
                <a:cs typeface="Calibri"/>
                <a:sym typeface="Calibri"/>
              </a:rPr>
              <a:t>. </a:t>
            </a:r>
            <a:r>
              <a:rPr lang="en" sz="1300" b="1">
                <a:solidFill>
                  <a:srgbClr val="6AA84F"/>
                </a:solidFill>
                <a:latin typeface="Calibri"/>
                <a:ea typeface="Calibri"/>
                <a:cs typeface="Calibri"/>
                <a:sym typeface="Calibri"/>
              </a:rPr>
              <a:t>Google's Deepmind Alphafold</a:t>
            </a:r>
            <a:r>
              <a:rPr lang="en" sz="1300">
                <a:solidFill>
                  <a:schemeClr val="dk1"/>
                </a:solidFill>
                <a:latin typeface="Calibri"/>
                <a:ea typeface="Calibri"/>
                <a:cs typeface="Calibri"/>
                <a:sym typeface="Calibri"/>
              </a:rPr>
              <a:t> predicts 3D  shape. New research direction - using LLM.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There is a separate category of </a:t>
            </a:r>
            <a:r>
              <a:rPr lang="en" sz="1300" b="1">
                <a:solidFill>
                  <a:srgbClr val="FF0000"/>
                </a:solidFill>
                <a:latin typeface="Calibri"/>
                <a:ea typeface="Calibri"/>
                <a:cs typeface="Calibri"/>
                <a:sym typeface="Calibri"/>
              </a:rPr>
              <a:t>protein folding diseases</a:t>
            </a:r>
            <a:r>
              <a:rPr lang="en" sz="1300">
                <a:solidFill>
                  <a:schemeClr val="dk1"/>
                </a:solidFill>
                <a:latin typeface="Calibri"/>
                <a:ea typeface="Calibri"/>
                <a:cs typeface="Calibri"/>
                <a:sym typeface="Calibri"/>
              </a:rPr>
              <a:t>. They happen when a protein can not be made, or it folds incorrectly because of aging or a DNA sequence error, or even an infection. The diseases like </a:t>
            </a:r>
            <a:r>
              <a:rPr lang="en" sz="1300">
                <a:solidFill>
                  <a:srgbClr val="FF0000"/>
                </a:solidFill>
                <a:latin typeface="Calibri"/>
                <a:ea typeface="Calibri"/>
                <a:cs typeface="Calibri"/>
                <a:sym typeface="Calibri"/>
              </a:rPr>
              <a:t>Creutzfeldt-Jakob disease (CJD), Parkinson's disease, Alzheimer's, cancer</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There are so-called chaperone-molecules (often also proteins) that help in the last stage of protein synthesis, specifically the correct folding. And often these chaperones are not coded in the cell nucleus but in the mitochondrial DNA.</a:t>
            </a:r>
            <a:endParaRPr sz="1300">
              <a:solidFill>
                <a:schemeClr val="dk1"/>
              </a:solidFill>
              <a:latin typeface="Calibri"/>
              <a:ea typeface="Calibri"/>
              <a:cs typeface="Calibri"/>
              <a:sym typeface="Calibri"/>
            </a:endParaRPr>
          </a:p>
        </p:txBody>
      </p:sp>
      <p:sp>
        <p:nvSpPr>
          <p:cNvPr id="130" name="Google Shape;130;p20"/>
          <p:cNvSpPr txBox="1"/>
          <p:nvPr/>
        </p:nvSpPr>
        <p:spPr>
          <a:xfrm>
            <a:off x="4677337" y="402597"/>
            <a:ext cx="4381500" cy="341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If it is easier to solve these puzzles with LLMs, you may be able to find medications or via crispr-cas correction mechanisms in stem cells.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With LLMs we are primary focused on "human languages", including programming languages, but there may be a whole set of other languages that can be used with LLMs. Biology, chemistry, you name it.</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Some links:</a:t>
            </a:r>
            <a:endParaRPr sz="13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https://towardsdatascience.com/large-language-models-in-molecular-biology-9eb6b65d8a30</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accent5"/>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https://www.azorobotics.com/News.aspx?newsID=14638</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accent5"/>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https://bigthink.com/health/how-generative-ai-language-models-are-unlocking-the-secrets-of-dna/</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accent5"/>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https://www.datasciencecentral.com/genai-synthesizing-dna-sequences-with-llm-techniques/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accent5"/>
                </a:solidFill>
                <a:latin typeface="Calibri"/>
                <a:ea typeface="Calibri"/>
                <a:cs typeface="Calibri"/>
                <a:sym typeface="Calibri"/>
                <a:hlinkClick r:id="rId7">
                  <a:extLst>
                    <a:ext uri="{A12FA001-AC4F-418D-AE19-62706E023703}">
                      <ahyp:hlinkClr xmlns:ahyp="http://schemas.microsoft.com/office/drawing/2018/hyperlinkcolor" val="tx"/>
                    </a:ext>
                  </a:extLst>
                </a:hlinkClick>
              </a:rPr>
              <a:t>https://www.axios.com/2023/11/17/generative-ai-dna-biology</a:t>
            </a:r>
            <a:r>
              <a:rPr lang="en" sz="10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pic>
        <p:nvPicPr>
          <p:cNvPr id="131" name="Google Shape;131;p2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802722" y="3456143"/>
            <a:ext cx="2933872" cy="16503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1"/>
          <p:cNvSpPr txBox="1"/>
          <p:nvPr/>
        </p:nvSpPr>
        <p:spPr>
          <a:xfrm>
            <a:off x="119327" y="0"/>
            <a:ext cx="4609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Advance RAG- Improve RAG performance</a:t>
            </a:r>
            <a:endParaRPr sz="2000" b="1" i="0" u="none" strike="noStrike" cap="none">
              <a:solidFill>
                <a:srgbClr val="000000"/>
              </a:solidFill>
              <a:latin typeface="Calibri"/>
              <a:ea typeface="Calibri"/>
              <a:cs typeface="Calibri"/>
              <a:sym typeface="Calibri"/>
            </a:endParaRPr>
          </a:p>
        </p:txBody>
      </p:sp>
      <p:sp>
        <p:nvSpPr>
          <p:cNvPr id="137" name="Google Shape;137;p21"/>
          <p:cNvSpPr txBox="1"/>
          <p:nvPr/>
        </p:nvSpPr>
        <p:spPr>
          <a:xfrm>
            <a:off x="119316" y="579350"/>
            <a:ext cx="7550400" cy="78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u="sng">
                <a:solidFill>
                  <a:schemeClr val="hlink"/>
                </a:solidFill>
                <a:latin typeface="Calibri"/>
                <a:ea typeface="Calibri"/>
                <a:cs typeface="Calibri"/>
                <a:sym typeface="Calibri"/>
                <a:hlinkClick r:id="rId3"/>
              </a:rPr>
              <a:t>https://luv-bansal.medium.com/advance-rag-improve-rag-performance-208ffad5bb6a</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Seven Failure Points When Engineering a Retrieval Augmented Generation System</a:t>
            </a: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u="sng">
                <a:solidFill>
                  <a:schemeClr val="hlink"/>
                </a:solidFill>
                <a:latin typeface="Calibri"/>
                <a:ea typeface="Calibri"/>
                <a:cs typeface="Calibri"/>
                <a:sym typeface="Calibri"/>
                <a:hlinkClick r:id="rId4"/>
              </a:rPr>
              <a:t>https://arxiv.org/pdf/2401.05856.pdf</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pic>
        <p:nvPicPr>
          <p:cNvPr id="138" name="Google Shape;138;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119326" y="1504350"/>
            <a:ext cx="7454525" cy="34870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22"/>
          <p:cNvSpPr txBox="1"/>
          <p:nvPr/>
        </p:nvSpPr>
        <p:spPr>
          <a:xfrm>
            <a:off x="119316" y="0"/>
            <a:ext cx="287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Web Research using LLM</a:t>
            </a:r>
            <a:endParaRPr sz="2000" b="1" i="0" u="none" strike="noStrike" cap="none">
              <a:solidFill>
                <a:srgbClr val="000000"/>
              </a:solidFill>
              <a:latin typeface="Calibri"/>
              <a:ea typeface="Calibri"/>
              <a:cs typeface="Calibri"/>
              <a:sym typeface="Calibri"/>
            </a:endParaRPr>
          </a:p>
        </p:txBody>
      </p:sp>
      <p:sp>
        <p:nvSpPr>
          <p:cNvPr id="144" name="Google Shape;144;p22"/>
          <p:cNvSpPr txBox="1"/>
          <p:nvPr/>
        </p:nvSpPr>
        <p:spPr>
          <a:xfrm>
            <a:off x="109912" y="397425"/>
            <a:ext cx="4381500" cy="246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b="0" i="0" u="none" strike="noStrike" cap="none">
                <a:solidFill>
                  <a:srgbClr val="000000"/>
                </a:solidFill>
                <a:latin typeface="Calibri"/>
                <a:ea typeface="Calibri"/>
                <a:cs typeface="Calibri"/>
                <a:sym typeface="Calibri"/>
              </a:rPr>
              <a:t>GPT Researcher</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000" b="0" i="0" u="sng" strike="noStrike" cap="none">
                <a:solidFill>
                  <a:schemeClr val="hlink"/>
                </a:solidFill>
                <a:latin typeface="Calibri"/>
                <a:ea typeface="Calibri"/>
                <a:cs typeface="Calibri"/>
                <a:sym typeface="Calibri"/>
                <a:hlinkClick r:id="rId3"/>
              </a:rPr>
              <a:t>https://github.com/assafelovic/gpt-researcher</a:t>
            </a:r>
            <a:r>
              <a:rPr lang="en" sz="1000" b="0" i="0" u="none" strike="noStrike" cap="none">
                <a:solidFill>
                  <a:schemeClr val="dk1"/>
                </a:solidFill>
                <a:latin typeface="Calibri"/>
                <a:ea typeface="Calibri"/>
                <a:cs typeface="Calibri"/>
                <a:sym typeface="Calibri"/>
              </a:rPr>
              <a:t> </a:t>
            </a:r>
            <a:br>
              <a:rPr lang="en" sz="1300">
                <a:solidFill>
                  <a:schemeClr val="dk1"/>
                </a:solidFill>
                <a:latin typeface="Calibri"/>
                <a:ea typeface="Calibri"/>
                <a:cs typeface="Calibri"/>
                <a:sym typeface="Calibri"/>
              </a:rPr>
            </a:br>
            <a:r>
              <a:rPr lang="en" sz="1300" b="0" i="0" u="none" strike="noStrike" cap="none">
                <a:solidFill>
                  <a:schemeClr val="dk1"/>
                </a:solidFill>
                <a:latin typeface="Calibri"/>
                <a:ea typeface="Calibri"/>
                <a:cs typeface="Calibri"/>
                <a:sym typeface="Calibri"/>
              </a:rPr>
              <a:t>Web scraping</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000" b="0" i="0" u="sng" strike="noStrike" cap="none">
                <a:solidFill>
                  <a:schemeClr val="hlink"/>
                </a:solidFill>
                <a:latin typeface="Calibri"/>
                <a:ea typeface="Calibri"/>
                <a:cs typeface="Calibri"/>
                <a:sym typeface="Calibri"/>
                <a:hlinkClick r:id="rId4"/>
              </a:rPr>
              <a:t>https://python.langchain.com/docs/use_cases/web_scraping</a:t>
            </a:r>
            <a:br>
              <a:rPr lang="en" sz="1300">
                <a:solidFill>
                  <a:schemeClr val="dk1"/>
                </a:solidFill>
                <a:latin typeface="Calibri"/>
                <a:ea typeface="Calibri"/>
                <a:cs typeface="Calibri"/>
                <a:sym typeface="Calibri"/>
              </a:rPr>
            </a:br>
            <a:r>
              <a:rPr lang="en" sz="1300" b="0" i="0" u="none" strike="noStrike" cap="none">
                <a:solidFill>
                  <a:schemeClr val="dk1"/>
                </a:solidFill>
                <a:latin typeface="Calibri"/>
                <a:ea typeface="Calibri"/>
                <a:cs typeface="Calibri"/>
                <a:sym typeface="Calibri"/>
              </a:rPr>
              <a:t>Web Research chatbot LangChain+OpenAI:</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000" b="0" i="0" u="sng" strike="noStrike" cap="none">
                <a:solidFill>
                  <a:schemeClr val="hlink"/>
                </a:solidFill>
                <a:latin typeface="Calibri"/>
                <a:ea typeface="Calibri"/>
                <a:cs typeface="Calibri"/>
                <a:sym typeface="Calibri"/>
                <a:hlinkClick r:id="rId5"/>
              </a:rPr>
              <a:t>https://medium.com/simform-engineering/creating-a-web-research-chatbot-using-langchain-and-openai-aa7113c9ccbf</a:t>
            </a:r>
            <a:r>
              <a:rPr lang="en" sz="1000" b="0" i="0" u="none" strike="noStrike" cap="none">
                <a:solidFill>
                  <a:schemeClr val="dk1"/>
                </a:solidFill>
                <a:latin typeface="Calibri"/>
                <a:ea typeface="Calibri"/>
                <a:cs typeface="Calibri"/>
                <a:sym typeface="Calibri"/>
              </a:rPr>
              <a:t>  </a:t>
            </a:r>
            <a:br>
              <a:rPr lang="en" sz="1300">
                <a:solidFill>
                  <a:schemeClr val="dk1"/>
                </a:solidFill>
                <a:latin typeface="Calibri"/>
                <a:ea typeface="Calibri"/>
                <a:cs typeface="Calibri"/>
                <a:sym typeface="Calibri"/>
              </a:rPr>
            </a:br>
            <a:r>
              <a:rPr lang="en" sz="1300" b="0" i="0" u="none" strike="noStrike" cap="none">
                <a:solidFill>
                  <a:schemeClr val="dk1"/>
                </a:solidFill>
                <a:latin typeface="Calibri"/>
                <a:ea typeface="Calibri"/>
                <a:cs typeface="Calibri"/>
                <a:sym typeface="Calibri"/>
              </a:rPr>
              <a:t>Pioneering the Future of Web Scraping with Intelligent AI Agents: Unleash the Power of AutoGen</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000" b="0" i="0" u="sng" strike="noStrike" cap="none">
                <a:solidFill>
                  <a:schemeClr val="hlink"/>
                </a:solidFill>
                <a:latin typeface="Calibri"/>
                <a:ea typeface="Calibri"/>
                <a:cs typeface="Calibri"/>
                <a:sym typeface="Calibri"/>
                <a:hlinkClick r:id="rId6"/>
              </a:rPr>
              <a:t>https://ai.plainenglish.io/pioneering-the-future-of-web-scraping-with-intelligent-ai-agents-unleash-the-power-of-autogen-222aa73daad6</a:t>
            </a:r>
            <a:br>
              <a:rPr lang="en" sz="1300">
                <a:solidFill>
                  <a:schemeClr val="dk1"/>
                </a:solidFill>
                <a:latin typeface="Calibri"/>
                <a:ea typeface="Calibri"/>
                <a:cs typeface="Calibri"/>
                <a:sym typeface="Calibri"/>
              </a:rPr>
            </a:br>
            <a:r>
              <a:rPr lang="en" sz="1300" b="0" i="0" u="none" strike="noStrike" cap="none">
                <a:solidFill>
                  <a:schemeClr val="dk1"/>
                </a:solidFill>
                <a:latin typeface="Calibri"/>
                <a:ea typeface="Calibri"/>
                <a:cs typeface="Calibri"/>
                <a:sym typeface="Calibri"/>
              </a:rPr>
              <a:t>AutoGen Part 4 | Create Multi-Agents GPT for Research Apps</a:t>
            </a:r>
            <a:r>
              <a:rPr lang="en" sz="1300">
                <a:solidFill>
                  <a:schemeClr val="dk1"/>
                </a:solidFill>
                <a:latin typeface="Calibri"/>
                <a:ea typeface="Calibri"/>
                <a:cs typeface="Calibri"/>
                <a:sym typeface="Calibri"/>
              </a:rPr>
              <a:t>!</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000" b="0" i="0" u="sng" strike="noStrike" cap="none">
                <a:solidFill>
                  <a:schemeClr val="hlink"/>
                </a:solidFill>
                <a:latin typeface="Calibri"/>
                <a:ea typeface="Calibri"/>
                <a:cs typeface="Calibri"/>
                <a:sym typeface="Calibri"/>
                <a:hlinkClick r:id="rId7"/>
              </a:rPr>
              <a:t>https://www.youtube.com/watch?v=WJIzVok-0GI</a:t>
            </a:r>
            <a:r>
              <a:rPr lang="en" sz="1000" b="0" i="0" u="none" strike="noStrike" cap="none">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
        <p:nvSpPr>
          <p:cNvPr id="145" name="Google Shape;145;p22"/>
          <p:cNvSpPr txBox="1"/>
          <p:nvPr/>
        </p:nvSpPr>
        <p:spPr>
          <a:xfrm>
            <a:off x="4639025" y="391880"/>
            <a:ext cx="4381500" cy="243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Diffbot</a:t>
            </a:r>
            <a:r>
              <a:rPr lang="en" sz="13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8"/>
              </a:rPr>
              <a:t>https://www.diffbot.com</a:t>
            </a:r>
            <a:r>
              <a:rPr lang="en" sz="1000">
                <a:solidFill>
                  <a:schemeClr val="dk1"/>
                </a:solidFill>
                <a:latin typeface="Calibri"/>
                <a:ea typeface="Calibri"/>
                <a:cs typeface="Calibri"/>
                <a:sym typeface="Calibri"/>
              </a:rPr>
              <a:t> </a:t>
            </a:r>
            <a:r>
              <a:rPr lang="en" sz="1300">
                <a:solidFill>
                  <a:schemeClr val="dk1"/>
                </a:solidFill>
                <a:latin typeface="Calibri"/>
                <a:ea typeface="Calibri"/>
                <a:cs typeface="Calibri"/>
                <a:sym typeface="Calibri"/>
              </a:rPr>
              <a:t>- Menlo Park, CA</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Since 2008, ~35 employees, ~2.3 Mln revenue in 2023</a:t>
            </a:r>
            <a:endParaRPr sz="1300">
              <a:solidFill>
                <a:schemeClr val="dk1"/>
              </a:solidFill>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b="1">
                <a:solidFill>
                  <a:srgbClr val="FF0000"/>
                </a:solidFill>
                <a:latin typeface="Calibri"/>
                <a:ea typeface="Calibri"/>
                <a:cs typeface="Calibri"/>
                <a:sym typeface="Calibri"/>
              </a:rPr>
              <a:t>Web data extraction</a:t>
            </a:r>
            <a:r>
              <a:rPr lang="en" sz="1300">
                <a:solidFill>
                  <a:schemeClr val="dk1"/>
                </a:solidFill>
                <a:latin typeface="Calibri"/>
                <a:ea typeface="Calibri"/>
                <a:cs typeface="Calibri"/>
                <a:sym typeface="Calibri"/>
              </a:rPr>
              <a:t> - identify key elements, create a knowledge graph with Billions of entities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b="1">
                <a:solidFill>
                  <a:srgbClr val="FF0000"/>
                </a:solidFill>
                <a:latin typeface="Calibri"/>
                <a:ea typeface="Calibri"/>
                <a:cs typeface="Calibri"/>
                <a:sym typeface="Calibri"/>
              </a:rPr>
              <a:t>APIs</a:t>
            </a:r>
            <a:r>
              <a:rPr lang="en" sz="1300">
                <a:solidFill>
                  <a:schemeClr val="dk1"/>
                </a:solidFill>
                <a:latin typeface="Calibri"/>
                <a:ea typeface="Calibri"/>
                <a:cs typeface="Calibri"/>
                <a:sym typeface="Calibri"/>
              </a:rPr>
              <a:t>: Article, Product, Discussion, Image and Video, Knowledge Graph, Custom Crawlbot</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Use cases: Market Research, Competitive Intelligence, Lead Generation, Data Enrichment, AI and Machine Learning</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a:solidFill>
                  <a:schemeClr val="dk1"/>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9"/>
              </a:rPr>
              <a:t>https://app.diffbot.com/get-started/</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a:solidFill>
                  <a:schemeClr val="dk1"/>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10"/>
              </a:rPr>
              <a:t>https://www.youtube.com/watch?v=eIDitSyhs7s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a:solidFill>
                  <a:schemeClr val="dk1"/>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11"/>
              </a:rPr>
              <a:t>https://github.com/leannchen86/graph-rag-ai-assistant</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46" name="Google Shape;146;p22"/>
          <p:cNvSpPr txBox="1"/>
          <p:nvPr/>
        </p:nvSpPr>
        <p:spPr>
          <a:xfrm>
            <a:off x="109912" y="2931150"/>
            <a:ext cx="43815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b="1">
                <a:solidFill>
                  <a:srgbClr val="FF0000"/>
                </a:solidFill>
                <a:latin typeface="Calibri"/>
                <a:ea typeface="Calibri"/>
                <a:cs typeface="Calibri"/>
                <a:sym typeface="Calibri"/>
              </a:rPr>
              <a:t>SerpAPI</a:t>
            </a:r>
            <a:r>
              <a:rPr lang="en" sz="1300">
                <a:solidFill>
                  <a:schemeClr val="dk1"/>
                </a:solidFill>
                <a:latin typeface="Calibri"/>
                <a:ea typeface="Calibri"/>
                <a:cs typeface="Calibri"/>
                <a:sym typeface="Calibri"/>
              </a:rPr>
              <a:t> - Scrape Google and other search engines</a:t>
            </a: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000" u="sng">
                <a:solidFill>
                  <a:schemeClr val="hlink"/>
                </a:solidFill>
                <a:latin typeface="Calibri"/>
                <a:ea typeface="Calibri"/>
                <a:cs typeface="Calibri"/>
                <a:sym typeface="Calibri"/>
                <a:hlinkClick r:id="rId12"/>
              </a:rPr>
              <a:t>https://serpapi.com</a:t>
            </a:r>
            <a:r>
              <a:rPr lang="en" sz="1000">
                <a:solidFill>
                  <a:schemeClr val="dk1"/>
                </a:solidFill>
                <a:latin typeface="Calibri"/>
                <a:ea typeface="Calibri"/>
                <a:cs typeface="Calibri"/>
                <a:sym typeface="Calibri"/>
              </a:rPr>
              <a:t>    </a:t>
            </a:r>
            <a:r>
              <a:rPr lang="en" sz="1300">
                <a:solidFill>
                  <a:srgbClr val="FF0000"/>
                </a:solidFill>
                <a:latin typeface="Calibri"/>
                <a:ea typeface="Calibri"/>
                <a:cs typeface="Calibri"/>
                <a:sym typeface="Calibri"/>
              </a:rPr>
              <a:t>SERP = Search Engine Results Pages</a:t>
            </a:r>
            <a:endParaRPr sz="1300">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a:solidFill>
                  <a:schemeClr val="dk1"/>
                </a:solidFill>
                <a:latin typeface="Calibri"/>
                <a:ea typeface="Calibri"/>
                <a:cs typeface="Calibri"/>
                <a:sym typeface="Calibri"/>
              </a:rPr>
              <a:t>Google, Bing, Baidu, Yahoo, Yandex, eBay, Walmart, YouTube, ... . SerpAPI manages proxies, solves CAPTCHAs, simulates searches from specific locations to get accurate, localized SERP data, returns results in as JSON.</a:t>
            </a:r>
            <a:endParaRPr sz="10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23"/>
          <p:cNvSpPr txBox="1"/>
          <p:nvPr/>
        </p:nvSpPr>
        <p:spPr>
          <a:xfrm>
            <a:off x="72300" y="0"/>
            <a:ext cx="41334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MLX - LLM on Apple M1, M2, M3</a:t>
            </a:r>
            <a:endParaRPr sz="2000" b="1">
              <a:solidFill>
                <a:schemeClr val="dk1"/>
              </a:solidFill>
              <a:latin typeface="Calibri"/>
              <a:ea typeface="Calibri"/>
              <a:cs typeface="Calibri"/>
              <a:sym typeface="Calibri"/>
            </a:endParaRPr>
          </a:p>
        </p:txBody>
      </p:sp>
      <p:sp>
        <p:nvSpPr>
          <p:cNvPr id="152" name="Google Shape;152;p23"/>
          <p:cNvSpPr txBox="1"/>
          <p:nvPr/>
        </p:nvSpPr>
        <p:spPr>
          <a:xfrm>
            <a:off x="72300" y="397425"/>
            <a:ext cx="4381500" cy="378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u="sng">
                <a:solidFill>
                  <a:schemeClr val="hlink"/>
                </a:solidFill>
                <a:latin typeface="Calibri"/>
                <a:ea typeface="Calibri"/>
                <a:cs typeface="Calibri"/>
                <a:sym typeface="Calibri"/>
                <a:hlinkClick r:id="rId3"/>
              </a:rPr>
              <a:t>https://ml-explore.github.io/mlx/build/html/</a:t>
            </a:r>
            <a:r>
              <a:rPr lang="en" sz="1300">
                <a:latin typeface="Calibri"/>
                <a:ea typeface="Calibri"/>
                <a:cs typeface="Calibri"/>
                <a:sym typeface="Calibri"/>
              </a:rPr>
              <a:t> - docs</a:t>
            </a:r>
            <a:endParaRPr sz="1300">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u="sng">
                <a:solidFill>
                  <a:schemeClr val="hlink"/>
                </a:solidFill>
                <a:latin typeface="Calibri"/>
                <a:ea typeface="Calibri"/>
                <a:cs typeface="Calibri"/>
                <a:sym typeface="Calibri"/>
                <a:hlinkClick r:id="rId4"/>
              </a:rPr>
              <a:t>https://github.com/ml-explore</a:t>
            </a:r>
            <a:r>
              <a:rPr lang="en" sz="1300">
                <a:latin typeface="Calibri"/>
                <a:ea typeface="Calibri"/>
                <a:cs typeface="Calibri"/>
                <a:sym typeface="Calibri"/>
              </a:rPr>
              <a:t> - repos</a:t>
            </a:r>
            <a:endParaRPr sz="1300">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u="sng">
                <a:solidFill>
                  <a:schemeClr val="hlink"/>
                </a:solidFill>
                <a:latin typeface="Calibri"/>
                <a:ea typeface="Calibri"/>
                <a:cs typeface="Calibri"/>
                <a:sym typeface="Calibri"/>
                <a:hlinkClick r:id="rId5"/>
              </a:rPr>
              <a:t>https://www.youtube.com/@code4AI/community</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u="sng">
                <a:solidFill>
                  <a:schemeClr val="accent5"/>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https://www.youtube.com/@code4AI</a:t>
            </a:r>
            <a:r>
              <a:rPr lang="en" sz="1300">
                <a:latin typeface="Calibri"/>
                <a:ea typeface="Calibri"/>
                <a:cs typeface="Calibri"/>
                <a:sym typeface="Calibri"/>
              </a:rPr>
              <a:t> - videos</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latin typeface="Calibri"/>
                <a:ea typeface="Calibri"/>
                <a:cs typeface="Calibri"/>
                <a:sym typeface="Calibri"/>
              </a:rPr>
              <a:t>MLX is a NumPy-like framework for ML on Apple silicon.</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latin typeface="Calibri"/>
                <a:ea typeface="Calibri"/>
                <a:cs typeface="Calibri"/>
                <a:sym typeface="Calibri"/>
              </a:rPr>
              <a:t>MLX has Python API and also has a fully featured C++ API.</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latin typeface="Calibri"/>
                <a:ea typeface="Calibri"/>
                <a:cs typeface="Calibri"/>
                <a:sym typeface="Calibri"/>
              </a:rPr>
              <a:t>MLX has composable function transformations for automatic differentiation, automatic vectorization, and computation graph optimization.</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latin typeface="Calibri"/>
                <a:ea typeface="Calibri"/>
                <a:cs typeface="Calibri"/>
                <a:sym typeface="Calibri"/>
              </a:rPr>
              <a:t>Lazy computation: Computations in MLX are lazy. Arrays are only materialized when needed.</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latin typeface="Calibri"/>
                <a:ea typeface="Calibri"/>
                <a:cs typeface="Calibri"/>
                <a:sym typeface="Calibri"/>
              </a:rPr>
              <a:t>Multi-device: Operations can run on any of the supported devices (CPU, GPU, …)</a:t>
            </a:r>
            <a:endParaRPr sz="1300">
              <a:latin typeface="Calibri"/>
              <a:ea typeface="Calibri"/>
              <a:cs typeface="Calibri"/>
              <a:sym typeface="Calibri"/>
            </a:endParaRPr>
          </a:p>
        </p:txBody>
      </p:sp>
      <p:pic>
        <p:nvPicPr>
          <p:cNvPr id="153" name="Google Shape;153;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963750" y="152400"/>
            <a:ext cx="3027850" cy="1730200"/>
          </a:xfrm>
          <a:prstGeom prst="rect">
            <a:avLst/>
          </a:prstGeom>
          <a:noFill/>
          <a:ln>
            <a:noFill/>
          </a:ln>
        </p:spPr>
      </p:pic>
      <p:pic>
        <p:nvPicPr>
          <p:cNvPr id="154" name="Google Shape;154;p2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963750" y="2035000"/>
            <a:ext cx="3027849" cy="1288169"/>
          </a:xfrm>
          <a:prstGeom prst="rect">
            <a:avLst/>
          </a:prstGeom>
          <a:noFill/>
          <a:ln>
            <a:noFill/>
          </a:ln>
        </p:spPr>
      </p:pic>
      <p:pic>
        <p:nvPicPr>
          <p:cNvPr id="155" name="Google Shape;155;p2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575150" y="3475575"/>
            <a:ext cx="2077800" cy="15583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4"/>
          <p:cNvSpPr txBox="1"/>
          <p:nvPr/>
        </p:nvSpPr>
        <p:spPr>
          <a:xfrm>
            <a:off x="72300" y="0"/>
            <a:ext cx="41334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MLC LLM</a:t>
            </a:r>
            <a:endParaRPr sz="2000" b="1">
              <a:solidFill>
                <a:schemeClr val="dk1"/>
              </a:solidFill>
              <a:latin typeface="Calibri"/>
              <a:ea typeface="Calibri"/>
              <a:cs typeface="Calibri"/>
              <a:sym typeface="Calibri"/>
            </a:endParaRPr>
          </a:p>
        </p:txBody>
      </p:sp>
      <p:sp>
        <p:nvSpPr>
          <p:cNvPr id="161" name="Google Shape;161;p24"/>
          <p:cNvSpPr txBox="1"/>
          <p:nvPr/>
        </p:nvSpPr>
        <p:spPr>
          <a:xfrm>
            <a:off x="72300" y="397425"/>
            <a:ext cx="4381500" cy="238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Machine Learning Compilation for Large Language Models (MLC LLM) - </a:t>
            </a:r>
            <a:r>
              <a:rPr lang="en" sz="1300" u="sng">
                <a:solidFill>
                  <a:schemeClr val="hlink"/>
                </a:solidFill>
                <a:latin typeface="Calibri"/>
                <a:ea typeface="Calibri"/>
                <a:cs typeface="Calibri"/>
                <a:sym typeface="Calibri"/>
                <a:hlinkClick r:id="rId3"/>
              </a:rPr>
              <a:t>https://github.com/mlc-ai/mlc-llm</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4"/>
              </a:rPr>
              <a:t>https://llm.mlc.ai</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latin typeface="Calibri"/>
                <a:ea typeface="Calibri"/>
                <a:cs typeface="Calibri"/>
                <a:sym typeface="Calibri"/>
              </a:rPr>
              <a:t>MLC LLM is a high-performance universal deployment solution that allows native deployment of any LLM with native APIs with compiler acceleration. </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latin typeface="Calibri"/>
                <a:ea typeface="Calibri"/>
                <a:cs typeface="Calibri"/>
                <a:sym typeface="Calibri"/>
              </a:rPr>
              <a:t>The mission of this project is to enable everyone to develop, optimize and deploy AI models natively on everyone's devices with ML compilation techniques.</a:t>
            </a:r>
            <a:endParaRPr sz="1300">
              <a:latin typeface="Calibri"/>
              <a:ea typeface="Calibri"/>
              <a:cs typeface="Calibri"/>
              <a:sym typeface="Calibri"/>
            </a:endParaRPr>
          </a:p>
        </p:txBody>
      </p:sp>
      <p:pic>
        <p:nvPicPr>
          <p:cNvPr id="162" name="Google Shape;162;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9100" y="2850925"/>
            <a:ext cx="5726726" cy="2255475"/>
          </a:xfrm>
          <a:prstGeom prst="rect">
            <a:avLst/>
          </a:prstGeom>
          <a:noFill/>
          <a:ln>
            <a:noFill/>
          </a:ln>
        </p:spPr>
      </p:pic>
      <p:pic>
        <p:nvPicPr>
          <p:cNvPr id="163" name="Google Shape;163;p2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85275" y="-7"/>
            <a:ext cx="2358724" cy="7697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25"/>
          <p:cNvSpPr txBox="1"/>
          <p:nvPr/>
        </p:nvSpPr>
        <p:spPr>
          <a:xfrm>
            <a:off x="72300" y="0"/>
            <a:ext cx="3651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RAG, Embeddings, ...</a:t>
            </a:r>
            <a:endParaRPr sz="2000" b="1" i="0" u="none" strike="noStrike" cap="none">
              <a:solidFill>
                <a:srgbClr val="000000"/>
              </a:solidFill>
              <a:latin typeface="Calibri"/>
              <a:ea typeface="Calibri"/>
              <a:cs typeface="Calibri"/>
              <a:sym typeface="Calibri"/>
            </a:endParaRPr>
          </a:p>
        </p:txBody>
      </p:sp>
      <p:sp>
        <p:nvSpPr>
          <p:cNvPr id="169" name="Google Shape;169;p25"/>
          <p:cNvSpPr txBox="1"/>
          <p:nvPr/>
        </p:nvSpPr>
        <p:spPr>
          <a:xfrm>
            <a:off x="72300" y="553750"/>
            <a:ext cx="4133400" cy="38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RAG - from Sander</a:t>
            </a:r>
            <a:endParaRPr sz="1300" b="0" i="0" u="none" strike="noStrike" cap="none">
              <a:solidFill>
                <a:srgbClr val="000000"/>
              </a:solidFill>
              <a:latin typeface="Calibri"/>
              <a:ea typeface="Calibri"/>
              <a:cs typeface="Calibri"/>
              <a:sym typeface="Calibri"/>
            </a:endParaRPr>
          </a:p>
        </p:txBody>
      </p:sp>
      <p:pic>
        <p:nvPicPr>
          <p:cNvPr id="170" name="Google Shape;170;p25"/>
          <p:cNvPicPr preferRelativeResize="0"/>
          <p:nvPr/>
        </p:nvPicPr>
        <p:blipFill rotWithShape="1">
          <a:blip r:embed="rId3">
            <a:alphaModFix/>
          </a:blip>
          <a:srcRect/>
          <a:stretch/>
        </p:blipFill>
        <p:spPr>
          <a:xfrm>
            <a:off x="4795775" y="1423925"/>
            <a:ext cx="4290125" cy="2702276"/>
          </a:xfrm>
          <a:prstGeom prst="rect">
            <a:avLst/>
          </a:prstGeom>
          <a:noFill/>
          <a:ln w="9525" cap="flat" cmpd="sng">
            <a:solidFill>
              <a:srgbClr val="FF0000"/>
            </a:solidFill>
            <a:prstDash val="solid"/>
            <a:round/>
            <a:headEnd type="none" w="sm" len="sm"/>
            <a:tailEnd type="none" w="sm" len="sm"/>
          </a:ln>
        </p:spPr>
      </p:pic>
      <p:sp>
        <p:nvSpPr>
          <p:cNvPr id="171" name="Google Shape;171;p25"/>
          <p:cNvSpPr txBox="1"/>
          <p:nvPr/>
        </p:nvSpPr>
        <p:spPr>
          <a:xfrm>
            <a:off x="4952500" y="380900"/>
            <a:ext cx="4133400" cy="78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Enterprise RAG</a:t>
            </a:r>
            <a:br>
              <a:rPr lang="en" sz="1300" b="0" i="0" u="none" strike="noStrike" cap="none">
                <a:solidFill>
                  <a:srgbClr val="000000"/>
                </a:solidFill>
                <a:latin typeface="Calibri"/>
                <a:ea typeface="Calibri"/>
                <a:cs typeface="Calibri"/>
                <a:sym typeface="Calibri"/>
              </a:rPr>
            </a:br>
            <a:r>
              <a:rPr lang="en" sz="1300" b="0" i="0" u="sng" strike="noStrike" cap="none">
                <a:solidFill>
                  <a:schemeClr val="hlink"/>
                </a:solidFill>
                <a:latin typeface="Calibri"/>
                <a:ea typeface="Calibri"/>
                <a:cs typeface="Calibri"/>
                <a:sym typeface="Calibri"/>
                <a:hlinkClick r:id="rId4"/>
              </a:rPr>
              <a:t>https://www.rungalileo.io/blog/mastering-rag-how-to-architect-an-enterprise-rag-system</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p:txBody>
      </p:sp>
      <p:pic>
        <p:nvPicPr>
          <p:cNvPr id="172" name="Google Shape;172;p25"/>
          <p:cNvPicPr preferRelativeResize="0"/>
          <p:nvPr/>
        </p:nvPicPr>
        <p:blipFill rotWithShape="1">
          <a:blip r:embed="rId5">
            <a:alphaModFix/>
          </a:blip>
          <a:srcRect/>
          <a:stretch/>
        </p:blipFill>
        <p:spPr>
          <a:xfrm>
            <a:off x="72301" y="1434227"/>
            <a:ext cx="4572001" cy="20828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26"/>
          <p:cNvSpPr txBox="1"/>
          <p:nvPr/>
        </p:nvSpPr>
        <p:spPr>
          <a:xfrm>
            <a:off x="7287950" y="845650"/>
            <a:ext cx="1763700" cy="449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400" b="1" i="0" u="none" strike="noStrike" cap="none">
                <a:solidFill>
                  <a:srgbClr val="FF0000"/>
                </a:solidFill>
                <a:latin typeface="Calibri"/>
                <a:ea typeface="Calibri"/>
                <a:cs typeface="Calibri"/>
                <a:sym typeface="Calibri"/>
              </a:rPr>
              <a:t>March 5, 2024</a:t>
            </a:r>
            <a:endParaRPr sz="14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400" b="0" i="0" u="none" strike="noStrike" cap="none">
                <a:solidFill>
                  <a:schemeClr val="dk1"/>
                </a:solidFill>
                <a:latin typeface="Calibri"/>
                <a:ea typeface="Calibri"/>
                <a:cs typeface="Calibri"/>
                <a:sym typeface="Calibri"/>
              </a:rPr>
              <a:t>69 Models, 358 K votes</a:t>
            </a:r>
            <a:endParaRPr sz="1400" b="0" i="0" u="none" strike="noStrike" cap="none">
              <a:solidFill>
                <a:schemeClr val="dk1"/>
              </a:solidFill>
              <a:latin typeface="Calibri"/>
              <a:ea typeface="Calibri"/>
              <a:cs typeface="Calibri"/>
              <a:sym typeface="Calibri"/>
            </a:endParaRPr>
          </a:p>
        </p:txBody>
      </p:sp>
      <p:sp>
        <p:nvSpPr>
          <p:cNvPr id="178" name="Google Shape;178;p26"/>
          <p:cNvSpPr txBox="1"/>
          <p:nvPr/>
        </p:nvSpPr>
        <p:spPr>
          <a:xfrm>
            <a:off x="7254050" y="421150"/>
            <a:ext cx="1831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95% CI = Confidence Interval</a:t>
            </a:r>
            <a:endParaRPr sz="1200" b="0" i="0" u="none" strike="noStrike" cap="none">
              <a:solidFill>
                <a:schemeClr val="dk1"/>
              </a:solidFill>
              <a:latin typeface="Calibri"/>
              <a:ea typeface="Calibri"/>
              <a:cs typeface="Calibri"/>
              <a:sym typeface="Calibri"/>
            </a:endParaRPr>
          </a:p>
        </p:txBody>
      </p:sp>
      <p:sp>
        <p:nvSpPr>
          <p:cNvPr id="179" name="Google Shape;179;p26"/>
          <p:cNvSpPr txBox="1"/>
          <p:nvPr/>
        </p:nvSpPr>
        <p:spPr>
          <a:xfrm>
            <a:off x="-38048" y="-108050"/>
            <a:ext cx="41517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Crowd-sourced "Arena" Leaderboard</a:t>
            </a:r>
            <a:endParaRPr sz="2000" b="1" i="0" u="none" strike="noStrike" cap="none">
              <a:solidFill>
                <a:srgbClr val="000000"/>
              </a:solidFill>
              <a:latin typeface="Calibri"/>
              <a:ea typeface="Calibri"/>
              <a:cs typeface="Calibri"/>
              <a:sym typeface="Calibri"/>
            </a:endParaRPr>
          </a:p>
        </p:txBody>
      </p:sp>
      <p:sp>
        <p:nvSpPr>
          <p:cNvPr id="180" name="Google Shape;180;p26"/>
          <p:cNvSpPr txBox="1"/>
          <p:nvPr/>
        </p:nvSpPr>
        <p:spPr>
          <a:xfrm>
            <a:off x="5535876" y="45850"/>
            <a:ext cx="35496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000" b="0" i="0" u="sng" strike="noStrike" cap="none">
                <a:solidFill>
                  <a:schemeClr val="hlink"/>
                </a:solidFill>
                <a:latin typeface="Calibri"/>
                <a:ea typeface="Calibri"/>
                <a:cs typeface="Calibri"/>
                <a:sym typeface="Calibri"/>
                <a:hlinkClick r:id="rId3"/>
              </a:rPr>
              <a:t>https://huggingface.co/spaces/lmsys/chatbot-arena-leaderboard</a:t>
            </a:r>
            <a:r>
              <a:rPr lang="en" sz="1000" b="0" i="0" u="none" strike="noStrike" cap="none">
                <a:solidFill>
                  <a:schemeClr val="dk1"/>
                </a:solidFill>
                <a:latin typeface="Calibri"/>
                <a:ea typeface="Calibri"/>
                <a:cs typeface="Calibri"/>
                <a:sym typeface="Calibri"/>
              </a:rPr>
              <a:t> </a:t>
            </a:r>
            <a:endParaRPr sz="1300" b="0" i="0" u="none" strike="noStrike" cap="none">
              <a:solidFill>
                <a:schemeClr val="dk1"/>
              </a:solidFill>
              <a:latin typeface="Calibri"/>
              <a:ea typeface="Calibri"/>
              <a:cs typeface="Calibri"/>
              <a:sym typeface="Calibri"/>
            </a:endParaRPr>
          </a:p>
        </p:txBody>
      </p:sp>
      <p:pic>
        <p:nvPicPr>
          <p:cNvPr id="181" name="Google Shape;181;p26"/>
          <p:cNvPicPr preferRelativeResize="0"/>
          <p:nvPr/>
        </p:nvPicPr>
        <p:blipFill rotWithShape="1">
          <a:blip r:embed="rId4">
            <a:alphaModFix/>
          </a:blip>
          <a:srcRect/>
          <a:stretch/>
        </p:blipFill>
        <p:spPr>
          <a:xfrm>
            <a:off x="60434" y="521184"/>
            <a:ext cx="7005149" cy="4567825"/>
          </a:xfrm>
          <a:prstGeom prst="rect">
            <a:avLst/>
          </a:prstGeom>
          <a:noFill/>
          <a:ln w="9525" cap="flat" cmpd="sng">
            <a:solidFill>
              <a:srgbClr val="FF0000"/>
            </a:solidFill>
            <a:prstDash val="solid"/>
            <a:round/>
            <a:headEnd type="none" w="sm" len="sm"/>
            <a:tailEnd type="none" w="sm" len="sm"/>
          </a:ln>
        </p:spPr>
      </p:pic>
      <p:sp>
        <p:nvSpPr>
          <p:cNvPr id="182" name="Google Shape;182;p26"/>
          <p:cNvSpPr txBox="1"/>
          <p:nvPr/>
        </p:nvSpPr>
        <p:spPr>
          <a:xfrm>
            <a:off x="7254050" y="1456425"/>
            <a:ext cx="1831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Claude 3 is not included yet</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27"/>
          <p:cNvSpPr txBox="1"/>
          <p:nvPr/>
        </p:nvSpPr>
        <p:spPr>
          <a:xfrm>
            <a:off x="72300" y="76200"/>
            <a:ext cx="4874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Layoffs are x3 times lower than in 2023</a:t>
            </a:r>
            <a:endParaRPr sz="2000" b="1" i="0" u="none" strike="noStrike" cap="none">
              <a:solidFill>
                <a:srgbClr val="000000"/>
              </a:solidFill>
              <a:latin typeface="Calibri"/>
              <a:ea typeface="Calibri"/>
              <a:cs typeface="Calibri"/>
              <a:sym typeface="Calibri"/>
            </a:endParaRPr>
          </a:p>
        </p:txBody>
      </p:sp>
      <p:sp>
        <p:nvSpPr>
          <p:cNvPr id="188" name="Google Shape;188;p27"/>
          <p:cNvSpPr txBox="1"/>
          <p:nvPr/>
        </p:nvSpPr>
        <p:spPr>
          <a:xfrm>
            <a:off x="6291625" y="109963"/>
            <a:ext cx="20025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F0F0F"/>
                </a:solidFill>
                <a:latin typeface="Calibri"/>
                <a:ea typeface="Calibri"/>
                <a:cs typeface="Calibri"/>
                <a:sym typeface="Calibri"/>
              </a:rPr>
              <a:t>Layoffs - </a:t>
            </a:r>
            <a:r>
              <a:rPr lang="en" sz="1300" b="0" i="0" u="sng" strike="noStrike" cap="none">
                <a:solidFill>
                  <a:schemeClr val="hlink"/>
                </a:solidFill>
                <a:latin typeface="Calibri"/>
                <a:ea typeface="Calibri"/>
                <a:cs typeface="Calibri"/>
                <a:sym typeface="Calibri"/>
                <a:hlinkClick r:id="rId3"/>
              </a:rPr>
              <a:t>https://layoffs.fyi</a:t>
            </a:r>
            <a:r>
              <a:rPr lang="en" sz="1300" b="0" i="0" u="none" strike="noStrike" cap="none">
                <a:solidFill>
                  <a:srgbClr val="0F0F0F"/>
                </a:solidFill>
                <a:latin typeface="Calibri"/>
                <a:ea typeface="Calibri"/>
                <a:cs typeface="Calibri"/>
                <a:sym typeface="Calibri"/>
              </a:rPr>
              <a:t> </a:t>
            </a:r>
            <a:endParaRPr sz="1300" b="0" i="0" u="none" strike="noStrike" cap="none">
              <a:solidFill>
                <a:srgbClr val="0F0F0F"/>
              </a:solidFill>
              <a:latin typeface="Calibri"/>
              <a:ea typeface="Calibri"/>
              <a:cs typeface="Calibri"/>
              <a:sym typeface="Calibri"/>
            </a:endParaRPr>
          </a:p>
        </p:txBody>
      </p:sp>
      <p:sp>
        <p:nvSpPr>
          <p:cNvPr id="189" name="Google Shape;189;p27"/>
          <p:cNvSpPr txBox="1"/>
          <p:nvPr/>
        </p:nvSpPr>
        <p:spPr>
          <a:xfrm>
            <a:off x="2532625" y="4109075"/>
            <a:ext cx="3716100" cy="218400"/>
          </a:xfrm>
          <a:prstGeom prst="rect">
            <a:avLst/>
          </a:prstGeom>
          <a:solidFill>
            <a:srgbClr val="FFF2CC"/>
          </a:solid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300" b="0" i="0" u="none" strike="noStrike" cap="none">
                <a:solidFill>
                  <a:schemeClr val="dk1"/>
                </a:solidFill>
                <a:latin typeface="Calibri"/>
                <a:ea typeface="Calibri"/>
                <a:cs typeface="Calibri"/>
                <a:sym typeface="Calibri"/>
              </a:rPr>
              <a:t>So far in 2024 layoffs are 3-times less than in 2023</a:t>
            </a:r>
            <a:endParaRPr sz="1300" b="0" i="0" u="none" strike="noStrike" cap="none">
              <a:solidFill>
                <a:schemeClr val="dk1"/>
              </a:solidFill>
              <a:latin typeface="Calibri"/>
              <a:ea typeface="Calibri"/>
              <a:cs typeface="Calibri"/>
              <a:sym typeface="Calibri"/>
            </a:endParaRPr>
          </a:p>
        </p:txBody>
      </p:sp>
      <p:pic>
        <p:nvPicPr>
          <p:cNvPr id="190" name="Google Shape;190;p27"/>
          <p:cNvPicPr preferRelativeResize="0"/>
          <p:nvPr/>
        </p:nvPicPr>
        <p:blipFill rotWithShape="1">
          <a:blip r:embed="rId4">
            <a:alphaModFix/>
          </a:blip>
          <a:srcRect/>
          <a:stretch/>
        </p:blipFill>
        <p:spPr>
          <a:xfrm>
            <a:off x="1009987" y="1042052"/>
            <a:ext cx="7124025" cy="2934376"/>
          </a:xfrm>
          <a:prstGeom prst="rect">
            <a:avLst/>
          </a:prstGeom>
          <a:noFill/>
          <a:ln w="9525" cap="flat" cmpd="sng">
            <a:solidFill>
              <a:srgbClr val="3C78D8"/>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28"/>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2117</Words>
  <Application>Microsoft Macintosh PowerPoint</Application>
  <PresentationFormat>On-screen Show (16:9)</PresentationFormat>
  <Paragraphs>189</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cp:revision>
  <dcterms:modified xsi:type="dcterms:W3CDTF">2024-03-12T15:22:54Z</dcterms:modified>
</cp:coreProperties>
</file>