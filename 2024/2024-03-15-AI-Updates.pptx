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9144000" cy="5143500" type="screen16x9"/>
  <p:notesSz cx="6858000" cy="9144000"/>
  <p:embeddedFontLst>
    <p:embeddedFont>
      <p:font typeface="Roboto Mono" pitchFamily="49" charset="0"/>
      <p:regular r:id="rId27"/>
      <p:bold r:id="rId28"/>
      <p:italic r:id="rId29"/>
      <p:boldItalic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p:cViewPr varScale="1">
        <p:scale>
          <a:sx n="161" d="100"/>
          <a:sy n="161" d="100"/>
        </p:scale>
        <p:origin x="78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2" name="Google Shape;52;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p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9" name="Google Shape;5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g28f005bb032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2" name="Google Shape;72;g28f005bb032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g2c25060508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0" name="Google Shape;80;g2c25060508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9" name="Google Shape;89;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2" name="Google Shape;102;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c26a41e676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8" name="Google Shape;118;g2c26a41e67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28f005bb032_2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8" name="Google Shape;128;g28f005bb032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g2c265ec0a4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5" name="Google Shape;135;g2c265ec0a43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28f005bb032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 name="Google Shape;143;g28f005bb03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p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7" name="Google Shape;167;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p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8" name="Google Shape;188;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p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6" name="Google Shape;196;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3" name="Google Shape;203;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1" name="Google Shape;211;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0" name="Google Shape;220;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p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8" name="Google Shape;228;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g1f3f1947ede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6" name="Google Shape;236;g1f3f1947ed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p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5" name="Google Shape;245;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p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4" name="Google Shape;254;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1" name="Google Shape;261;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p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1" name="Google Shape;271;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2.jpeg"/><Relationship Id="rId3" Type="http://schemas.openxmlformats.org/officeDocument/2006/relationships/hyperlink" Target="https://www.youtube.com/@Cognition-Labs" TargetMode="External"/><Relationship Id="rId7"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hyperlink" Target="https://www.youtube.com/watch?v=1RxbHg0Nsw0" TargetMode="External"/><Relationship Id="rId5" Type="http://schemas.openxmlformats.org/officeDocument/2006/relationships/hyperlink" Target="https://www.youtube.com/watch?v=GpyqOFiu65Y" TargetMode="External"/><Relationship Id="rId10" Type="http://schemas.openxmlformats.org/officeDocument/2006/relationships/image" Target="../media/image3.png"/><Relationship Id="rId4" Type="http://schemas.openxmlformats.org/officeDocument/2006/relationships/hyperlink" Target="https://www.cognition-labs.com/blog" TargetMode="External"/><Relationship Id="rId9" Type="http://schemas.openxmlformats.org/officeDocument/2006/relationships/hyperlink" Target="https://www.linkedin.com/in/scott-wu-8b94ab96/"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twitter.com/karpathy/status/1767598414945292695"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hyperlink" Target="https://youtube.com/watch?v=Smklr44N8QU"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arxiv.org/abs/2304.05332" TargetMode="External"/><Relationship Id="rId7" Type="http://schemas.openxmlformats.org/officeDocument/2006/relationships/hyperlink" Target="https://arxiv.org/abs/2304.15004"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hyperlink" Target="https://twitter.com/AndrewYNg/status/1766554536192446957" TargetMode="External"/><Relationship Id="rId5" Type="http://schemas.openxmlformats.org/officeDocument/2006/relationships/hyperlink" Target="https://www.latent.space/p/jan-feb-2024-recap-audio" TargetMode="External"/><Relationship Id="rId4" Type="http://schemas.openxmlformats.org/officeDocument/2006/relationships/hyperlink" Target="https://twitter.com/ylecun/status/1766498677751787723" TargetMode="External"/></Relationships>
</file>

<file path=ppt/slides/_rels/slide5.xml.rels><?xml version="1.0" encoding="UTF-8" standalone="yes"?>
<Relationships xmlns="http://schemas.openxmlformats.org/package/2006/relationships"><Relationship Id="rId8" Type="http://schemas.openxmlformats.org/officeDocument/2006/relationships/hyperlink" Target="https://arxiv.org/abs/2402.11753" TargetMode="External"/><Relationship Id="rId3" Type="http://schemas.openxmlformats.org/officeDocument/2006/relationships/hyperlink" Target="https://arxiv.org/abs/2401.17464" TargetMode="External"/><Relationship Id="rId7" Type="http://schemas.openxmlformats.org/officeDocument/2006/relationships/hyperlink" Target="https://www.youtube.com/watch?v=NM0hw0khlC4"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https://www.youtube.com/watch?v=5cEvNO9rZgI" TargetMode="External"/><Relationship Id="rId11" Type="http://schemas.openxmlformats.org/officeDocument/2006/relationships/image" Target="../media/image7.jpg"/><Relationship Id="rId5" Type="http://schemas.openxmlformats.org/officeDocument/2006/relationships/hyperlink" Target="https://twitter.com/jobergum/status/1765844532560625689" TargetMode="External"/><Relationship Id="rId10" Type="http://schemas.openxmlformats.org/officeDocument/2006/relationships/hyperlink" Target="https://www.axios.com/2024/03/01/meta-ai-google-gemini-black-founding-fathers" TargetMode="External"/><Relationship Id="rId4" Type="http://schemas.openxmlformats.org/officeDocument/2006/relationships/hyperlink" Target="https://twitter.com/silin_gao/status/1765778821620343078" TargetMode="External"/><Relationship Id="rId9"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hyperlink" Target="https://fireworks.ai" TargetMode="External"/><Relationship Id="rId3" Type="http://schemas.openxmlformats.org/officeDocument/2006/relationships/hyperlink" Target="https://docs.anthropic.com/claude/prompt-library" TargetMode="External"/><Relationship Id="rId7" Type="http://schemas.openxmlformats.org/officeDocument/2006/relationships/hyperlink" Target="https://github.com/ggerganov/llama.cpp"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hyperlink" Target="https://twitter.com/elonmusk/status/1767108624038449405" TargetMode="External"/><Relationship Id="rId5" Type="http://schemas.openxmlformats.org/officeDocument/2006/relationships/hyperlink" Target="https://github.com/OpenAccess-AI-Collective/axolotl/blob/main/examples/mistral/mixtral-qlora-fsdp.yml" TargetMode="External"/><Relationship Id="rId10" Type="http://schemas.openxmlformats.org/officeDocument/2006/relationships/hyperlink" Target="https://groq.com" TargetMode="External"/><Relationship Id="rId4" Type="http://schemas.openxmlformats.org/officeDocument/2006/relationships/image" Target="../media/image8.png"/><Relationship Id="rId9" Type="http://schemas.openxmlformats.org/officeDocument/2006/relationships/hyperlink" Target="https://wow.groq.com" TargetMode="External"/></Relationships>
</file>

<file path=ppt/slides/_rels/slide7.xml.rels><?xml version="1.0" encoding="UTF-8" standalone="yes"?>
<Relationships xmlns="http://schemas.openxmlformats.org/package/2006/relationships"><Relationship Id="rId8" Type="http://schemas.openxmlformats.org/officeDocument/2006/relationships/hyperlink" Target="https://twitter.com/demishassabis/status/1767977070603219255" TargetMode="External"/><Relationship Id="rId3" Type="http://schemas.openxmlformats.org/officeDocument/2006/relationships/hyperlink" Target="https://aws.amazon.com/blogs/industries/find-the-next-blockbuster-with-nvidia-bionemo-framework-on-amazon-sagemaker/" TargetMode="External"/><Relationship Id="rId7" Type="http://schemas.openxmlformats.org/officeDocument/2006/relationships/hyperlink" Target="https://twitter.com/nickfrosst/status/1767566742652416442"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hyperlink" Target="https://txt.cohere.com/command-r/" TargetMode="External"/><Relationship Id="rId11" Type="http://schemas.openxmlformats.org/officeDocument/2006/relationships/hyperlink" Target="https://www.appliedintuition.com" TargetMode="External"/><Relationship Id="rId5" Type="http://schemas.openxmlformats.org/officeDocument/2006/relationships/hyperlink" Target="https://cohere.com" TargetMode="External"/><Relationship Id="rId10" Type="http://schemas.openxmlformats.org/officeDocument/2006/relationships/hyperlink" Target="https://storage.googleapis.com/deepmind-media/DeepMind.com/Blog/sima-generalist-ai-agent-for-3d-virtual-environments/Scaling%20Instructable%20Agents%20Across%20Many%20Simulated%20Worlds.pdf" TargetMode="External"/><Relationship Id="rId4" Type="http://schemas.openxmlformats.org/officeDocument/2006/relationships/hyperlink" Target="https://twitter.com/OriolVinyalsML/status/1767643472893276510" TargetMode="External"/><Relationship Id="rId9" Type="http://schemas.openxmlformats.org/officeDocument/2006/relationships/hyperlink" Target="https://deepmind.google/discover/blog/sima-generalist-ai-agent-for-3d-virtual-environments/"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engineering.fb.com/2024/03/12/data-center-engineering/building-metas-genai-infrastructure/" TargetMode="External"/><Relationship Id="rId7"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hyperlink" Target="https://docs.nvidia.com/networking/display/winofv55053000/rocev2" TargetMode="External"/><Relationship Id="rId5" Type="http://schemas.openxmlformats.org/officeDocument/2006/relationships/hyperlink" Target="https://developer.nvidia.com/nccl" TargetMode="External"/><Relationship Id="rId4" Type="http://schemas.openxmlformats.org/officeDocument/2006/relationships/hyperlink" Target="https://twitter.com/soumithchintala/status/1767579981419315400"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hyperlink" Target="https://twitter.com/amgauge/status/1767272748953248228"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hyperlink" Target="https://github.com/AugustDev/enchanted" TargetMode="External"/></Relationships>
</file>

<file path=ppt/slides/_rels/slide11.xml.rels><?xml version="1.0" encoding="UTF-8" standalone="yes"?>
<Relationships xmlns="http://schemas.openxmlformats.org/package/2006/relationships"><Relationship Id="rId8" Type="http://schemas.openxmlformats.org/officeDocument/2006/relationships/image" Target="../media/image16.jpg"/><Relationship Id="rId3" Type="http://schemas.openxmlformats.org/officeDocument/2006/relationships/hyperlink" Target="https://twitter.com/rohanpaul_ai/status/1766887420992299195" TargetMode="External"/><Relationship Id="rId7" Type="http://schemas.openxmlformats.org/officeDocument/2006/relationships/image" Target="../media/image15.jp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hyperlink" Target="https://github.com/huggingface/optimum-nvidia"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docs.aws.amazon.com/bedrock/latest/userguide/models-supported.html" TargetMode="External"/><Relationship Id="rId3" Type="http://schemas.openxmlformats.org/officeDocument/2006/relationships/hyperlink" Target="https://aws.amazon.com/blogs/machine-learning/quickly-build-high-accuracy-generative-ai-applications-on-enterprise-data-using-amazon-kendra-langchain-and-large-language-models/" TargetMode="External"/><Relationship Id="rId7" Type="http://schemas.openxmlformats.org/officeDocument/2006/relationships/hyperlink" Target="https://aws.amazon.com/lex/"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aws.amazon.com/opensearch-service" TargetMode="External"/><Relationship Id="rId11" Type="http://schemas.openxmlformats.org/officeDocument/2006/relationships/hyperlink" Target="https://investors.snowflake.com/news/news-details/2024/Snowflake-Partners-with-Mistral-AI-to-Bring-Industry-Leading-Language-Models-to-Enterprises-Through-Snowflake-Cortex/default.aspx" TargetMode="External"/><Relationship Id="rId5" Type="http://schemas.openxmlformats.org/officeDocument/2006/relationships/hyperlink" Target="https://aws.amazon.com/kendra" TargetMode="External"/><Relationship Id="rId10" Type="http://schemas.openxmlformats.org/officeDocument/2006/relationships/hyperlink" Target="https://docs.aws.amazon.com/AmazonRDS/latest/AuroraUserGuide/Aurora.AuroraPostgreSQL.html" TargetMode="External"/><Relationship Id="rId4" Type="http://schemas.openxmlformats.org/officeDocument/2006/relationships/hyperlink" Target="https://community.aws/concepts/vector-embeddings-and-rag-demystified-2" TargetMode="External"/><Relationship Id="rId9"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bv4XV7epeik"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8" Type="http://schemas.openxmlformats.org/officeDocument/2006/relationships/hyperlink" Target="https://www.axios.com/2023/11/17/generative-ai-dna-biology" TargetMode="External"/><Relationship Id="rId3" Type="http://schemas.openxmlformats.org/officeDocument/2006/relationships/hyperlink" Target="https://cbirt.net/decoding-genes-and-cells-with-genept-a-simple-yet-powerful-foundation-model-leveraging-chatgpt/" TargetMode="External"/><Relationship Id="rId7" Type="http://schemas.openxmlformats.org/officeDocument/2006/relationships/hyperlink" Target="https://www.datasciencecentral.com/genai-synthesizing-dna-sequences-with-llm-techniques/"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hyperlink" Target="https://bigthink.com/health/how-generative-ai-language-models-are-unlocking-the-secrets-of-dna/" TargetMode="External"/><Relationship Id="rId5" Type="http://schemas.openxmlformats.org/officeDocument/2006/relationships/hyperlink" Target="https://www.azorobotics.com/News.aspx?newsID=14638" TargetMode="External"/><Relationship Id="rId4" Type="http://schemas.openxmlformats.org/officeDocument/2006/relationships/hyperlink" Target="https://towardsdatascience.com/large-language-models-in-molecular-biology-9eb6b65d8a30" TargetMode="External"/><Relationship Id="rId9"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hyperlink" Target="https://luv-bansal.medium.com/advance-rag-improve-rag-performance-208ffad5bb6a"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hyperlink" Target="https://arxiv.org/pdf/2401.05856.pdf" TargetMode="External"/></Relationships>
</file>

<file path=ppt/slides/_rels/slide16.xml.rels><?xml version="1.0" encoding="UTF-8" standalone="yes"?>
<Relationships xmlns="http://schemas.openxmlformats.org/package/2006/relationships"><Relationship Id="rId8" Type="http://schemas.openxmlformats.org/officeDocument/2006/relationships/hyperlink" Target="https://www.diffbot.com" TargetMode="External"/><Relationship Id="rId3" Type="http://schemas.openxmlformats.org/officeDocument/2006/relationships/hyperlink" Target="https://github.com/assafelovic/gpt-researcher" TargetMode="External"/><Relationship Id="rId7" Type="http://schemas.openxmlformats.org/officeDocument/2006/relationships/hyperlink" Target="https://www.youtube.com/watch?v=WJIzVok-0GI" TargetMode="External"/><Relationship Id="rId12" Type="http://schemas.openxmlformats.org/officeDocument/2006/relationships/hyperlink" Target="https://serpapi.com"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hyperlink" Target="https://ai.plainenglish.io/pioneering-the-future-of-web-scraping-with-intelligent-ai-agents-unleash-the-power-of-autogen-222aa73daad6" TargetMode="External"/><Relationship Id="rId11" Type="http://schemas.openxmlformats.org/officeDocument/2006/relationships/hyperlink" Target="https://github.com/leannchen86/graph-rag-ai-assistant" TargetMode="External"/><Relationship Id="rId5" Type="http://schemas.openxmlformats.org/officeDocument/2006/relationships/hyperlink" Target="https://medium.com/simform-engineering/creating-a-web-research-chatbot-using-langchain-and-openai-aa7113c9ccbf" TargetMode="External"/><Relationship Id="rId10" Type="http://schemas.openxmlformats.org/officeDocument/2006/relationships/hyperlink" Target="https://www.youtube.com/watch?v=eIDitSyhs7s" TargetMode="External"/><Relationship Id="rId4" Type="http://schemas.openxmlformats.org/officeDocument/2006/relationships/hyperlink" Target="https://python.langchain.com/docs/use_cases/web_scraping" TargetMode="External"/><Relationship Id="rId9" Type="http://schemas.openxmlformats.org/officeDocument/2006/relationships/hyperlink" Target="https://app.diffbot.com/get-started/" TargetMode="External"/></Relationships>
</file>

<file path=ppt/slides/_rels/slide17.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hyperlink" Target="https://ml-explore.github.io/mlx/build/html/" TargetMode="External"/><Relationship Id="rId7"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23.jpg"/><Relationship Id="rId5" Type="http://schemas.openxmlformats.org/officeDocument/2006/relationships/hyperlink" Target="https://www.youtube.com/@code4AI/community" TargetMode="External"/><Relationship Id="rId4" Type="http://schemas.openxmlformats.org/officeDocument/2006/relationships/hyperlink" Target="https://github.com/ml-explore"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mlc-ai/mlc-llm"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hyperlink" Target="https://llm.mlc.ai"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www.youtube.com/watch?v=Sq1QZB5baNw"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hyperlink" Target="https://www.youtube.com/watch?v=GiKvPJSOUmE"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hyperlink" Target="https://www.rungalileo.io/blog/mastering-rag-how-to-architect-an-enterprise-rag-system"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huggingface.co/spaces/lmsys/chatbot-arena-leaderboard"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22.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35.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86325" y="1127825"/>
            <a:ext cx="4420200" cy="3879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209550" algn="l" rtl="0">
              <a:lnSpc>
                <a:spcPct val="100000"/>
              </a:lnSpc>
              <a:spcBef>
                <a:spcPts val="0"/>
              </a:spcBef>
              <a:spcAft>
                <a:spcPts val="0"/>
              </a:spcAft>
              <a:buClr>
                <a:srgbClr val="3C78D8"/>
              </a:buClr>
              <a:buSzPts val="1500"/>
              <a:buFont typeface="Arial"/>
              <a:buChar char="●"/>
            </a:pPr>
            <a:r>
              <a:rPr lang="en" sz="1500" b="1">
                <a:solidFill>
                  <a:srgbClr val="3C78D8"/>
                </a:solidFill>
              </a:rPr>
              <a:t>Cognition AI - Devin (AI Software Engineer)</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Andrej Karpathy - how progress happens</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Emergent autonomous scientific research</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Yann LeCun - learn from high-bandwidth sensory inputs</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Trends: The Five Research Directions</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Chain-of-Abstraction Reasoning</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Amazon reviews dataset</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LLM Jailbreaking using morse code  or  ASCII Art </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Meta - Bias problems (like Google)</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OpenAI - New Board Members</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C-Transformer AI chip x600 less power</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x.ai to open-source Grok</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llama.cpp - One Year Anniversary</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GroqCloud - API for AI </a:t>
            </a:r>
            <a:endParaRPr sz="1500" b="1">
              <a:solidFill>
                <a:srgbClr val="3C78D8"/>
              </a:solidFill>
            </a:endParaRPr>
          </a:p>
        </p:txBody>
      </p:sp>
      <p:sp>
        <p:nvSpPr>
          <p:cNvPr id="55" name="Google Shape;55;p13"/>
          <p:cNvSpPr txBox="1"/>
          <p:nvPr/>
        </p:nvSpPr>
        <p:spPr>
          <a:xfrm>
            <a:off x="4627375" y="1127825"/>
            <a:ext cx="4420200" cy="3879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NVIDIA BioNeMo - Drug Discovery</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⌘-r release by Cohere</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Training Llama3</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Nvidia - AI Models Portfolio</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Enchanted Completions for MacOS</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optimum.nvidia from HuggingFace</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Build Company Chatbot on AWS</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LLMs in Bio Sciences</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Advance RAG</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Web Research using LLM</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MLX - LLM on Apple Silicon</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MLC LLM</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Figure 01 - Breakthrough</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RAG, Embeddings, ...</a:t>
            </a:r>
            <a:endParaRPr sz="1500" b="1">
              <a:solidFill>
                <a:srgbClr val="3C78D8"/>
              </a:solidFil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Crowd-sourced "Arena" Leaderboard</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Char char="●"/>
            </a:pPr>
            <a:r>
              <a:rPr lang="en" sz="1500" b="1">
                <a:solidFill>
                  <a:srgbClr val="3C78D8"/>
                </a:solidFill>
              </a:rPr>
              <a:t>Tech Layoffs</a:t>
            </a:r>
            <a:endParaRPr sz="1500" b="1">
              <a:solidFill>
                <a:srgbClr val="3C78D8"/>
              </a:solidFill>
            </a:endParaRPr>
          </a:p>
        </p:txBody>
      </p:sp>
      <p:sp>
        <p:nvSpPr>
          <p:cNvPr id="56" name="Google Shape;56;p13"/>
          <p:cNvSpPr txBox="1"/>
          <p:nvPr/>
        </p:nvSpPr>
        <p:spPr>
          <a:xfrm>
            <a:off x="3027550" y="75775"/>
            <a:ext cx="3192600" cy="9420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600" b="1" i="0" u="none" strike="noStrike" cap="none">
                <a:solidFill>
                  <a:srgbClr val="3C78D8"/>
                </a:solidFill>
                <a:latin typeface="Arial"/>
                <a:ea typeface="Arial"/>
                <a:cs typeface="Arial"/>
                <a:sym typeface="Arial"/>
              </a:rPr>
              <a:t>AI Updates </a:t>
            </a:r>
            <a:endParaRPr sz="3600" b="1" i="0" u="none" strike="noStrike" cap="none">
              <a:solidFill>
                <a:srgbClr val="3C78D8"/>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3C78D8"/>
                </a:solidFill>
                <a:latin typeface="Arial"/>
                <a:ea typeface="Arial"/>
                <a:cs typeface="Arial"/>
                <a:sym typeface="Arial"/>
              </a:rPr>
              <a:t>March 15, 2024</a:t>
            </a:r>
            <a:endParaRPr sz="2400" b="1" i="0" u="none" strike="noStrike" cap="none">
              <a:solidFill>
                <a:srgbClr val="3C78D8"/>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p14"/>
          <p:cNvSpPr txBox="1"/>
          <p:nvPr/>
        </p:nvSpPr>
        <p:spPr>
          <a:xfrm>
            <a:off x="72300" y="0"/>
            <a:ext cx="6044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Cognition AI - Devin - Automating Software Engineering</a:t>
            </a:r>
            <a:endParaRPr sz="2000" b="1" i="0" u="none" strike="noStrike" cap="none">
              <a:solidFill>
                <a:schemeClr val="dk1"/>
              </a:solidFill>
              <a:latin typeface="Calibri"/>
              <a:ea typeface="Calibri"/>
              <a:cs typeface="Calibri"/>
              <a:sym typeface="Calibri"/>
            </a:endParaRPr>
          </a:p>
        </p:txBody>
      </p:sp>
      <p:sp>
        <p:nvSpPr>
          <p:cNvPr id="62" name="Google Shape;62;p14"/>
          <p:cNvSpPr txBox="1"/>
          <p:nvPr/>
        </p:nvSpPr>
        <p:spPr>
          <a:xfrm>
            <a:off x="73600" y="371925"/>
            <a:ext cx="4381500" cy="1293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Cognition AI</a:t>
            </a:r>
            <a:r>
              <a:rPr lang="en" sz="1200">
                <a:solidFill>
                  <a:schemeClr val="dk1"/>
                </a:solidFill>
                <a:latin typeface="Calibri"/>
                <a:ea typeface="Calibri"/>
                <a:cs typeface="Calibri"/>
                <a:sym typeface="Calibri"/>
              </a:rPr>
              <a:t> (New York &amp; San Francisco)</a:t>
            </a:r>
            <a:endParaRPr sz="1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u="sng">
                <a:solidFill>
                  <a:schemeClr val="hlink"/>
                </a:solidFill>
                <a:latin typeface="Calibri"/>
                <a:ea typeface="Calibri"/>
                <a:cs typeface="Calibri"/>
                <a:sym typeface="Calibri"/>
                <a:hlinkClick r:id="rId3"/>
              </a:rPr>
              <a:t>https://www.youtube.com/@Cognition-Labs</a:t>
            </a:r>
            <a:endParaRPr sz="1200">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u="sng">
                <a:solidFill>
                  <a:schemeClr val="hlink"/>
                </a:solidFill>
                <a:latin typeface="Calibri"/>
                <a:ea typeface="Calibri"/>
                <a:cs typeface="Calibri"/>
                <a:sym typeface="Calibri"/>
                <a:hlinkClick r:id="rId4"/>
              </a:rPr>
              <a:t>https://www.cognition-labs.com/blog</a:t>
            </a:r>
            <a:r>
              <a:rPr lang="en" sz="1200">
                <a:latin typeface="Calibri"/>
                <a:ea typeface="Calibri"/>
                <a:cs typeface="Calibri"/>
                <a:sym typeface="Calibri"/>
              </a:rPr>
              <a:t> - many videos</a:t>
            </a:r>
            <a:endParaRPr sz="12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Devin</a:t>
            </a:r>
            <a:r>
              <a:rPr lang="en" sz="1200">
                <a:latin typeface="Calibri"/>
                <a:ea typeface="Calibri"/>
                <a:cs typeface="Calibri"/>
                <a:sym typeface="Calibri"/>
              </a:rPr>
              <a:t>, the first AI software engineer. </a:t>
            </a:r>
            <a:endParaRPr sz="1200">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u="sng">
                <a:solidFill>
                  <a:schemeClr val="hlink"/>
                </a:solidFill>
                <a:latin typeface="Calibri"/>
                <a:ea typeface="Calibri"/>
                <a:cs typeface="Calibri"/>
                <a:sym typeface="Calibri"/>
                <a:hlinkClick r:id="rId5"/>
              </a:rPr>
              <a:t>https://www.youtube.com/watch?v=GpyqOFiu65Y</a:t>
            </a:r>
            <a:r>
              <a:rPr lang="en" sz="1200">
                <a:latin typeface="Calibri"/>
                <a:ea typeface="Calibri"/>
                <a:cs typeface="Calibri"/>
                <a:sym typeface="Calibri"/>
              </a:rPr>
              <a:t> - 3 min video</a:t>
            </a:r>
            <a:endParaRPr sz="1200">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u="sng">
                <a:solidFill>
                  <a:schemeClr val="hlink"/>
                </a:solidFill>
                <a:latin typeface="Calibri"/>
                <a:ea typeface="Calibri"/>
                <a:cs typeface="Calibri"/>
                <a:sym typeface="Calibri"/>
                <a:hlinkClick r:id="rId6"/>
              </a:rPr>
              <a:t>https://www.youtube.com/watch?v=1RxbHg0Nsw0</a:t>
            </a:r>
            <a:r>
              <a:rPr lang="en" sz="1200">
                <a:latin typeface="Calibri"/>
                <a:ea typeface="Calibri"/>
                <a:cs typeface="Calibri"/>
                <a:sym typeface="Calibri"/>
              </a:rPr>
              <a:t> - 24 min video</a:t>
            </a:r>
            <a:endParaRPr sz="1200">
              <a:latin typeface="Calibri"/>
              <a:ea typeface="Calibri"/>
              <a:cs typeface="Calibri"/>
              <a:sym typeface="Calibri"/>
            </a:endParaRPr>
          </a:p>
        </p:txBody>
      </p:sp>
      <p:pic>
        <p:nvPicPr>
          <p:cNvPr id="63" name="Google Shape;63;p1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73588" y="1849200"/>
            <a:ext cx="4491784" cy="3205675"/>
          </a:xfrm>
          <a:prstGeom prst="rect">
            <a:avLst/>
          </a:prstGeom>
          <a:noFill/>
          <a:ln>
            <a:noFill/>
          </a:ln>
        </p:spPr>
      </p:pic>
      <p:sp>
        <p:nvSpPr>
          <p:cNvPr id="64" name="Google Shape;64;p14"/>
          <p:cNvSpPr txBox="1"/>
          <p:nvPr/>
        </p:nvSpPr>
        <p:spPr>
          <a:xfrm>
            <a:off x="4690800" y="371925"/>
            <a:ext cx="4381500" cy="554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Peter Thiel-Backed Startup </a:t>
            </a:r>
            <a:endParaRPr sz="1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Launches World's First AI Software Engineer, </a:t>
            </a:r>
            <a:r>
              <a:rPr lang="en" sz="1200" b="1">
                <a:solidFill>
                  <a:srgbClr val="FF0000"/>
                </a:solidFill>
                <a:latin typeface="Calibri"/>
                <a:ea typeface="Calibri"/>
                <a:cs typeface="Calibri"/>
                <a:sym typeface="Calibri"/>
              </a:rPr>
              <a:t>Devin</a:t>
            </a:r>
            <a:endParaRPr sz="1200" b="1">
              <a:solidFill>
                <a:srgbClr val="FF0000"/>
              </a:solidFill>
              <a:latin typeface="Calibri"/>
              <a:ea typeface="Calibri"/>
              <a:cs typeface="Calibri"/>
              <a:sym typeface="Calibri"/>
            </a:endParaRPr>
          </a:p>
        </p:txBody>
      </p:sp>
      <p:pic>
        <p:nvPicPr>
          <p:cNvPr id="65" name="Google Shape;65;p14"/>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4929565" y="1207800"/>
            <a:ext cx="910851" cy="1071450"/>
          </a:xfrm>
          <a:prstGeom prst="rect">
            <a:avLst/>
          </a:prstGeom>
          <a:noFill/>
          <a:ln>
            <a:noFill/>
          </a:ln>
        </p:spPr>
      </p:pic>
      <p:sp>
        <p:nvSpPr>
          <p:cNvPr id="66" name="Google Shape;66;p14"/>
          <p:cNvSpPr txBox="1"/>
          <p:nvPr/>
        </p:nvSpPr>
        <p:spPr>
          <a:xfrm>
            <a:off x="6613675" y="2240850"/>
            <a:ext cx="1504500" cy="5694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300">
                <a:latin typeface="Calibri"/>
                <a:ea typeface="Calibri"/>
                <a:cs typeface="Calibri"/>
                <a:sym typeface="Calibri"/>
              </a:rPr>
              <a:t>Peter Thiel</a:t>
            </a:r>
            <a:endParaRPr sz="1300">
              <a:latin typeface="Calibri"/>
              <a:ea typeface="Calibri"/>
              <a:cs typeface="Calibri"/>
              <a:sym typeface="Calibri"/>
            </a:endParaRPr>
          </a:p>
          <a:p>
            <a:pPr marL="0" marR="0" lvl="0" indent="0" algn="ctr" rtl="0">
              <a:lnSpc>
                <a:spcPct val="100000"/>
              </a:lnSpc>
              <a:spcBef>
                <a:spcPts val="0"/>
              </a:spcBef>
              <a:spcAft>
                <a:spcPts val="0"/>
              </a:spcAft>
              <a:buClr>
                <a:schemeClr val="dk1"/>
              </a:buClr>
              <a:buSzPts val="1100"/>
              <a:buFont typeface="Arial"/>
              <a:buNone/>
            </a:pPr>
            <a:r>
              <a:rPr lang="en" sz="1200">
                <a:latin typeface="Calibri"/>
                <a:ea typeface="Calibri"/>
                <a:cs typeface="Calibri"/>
                <a:sym typeface="Calibri"/>
              </a:rPr>
              <a:t>former CEO of PayPal</a:t>
            </a:r>
            <a:endParaRPr sz="1200">
              <a:latin typeface="Calibri"/>
              <a:ea typeface="Calibri"/>
              <a:cs typeface="Calibri"/>
              <a:sym typeface="Calibri"/>
            </a:endParaRPr>
          </a:p>
        </p:txBody>
      </p:sp>
      <p:sp>
        <p:nvSpPr>
          <p:cNvPr id="67" name="Google Shape;67;p14"/>
          <p:cNvSpPr txBox="1"/>
          <p:nvPr/>
        </p:nvSpPr>
        <p:spPr>
          <a:xfrm>
            <a:off x="4650450" y="4329600"/>
            <a:ext cx="4381500" cy="73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Note: </a:t>
            </a:r>
            <a:r>
              <a:rPr lang="en" sz="1200" b="1">
                <a:solidFill>
                  <a:srgbClr val="FF0000"/>
                </a:solidFill>
                <a:latin typeface="Calibri"/>
                <a:ea typeface="Calibri"/>
                <a:cs typeface="Calibri"/>
                <a:sym typeface="Calibri"/>
              </a:rPr>
              <a:t>Devin</a:t>
            </a:r>
            <a:r>
              <a:rPr lang="en" sz="1200">
                <a:solidFill>
                  <a:schemeClr val="dk1"/>
                </a:solidFill>
                <a:latin typeface="Calibri"/>
                <a:ea typeface="Calibri"/>
                <a:cs typeface="Calibri"/>
                <a:sym typeface="Calibri"/>
              </a:rPr>
              <a:t> is not an LLM. </a:t>
            </a:r>
            <a:r>
              <a:rPr lang="en" sz="1200" b="1">
                <a:solidFill>
                  <a:srgbClr val="FF0000"/>
                </a:solidFill>
                <a:latin typeface="Calibri"/>
                <a:ea typeface="Calibri"/>
                <a:cs typeface="Calibri"/>
                <a:sym typeface="Calibri"/>
              </a:rPr>
              <a:t>It is an agentic loop with full shell and browser access.</a:t>
            </a:r>
            <a:r>
              <a:rPr lang="en" sz="1200">
                <a:solidFill>
                  <a:schemeClr val="dk1"/>
                </a:solidFill>
                <a:latin typeface="Calibri"/>
                <a:ea typeface="Calibri"/>
                <a:cs typeface="Calibri"/>
                <a:sym typeface="Calibri"/>
              </a:rPr>
              <a:t> Of course it should beat a one-shot GPT-4 inference.  This year will be the year of (multi) agents!</a:t>
            </a:r>
            <a:endParaRPr sz="1200">
              <a:solidFill>
                <a:schemeClr val="dk1"/>
              </a:solidFill>
              <a:latin typeface="Calibri"/>
              <a:ea typeface="Calibri"/>
              <a:cs typeface="Calibri"/>
              <a:sym typeface="Calibri"/>
            </a:endParaRPr>
          </a:p>
        </p:txBody>
      </p:sp>
      <p:sp>
        <p:nvSpPr>
          <p:cNvPr id="68" name="Google Shape;68;p14"/>
          <p:cNvSpPr txBox="1"/>
          <p:nvPr/>
        </p:nvSpPr>
        <p:spPr>
          <a:xfrm>
            <a:off x="4650450" y="2296913"/>
            <a:ext cx="1504500" cy="6618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300">
                <a:latin typeface="Calibri"/>
                <a:ea typeface="Calibri"/>
                <a:cs typeface="Calibri"/>
                <a:sym typeface="Calibri"/>
              </a:rPr>
              <a:t>Scott Wu, CEO</a:t>
            </a:r>
            <a:endParaRPr sz="1300">
              <a:latin typeface="Calibri"/>
              <a:ea typeface="Calibri"/>
              <a:cs typeface="Calibri"/>
              <a:sym typeface="Calibri"/>
            </a:endParaRPr>
          </a:p>
          <a:p>
            <a:pPr marL="0" marR="0" lvl="0" indent="0" algn="ctr" rtl="0">
              <a:lnSpc>
                <a:spcPct val="100000"/>
              </a:lnSpc>
              <a:spcBef>
                <a:spcPts val="0"/>
              </a:spcBef>
              <a:spcAft>
                <a:spcPts val="0"/>
              </a:spcAft>
              <a:buClr>
                <a:schemeClr val="dk1"/>
              </a:buClr>
              <a:buSzPts val="1100"/>
              <a:buFont typeface="Arial"/>
              <a:buNone/>
            </a:pPr>
            <a:r>
              <a:rPr lang="en" sz="900" u="sng">
                <a:solidFill>
                  <a:schemeClr val="hlink"/>
                </a:solidFill>
                <a:latin typeface="Calibri"/>
                <a:ea typeface="Calibri"/>
                <a:cs typeface="Calibri"/>
                <a:sym typeface="Calibri"/>
                <a:hlinkClick r:id="rId9"/>
              </a:rPr>
              <a:t>https://www.linkedin.com/in/scott-wu-8b94ab96/</a:t>
            </a:r>
            <a:endParaRPr sz="900">
              <a:solidFill>
                <a:schemeClr val="dk1"/>
              </a:solidFill>
              <a:latin typeface="Calibri"/>
              <a:ea typeface="Calibri"/>
              <a:cs typeface="Calibri"/>
              <a:sym typeface="Calibri"/>
            </a:endParaRPr>
          </a:p>
        </p:txBody>
      </p:sp>
      <p:pic>
        <p:nvPicPr>
          <p:cNvPr id="69" name="Google Shape;69;p14"/>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6889903" y="1199238"/>
            <a:ext cx="910849" cy="10885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3"/>
        <p:cNvGrpSpPr/>
        <p:nvPr/>
      </p:nvGrpSpPr>
      <p:grpSpPr>
        <a:xfrm>
          <a:off x="0" y="0"/>
          <a:ext cx="0" cy="0"/>
          <a:chOff x="0" y="0"/>
          <a:chExt cx="0" cy="0"/>
        </a:xfrm>
      </p:grpSpPr>
      <p:sp>
        <p:nvSpPr>
          <p:cNvPr id="74" name="Google Shape;74;p15"/>
          <p:cNvSpPr txBox="1"/>
          <p:nvPr/>
        </p:nvSpPr>
        <p:spPr>
          <a:xfrm>
            <a:off x="115528" y="84200"/>
            <a:ext cx="394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Automating Software Engineering</a:t>
            </a:r>
            <a:endParaRPr sz="2000" b="1" i="0" u="none" strike="noStrike" cap="none">
              <a:solidFill>
                <a:srgbClr val="000000"/>
              </a:solidFill>
              <a:latin typeface="Calibri"/>
              <a:ea typeface="Calibri"/>
              <a:cs typeface="Calibri"/>
              <a:sym typeface="Calibri"/>
            </a:endParaRPr>
          </a:p>
        </p:txBody>
      </p:sp>
      <p:sp>
        <p:nvSpPr>
          <p:cNvPr id="75" name="Google Shape;75;p15"/>
          <p:cNvSpPr txBox="1"/>
          <p:nvPr/>
        </p:nvSpPr>
        <p:spPr>
          <a:xfrm>
            <a:off x="115525" y="549700"/>
            <a:ext cx="4956300" cy="434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3"/>
              </a:rPr>
              <a:t>https://twitter.com/karpathy/status/1767598414945292695</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8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Andrej Karpathy</a:t>
            </a:r>
            <a:endParaRPr sz="13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6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Progression of increasing autonomy and higher abstraction.</a:t>
            </a:r>
            <a:br>
              <a:rPr lang="en" sz="1300">
                <a:solidFill>
                  <a:schemeClr val="dk1"/>
                </a:solidFill>
                <a:latin typeface="Calibri"/>
                <a:ea typeface="Calibri"/>
                <a:cs typeface="Calibri"/>
                <a:sym typeface="Calibri"/>
              </a:rPr>
            </a:br>
            <a:r>
              <a:rPr lang="en" sz="1300">
                <a:solidFill>
                  <a:schemeClr val="dk1"/>
                </a:solidFill>
                <a:latin typeface="Calibri"/>
                <a:ea typeface="Calibri"/>
                <a:cs typeface="Calibri"/>
                <a:sym typeface="Calibri"/>
              </a:rPr>
              <a:t>AI doing more and the human doing less,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but still providing oversight.</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6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Self-driving:</a:t>
            </a:r>
            <a:endParaRPr sz="12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6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first the human performs all driving actions manually</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then the AI helps keep the lane</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then it slows for the car ahead</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then it also does lane changes and takes forks</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then it also stops at signs/lights and takes turns</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eventually you take a feature complete solution and grind on the quality until you achieve full self-driving.</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6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a:t>
            </a:r>
            <a:endParaRPr sz="12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6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first the human writes the code manually</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then GitHub Copilot autocompletes a few lines</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then ChatGPT writes chunks of code</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then you move to larger and larger code diffs ( e.g. Cursor copilot++ style, nice demo here </a:t>
            </a:r>
            <a:r>
              <a:rPr lang="en" sz="1000" u="sng">
                <a:solidFill>
                  <a:schemeClr val="hlink"/>
                </a:solidFill>
                <a:latin typeface="Calibri"/>
                <a:ea typeface="Calibri"/>
                <a:cs typeface="Calibri"/>
                <a:sym typeface="Calibri"/>
                <a:hlinkClick r:id="rId4"/>
              </a:rPr>
              <a:t>https://youtube.com/watch?v=Smklr44N8QU</a:t>
            </a:r>
            <a:r>
              <a:rPr lang="en" sz="1000">
                <a:solidFill>
                  <a:schemeClr val="dk1"/>
                </a:solidFill>
                <a:latin typeface="Calibri"/>
                <a:ea typeface="Calibri"/>
                <a:cs typeface="Calibri"/>
                <a:sym typeface="Calibri"/>
              </a:rPr>
              <a:t> </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76" name="Google Shape;76;p15"/>
          <p:cNvPicPr preferRelativeResize="0"/>
          <p:nvPr/>
        </p:nvPicPr>
        <p:blipFill>
          <a:blip r:embed="rId5">
            <a:alphaModFix/>
          </a:blip>
          <a:stretch>
            <a:fillRect/>
          </a:stretch>
        </p:blipFill>
        <p:spPr>
          <a:xfrm>
            <a:off x="5515988" y="1049646"/>
            <a:ext cx="3132558" cy="2084575"/>
          </a:xfrm>
          <a:prstGeom prst="rect">
            <a:avLst/>
          </a:prstGeom>
          <a:noFill/>
          <a:ln w="9525" cap="flat" cmpd="sng">
            <a:solidFill>
              <a:srgbClr val="FF0000"/>
            </a:solidFill>
            <a:prstDash val="solid"/>
            <a:round/>
            <a:headEnd type="none" w="sm" len="sm"/>
            <a:tailEnd type="none" w="sm" len="sm"/>
          </a:ln>
        </p:spPr>
      </p:pic>
      <p:pic>
        <p:nvPicPr>
          <p:cNvPr id="77" name="Google Shape;77;p1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516000" y="3240600"/>
            <a:ext cx="3132549" cy="176995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p16"/>
          <p:cNvSpPr txBox="1"/>
          <p:nvPr/>
        </p:nvSpPr>
        <p:spPr>
          <a:xfrm>
            <a:off x="72300" y="0"/>
            <a:ext cx="4133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Misc 1</a:t>
            </a:r>
            <a:endParaRPr sz="2000" b="1" i="0" u="none" strike="noStrike" cap="none">
              <a:solidFill>
                <a:schemeClr val="dk1"/>
              </a:solidFill>
              <a:latin typeface="Calibri"/>
              <a:ea typeface="Calibri"/>
              <a:cs typeface="Calibri"/>
              <a:sym typeface="Calibri"/>
            </a:endParaRPr>
          </a:p>
        </p:txBody>
      </p:sp>
      <p:sp>
        <p:nvSpPr>
          <p:cNvPr id="83" name="Google Shape;83;p16"/>
          <p:cNvSpPr txBox="1"/>
          <p:nvPr/>
        </p:nvSpPr>
        <p:spPr>
          <a:xfrm>
            <a:off x="128725" y="340025"/>
            <a:ext cx="4381500" cy="350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1" i="0" u="none" strike="noStrike" cap="none">
                <a:solidFill>
                  <a:srgbClr val="FF0000"/>
                </a:solidFill>
                <a:latin typeface="Calibri"/>
                <a:ea typeface="Calibri"/>
                <a:cs typeface="Calibri"/>
                <a:sym typeface="Calibri"/>
              </a:rPr>
              <a:t>E</a:t>
            </a:r>
            <a:r>
              <a:rPr lang="en" sz="1200" b="1">
                <a:solidFill>
                  <a:srgbClr val="FF0000"/>
                </a:solidFill>
                <a:latin typeface="Calibri"/>
                <a:ea typeface="Calibri"/>
                <a:cs typeface="Calibri"/>
                <a:sym typeface="Calibri"/>
              </a:rPr>
              <a:t>m</a:t>
            </a:r>
            <a:r>
              <a:rPr lang="en" sz="1200" b="1" i="0" u="none" strike="noStrike" cap="none">
                <a:solidFill>
                  <a:srgbClr val="FF0000"/>
                </a:solidFill>
                <a:latin typeface="Calibri"/>
                <a:ea typeface="Calibri"/>
                <a:cs typeface="Calibri"/>
                <a:sym typeface="Calibri"/>
              </a:rPr>
              <a:t>ergent autonomous scientific research capabilities</a:t>
            </a:r>
            <a:r>
              <a:rPr lang="en" sz="1200" b="0" i="0" u="none" strike="noStrike" cap="none">
                <a:solidFill>
                  <a:srgbClr val="000000"/>
                </a:solidFill>
                <a:latin typeface="Calibri"/>
                <a:ea typeface="Calibri"/>
                <a:cs typeface="Calibri"/>
                <a:sym typeface="Calibri"/>
              </a:rPr>
              <a:t> of large language models - April 2023, Chemistry Dept at CMU - by Daniil A. Boiko, Robert MacKnight, Gabe Gomes</a:t>
            </a:r>
            <a:endParaRPr sz="12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200" b="0" i="0" u="sng" strike="noStrike" cap="none">
                <a:solidFill>
                  <a:schemeClr val="hlink"/>
                </a:solidFill>
                <a:latin typeface="Calibri"/>
                <a:ea typeface="Calibri"/>
                <a:cs typeface="Calibri"/>
                <a:sym typeface="Calibri"/>
                <a:hlinkClick r:id="rId3"/>
              </a:rPr>
              <a:t>https://arxiv.org/abs/2304.05332</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2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rgbClr val="000000"/>
                </a:solidFill>
                <a:latin typeface="Calibri"/>
                <a:ea typeface="Calibri"/>
                <a:cs typeface="Calibri"/>
                <a:sym typeface="Calibri"/>
              </a:rPr>
              <a:t>Documentation for laboratory equipment was processed into embedding vectors using OpenAI API. </a:t>
            </a:r>
            <a:r>
              <a:rPr lang="en" sz="1200" b="0" i="0" u="none" strike="noStrike" cap="none">
                <a:solidFill>
                  <a:schemeClr val="dk1"/>
                </a:solidFill>
                <a:latin typeface="Calibri"/>
                <a:ea typeface="Calibri"/>
                <a:cs typeface="Calibri"/>
                <a:sym typeface="Calibri"/>
              </a:rPr>
              <a:t>The documents contained text, pictures, and formulas. Encoded information </a:t>
            </a:r>
            <a:r>
              <a:rPr lang="en" sz="1200" b="0" i="0" u="none" strike="noStrike" cap="none">
                <a:solidFill>
                  <a:srgbClr val="000000"/>
                </a:solidFill>
                <a:latin typeface="Calibri"/>
                <a:ea typeface="Calibri"/>
                <a:cs typeface="Calibri"/>
                <a:sym typeface="Calibri"/>
              </a:rPr>
              <a:t>was used to write Python scripts to automate experiments. </a:t>
            </a:r>
            <a:endParaRPr sz="12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2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LLM was a</a:t>
            </a:r>
            <a:r>
              <a:rPr lang="en" sz="1200" b="0" i="0" u="none" strike="noStrike" cap="none">
                <a:solidFill>
                  <a:srgbClr val="000000"/>
                </a:solidFill>
                <a:latin typeface="Calibri"/>
                <a:ea typeface="Calibri"/>
                <a:cs typeface="Calibri"/>
                <a:sym typeface="Calibri"/>
              </a:rPr>
              <a:t>lso used for searching </a:t>
            </a:r>
            <a:r>
              <a:rPr lang="en" sz="1200" b="0" i="0" u="none" strike="noStrike" cap="none">
                <a:solidFill>
                  <a:schemeClr val="dk1"/>
                </a:solidFill>
                <a:latin typeface="Calibri"/>
                <a:ea typeface="Calibri"/>
                <a:cs typeface="Calibri"/>
                <a:sym typeface="Calibri"/>
              </a:rPr>
              <a:t>in scientific journals </a:t>
            </a:r>
            <a:r>
              <a:rPr lang="en" sz="1200" b="0" i="0" u="none" strike="noStrike" cap="none">
                <a:solidFill>
                  <a:srgbClr val="000000"/>
                </a:solidFill>
                <a:latin typeface="Calibri"/>
                <a:ea typeface="Calibri"/>
                <a:cs typeface="Calibri"/>
                <a:sym typeface="Calibri"/>
              </a:rPr>
              <a:t>for documentation for the synthesis steps. S</a:t>
            </a:r>
            <a:r>
              <a:rPr lang="en" sz="1200" b="0" i="0" u="none" strike="noStrike" cap="none">
                <a:solidFill>
                  <a:schemeClr val="dk1"/>
                </a:solidFill>
                <a:latin typeface="Calibri"/>
                <a:ea typeface="Calibri"/>
                <a:cs typeface="Calibri"/>
                <a:sym typeface="Calibri"/>
              </a:rPr>
              <a:t>ystem proposes a Google search that can be performed by researcher.</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rgbClr val="000000"/>
                </a:solidFill>
                <a:latin typeface="Calibri"/>
                <a:ea typeface="Calibri"/>
                <a:cs typeface="Calibri"/>
                <a:sym typeface="Calibri"/>
              </a:rPr>
              <a:t>System generally refuses to search for or synthesize hazardous substances. The result of the queries is interpreted and summarized by another LLM. Interesting that the planner part is just an LLM and a memory buffer</a:t>
            </a:r>
            <a:endParaRPr sz="1200" b="0" i="0" u="none" strike="noStrike" cap="none">
              <a:solidFill>
                <a:srgbClr val="000000"/>
              </a:solidFill>
              <a:latin typeface="Calibri"/>
              <a:ea typeface="Calibri"/>
              <a:cs typeface="Calibri"/>
              <a:sym typeface="Calibri"/>
            </a:endParaRPr>
          </a:p>
        </p:txBody>
      </p:sp>
      <p:sp>
        <p:nvSpPr>
          <p:cNvPr id="84" name="Google Shape;84;p16"/>
          <p:cNvSpPr txBox="1"/>
          <p:nvPr/>
        </p:nvSpPr>
        <p:spPr>
          <a:xfrm>
            <a:off x="4689250" y="111425"/>
            <a:ext cx="4381500" cy="253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rgbClr val="000000"/>
                </a:solidFill>
                <a:latin typeface="Calibri"/>
                <a:ea typeface="Calibri"/>
                <a:cs typeface="Calibri"/>
                <a:sym typeface="Calibri"/>
              </a:rPr>
              <a:t>Yann LeCun</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000" b="0" i="0" u="sng" strike="noStrike" cap="none">
                <a:solidFill>
                  <a:schemeClr val="hlink"/>
                </a:solidFill>
                <a:latin typeface="Calibri"/>
                <a:ea typeface="Calibri"/>
                <a:cs typeface="Calibri"/>
                <a:sym typeface="Calibri"/>
                <a:hlinkClick r:id="rId4"/>
              </a:rPr>
              <a:t>https://twitter.com/ylecun/status/1766498677751787723</a:t>
            </a:r>
            <a:endParaRPr sz="1000" b="0" i="0" u="none" strike="noStrike" cap="none">
              <a:solidFill>
                <a:schemeClr val="dk1"/>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"The data bandwidth of visual perception is roughly 16 Mln  times higher than the data bandwidth of written (or spoken) language."</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"Most of human knowledge (and almost all of animal knowledge) comes from our sensory experience of the physical world. Language is the icing on the cake. We need the cake to support the icing. There is </a:t>
            </a:r>
            <a:r>
              <a:rPr lang="en" sz="1300" b="1" i="0" u="none" strike="noStrike" cap="none">
                <a:solidFill>
                  <a:srgbClr val="FF0000"/>
                </a:solidFill>
                <a:latin typeface="Calibri"/>
                <a:ea typeface="Calibri"/>
                <a:cs typeface="Calibri"/>
                <a:sym typeface="Calibri"/>
              </a:rPr>
              <a:t>absolutely no way in hell we will ever reach human-level AI without getting machines to learn from high-bandwidth sensory inputs</a:t>
            </a:r>
            <a:r>
              <a:rPr lang="en" sz="1300" b="0" i="0" u="none" strike="noStrike" cap="none">
                <a:solidFill>
                  <a:srgbClr val="000000"/>
                </a:solidFill>
                <a:latin typeface="Calibri"/>
                <a:ea typeface="Calibri"/>
                <a:cs typeface="Calibri"/>
                <a:sym typeface="Calibri"/>
              </a:rPr>
              <a:t>, such as vision ... audition ... touch"</a:t>
            </a:r>
            <a:endParaRPr sz="1300" b="0" i="0" u="none" strike="noStrike" cap="none">
              <a:solidFill>
                <a:srgbClr val="000000"/>
              </a:solidFill>
              <a:latin typeface="Calibri"/>
              <a:ea typeface="Calibri"/>
              <a:cs typeface="Calibri"/>
              <a:sym typeface="Calibri"/>
            </a:endParaRPr>
          </a:p>
        </p:txBody>
      </p:sp>
      <p:sp>
        <p:nvSpPr>
          <p:cNvPr id="85" name="Google Shape;85;p16"/>
          <p:cNvSpPr txBox="1"/>
          <p:nvPr/>
        </p:nvSpPr>
        <p:spPr>
          <a:xfrm>
            <a:off x="4689250" y="2908025"/>
            <a:ext cx="4381500" cy="198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rgbClr val="FF0000"/>
                </a:solidFill>
                <a:latin typeface="Calibri"/>
                <a:ea typeface="Calibri"/>
                <a:cs typeface="Calibri"/>
                <a:sym typeface="Calibri"/>
              </a:rPr>
              <a:t>Latent Space</a:t>
            </a:r>
            <a:r>
              <a:rPr lang="en" sz="1300" b="0" i="0" u="none" strike="noStrike" cap="none">
                <a:solidFill>
                  <a:srgbClr val="000000"/>
                </a:solidFill>
                <a:latin typeface="Calibri"/>
                <a:ea typeface="Calibri"/>
                <a:cs typeface="Calibri"/>
                <a:sym typeface="Calibri"/>
              </a:rPr>
              <a:t>: </a:t>
            </a:r>
            <a:r>
              <a:rPr lang="en" sz="1000" b="0" i="0" u="sng" strike="noStrike" cap="none">
                <a:solidFill>
                  <a:schemeClr val="hlink"/>
                </a:solidFill>
                <a:latin typeface="Calibri"/>
                <a:ea typeface="Calibri"/>
                <a:cs typeface="Calibri"/>
                <a:sym typeface="Calibri"/>
                <a:hlinkClick r:id="rId5"/>
              </a:rPr>
              <a:t>https://www.latent.space/p/jan-feb-2024-recap-audio</a:t>
            </a:r>
            <a:endParaRPr sz="10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rgbClr val="FF0000"/>
                </a:solidFill>
                <a:latin typeface="Calibri"/>
                <a:ea typeface="Calibri"/>
                <a:cs typeface="Calibri"/>
                <a:sym typeface="Calibri"/>
              </a:rPr>
              <a:t>The Five Research Directions:</a:t>
            </a:r>
            <a:endParaRPr sz="1300" b="1" i="0" u="none" strike="noStrike" cap="none">
              <a:solidFill>
                <a:srgbClr val="FF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AutoNum type="arabicPeriod"/>
            </a:pPr>
            <a:r>
              <a:rPr lang="en" sz="1300" b="0" i="0" u="none" strike="noStrike" cap="none">
                <a:solidFill>
                  <a:srgbClr val="000000"/>
                </a:solidFill>
                <a:latin typeface="Calibri"/>
                <a:ea typeface="Calibri"/>
                <a:cs typeface="Calibri"/>
                <a:sym typeface="Calibri"/>
              </a:rPr>
              <a:t>Long Inference (Planning, Search, AlphaGeometry, Flow Engineering)</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AutoNum type="arabicPeriod"/>
            </a:pPr>
            <a:r>
              <a:rPr lang="en" sz="1300" b="0" i="0" u="none" strike="noStrike" cap="none">
                <a:solidFill>
                  <a:srgbClr val="000000"/>
                </a:solidFill>
                <a:latin typeface="Calibri"/>
                <a:ea typeface="Calibri"/>
                <a:cs typeface="Calibri"/>
                <a:sym typeface="Calibri"/>
              </a:rPr>
              <a:t>Synthetic Data (WRAP, SPIN)</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AutoNum type="arabicPeriod"/>
            </a:pPr>
            <a:r>
              <a:rPr lang="en" sz="1300" b="0" i="0" u="none" strike="noStrike" cap="none">
                <a:solidFill>
                  <a:srgbClr val="000000"/>
                </a:solidFill>
                <a:latin typeface="Calibri"/>
                <a:ea typeface="Calibri"/>
                <a:cs typeface="Calibri"/>
                <a:sym typeface="Calibri"/>
              </a:rPr>
              <a:t>Alternative Architectures (Mamba, RWKV, RingAttention, Diffusion Transformers)</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AutoNum type="arabicPeriod"/>
            </a:pPr>
            <a:r>
              <a:rPr lang="en" sz="1300" b="0" i="0" u="none" strike="noStrike" cap="none">
                <a:solidFill>
                  <a:srgbClr val="000000"/>
                </a:solidFill>
                <a:latin typeface="Calibri"/>
                <a:ea typeface="Calibri"/>
                <a:cs typeface="Calibri"/>
                <a:sym typeface="Calibri"/>
              </a:rPr>
              <a:t>Mixture of Experts (DeepSeekMoE, Samba-1)</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AutoNum type="arabicPeriod"/>
            </a:pPr>
            <a:r>
              <a:rPr lang="en" sz="1300" b="0" i="0" u="none" strike="noStrike" cap="none">
                <a:solidFill>
                  <a:srgbClr val="000000"/>
                </a:solidFill>
                <a:latin typeface="Calibri"/>
                <a:ea typeface="Calibri"/>
                <a:cs typeface="Calibri"/>
                <a:sym typeface="Calibri"/>
              </a:rPr>
              <a:t>Online LLMs (Gemini Pro, Exa)</a:t>
            </a:r>
            <a:endParaRPr sz="1300" b="0" i="0" u="none" strike="noStrike" cap="none">
              <a:solidFill>
                <a:srgbClr val="000000"/>
              </a:solidFill>
              <a:latin typeface="Calibri"/>
              <a:ea typeface="Calibri"/>
              <a:cs typeface="Calibri"/>
              <a:sym typeface="Calibri"/>
            </a:endParaRPr>
          </a:p>
        </p:txBody>
      </p:sp>
      <p:sp>
        <p:nvSpPr>
          <p:cNvPr id="86" name="Google Shape;86;p16"/>
          <p:cNvSpPr txBox="1"/>
          <p:nvPr/>
        </p:nvSpPr>
        <p:spPr>
          <a:xfrm>
            <a:off x="128725" y="3921650"/>
            <a:ext cx="4381500" cy="104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000" b="0" i="0" u="sng" strike="noStrike" cap="none">
                <a:solidFill>
                  <a:schemeClr val="hlink"/>
                </a:solidFill>
                <a:latin typeface="Calibri"/>
                <a:ea typeface="Calibri"/>
                <a:cs typeface="Calibri"/>
                <a:sym typeface="Calibri"/>
                <a:hlinkClick r:id="rId6"/>
              </a:rPr>
              <a:t>https://twitter.com/AndrewYNg/status/1766554536192446957</a:t>
            </a:r>
            <a:endParaRPr sz="10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000" b="0" i="0" u="sng" strike="noStrike" cap="none">
                <a:solidFill>
                  <a:schemeClr val="hlink"/>
                </a:solidFill>
                <a:latin typeface="Calibri"/>
                <a:ea typeface="Calibri"/>
                <a:cs typeface="Calibri"/>
                <a:sym typeface="Calibri"/>
                <a:hlinkClick r:id="rId7"/>
              </a:rPr>
              <a:t>https://arxiv.org/abs/2304.15004</a:t>
            </a:r>
            <a:endParaRPr sz="10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rgbClr val="000000"/>
                </a:solidFill>
                <a:latin typeface="Calibri"/>
                <a:ea typeface="Calibri"/>
                <a:cs typeface="Calibri"/>
                <a:sym typeface="Calibri"/>
              </a:rPr>
              <a:t>... emergent abilities (in larger models) appear due to the researcher's choice of metric rather than due to fundamental changes in model behavior with scale. </a:t>
            </a:r>
            <a:endParaRPr sz="1200" b="0" i="0" u="none" strike="noStrike" cap="none">
              <a:solidFill>
                <a:srgbClr val="000000"/>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p17"/>
          <p:cNvSpPr txBox="1"/>
          <p:nvPr/>
        </p:nvSpPr>
        <p:spPr>
          <a:xfrm>
            <a:off x="72300" y="0"/>
            <a:ext cx="4133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Misc 2</a:t>
            </a:r>
            <a:endParaRPr sz="2000" b="1" i="0" u="none" strike="noStrike" cap="none">
              <a:solidFill>
                <a:schemeClr val="dk1"/>
              </a:solidFill>
              <a:latin typeface="Calibri"/>
              <a:ea typeface="Calibri"/>
              <a:cs typeface="Calibri"/>
              <a:sym typeface="Calibri"/>
            </a:endParaRPr>
          </a:p>
        </p:txBody>
      </p:sp>
      <p:sp>
        <p:nvSpPr>
          <p:cNvPr id="92" name="Google Shape;92;p17"/>
          <p:cNvSpPr txBox="1"/>
          <p:nvPr/>
        </p:nvSpPr>
        <p:spPr>
          <a:xfrm>
            <a:off x="72300" y="397425"/>
            <a:ext cx="4381500" cy="138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1" i="0" u="none" strike="noStrike" cap="none">
                <a:solidFill>
                  <a:srgbClr val="FF0000"/>
                </a:solidFill>
                <a:latin typeface="Calibri"/>
                <a:ea typeface="Calibri"/>
                <a:cs typeface="Calibri"/>
                <a:sym typeface="Calibri"/>
              </a:rPr>
              <a:t>Chain-of-Abstraction Reasoning</a:t>
            </a:r>
            <a:endParaRPr sz="1300" b="1" i="0" u="none" strike="noStrike" cap="none">
              <a:solidFill>
                <a:srgbClr val="FF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b="0" i="0" u="none" strike="noStrike" cap="none">
                <a:solidFill>
                  <a:srgbClr val="000000"/>
                </a:solidFill>
                <a:latin typeface="Calibri"/>
                <a:ea typeface="Calibri"/>
                <a:cs typeface="Calibri"/>
                <a:sym typeface="Calibri"/>
              </a:rPr>
              <a:t>Efficient Tool Use with Chain-of-Abstraction Reasoning</a:t>
            </a:r>
            <a:br>
              <a:rPr lang="en" sz="1300" b="0" i="0" u="none" strike="noStrike" cap="none">
                <a:solidFill>
                  <a:srgbClr val="000000"/>
                </a:solidFill>
                <a:latin typeface="Calibri"/>
                <a:ea typeface="Calibri"/>
                <a:cs typeface="Calibri"/>
                <a:sym typeface="Calibri"/>
              </a:rPr>
            </a:br>
            <a:r>
              <a:rPr lang="en" sz="1300" b="0" i="0" u="none" strike="noStrike" cap="none">
                <a:solidFill>
                  <a:srgbClr val="000000"/>
                </a:solidFill>
                <a:latin typeface="Calibri"/>
                <a:ea typeface="Calibri"/>
                <a:cs typeface="Calibri"/>
                <a:sym typeface="Calibri"/>
              </a:rPr>
              <a:t>Paper:</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b="0" i="0" u="sng" strike="noStrike" cap="none">
                <a:solidFill>
                  <a:schemeClr val="hlink"/>
                </a:solidFill>
                <a:latin typeface="Calibri"/>
                <a:ea typeface="Calibri"/>
                <a:cs typeface="Calibri"/>
                <a:sym typeface="Calibri"/>
                <a:hlinkClick r:id="rId3"/>
              </a:rPr>
              <a:t>https://arxiv.org/abs/2401.17464</a:t>
            </a:r>
            <a:r>
              <a:rPr lang="en" sz="1300" b="0" i="0" u="none" strike="noStrike" cap="none">
                <a:solidFill>
                  <a:srgbClr val="000000"/>
                </a:solidFill>
                <a:latin typeface="Calibri"/>
                <a:ea typeface="Calibri"/>
                <a:cs typeface="Calibri"/>
                <a:sym typeface="Calibri"/>
              </a:rPr>
              <a:t> </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b="0" i="0" u="none" strike="noStrike" cap="none">
                <a:solidFill>
                  <a:srgbClr val="000000"/>
                </a:solidFill>
                <a:latin typeface="Calibri"/>
                <a:ea typeface="Calibri"/>
                <a:cs typeface="Calibri"/>
                <a:sym typeface="Calibri"/>
              </a:rPr>
              <a:t>Tweet:</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b="0" i="0" u="sng" strike="noStrike" cap="none">
                <a:solidFill>
                  <a:schemeClr val="hlink"/>
                </a:solidFill>
                <a:latin typeface="Calibri"/>
                <a:ea typeface="Calibri"/>
                <a:cs typeface="Calibri"/>
                <a:sym typeface="Calibri"/>
                <a:hlinkClick r:id="rId4"/>
              </a:rPr>
              <a:t>https://twitter.com/silin_gao/status/1765778821620343078</a:t>
            </a:r>
            <a:r>
              <a:rPr lang="en" sz="1300" b="0" i="0" u="none" strike="noStrike" cap="none">
                <a:solidFill>
                  <a:srgbClr val="000000"/>
                </a:solidFill>
                <a:latin typeface="Calibri"/>
                <a:ea typeface="Calibri"/>
                <a:cs typeface="Calibri"/>
                <a:sym typeface="Calibri"/>
              </a:rPr>
              <a:t> </a:t>
            </a:r>
            <a:endParaRPr sz="1300" b="0" i="0" u="none" strike="noStrike" cap="none">
              <a:solidFill>
                <a:srgbClr val="000000"/>
              </a:solidFill>
              <a:latin typeface="Calibri"/>
              <a:ea typeface="Calibri"/>
              <a:cs typeface="Calibri"/>
              <a:sym typeface="Calibri"/>
            </a:endParaRPr>
          </a:p>
        </p:txBody>
      </p:sp>
      <p:sp>
        <p:nvSpPr>
          <p:cNvPr id="93" name="Google Shape;93;p17"/>
          <p:cNvSpPr txBox="1"/>
          <p:nvPr/>
        </p:nvSpPr>
        <p:spPr>
          <a:xfrm>
            <a:off x="72300" y="1835935"/>
            <a:ext cx="4381500" cy="58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300" b="1" i="0" u="none" strike="noStrike" cap="none">
                <a:solidFill>
                  <a:srgbClr val="FF0000"/>
                </a:solidFill>
                <a:latin typeface="Calibri"/>
                <a:ea typeface="Calibri"/>
                <a:cs typeface="Calibri"/>
                <a:sym typeface="Calibri"/>
              </a:rPr>
              <a:t>Amazon reviews dataset</a:t>
            </a:r>
            <a:endParaRPr sz="1300" b="1" i="0" u="none" strike="noStrike" cap="none">
              <a:solidFill>
                <a:srgbClr val="FF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b="0" i="0" u="sng" strike="noStrike" cap="none">
                <a:solidFill>
                  <a:schemeClr val="hlink"/>
                </a:solidFill>
                <a:latin typeface="Calibri"/>
                <a:ea typeface="Calibri"/>
                <a:cs typeface="Calibri"/>
                <a:sym typeface="Calibri"/>
                <a:hlinkClick r:id="rId5"/>
              </a:rPr>
              <a:t>https://twitter.com/jobergum/status/1765844532560625689</a:t>
            </a:r>
            <a:r>
              <a:rPr lang="en" sz="1300" b="0" i="0" u="none" strike="noStrike" cap="none">
                <a:solidFill>
                  <a:srgbClr val="000000"/>
                </a:solidFill>
                <a:latin typeface="Calibri"/>
                <a:ea typeface="Calibri"/>
                <a:cs typeface="Calibri"/>
                <a:sym typeface="Calibri"/>
              </a:rPr>
              <a:t> </a:t>
            </a:r>
            <a:endParaRPr sz="1300" b="0" i="0" u="none" strike="noStrike" cap="none">
              <a:solidFill>
                <a:srgbClr val="000000"/>
              </a:solidFill>
              <a:latin typeface="Calibri"/>
              <a:ea typeface="Calibri"/>
              <a:cs typeface="Calibri"/>
              <a:sym typeface="Calibri"/>
            </a:endParaRPr>
          </a:p>
        </p:txBody>
      </p:sp>
      <p:sp>
        <p:nvSpPr>
          <p:cNvPr id="94" name="Google Shape;94;p17"/>
          <p:cNvSpPr txBox="1"/>
          <p:nvPr/>
        </p:nvSpPr>
        <p:spPr>
          <a:xfrm>
            <a:off x="72300" y="2490675"/>
            <a:ext cx="4381500" cy="800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300" b="0" i="0" u="none" strike="noStrike" cap="none">
                <a:solidFill>
                  <a:srgbClr val="000000"/>
                </a:solidFill>
                <a:latin typeface="Calibri"/>
                <a:ea typeface="Calibri"/>
                <a:cs typeface="Calibri"/>
                <a:sym typeface="Calibri"/>
              </a:rPr>
              <a:t>LLM Jailbreaking using </a:t>
            </a:r>
            <a:r>
              <a:rPr lang="en" sz="1300" b="1" i="0" u="none" strike="noStrike" cap="none">
                <a:solidFill>
                  <a:srgbClr val="3C78D8"/>
                </a:solidFill>
                <a:latin typeface="Calibri"/>
                <a:ea typeface="Calibri"/>
                <a:cs typeface="Calibri"/>
                <a:sym typeface="Calibri"/>
              </a:rPr>
              <a:t>morse code</a:t>
            </a:r>
            <a:r>
              <a:rPr lang="en" sz="1300" b="0" i="0" u="none" strike="noStrike" cap="none">
                <a:solidFill>
                  <a:srgbClr val="000000"/>
                </a:solidFill>
                <a:latin typeface="Calibri"/>
                <a:ea typeface="Calibri"/>
                <a:cs typeface="Calibri"/>
                <a:sym typeface="Calibri"/>
              </a:rPr>
              <a:t>  or  </a:t>
            </a:r>
            <a:r>
              <a:rPr lang="en" sz="1300" b="1" i="0" u="none" strike="noStrike" cap="none">
                <a:solidFill>
                  <a:srgbClr val="3C78D8"/>
                </a:solidFill>
                <a:latin typeface="Calibri"/>
                <a:ea typeface="Calibri"/>
                <a:cs typeface="Calibri"/>
                <a:sym typeface="Calibri"/>
              </a:rPr>
              <a:t>ASCII Art</a:t>
            </a:r>
            <a:r>
              <a:rPr lang="en" sz="1300" b="0" i="0" u="none" strike="noStrike" cap="none">
                <a:solidFill>
                  <a:srgbClr val="000000"/>
                </a:solidFill>
                <a:latin typeface="Calibri"/>
                <a:ea typeface="Calibri"/>
                <a:cs typeface="Calibri"/>
                <a:sym typeface="Calibri"/>
              </a:rPr>
              <a:t> </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900" b="0" i="0" u="sng" strike="noStrike" cap="none">
                <a:solidFill>
                  <a:schemeClr val="hlink"/>
                </a:solidFill>
                <a:latin typeface="Calibri"/>
                <a:ea typeface="Calibri"/>
                <a:cs typeface="Calibri"/>
                <a:sym typeface="Calibri"/>
                <a:hlinkClick r:id="rId6"/>
              </a:rPr>
              <a:t>https://www.youtube.com/watch?v=5cEvNO9rZgI</a:t>
            </a:r>
            <a:endParaRPr sz="900">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900" u="sng">
                <a:solidFill>
                  <a:schemeClr val="hlink"/>
                </a:solidFill>
                <a:latin typeface="Calibri"/>
                <a:ea typeface="Calibri"/>
                <a:cs typeface="Calibri"/>
                <a:sym typeface="Calibri"/>
                <a:hlinkClick r:id="rId7"/>
              </a:rPr>
              <a:t>https://www.youtube.com/watch?v=NM0hw0khlC4</a:t>
            </a:r>
            <a:r>
              <a:rPr lang="en" sz="900">
                <a:latin typeface="Calibri"/>
                <a:ea typeface="Calibri"/>
                <a:cs typeface="Calibri"/>
                <a:sym typeface="Calibri"/>
              </a:rPr>
              <a:t> </a:t>
            </a:r>
            <a:endParaRPr sz="900">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900" b="0" i="0" u="sng" strike="noStrike" cap="none">
                <a:solidFill>
                  <a:schemeClr val="hlink"/>
                </a:solidFill>
                <a:latin typeface="Calibri"/>
                <a:ea typeface="Calibri"/>
                <a:cs typeface="Calibri"/>
                <a:sym typeface="Calibri"/>
                <a:hlinkClick r:id="rId8"/>
              </a:rPr>
              <a:t>https://arxiv.org/abs/2402.11753</a:t>
            </a:r>
            <a:r>
              <a:rPr lang="en" sz="900" b="0" i="0" u="none" strike="noStrike" cap="none">
                <a:solidFill>
                  <a:srgbClr val="000000"/>
                </a:solidFill>
                <a:latin typeface="Calibri"/>
                <a:ea typeface="Calibri"/>
                <a:cs typeface="Calibri"/>
                <a:sym typeface="Calibri"/>
              </a:rPr>
              <a:t> </a:t>
            </a:r>
            <a:endParaRPr sz="900" b="0" i="0" u="none" strike="noStrike" cap="none">
              <a:solidFill>
                <a:srgbClr val="000000"/>
              </a:solidFill>
              <a:latin typeface="Calibri"/>
              <a:ea typeface="Calibri"/>
              <a:cs typeface="Calibri"/>
              <a:sym typeface="Calibri"/>
            </a:endParaRPr>
          </a:p>
        </p:txBody>
      </p:sp>
      <p:pic>
        <p:nvPicPr>
          <p:cNvPr id="95" name="Google Shape;95;p17"/>
          <p:cNvPicPr preferRelativeResize="0"/>
          <p:nvPr/>
        </p:nvPicPr>
        <p:blipFill rotWithShape="1">
          <a:blip r:embed="rId9">
            <a:alphaModFix/>
          </a:blip>
          <a:srcRect/>
          <a:stretch/>
        </p:blipFill>
        <p:spPr>
          <a:xfrm>
            <a:off x="1802300" y="3345525"/>
            <a:ext cx="3065433" cy="1708500"/>
          </a:xfrm>
          <a:prstGeom prst="rect">
            <a:avLst/>
          </a:prstGeom>
          <a:noFill/>
          <a:ln w="9525" cap="flat" cmpd="sng">
            <a:solidFill>
              <a:srgbClr val="FF0000"/>
            </a:solidFill>
            <a:prstDash val="solid"/>
            <a:round/>
            <a:headEnd type="none" w="sm" len="sm"/>
            <a:tailEnd type="none" w="sm" len="sm"/>
          </a:ln>
        </p:spPr>
      </p:pic>
      <p:sp>
        <p:nvSpPr>
          <p:cNvPr id="96" name="Google Shape;96;p17"/>
          <p:cNvSpPr txBox="1"/>
          <p:nvPr/>
        </p:nvSpPr>
        <p:spPr>
          <a:xfrm>
            <a:off x="4644300" y="397425"/>
            <a:ext cx="4381500" cy="58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300" b="0" i="0" u="sng" strike="noStrike" cap="none">
                <a:solidFill>
                  <a:schemeClr val="hlink"/>
                </a:solidFill>
                <a:latin typeface="Calibri"/>
                <a:ea typeface="Calibri"/>
                <a:cs typeface="Calibri"/>
                <a:sym typeface="Calibri"/>
                <a:hlinkClick r:id="rId10"/>
              </a:rPr>
              <a:t>https://www.axios.com/2024/03/01/meta-ai-google-gemini-black-founding-fathers</a:t>
            </a:r>
            <a:r>
              <a:rPr lang="en" sz="1300" b="0" i="0" u="none" strike="noStrike" cap="none">
                <a:solidFill>
                  <a:srgbClr val="000000"/>
                </a:solidFill>
                <a:latin typeface="Calibri"/>
                <a:ea typeface="Calibri"/>
                <a:cs typeface="Calibri"/>
                <a:sym typeface="Calibri"/>
              </a:rPr>
              <a:t> - First Google - now Meta.</a:t>
            </a:r>
            <a:endParaRPr sz="1300" b="0" i="0" u="none" strike="noStrike" cap="none">
              <a:solidFill>
                <a:srgbClr val="000000"/>
              </a:solidFill>
              <a:latin typeface="Calibri"/>
              <a:ea typeface="Calibri"/>
              <a:cs typeface="Calibri"/>
              <a:sym typeface="Calibri"/>
            </a:endParaRPr>
          </a:p>
        </p:txBody>
      </p:sp>
      <p:pic>
        <p:nvPicPr>
          <p:cNvPr id="97" name="Google Shape;97;p17"/>
          <p:cNvPicPr preferRelativeResize="0"/>
          <p:nvPr/>
        </p:nvPicPr>
        <p:blipFill rotWithShape="1">
          <a:blip r:embed="rId11">
            <a:alphaModFix/>
          </a:blip>
          <a:srcRect/>
          <a:stretch/>
        </p:blipFill>
        <p:spPr>
          <a:xfrm>
            <a:off x="4642350" y="1037888"/>
            <a:ext cx="4385400" cy="1767801"/>
          </a:xfrm>
          <a:prstGeom prst="rect">
            <a:avLst/>
          </a:prstGeom>
          <a:noFill/>
          <a:ln w="9525" cap="flat" cmpd="sng">
            <a:solidFill>
              <a:srgbClr val="FF0000"/>
            </a:solidFill>
            <a:prstDash val="solid"/>
            <a:round/>
            <a:headEnd type="none" w="sm" len="sm"/>
            <a:tailEnd type="none" w="sm" len="sm"/>
          </a:ln>
        </p:spPr>
      </p:pic>
      <p:sp>
        <p:nvSpPr>
          <p:cNvPr id="98" name="Google Shape;98;p17"/>
          <p:cNvSpPr txBox="1"/>
          <p:nvPr/>
        </p:nvSpPr>
        <p:spPr>
          <a:xfrm>
            <a:off x="5566644" y="3022125"/>
            <a:ext cx="3461100" cy="2031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1" i="0" u="none" strike="noStrike" cap="none">
                <a:solidFill>
                  <a:srgbClr val="FF0000"/>
                </a:solidFill>
                <a:latin typeface="Calibri"/>
                <a:ea typeface="Calibri"/>
                <a:cs typeface="Calibri"/>
                <a:sym typeface="Calibri"/>
              </a:rPr>
              <a:t>New OpenAI Board:</a:t>
            </a:r>
            <a:endParaRPr sz="1200" b="1" i="0" u="none" strike="noStrike" cap="none">
              <a:solidFill>
                <a:srgbClr val="FF0000"/>
              </a:solidFill>
              <a:latin typeface="Calibri"/>
              <a:ea typeface="Calibri"/>
              <a:cs typeface="Calibri"/>
              <a:sym typeface="Calibri"/>
            </a:endParaRPr>
          </a:p>
          <a:p>
            <a:pPr marL="457200" marR="0" lvl="0" indent="-304800" algn="l" rtl="0">
              <a:lnSpc>
                <a:spcPct val="100000"/>
              </a:lnSpc>
              <a:spcBef>
                <a:spcPts val="0"/>
              </a:spcBef>
              <a:spcAft>
                <a:spcPts val="0"/>
              </a:spcAft>
              <a:buClr>
                <a:schemeClr val="dk1"/>
              </a:buClr>
              <a:buSzPts val="1200"/>
              <a:buFont typeface="Calibri"/>
              <a:buChar char="●"/>
            </a:pPr>
            <a:r>
              <a:rPr lang="en" sz="1200" b="0" i="0" u="none" strike="noStrike" cap="none">
                <a:solidFill>
                  <a:schemeClr val="dk1"/>
                </a:solidFill>
                <a:latin typeface="Calibri"/>
                <a:ea typeface="Calibri"/>
                <a:cs typeface="Calibri"/>
                <a:sym typeface="Calibri"/>
              </a:rPr>
              <a:t>Sam Altman (CEO)</a:t>
            </a:r>
            <a:endParaRPr sz="1200" b="0" i="0" u="none" strike="noStrike" cap="none">
              <a:solidFill>
                <a:schemeClr val="dk1"/>
              </a:solidFill>
              <a:latin typeface="Calibri"/>
              <a:ea typeface="Calibri"/>
              <a:cs typeface="Calibri"/>
              <a:sym typeface="Calibri"/>
            </a:endParaRPr>
          </a:p>
          <a:p>
            <a:pPr marL="457200" marR="0" lvl="0" indent="-304800" algn="l" rtl="0">
              <a:lnSpc>
                <a:spcPct val="100000"/>
              </a:lnSpc>
              <a:spcBef>
                <a:spcPts val="0"/>
              </a:spcBef>
              <a:spcAft>
                <a:spcPts val="0"/>
              </a:spcAft>
              <a:buClr>
                <a:schemeClr val="dk1"/>
              </a:buClr>
              <a:buSzPts val="1200"/>
              <a:buFont typeface="Calibri"/>
              <a:buChar char="●"/>
            </a:pPr>
            <a:r>
              <a:rPr lang="en" sz="1200" b="0" i="0" u="none" strike="noStrike" cap="none">
                <a:solidFill>
                  <a:schemeClr val="dk1"/>
                </a:solidFill>
                <a:latin typeface="Calibri"/>
                <a:ea typeface="Calibri"/>
                <a:cs typeface="Calibri"/>
                <a:sym typeface="Calibri"/>
              </a:rPr>
              <a:t>Sue Desmond-Hellmann (Gates foundation)</a:t>
            </a:r>
            <a:endParaRPr sz="1200" b="0" i="0" u="none" strike="noStrike" cap="none">
              <a:solidFill>
                <a:schemeClr val="dk1"/>
              </a:solidFill>
              <a:latin typeface="Calibri"/>
              <a:ea typeface="Calibri"/>
              <a:cs typeface="Calibri"/>
              <a:sym typeface="Calibri"/>
            </a:endParaRPr>
          </a:p>
          <a:p>
            <a:pPr marL="457200" marR="0" lvl="0" indent="-304800" algn="l" rtl="0">
              <a:lnSpc>
                <a:spcPct val="100000"/>
              </a:lnSpc>
              <a:spcBef>
                <a:spcPts val="0"/>
              </a:spcBef>
              <a:spcAft>
                <a:spcPts val="0"/>
              </a:spcAft>
              <a:buClr>
                <a:schemeClr val="dk1"/>
              </a:buClr>
              <a:buSzPts val="1200"/>
              <a:buFont typeface="Calibri"/>
              <a:buChar char="●"/>
            </a:pPr>
            <a:r>
              <a:rPr lang="en" sz="1200" b="0" i="0" u="none" strike="noStrike" cap="none">
                <a:solidFill>
                  <a:schemeClr val="dk1"/>
                </a:solidFill>
                <a:latin typeface="Calibri"/>
                <a:ea typeface="Calibri"/>
                <a:cs typeface="Calibri"/>
                <a:sym typeface="Calibri"/>
              </a:rPr>
              <a:t>Nicole Seligman (Sony Entertainment)</a:t>
            </a:r>
            <a:endParaRPr sz="1200" b="0" i="0" u="none" strike="noStrike" cap="none">
              <a:solidFill>
                <a:schemeClr val="dk1"/>
              </a:solidFill>
              <a:latin typeface="Calibri"/>
              <a:ea typeface="Calibri"/>
              <a:cs typeface="Calibri"/>
              <a:sym typeface="Calibri"/>
            </a:endParaRPr>
          </a:p>
          <a:p>
            <a:pPr marL="457200" marR="0" lvl="0" indent="-304800" algn="l" rtl="0">
              <a:lnSpc>
                <a:spcPct val="100000"/>
              </a:lnSpc>
              <a:spcBef>
                <a:spcPts val="0"/>
              </a:spcBef>
              <a:spcAft>
                <a:spcPts val="0"/>
              </a:spcAft>
              <a:buClr>
                <a:schemeClr val="dk1"/>
              </a:buClr>
              <a:buSzPts val="1200"/>
              <a:buFont typeface="Calibri"/>
              <a:buChar char="●"/>
            </a:pPr>
            <a:r>
              <a:rPr lang="en" sz="1200" b="0" i="0" u="none" strike="noStrike" cap="none">
                <a:solidFill>
                  <a:schemeClr val="dk1"/>
                </a:solidFill>
                <a:latin typeface="Calibri"/>
                <a:ea typeface="Calibri"/>
                <a:cs typeface="Calibri"/>
                <a:sym typeface="Calibri"/>
              </a:rPr>
              <a:t>Fidji Simo (Metrodora Institute)</a:t>
            </a:r>
            <a:endParaRPr sz="1200" b="0" i="0" u="none" strike="noStrike" cap="none">
              <a:solidFill>
                <a:schemeClr val="dk1"/>
              </a:solidFill>
              <a:latin typeface="Calibri"/>
              <a:ea typeface="Calibri"/>
              <a:cs typeface="Calibri"/>
              <a:sym typeface="Calibri"/>
            </a:endParaRPr>
          </a:p>
          <a:p>
            <a:pPr marL="457200" marR="0" lvl="0" indent="-304800" algn="l" rtl="0">
              <a:lnSpc>
                <a:spcPct val="100000"/>
              </a:lnSpc>
              <a:spcBef>
                <a:spcPts val="0"/>
              </a:spcBef>
              <a:spcAft>
                <a:spcPts val="0"/>
              </a:spcAft>
              <a:buClr>
                <a:schemeClr val="dk1"/>
              </a:buClr>
              <a:buSzPts val="1200"/>
              <a:buFont typeface="Calibri"/>
              <a:buChar char="●"/>
            </a:pPr>
            <a:r>
              <a:rPr lang="en" sz="1200" b="0" i="0" u="none" strike="noStrike" cap="none">
                <a:solidFill>
                  <a:schemeClr val="dk1"/>
                </a:solidFill>
                <a:latin typeface="Calibri"/>
                <a:ea typeface="Calibri"/>
                <a:cs typeface="Calibri"/>
                <a:sym typeface="Calibri"/>
              </a:rPr>
              <a:t>Bret Taylor (Chairman, Salesforce)</a:t>
            </a:r>
            <a:endParaRPr sz="1200" b="0" i="0" u="none" strike="noStrike" cap="none">
              <a:solidFill>
                <a:schemeClr val="dk1"/>
              </a:solidFill>
              <a:latin typeface="Calibri"/>
              <a:ea typeface="Calibri"/>
              <a:cs typeface="Calibri"/>
              <a:sym typeface="Calibri"/>
            </a:endParaRPr>
          </a:p>
          <a:p>
            <a:pPr marL="457200" marR="0" lvl="0" indent="-304800" algn="l" rtl="0">
              <a:lnSpc>
                <a:spcPct val="100000"/>
              </a:lnSpc>
              <a:spcBef>
                <a:spcPts val="0"/>
              </a:spcBef>
              <a:spcAft>
                <a:spcPts val="0"/>
              </a:spcAft>
              <a:buClr>
                <a:schemeClr val="dk1"/>
              </a:buClr>
              <a:buSzPts val="1200"/>
              <a:buFont typeface="Calibri"/>
              <a:buChar char="●"/>
            </a:pPr>
            <a:r>
              <a:rPr lang="en" sz="1200" b="0" i="0" u="none" strike="noStrike" cap="none">
                <a:solidFill>
                  <a:schemeClr val="dk1"/>
                </a:solidFill>
                <a:latin typeface="Calibri"/>
                <a:ea typeface="Calibri"/>
                <a:cs typeface="Calibri"/>
                <a:sym typeface="Calibri"/>
              </a:rPr>
              <a:t>Adam D'Angelo: CEO of Quora</a:t>
            </a:r>
            <a:endParaRPr sz="1200" b="0" i="0" u="none" strike="noStrike" cap="none">
              <a:solidFill>
                <a:schemeClr val="dk1"/>
              </a:solidFill>
              <a:latin typeface="Calibri"/>
              <a:ea typeface="Calibri"/>
              <a:cs typeface="Calibri"/>
              <a:sym typeface="Calibri"/>
            </a:endParaRPr>
          </a:p>
          <a:p>
            <a:pPr marL="457200" marR="0" lvl="0" indent="-304800" algn="l" rtl="0">
              <a:lnSpc>
                <a:spcPct val="100000"/>
              </a:lnSpc>
              <a:spcBef>
                <a:spcPts val="0"/>
              </a:spcBef>
              <a:spcAft>
                <a:spcPts val="0"/>
              </a:spcAft>
              <a:buClr>
                <a:schemeClr val="dk1"/>
              </a:buClr>
              <a:buSzPts val="1200"/>
              <a:buFont typeface="Calibri"/>
              <a:buChar char="●"/>
            </a:pPr>
            <a:r>
              <a:rPr lang="en" sz="1200" b="0" i="0" u="none" strike="noStrike" cap="none">
                <a:solidFill>
                  <a:schemeClr val="dk1"/>
                </a:solidFill>
                <a:latin typeface="Calibri"/>
                <a:ea typeface="Calibri"/>
                <a:cs typeface="Calibri"/>
                <a:sym typeface="Calibri"/>
              </a:rPr>
              <a:t>Larry Summers (Economist, former Harvard president, former US Treasury Secretary)</a:t>
            </a:r>
            <a:endParaRPr sz="1200" b="0" i="0" u="none" strike="noStrike" cap="none">
              <a:solidFill>
                <a:schemeClr val="dk1"/>
              </a:solidFill>
              <a:latin typeface="Calibri"/>
              <a:ea typeface="Calibri"/>
              <a:cs typeface="Calibri"/>
              <a:sym typeface="Calibri"/>
            </a:endParaRPr>
          </a:p>
          <a:p>
            <a:pPr marL="457200" marR="0" lvl="0" indent="-304800" algn="l" rtl="0">
              <a:lnSpc>
                <a:spcPct val="100000"/>
              </a:lnSpc>
              <a:spcBef>
                <a:spcPts val="0"/>
              </a:spcBef>
              <a:spcAft>
                <a:spcPts val="0"/>
              </a:spcAft>
              <a:buClr>
                <a:schemeClr val="dk1"/>
              </a:buClr>
              <a:buSzPts val="1200"/>
              <a:buFont typeface="Calibri"/>
              <a:buChar char="●"/>
            </a:pPr>
            <a:r>
              <a:rPr lang="en" sz="1200" b="0" i="0" u="none" strike="noStrike" cap="none">
                <a:solidFill>
                  <a:schemeClr val="dk1"/>
                </a:solidFill>
                <a:latin typeface="Calibri"/>
                <a:ea typeface="Calibri"/>
                <a:cs typeface="Calibri"/>
                <a:sym typeface="Calibri"/>
              </a:rPr>
              <a:t>Microsoft observer seat</a:t>
            </a:r>
            <a:endParaRPr sz="1200" b="0" i="0" u="none" strike="noStrike" cap="none">
              <a:solidFill>
                <a:schemeClr val="dk1"/>
              </a:solidFill>
              <a:latin typeface="Calibri"/>
              <a:ea typeface="Calibri"/>
              <a:cs typeface="Calibri"/>
              <a:sym typeface="Calibri"/>
            </a:endParaRPr>
          </a:p>
        </p:txBody>
      </p:sp>
      <p:sp>
        <p:nvSpPr>
          <p:cNvPr id="99" name="Google Shape;99;p17"/>
          <p:cNvSpPr txBox="1"/>
          <p:nvPr/>
        </p:nvSpPr>
        <p:spPr>
          <a:xfrm>
            <a:off x="72300" y="3345525"/>
            <a:ext cx="1566000" cy="169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rgbClr val="000000"/>
                </a:solidFill>
                <a:latin typeface="Calibri"/>
                <a:ea typeface="Calibri"/>
                <a:cs typeface="Calibri"/>
                <a:sym typeface="Calibri"/>
              </a:rPr>
              <a:t>Morse code for Pizza?</a:t>
            </a:r>
            <a:endParaRPr sz="12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400" b="1" i="0" u="none" strike="noStrike" cap="none">
                <a:solidFill>
                  <a:srgbClr val="FF0000"/>
                </a:solidFill>
                <a:latin typeface="Calibri"/>
                <a:ea typeface="Calibri"/>
                <a:cs typeface="Calibri"/>
                <a:sym typeface="Calibri"/>
              </a:rPr>
              <a:t> .--.   ..   --..   --..   .- </a:t>
            </a:r>
            <a:endParaRPr sz="1400" b="1" i="0" u="none" strike="noStrike" cap="none">
              <a:solidFill>
                <a:srgbClr val="FF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rgbClr val="000000"/>
                </a:solidFill>
                <a:latin typeface="Calibri"/>
                <a:ea typeface="Calibri"/>
                <a:cs typeface="Calibri"/>
                <a:sym typeface="Calibri"/>
              </a:rPr>
              <a:t>or </a:t>
            </a:r>
            <a:endParaRPr sz="12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1" i="0" u="none" strike="noStrike" cap="none">
                <a:solidFill>
                  <a:srgbClr val="FF0000"/>
                </a:solidFill>
                <a:latin typeface="Calibri"/>
                <a:ea typeface="Calibri"/>
                <a:cs typeface="Calibri"/>
                <a:sym typeface="Calibri"/>
              </a:rPr>
              <a:t>di-da-da-dit </a:t>
            </a:r>
            <a:endParaRPr sz="1200" b="1" i="0" u="none" strike="noStrike" cap="none">
              <a:solidFill>
                <a:srgbClr val="FF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1" i="0" u="none" strike="noStrike" cap="none">
                <a:solidFill>
                  <a:srgbClr val="FF0000"/>
                </a:solidFill>
                <a:latin typeface="Calibri"/>
                <a:ea typeface="Calibri"/>
                <a:cs typeface="Calibri"/>
                <a:sym typeface="Calibri"/>
              </a:rPr>
              <a:t>di-dit </a:t>
            </a:r>
            <a:endParaRPr sz="1200" b="1" i="0" u="none" strike="noStrike" cap="none">
              <a:solidFill>
                <a:srgbClr val="FF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1" i="0" u="none" strike="noStrike" cap="none">
                <a:solidFill>
                  <a:srgbClr val="FF0000"/>
                </a:solidFill>
                <a:latin typeface="Calibri"/>
                <a:ea typeface="Calibri"/>
                <a:cs typeface="Calibri"/>
                <a:sym typeface="Calibri"/>
              </a:rPr>
              <a:t>da-da-di-dit </a:t>
            </a:r>
            <a:endParaRPr sz="1200" b="1" i="0" u="none" strike="noStrike" cap="none">
              <a:solidFill>
                <a:srgbClr val="FF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1" i="0" u="none" strike="noStrike" cap="none">
                <a:solidFill>
                  <a:srgbClr val="FF0000"/>
                </a:solidFill>
                <a:latin typeface="Calibri"/>
                <a:ea typeface="Calibri"/>
                <a:cs typeface="Calibri"/>
                <a:sym typeface="Calibri"/>
              </a:rPr>
              <a:t>da-da-di-dit </a:t>
            </a:r>
            <a:endParaRPr sz="1200" b="1" i="0" u="none" strike="noStrike" cap="none">
              <a:solidFill>
                <a:srgbClr val="FF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1" i="0" u="none" strike="noStrike" cap="none">
                <a:solidFill>
                  <a:srgbClr val="FF0000"/>
                </a:solidFill>
                <a:latin typeface="Calibri"/>
                <a:ea typeface="Calibri"/>
                <a:cs typeface="Calibri"/>
                <a:sym typeface="Calibri"/>
              </a:rPr>
              <a:t>di-dah</a:t>
            </a:r>
            <a:endParaRPr sz="1200" b="1" i="0" u="none" strike="noStrike" cap="none">
              <a:solidFill>
                <a:srgbClr val="FF0000"/>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18"/>
          <p:cNvSpPr txBox="1"/>
          <p:nvPr/>
        </p:nvSpPr>
        <p:spPr>
          <a:xfrm>
            <a:off x="119316" y="0"/>
            <a:ext cx="287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Misc 3</a:t>
            </a:r>
            <a:endParaRPr sz="2000" b="1" i="0" u="none" strike="noStrike" cap="none">
              <a:solidFill>
                <a:srgbClr val="000000"/>
              </a:solidFill>
              <a:latin typeface="Calibri"/>
              <a:ea typeface="Calibri"/>
              <a:cs typeface="Calibri"/>
              <a:sym typeface="Calibri"/>
            </a:endParaRPr>
          </a:p>
        </p:txBody>
      </p:sp>
      <p:sp>
        <p:nvSpPr>
          <p:cNvPr id="105" name="Google Shape;105;p18"/>
          <p:cNvSpPr txBox="1"/>
          <p:nvPr/>
        </p:nvSpPr>
        <p:spPr>
          <a:xfrm>
            <a:off x="119337" y="426947"/>
            <a:ext cx="4381500" cy="23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300" b="1" i="0" u="none" strike="noStrike" cap="none">
                <a:solidFill>
                  <a:srgbClr val="FF0000"/>
                </a:solidFill>
                <a:latin typeface="Calibri"/>
                <a:ea typeface="Calibri"/>
                <a:cs typeface="Calibri"/>
                <a:sym typeface="Calibri"/>
              </a:rPr>
              <a:t>Google</a:t>
            </a:r>
            <a:r>
              <a:rPr lang="en" sz="1300" b="0" i="0" u="none" strike="noStrike" cap="none">
                <a:solidFill>
                  <a:schemeClr val="dk1"/>
                </a:solidFill>
                <a:latin typeface="Calibri"/>
                <a:ea typeface="Calibri"/>
                <a:cs typeface="Calibri"/>
                <a:sym typeface="Calibri"/>
              </a:rPr>
              <a:t> battles </a:t>
            </a:r>
            <a:r>
              <a:rPr lang="en" sz="1300" b="1" i="0" u="none" strike="noStrike" cap="none">
                <a:solidFill>
                  <a:srgbClr val="FF0000"/>
                </a:solidFill>
                <a:latin typeface="Calibri"/>
                <a:ea typeface="Calibri"/>
                <a:cs typeface="Calibri"/>
                <a:sym typeface="Calibri"/>
              </a:rPr>
              <a:t>AI-generated spam in search</a:t>
            </a:r>
            <a:r>
              <a:rPr lang="en" sz="1300" b="0" i="0" u="none" strike="noStrike" cap="none">
                <a:solidFill>
                  <a:schemeClr val="dk1"/>
                </a:solidFill>
                <a:latin typeface="Calibri"/>
                <a:ea typeface="Calibri"/>
                <a:cs typeface="Calibri"/>
                <a:sym typeface="Calibri"/>
              </a:rPr>
              <a:t>.</a:t>
            </a:r>
            <a:endParaRPr sz="1000" b="0" i="0" u="none" strike="noStrike" cap="none">
              <a:solidFill>
                <a:schemeClr val="dk1"/>
              </a:solidFill>
              <a:latin typeface="Calibri"/>
              <a:ea typeface="Calibri"/>
              <a:cs typeface="Calibri"/>
              <a:sym typeface="Calibri"/>
            </a:endParaRPr>
          </a:p>
        </p:txBody>
      </p:sp>
      <p:sp>
        <p:nvSpPr>
          <p:cNvPr id="106" name="Google Shape;106;p18"/>
          <p:cNvSpPr txBox="1"/>
          <p:nvPr/>
        </p:nvSpPr>
        <p:spPr>
          <a:xfrm>
            <a:off x="119337" y="702956"/>
            <a:ext cx="4381500" cy="1037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chemeClr val="dk1"/>
                </a:solidFill>
                <a:latin typeface="Calibri"/>
                <a:ea typeface="Calibri"/>
                <a:cs typeface="Calibri"/>
                <a:sym typeface="Calibri"/>
              </a:rPr>
              <a:t>Korea Advanced Institute of Science and Technology (KAIST) have developed the </a:t>
            </a:r>
            <a:r>
              <a:rPr lang="en" sz="1300" b="1" i="0" u="none" strike="noStrike" cap="none">
                <a:solidFill>
                  <a:srgbClr val="FF0000"/>
                </a:solidFill>
                <a:latin typeface="Calibri"/>
                <a:ea typeface="Calibri"/>
                <a:cs typeface="Calibri"/>
                <a:sym typeface="Calibri"/>
              </a:rPr>
              <a:t>"Complementary-Transformer" (C-Transformer) AI chip</a:t>
            </a:r>
            <a:r>
              <a:rPr lang="en" sz="1300" b="0" i="0" u="none" strike="noStrike" cap="none">
                <a:solidFill>
                  <a:schemeClr val="dk1"/>
                </a:solidFill>
                <a:latin typeface="Calibri"/>
                <a:ea typeface="Calibri"/>
                <a:cs typeface="Calibri"/>
                <a:sym typeface="Calibri"/>
              </a:rPr>
              <a:t> - ultra-low power AI accelerator capable of processing LLMs. It is </a:t>
            </a:r>
            <a:r>
              <a:rPr lang="en" sz="1300" b="1" i="0" u="none" strike="noStrike" cap="none">
                <a:solidFill>
                  <a:srgbClr val="FF0000"/>
                </a:solidFill>
                <a:latin typeface="Calibri"/>
                <a:ea typeface="Calibri"/>
                <a:cs typeface="Calibri"/>
                <a:sym typeface="Calibri"/>
              </a:rPr>
              <a:t>using 625 times less power</a:t>
            </a:r>
            <a:r>
              <a:rPr lang="en" sz="1300" b="0" i="0" u="none" strike="noStrike" cap="none">
                <a:solidFill>
                  <a:schemeClr val="dk1"/>
                </a:solidFill>
                <a:latin typeface="Calibri"/>
                <a:ea typeface="Calibri"/>
                <a:cs typeface="Calibri"/>
                <a:sym typeface="Calibri"/>
              </a:rPr>
              <a:t>, and is 41 times smaller than Nvidia's A100 GPU.</a:t>
            </a:r>
            <a:endParaRPr sz="1300" b="0" i="0" u="none" strike="noStrike" cap="none">
              <a:solidFill>
                <a:schemeClr val="dk1"/>
              </a:solidFill>
              <a:latin typeface="Calibri"/>
              <a:ea typeface="Calibri"/>
              <a:cs typeface="Calibri"/>
              <a:sym typeface="Calibri"/>
            </a:endParaRPr>
          </a:p>
        </p:txBody>
      </p:sp>
      <p:sp>
        <p:nvSpPr>
          <p:cNvPr id="107" name="Google Shape;107;p18"/>
          <p:cNvSpPr txBox="1"/>
          <p:nvPr/>
        </p:nvSpPr>
        <p:spPr>
          <a:xfrm>
            <a:off x="119337" y="1781451"/>
            <a:ext cx="4381500" cy="83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chemeClr val="dk1"/>
                </a:solidFill>
                <a:latin typeface="Calibri"/>
                <a:ea typeface="Calibri"/>
                <a:cs typeface="Calibri"/>
                <a:sym typeface="Calibri"/>
              </a:rPr>
              <a:t>Europe new </a:t>
            </a:r>
            <a:r>
              <a:rPr lang="en" sz="1300" b="1" i="0" u="none" strike="noStrike" cap="none">
                <a:solidFill>
                  <a:srgbClr val="FF0000"/>
                </a:solidFill>
                <a:latin typeface="Calibri"/>
                <a:ea typeface="Calibri"/>
                <a:cs typeface="Calibri"/>
                <a:sym typeface="Calibri"/>
              </a:rPr>
              <a:t>"AI office" at The European Commission</a:t>
            </a:r>
            <a:r>
              <a:rPr lang="en" sz="1300" b="0" i="0" u="none" strike="noStrike" cap="none">
                <a:solidFill>
                  <a:schemeClr val="dk1"/>
                </a:solidFill>
                <a:latin typeface="Calibri"/>
                <a:ea typeface="Calibri"/>
                <a:cs typeface="Calibri"/>
                <a:sym typeface="Calibri"/>
              </a:rPr>
              <a:t> - to serve as the epicenter of AI expertise, support governance structures, identify AI safety risks and develop respective policies to ensure safety.</a:t>
            </a:r>
            <a:endParaRPr sz="1300" b="0" i="0" u="none" strike="noStrike" cap="none">
              <a:solidFill>
                <a:schemeClr val="dk1"/>
              </a:solidFill>
              <a:latin typeface="Calibri"/>
              <a:ea typeface="Calibri"/>
              <a:cs typeface="Calibri"/>
              <a:sym typeface="Calibri"/>
            </a:endParaRPr>
          </a:p>
        </p:txBody>
      </p:sp>
      <p:sp>
        <p:nvSpPr>
          <p:cNvPr id="108" name="Google Shape;108;p18"/>
          <p:cNvSpPr txBox="1"/>
          <p:nvPr/>
        </p:nvSpPr>
        <p:spPr>
          <a:xfrm>
            <a:off x="119337" y="2678842"/>
            <a:ext cx="4381500" cy="23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1" i="0" u="none" strike="noStrike" cap="none">
                <a:solidFill>
                  <a:srgbClr val="FF0000"/>
                </a:solidFill>
                <a:latin typeface="Calibri"/>
                <a:ea typeface="Calibri"/>
                <a:cs typeface="Calibri"/>
                <a:sym typeface="Calibri"/>
              </a:rPr>
              <a:t>Prompt library</a:t>
            </a:r>
            <a:r>
              <a:rPr lang="en" sz="1300" b="0" i="0" u="none" strike="noStrike" cap="none">
                <a:solidFill>
                  <a:schemeClr val="dk1"/>
                </a:solidFill>
                <a:latin typeface="Calibri"/>
                <a:ea typeface="Calibri"/>
                <a:cs typeface="Calibri"/>
                <a:sym typeface="Calibri"/>
              </a:rPr>
              <a:t> - </a:t>
            </a:r>
            <a:r>
              <a:rPr lang="en" sz="1000" b="0" i="0" u="sng" strike="noStrike" cap="none">
                <a:solidFill>
                  <a:schemeClr val="hlink"/>
                </a:solidFill>
                <a:latin typeface="Calibri"/>
                <a:ea typeface="Calibri"/>
                <a:cs typeface="Calibri"/>
                <a:sym typeface="Calibri"/>
                <a:hlinkClick r:id="rId3"/>
              </a:rPr>
              <a:t>https://docs.anthropic.com/claude/prompt-library</a:t>
            </a:r>
            <a:r>
              <a:rPr lang="en"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p:txBody>
      </p:sp>
      <p:pic>
        <p:nvPicPr>
          <p:cNvPr id="109" name="Google Shape;109;p18"/>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5608375" y="1187463"/>
            <a:ext cx="3034875" cy="3219775"/>
          </a:xfrm>
          <a:prstGeom prst="rect">
            <a:avLst/>
          </a:prstGeom>
          <a:noFill/>
          <a:ln w="9525" cap="flat" cmpd="sng">
            <a:solidFill>
              <a:srgbClr val="3C78D8"/>
            </a:solidFill>
            <a:prstDash val="solid"/>
            <a:round/>
            <a:headEnd type="none" w="sm" len="sm"/>
            <a:tailEnd type="none" w="sm" len="sm"/>
          </a:ln>
        </p:spPr>
      </p:pic>
      <p:sp>
        <p:nvSpPr>
          <p:cNvPr id="110" name="Google Shape;110;p18"/>
          <p:cNvSpPr txBox="1"/>
          <p:nvPr/>
        </p:nvSpPr>
        <p:spPr>
          <a:xfrm>
            <a:off x="119337" y="2975951"/>
            <a:ext cx="4381500" cy="544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1" i="0" u="none" strike="noStrike" cap="none">
                <a:solidFill>
                  <a:srgbClr val="FF0000"/>
                </a:solidFill>
                <a:latin typeface="Calibri"/>
                <a:ea typeface="Calibri"/>
                <a:cs typeface="Calibri"/>
                <a:sym typeface="Calibri"/>
              </a:rPr>
              <a:t>Train Mixtral on consumer hardware</a:t>
            </a:r>
            <a:r>
              <a:rPr lang="en" sz="1300" b="0" i="0" u="none" strike="noStrike" cap="none">
                <a:solidFill>
                  <a:schemeClr val="dk1"/>
                </a:solidFill>
                <a:latin typeface="Calibri"/>
                <a:ea typeface="Calibri"/>
                <a:cs typeface="Calibri"/>
                <a:sym typeface="Calibri"/>
              </a:rPr>
              <a:t>:</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000" b="0" i="0" u="sng" strike="noStrike" cap="none">
                <a:solidFill>
                  <a:schemeClr val="hlink"/>
                </a:solidFill>
                <a:latin typeface="Calibri"/>
                <a:ea typeface="Calibri"/>
                <a:cs typeface="Calibri"/>
                <a:sym typeface="Calibri"/>
                <a:hlinkClick r:id="rId5"/>
              </a:rPr>
              <a:t>https://github.com/OpenAccess-AI-Collective/axolotl/blob/main/examples/mistral/mixtral-qlora-fsdp.yml</a:t>
            </a:r>
            <a:r>
              <a:rPr lang="en"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p:txBody>
      </p:sp>
      <p:sp>
        <p:nvSpPr>
          <p:cNvPr id="111" name="Google Shape;111;p18"/>
          <p:cNvSpPr txBox="1"/>
          <p:nvPr/>
        </p:nvSpPr>
        <p:spPr>
          <a:xfrm>
            <a:off x="119325" y="3580854"/>
            <a:ext cx="4381500" cy="39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x.ai </a:t>
            </a:r>
            <a:r>
              <a:rPr lang="en" sz="1300">
                <a:solidFill>
                  <a:schemeClr val="dk1"/>
                </a:solidFill>
                <a:latin typeface="Calibri"/>
                <a:ea typeface="Calibri"/>
                <a:cs typeface="Calibri"/>
                <a:sym typeface="Calibri"/>
              </a:rPr>
              <a:t>- open-sourcing </a:t>
            </a:r>
            <a:r>
              <a:rPr lang="en" sz="1300" b="1">
                <a:solidFill>
                  <a:srgbClr val="FF0000"/>
                </a:solidFill>
                <a:latin typeface="Calibri"/>
                <a:ea typeface="Calibri"/>
                <a:cs typeface="Calibri"/>
                <a:sym typeface="Calibri"/>
              </a:rPr>
              <a:t>Grok</a:t>
            </a:r>
            <a:r>
              <a:rPr lang="en" sz="1300">
                <a:solidFill>
                  <a:schemeClr val="dk1"/>
                </a:solidFill>
                <a:latin typeface="Calibri"/>
                <a:ea typeface="Calibri"/>
                <a:cs typeface="Calibri"/>
                <a:sym typeface="Calibri"/>
              </a:rPr>
              <a:t> this week !</a:t>
            </a:r>
            <a:endParaRPr sz="13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6"/>
              </a:rPr>
              <a:t>https://twitter.com/elonmusk/status/1767108624038449405</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112" name="Google Shape;112;p18"/>
          <p:cNvSpPr txBox="1"/>
          <p:nvPr/>
        </p:nvSpPr>
        <p:spPr>
          <a:xfrm>
            <a:off x="119325" y="4031854"/>
            <a:ext cx="4381500" cy="43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One year anniversary of </a:t>
            </a:r>
            <a:r>
              <a:rPr lang="en" sz="1300" b="1">
                <a:solidFill>
                  <a:srgbClr val="FF0000"/>
                </a:solidFill>
                <a:latin typeface="Calibri"/>
                <a:ea typeface="Calibri"/>
                <a:cs typeface="Calibri"/>
                <a:sym typeface="Calibri"/>
              </a:rPr>
              <a:t>llama.cpp</a:t>
            </a:r>
            <a:r>
              <a:rPr lang="en" sz="1300">
                <a:solidFill>
                  <a:schemeClr val="dk1"/>
                </a:solidFill>
                <a:latin typeface="Calibri"/>
                <a:ea typeface="Calibri"/>
                <a:cs typeface="Calibri"/>
                <a:sym typeface="Calibri"/>
              </a:rPr>
              <a:t> (March 9, 2023). </a:t>
            </a:r>
            <a:endParaRPr sz="13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u="sng">
                <a:solidFill>
                  <a:schemeClr val="hlink"/>
                </a:solidFill>
                <a:latin typeface="Calibri"/>
                <a:ea typeface="Calibri"/>
                <a:cs typeface="Calibri"/>
                <a:sym typeface="Calibri"/>
                <a:hlinkClick r:id="rId7"/>
              </a:rPr>
              <a:t>https://github.com/ggerganov/llama.cpp</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sp>
        <p:nvSpPr>
          <p:cNvPr id="113" name="Google Shape;113;p18"/>
          <p:cNvSpPr/>
          <p:nvPr/>
        </p:nvSpPr>
        <p:spPr>
          <a:xfrm>
            <a:off x="4735875" y="2727400"/>
            <a:ext cx="644700" cy="188400"/>
          </a:xfrm>
          <a:prstGeom prst="rightArrow">
            <a:avLst>
              <a:gd name="adj1" fmla="val 50000"/>
              <a:gd name="adj2" fmla="val 50000"/>
            </a:avLst>
          </a:prstGeom>
          <a:noFill/>
          <a:ln w="9525" cap="flat" cmpd="sng">
            <a:solidFill>
              <a:srgbClr val="3C78D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4" name="Google Shape;114;p18"/>
          <p:cNvSpPr txBox="1"/>
          <p:nvPr/>
        </p:nvSpPr>
        <p:spPr>
          <a:xfrm>
            <a:off x="119325" y="4566629"/>
            <a:ext cx="4381500" cy="43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Fireworks.ai</a:t>
            </a:r>
            <a:r>
              <a:rPr lang="en" sz="1300">
                <a:solidFill>
                  <a:schemeClr val="dk1"/>
                </a:solidFill>
                <a:latin typeface="Calibri"/>
                <a:ea typeface="Calibri"/>
                <a:cs typeface="Calibri"/>
                <a:sym typeface="Calibri"/>
              </a:rPr>
              <a:t> - very fast and cheap AI service</a:t>
            </a:r>
            <a:br>
              <a:rPr lang="en" sz="1300">
                <a:solidFill>
                  <a:schemeClr val="dk1"/>
                </a:solidFill>
                <a:latin typeface="Calibri"/>
                <a:ea typeface="Calibri"/>
                <a:cs typeface="Calibri"/>
                <a:sym typeface="Calibri"/>
              </a:rPr>
            </a:br>
            <a:r>
              <a:rPr lang="en" sz="1300" u="sng">
                <a:solidFill>
                  <a:schemeClr val="hlink"/>
                </a:solidFill>
                <a:latin typeface="Calibri"/>
                <a:ea typeface="Calibri"/>
                <a:cs typeface="Calibri"/>
                <a:sym typeface="Calibri"/>
                <a:hlinkClick r:id="rId8"/>
              </a:rPr>
              <a:t>https://fireworks.ai</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sp>
        <p:nvSpPr>
          <p:cNvPr id="115" name="Google Shape;115;p18"/>
          <p:cNvSpPr txBox="1"/>
          <p:nvPr/>
        </p:nvSpPr>
        <p:spPr>
          <a:xfrm>
            <a:off x="4688700" y="4719029"/>
            <a:ext cx="4381500" cy="23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GroqCloud</a:t>
            </a:r>
            <a:r>
              <a:rPr lang="en" sz="1300">
                <a:solidFill>
                  <a:schemeClr val="dk1"/>
                </a:solidFill>
                <a:latin typeface="Calibri"/>
                <a:ea typeface="Calibri"/>
                <a:cs typeface="Calibri"/>
                <a:sym typeface="Calibri"/>
              </a:rPr>
              <a:t> - API for AI </a:t>
            </a:r>
            <a:r>
              <a:rPr lang="en" sz="1000">
                <a:solidFill>
                  <a:schemeClr val="dk1"/>
                </a:solidFill>
                <a:latin typeface="Calibri"/>
                <a:ea typeface="Calibri"/>
                <a:cs typeface="Calibri"/>
                <a:sym typeface="Calibri"/>
              </a:rPr>
              <a:t>- </a:t>
            </a:r>
            <a:r>
              <a:rPr lang="en" sz="1000" u="sng">
                <a:solidFill>
                  <a:schemeClr val="hlink"/>
                </a:solidFill>
                <a:latin typeface="Calibri"/>
                <a:ea typeface="Calibri"/>
                <a:cs typeface="Calibri"/>
                <a:sym typeface="Calibri"/>
                <a:hlinkClick r:id="rId9"/>
              </a:rPr>
              <a:t>https://wow.groq.com</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10"/>
              </a:rPr>
              <a:t>https://groq.com</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19"/>
          <p:cNvSpPr txBox="1"/>
          <p:nvPr/>
        </p:nvSpPr>
        <p:spPr>
          <a:xfrm>
            <a:off x="119316" y="0"/>
            <a:ext cx="287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Misc </a:t>
            </a:r>
            <a:r>
              <a:rPr lang="en" sz="2000" b="1">
                <a:solidFill>
                  <a:schemeClr val="dk1"/>
                </a:solidFill>
                <a:latin typeface="Calibri"/>
                <a:ea typeface="Calibri"/>
                <a:cs typeface="Calibri"/>
                <a:sym typeface="Calibri"/>
              </a:rPr>
              <a:t>4</a:t>
            </a:r>
            <a:endParaRPr sz="2000" b="1" i="0" u="none" strike="noStrike" cap="none">
              <a:solidFill>
                <a:srgbClr val="000000"/>
              </a:solidFill>
              <a:latin typeface="Calibri"/>
              <a:ea typeface="Calibri"/>
              <a:cs typeface="Calibri"/>
              <a:sym typeface="Calibri"/>
            </a:endParaRPr>
          </a:p>
        </p:txBody>
      </p:sp>
      <p:sp>
        <p:nvSpPr>
          <p:cNvPr id="121" name="Google Shape;121;p19"/>
          <p:cNvSpPr txBox="1"/>
          <p:nvPr/>
        </p:nvSpPr>
        <p:spPr>
          <a:xfrm>
            <a:off x="119337" y="384057"/>
            <a:ext cx="4381500" cy="71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NVIDIA BioNeMo</a:t>
            </a:r>
            <a:r>
              <a:rPr lang="en" sz="1300">
                <a:solidFill>
                  <a:schemeClr val="dk1"/>
                </a:solidFill>
                <a:latin typeface="Calibri"/>
                <a:ea typeface="Calibri"/>
                <a:cs typeface="Calibri"/>
                <a:sym typeface="Calibri"/>
              </a:rPr>
              <a:t> Framework on Amazon SageMaker</a:t>
            </a:r>
            <a:br>
              <a:rPr lang="en" sz="1300">
                <a:solidFill>
                  <a:schemeClr val="dk1"/>
                </a:solidFill>
                <a:latin typeface="Calibri"/>
                <a:ea typeface="Calibri"/>
                <a:cs typeface="Calibri"/>
                <a:sym typeface="Calibri"/>
              </a:rPr>
            </a:br>
            <a:r>
              <a:rPr lang="en" sz="1300">
                <a:solidFill>
                  <a:schemeClr val="dk1"/>
                </a:solidFill>
                <a:latin typeface="Calibri"/>
                <a:ea typeface="Calibri"/>
                <a:cs typeface="Calibri"/>
                <a:sym typeface="Calibri"/>
              </a:rPr>
              <a:t>is a generative AI platform designed for drug discovery</a:t>
            </a:r>
            <a:endParaRPr sz="9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u="sng">
                <a:solidFill>
                  <a:schemeClr val="hlink"/>
                </a:solidFill>
                <a:latin typeface="Calibri"/>
                <a:ea typeface="Calibri"/>
                <a:cs typeface="Calibri"/>
                <a:sym typeface="Calibri"/>
                <a:hlinkClick r:id="rId3"/>
              </a:rPr>
              <a:t>https://aws.amazon.com/blogs/industries/find-the-next-blockbuster-with-nvidia-bionemo-framework-on-amazon-sagemaker/</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22" name="Google Shape;122;p19"/>
          <p:cNvSpPr txBox="1"/>
          <p:nvPr/>
        </p:nvSpPr>
        <p:spPr>
          <a:xfrm>
            <a:off x="119337" y="1156006"/>
            <a:ext cx="4381500" cy="57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A new LLM a day keeps the GPUs away !</a:t>
            </a:r>
            <a:endParaRPr sz="13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A TPU keeps GPU away !</a:t>
            </a:r>
            <a:endParaRPr sz="13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u="sng">
                <a:solidFill>
                  <a:schemeClr val="hlink"/>
                </a:solidFill>
                <a:latin typeface="Calibri"/>
                <a:ea typeface="Calibri"/>
                <a:cs typeface="Calibri"/>
                <a:sym typeface="Calibri"/>
                <a:hlinkClick r:id="rId4"/>
              </a:rPr>
              <a:t>https://twitter.com/OriolVinyalsML/status/1767643472893276510</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23" name="Google Shape;123;p19"/>
          <p:cNvSpPr txBox="1"/>
          <p:nvPr/>
        </p:nvSpPr>
        <p:spPr>
          <a:xfrm>
            <a:off x="4673637" y="384051"/>
            <a:ext cx="4381500" cy="4100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⌘-r </a:t>
            </a:r>
            <a:r>
              <a:rPr lang="en" sz="1200">
                <a:latin typeface="Calibri"/>
                <a:ea typeface="Calibri"/>
                <a:cs typeface="Calibri"/>
                <a:sym typeface="Calibri"/>
              </a:rPr>
              <a:t>release by Cohere  ( </a:t>
            </a:r>
            <a:r>
              <a:rPr lang="en" sz="1200" u="sng">
                <a:solidFill>
                  <a:schemeClr val="hlink"/>
                </a:solidFill>
                <a:latin typeface="Calibri"/>
                <a:ea typeface="Calibri"/>
                <a:cs typeface="Calibri"/>
                <a:sym typeface="Calibri"/>
                <a:hlinkClick r:id="rId5"/>
              </a:rPr>
              <a:t>https://cohere.com</a:t>
            </a:r>
            <a:r>
              <a:rPr lang="en" sz="1200">
                <a:latin typeface="Calibri"/>
                <a:ea typeface="Calibri"/>
                <a:cs typeface="Calibri"/>
                <a:sym typeface="Calibri"/>
              </a:rPr>
              <a:t> )</a:t>
            </a:r>
            <a:endParaRPr sz="1200">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u="sng">
                <a:solidFill>
                  <a:schemeClr val="hlink"/>
                </a:solidFill>
                <a:latin typeface="Calibri"/>
                <a:ea typeface="Calibri"/>
                <a:cs typeface="Calibri"/>
                <a:sym typeface="Calibri"/>
                <a:hlinkClick r:id="rId6"/>
              </a:rPr>
              <a:t>https://txt.cohere.com/command-r/</a:t>
            </a:r>
            <a:r>
              <a:rPr lang="en" sz="1200">
                <a:latin typeface="Calibri"/>
                <a:ea typeface="Calibri"/>
                <a:cs typeface="Calibri"/>
                <a:sym typeface="Calibri"/>
              </a:rPr>
              <a:t> </a:t>
            </a:r>
            <a:endParaRPr sz="1200">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u="sng">
                <a:solidFill>
                  <a:schemeClr val="hlink"/>
                </a:solidFill>
                <a:latin typeface="Calibri"/>
                <a:ea typeface="Calibri"/>
                <a:cs typeface="Calibri"/>
                <a:sym typeface="Calibri"/>
                <a:hlinkClick r:id="rId7"/>
              </a:rPr>
              <a:t>https://twitter.com/nickfrosst/status/1767566742652416442</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Command-R</a:t>
            </a:r>
            <a:r>
              <a:rPr lang="en" sz="1200">
                <a:solidFill>
                  <a:schemeClr val="dk1"/>
                </a:solidFill>
                <a:latin typeface="Calibri"/>
                <a:ea typeface="Calibri"/>
                <a:cs typeface="Calibri"/>
                <a:sym typeface="Calibri"/>
              </a:rPr>
              <a:t> is a generative model optimized for long context tasks (such as RAG) and using external APIs and tools.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It is designed to work in concert with Embed and Rerank models to provide best-in-class integration for RAG applications.</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Strong accuracy on RAG and Tool Use</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Low latency, and high throughput</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Longer 128k context and lower pricing</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Strong capabilities across 10 key languages</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Model weights available on HuggingFace for research and evaluation</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Model is available on </a:t>
            </a:r>
            <a:r>
              <a:rPr lang="en" sz="1200" b="1">
                <a:solidFill>
                  <a:srgbClr val="FF0000"/>
                </a:solidFill>
                <a:latin typeface="Calibri"/>
                <a:ea typeface="Calibri"/>
                <a:cs typeface="Calibri"/>
                <a:sym typeface="Calibri"/>
              </a:rPr>
              <a:t>Cohere’s hosted API</a:t>
            </a:r>
            <a:r>
              <a:rPr lang="en" sz="1200">
                <a:solidFill>
                  <a:schemeClr val="dk1"/>
                </a:solidFill>
                <a:latin typeface="Calibri"/>
                <a:ea typeface="Calibri"/>
                <a:cs typeface="Calibri"/>
                <a:sym typeface="Calibri"/>
              </a:rPr>
              <a:t> and on clouds</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b="1">
                <a:solidFill>
                  <a:srgbClr val="FF0000"/>
                </a:solidFill>
                <a:latin typeface="Calibri"/>
                <a:ea typeface="Calibri"/>
                <a:cs typeface="Calibri"/>
                <a:sym typeface="Calibri"/>
              </a:rPr>
              <a:t>Cohere</a:t>
            </a:r>
            <a:r>
              <a:rPr lang="en" sz="1200">
                <a:solidFill>
                  <a:schemeClr val="dk1"/>
                </a:solidFill>
                <a:latin typeface="Calibri"/>
                <a:ea typeface="Calibri"/>
                <a:cs typeface="Calibri"/>
                <a:sym typeface="Calibri"/>
              </a:rPr>
              <a:t> is a private company, since 2019, 250 employees, Toronto, California, New York, London. Cohere provides GenAI solutions:</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LLMs - text generation, translations, classifications, summarization</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Chatbots and AI assistants </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Customization and flexibility, fine-tuning, deployment options (API, cloud, on-prem)</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Privacy focus</a:t>
            </a:r>
            <a:endParaRPr sz="1200">
              <a:solidFill>
                <a:schemeClr val="dk1"/>
              </a:solidFill>
              <a:latin typeface="Calibri"/>
              <a:ea typeface="Calibri"/>
              <a:cs typeface="Calibri"/>
              <a:sym typeface="Calibri"/>
            </a:endParaRPr>
          </a:p>
        </p:txBody>
      </p:sp>
      <p:sp>
        <p:nvSpPr>
          <p:cNvPr id="124" name="Google Shape;124;p19"/>
          <p:cNvSpPr txBox="1"/>
          <p:nvPr/>
        </p:nvSpPr>
        <p:spPr>
          <a:xfrm>
            <a:off x="119337" y="1815506"/>
            <a:ext cx="4381500" cy="197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SIMA = Scalable Instructable Multiworld Agent (Google Deepmind)</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SIMA is a general AI agent for games &amp; 3D virtual settings.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SIMA is the first agent that has demonstrated that it can follow natural-language instructions to carry out a wide range of tasks across a large array of game worlds, similar to how a human would play.</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GOAT of AI: GOAT = Greatest Of All Time</a:t>
            </a:r>
            <a:endParaRPr sz="1200">
              <a:solidFill>
                <a:schemeClr val="dk1"/>
              </a:solidFill>
              <a:latin typeface="Calibri"/>
              <a:ea typeface="Calibri"/>
              <a:cs typeface="Calibri"/>
              <a:sym typeface="Calibri"/>
            </a:endParaRPr>
          </a:p>
          <a:p>
            <a:pPr marL="228600" lvl="0" indent="-17145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8"/>
              </a:rPr>
              <a:t>https://twitter.com/demishassabis/status/1767977070603219255</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228600" lvl="0" indent="-17145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9"/>
              </a:rPr>
              <a:t>https://deepmind.google/discover/blog/sima-generalist-ai-agent-for-3d-virtual-environments/</a:t>
            </a:r>
            <a:endParaRPr sz="900">
              <a:solidFill>
                <a:schemeClr val="dk1"/>
              </a:solidFill>
              <a:latin typeface="Calibri"/>
              <a:ea typeface="Calibri"/>
              <a:cs typeface="Calibri"/>
              <a:sym typeface="Calibri"/>
            </a:endParaRPr>
          </a:p>
          <a:p>
            <a:pPr marL="228600" lvl="0" indent="-17145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10"/>
              </a:rPr>
              <a:t>https://storage.googleapis.com/deepmind-media/DeepMind.com/Blog/sima-generalist-ai-agent-for-3d-virtual-environments/Scaling%20Instructable%20Agents%20Across%20Many%20Simulated%20Worlds.pdf</a:t>
            </a:r>
            <a:endParaRPr sz="1200">
              <a:solidFill>
                <a:schemeClr val="dk1"/>
              </a:solidFill>
              <a:latin typeface="Calibri"/>
              <a:ea typeface="Calibri"/>
              <a:cs typeface="Calibri"/>
              <a:sym typeface="Calibri"/>
            </a:endParaRPr>
          </a:p>
        </p:txBody>
      </p:sp>
      <p:sp>
        <p:nvSpPr>
          <p:cNvPr id="125" name="Google Shape;125;p19"/>
          <p:cNvSpPr txBox="1"/>
          <p:nvPr/>
        </p:nvSpPr>
        <p:spPr>
          <a:xfrm>
            <a:off x="119337" y="3875706"/>
            <a:ext cx="4381500" cy="59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Applied Intuition</a:t>
            </a:r>
            <a:r>
              <a:rPr lang="en" sz="1300">
                <a:latin typeface="Calibri"/>
                <a:ea typeface="Calibri"/>
                <a:cs typeface="Calibri"/>
                <a:sym typeface="Calibri"/>
              </a:rPr>
              <a:t> (CA) raises $250 Mln in Series E funding at a $6 Bln valuation - Autonomous vehicle software</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11"/>
              </a:rPr>
              <a:t>https://www.appliedintuition.com</a:t>
            </a:r>
            <a:endParaRPr sz="13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20"/>
          <p:cNvSpPr txBox="1"/>
          <p:nvPr/>
        </p:nvSpPr>
        <p:spPr>
          <a:xfrm>
            <a:off x="119316" y="0"/>
            <a:ext cx="287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Training Llama3</a:t>
            </a:r>
            <a:endParaRPr sz="2000" b="1" i="0" u="none" strike="noStrike" cap="none">
              <a:solidFill>
                <a:srgbClr val="000000"/>
              </a:solidFill>
              <a:latin typeface="Calibri"/>
              <a:ea typeface="Calibri"/>
              <a:cs typeface="Calibri"/>
              <a:sym typeface="Calibri"/>
            </a:endParaRPr>
          </a:p>
        </p:txBody>
      </p:sp>
      <p:sp>
        <p:nvSpPr>
          <p:cNvPr id="131" name="Google Shape;131;p20"/>
          <p:cNvSpPr txBox="1"/>
          <p:nvPr/>
        </p:nvSpPr>
        <p:spPr>
          <a:xfrm>
            <a:off x="119325" y="397700"/>
            <a:ext cx="5176800" cy="1237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Meta Llama3 training:</a:t>
            </a:r>
            <a:endParaRPr sz="1200">
              <a:solidFill>
                <a:schemeClr val="dk1"/>
              </a:solidFill>
              <a:latin typeface="Calibri"/>
              <a:ea typeface="Calibri"/>
              <a:cs typeface="Calibri"/>
              <a:sym typeface="Calibri"/>
            </a:endParaRPr>
          </a:p>
          <a:p>
            <a:pPr marL="228600" marR="0" lvl="0" indent="-17145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https://engineering.fb.com/2024/03/12/data-center-engineering/building-metas-genai-infrastructure/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228600" marR="0" lvl="0" indent="-17145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https://twitter.com/soumithchintala/status/1767579981419315400</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24K H100 Cluster Pods</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PyTorch, NCCL library from Nvidia - </a:t>
            </a:r>
            <a:r>
              <a:rPr lang="en" sz="900" u="sng">
                <a:solidFill>
                  <a:schemeClr val="hlink"/>
                </a:solidFill>
                <a:latin typeface="Calibri"/>
                <a:ea typeface="Calibri"/>
                <a:cs typeface="Calibri"/>
                <a:sym typeface="Calibri"/>
                <a:hlinkClick r:id="rId5"/>
              </a:rPr>
              <a:t>https://developer.nvidia.com/nccl</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Network: RoCEv2 - </a:t>
            </a:r>
            <a:r>
              <a:rPr lang="en" sz="900" u="sng">
                <a:solidFill>
                  <a:schemeClr val="hlink"/>
                </a:solidFill>
                <a:latin typeface="Calibri"/>
                <a:ea typeface="Calibri"/>
                <a:cs typeface="Calibri"/>
                <a:sym typeface="Calibri"/>
                <a:hlinkClick r:id="rId6"/>
              </a:rPr>
              <a:t>https://docs.nvidia.com/networking/display/winofv55053000/rocev2</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Storage: NFS/FUSE based on Tectonic/Hammerspace</a:t>
            </a:r>
            <a:endParaRPr sz="1200">
              <a:solidFill>
                <a:schemeClr val="dk1"/>
              </a:solidFill>
              <a:latin typeface="Calibri"/>
              <a:ea typeface="Calibri"/>
              <a:cs typeface="Calibri"/>
              <a:sym typeface="Calibri"/>
            </a:endParaRPr>
          </a:p>
        </p:txBody>
      </p:sp>
      <p:pic>
        <p:nvPicPr>
          <p:cNvPr id="132" name="Google Shape;132;p2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2207625" y="1706500"/>
            <a:ext cx="4703977" cy="33697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21"/>
          <p:cNvSpPr txBox="1"/>
          <p:nvPr/>
        </p:nvSpPr>
        <p:spPr>
          <a:xfrm>
            <a:off x="119316" y="0"/>
            <a:ext cx="287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Nvidia</a:t>
            </a:r>
            <a:endParaRPr sz="2000" b="1" i="0" u="none" strike="noStrike" cap="none">
              <a:solidFill>
                <a:srgbClr val="000000"/>
              </a:solidFill>
              <a:latin typeface="Calibri"/>
              <a:ea typeface="Calibri"/>
              <a:cs typeface="Calibri"/>
              <a:sym typeface="Calibri"/>
            </a:endParaRPr>
          </a:p>
        </p:txBody>
      </p:sp>
      <p:sp>
        <p:nvSpPr>
          <p:cNvPr id="138" name="Google Shape;138;p21"/>
          <p:cNvSpPr txBox="1"/>
          <p:nvPr/>
        </p:nvSpPr>
        <p:spPr>
          <a:xfrm>
            <a:off x="119325" y="397700"/>
            <a:ext cx="4329000" cy="43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Nvidia is now also very active in making an AI model portfolio. </a:t>
            </a:r>
            <a:endParaRPr sz="13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Helps them sell the GPUs</a:t>
            </a:r>
            <a:endParaRPr sz="1300">
              <a:solidFill>
                <a:schemeClr val="dk1"/>
              </a:solidFill>
              <a:latin typeface="Calibri"/>
              <a:ea typeface="Calibri"/>
              <a:cs typeface="Calibri"/>
              <a:sym typeface="Calibri"/>
            </a:endParaRPr>
          </a:p>
        </p:txBody>
      </p:sp>
      <p:pic>
        <p:nvPicPr>
          <p:cNvPr id="139" name="Google Shape;139;p21"/>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119325" y="906099"/>
            <a:ext cx="8479200" cy="1552900"/>
          </a:xfrm>
          <a:prstGeom prst="rect">
            <a:avLst/>
          </a:prstGeom>
          <a:noFill/>
          <a:ln>
            <a:noFill/>
          </a:ln>
        </p:spPr>
      </p:pic>
      <p:pic>
        <p:nvPicPr>
          <p:cNvPr id="140" name="Google Shape;140;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52400" y="2611399"/>
            <a:ext cx="4607995" cy="23797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22"/>
          <p:cNvSpPr txBox="1"/>
          <p:nvPr/>
        </p:nvSpPr>
        <p:spPr>
          <a:xfrm>
            <a:off x="119327" y="0"/>
            <a:ext cx="4048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Enchanted Completions for MacOS</a:t>
            </a:r>
            <a:endParaRPr sz="2000" b="1" i="0" u="none" strike="noStrike" cap="none">
              <a:solidFill>
                <a:srgbClr val="000000"/>
              </a:solidFill>
              <a:latin typeface="Calibri"/>
              <a:ea typeface="Calibri"/>
              <a:cs typeface="Calibri"/>
              <a:sym typeface="Calibri"/>
            </a:endParaRPr>
          </a:p>
        </p:txBody>
      </p:sp>
      <p:sp>
        <p:nvSpPr>
          <p:cNvPr id="146" name="Google Shape;146;p22"/>
          <p:cNvSpPr txBox="1"/>
          <p:nvPr/>
        </p:nvSpPr>
        <p:spPr>
          <a:xfrm>
            <a:off x="119337" y="474356"/>
            <a:ext cx="4381500" cy="223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Enchanted</a:t>
            </a:r>
            <a:r>
              <a:rPr lang="en" sz="1300">
                <a:solidFill>
                  <a:schemeClr val="dk1"/>
                </a:solidFill>
                <a:latin typeface="Calibri"/>
                <a:ea typeface="Calibri"/>
                <a:cs typeface="Calibri"/>
                <a:sym typeface="Calibri"/>
              </a:rPr>
              <a:t> is an open-source app for Apple platform</a:t>
            </a:r>
            <a:br>
              <a:rPr lang="en" sz="1300">
                <a:solidFill>
                  <a:schemeClr val="dk1"/>
                </a:solidFill>
                <a:latin typeface="Calibri"/>
                <a:ea typeface="Calibri"/>
                <a:cs typeface="Calibri"/>
                <a:sym typeface="Calibri"/>
              </a:rPr>
            </a:br>
            <a:r>
              <a:rPr lang="en" sz="1300">
                <a:solidFill>
                  <a:schemeClr val="dk1"/>
                </a:solidFill>
                <a:latin typeface="Calibri"/>
                <a:ea typeface="Calibri"/>
                <a:cs typeface="Calibri"/>
                <a:sym typeface="Calibri"/>
              </a:rPr>
              <a:t>   (macOS/iOS/iPad/iWatch):</a:t>
            </a:r>
            <a:br>
              <a:rPr lang="en" sz="1300">
                <a:solidFill>
                  <a:schemeClr val="dk1"/>
                </a:solidFill>
                <a:latin typeface="Calibri"/>
                <a:ea typeface="Calibri"/>
                <a:cs typeface="Calibri"/>
                <a:sym typeface="Calibri"/>
              </a:rPr>
            </a:br>
            <a:r>
              <a:rPr lang="en" sz="1300" u="sng">
                <a:solidFill>
                  <a:schemeClr val="hlink"/>
                </a:solidFill>
                <a:latin typeface="Calibri"/>
                <a:ea typeface="Calibri"/>
                <a:cs typeface="Calibri"/>
                <a:sym typeface="Calibri"/>
                <a:hlinkClick r:id="rId3"/>
              </a:rPr>
              <a:t>https://twitter.com/amgauge/status/1767272748953248228</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u="sng">
                <a:solidFill>
                  <a:schemeClr val="hlink"/>
                </a:solidFill>
                <a:latin typeface="Calibri"/>
                <a:ea typeface="Calibri"/>
                <a:cs typeface="Calibri"/>
                <a:sym typeface="Calibri"/>
                <a:hlinkClick r:id="rId4"/>
              </a:rPr>
              <a:t>https://github.com/AugustDev/enchanted</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It works with local models using Ollama</a:t>
            </a:r>
            <a:endParaRPr sz="13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Enchanted Completions</a:t>
            </a:r>
            <a:r>
              <a:rPr lang="en" sz="1300">
                <a:solidFill>
                  <a:schemeClr val="dk1"/>
                </a:solidFill>
                <a:latin typeface="Calibri"/>
                <a:ea typeface="Calibri"/>
                <a:cs typeface="Calibri"/>
                <a:sym typeface="Calibri"/>
              </a:rPr>
              <a:t> - invoke them with shortcut menu from any application (editor, email, notes, ...). </a:t>
            </a:r>
            <a:endParaRPr sz="13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Example of completions: summarize, write more, fix grammar, reject politely, etc. You can define your own completions and prompts for them. Then when editing you select the text, invoke the menu - and select the completion to execute on this text.</a:t>
            </a:r>
            <a:endParaRPr sz="1300">
              <a:solidFill>
                <a:schemeClr val="dk1"/>
              </a:solidFill>
              <a:latin typeface="Calibri"/>
              <a:ea typeface="Calibri"/>
              <a:cs typeface="Calibri"/>
              <a:sym typeface="Calibri"/>
            </a:endParaRPr>
          </a:p>
        </p:txBody>
      </p:sp>
      <p:sp>
        <p:nvSpPr>
          <p:cNvPr id="147" name="Google Shape;147;p22"/>
          <p:cNvSpPr txBox="1"/>
          <p:nvPr/>
        </p:nvSpPr>
        <p:spPr>
          <a:xfrm>
            <a:off x="119337" y="2783756"/>
            <a:ext cx="4381500" cy="203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macOS Spotlight panel Ctrl+⌘+K</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Specify system prompt used for every conversations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Conversation history included in the API calls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Markdown support (nicely displays tables/lists/code blocks)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Voice prompts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Image attachments for prompts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Edit message content or submit message with different model</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Delete conversation(s)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Future features: RAG (talk with your files), multiple conversations for macOS</a:t>
            </a:r>
            <a:endParaRPr sz="1300">
              <a:solidFill>
                <a:schemeClr val="dk1"/>
              </a:solidFill>
              <a:latin typeface="Calibri"/>
              <a:ea typeface="Calibri"/>
              <a:cs typeface="Calibri"/>
              <a:sym typeface="Calibri"/>
            </a:endParaRPr>
          </a:p>
        </p:txBody>
      </p:sp>
      <p:pic>
        <p:nvPicPr>
          <p:cNvPr id="148" name="Google Shape;148;p2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37237" y="474350"/>
            <a:ext cx="4338364" cy="2902216"/>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23"/>
          <p:cNvSpPr txBox="1"/>
          <p:nvPr/>
        </p:nvSpPr>
        <p:spPr>
          <a:xfrm>
            <a:off x="119326" y="0"/>
            <a:ext cx="3927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rgbClr val="3C78D8"/>
                </a:solidFill>
                <a:highlight>
                  <a:srgbClr val="FFFFFF"/>
                </a:highlight>
                <a:latin typeface="Calibri"/>
                <a:ea typeface="Calibri"/>
                <a:cs typeface="Calibri"/>
                <a:sym typeface="Calibri"/>
              </a:rPr>
              <a:t>optimum.nvidia</a:t>
            </a:r>
            <a:r>
              <a:rPr lang="en" sz="2000" b="1" i="0" u="none" strike="noStrike" cap="none">
                <a:solidFill>
                  <a:srgbClr val="0F1419"/>
                </a:solidFill>
                <a:highlight>
                  <a:srgbClr val="FFFFFF"/>
                </a:highlight>
                <a:latin typeface="Calibri"/>
                <a:ea typeface="Calibri"/>
                <a:cs typeface="Calibri"/>
                <a:sym typeface="Calibri"/>
              </a:rPr>
              <a:t> from HuggingFace</a:t>
            </a:r>
            <a:endParaRPr sz="2000" b="1" i="0" u="none" strike="noStrike" cap="none">
              <a:solidFill>
                <a:srgbClr val="000000"/>
              </a:solidFill>
              <a:latin typeface="Calibri"/>
              <a:ea typeface="Calibri"/>
              <a:cs typeface="Calibri"/>
              <a:sym typeface="Calibri"/>
            </a:endParaRPr>
          </a:p>
        </p:txBody>
      </p:sp>
      <p:sp>
        <p:nvSpPr>
          <p:cNvPr id="154" name="Google Shape;154;p23"/>
          <p:cNvSpPr txBox="1"/>
          <p:nvPr/>
        </p:nvSpPr>
        <p:spPr>
          <a:xfrm>
            <a:off x="119337" y="2590739"/>
            <a:ext cx="4381500" cy="1037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chemeClr val="dk1"/>
                </a:solidFill>
                <a:latin typeface="Calibri"/>
                <a:ea typeface="Calibri"/>
                <a:cs typeface="Calibri"/>
                <a:sym typeface="Calibri"/>
              </a:rPr>
              <a:t>Optimum-NVIDIA is supported on 4090, L40S, and H100 Tensor Core GPUs; </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chemeClr val="dk1"/>
                </a:solidFill>
                <a:latin typeface="Calibri"/>
                <a:ea typeface="Calibri"/>
                <a:cs typeface="Calibri"/>
                <a:sym typeface="Calibri"/>
              </a:rPr>
              <a:t>it is expected to work on any GPU based on the following architectures: Turing, Ampere (A100, ...), Hopper (H100, ...), Ada-Lovelace (A6000, ...)</a:t>
            </a:r>
            <a:endParaRPr sz="1300" b="0" i="0" u="none" strike="noStrike" cap="none">
              <a:solidFill>
                <a:schemeClr val="dk1"/>
              </a:solidFill>
              <a:latin typeface="Calibri"/>
              <a:ea typeface="Calibri"/>
              <a:cs typeface="Calibri"/>
              <a:sym typeface="Calibri"/>
            </a:endParaRPr>
          </a:p>
        </p:txBody>
      </p:sp>
      <p:sp>
        <p:nvSpPr>
          <p:cNvPr id="155" name="Google Shape;155;p23"/>
          <p:cNvSpPr txBox="1"/>
          <p:nvPr/>
        </p:nvSpPr>
        <p:spPr>
          <a:xfrm>
            <a:off x="5288177" y="367400"/>
            <a:ext cx="3686100" cy="58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300" b="0" i="0" u="none" strike="noStrike" cap="none">
                <a:solidFill>
                  <a:schemeClr val="dk1"/>
                </a:solidFill>
                <a:latin typeface="Calibri"/>
                <a:ea typeface="Calibri"/>
                <a:cs typeface="Calibri"/>
                <a:sym typeface="Calibri"/>
              </a:rPr>
              <a:t>FP8 support is only available on GPUs </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b="0" i="0" u="none" strike="noStrike" cap="none">
                <a:solidFill>
                  <a:schemeClr val="dk1"/>
                </a:solidFill>
                <a:latin typeface="Calibri"/>
                <a:ea typeface="Calibri"/>
                <a:cs typeface="Calibri"/>
                <a:sym typeface="Calibri"/>
              </a:rPr>
              <a:t>based on Hopper and Ada-Lovelace architectures.</a:t>
            </a:r>
            <a:endParaRPr sz="1000" b="0" i="0" u="none" strike="noStrike" cap="none">
              <a:solidFill>
                <a:schemeClr val="dk1"/>
              </a:solidFill>
              <a:latin typeface="Calibri"/>
              <a:ea typeface="Calibri"/>
              <a:cs typeface="Calibri"/>
              <a:sym typeface="Calibri"/>
            </a:endParaRPr>
          </a:p>
        </p:txBody>
      </p:sp>
      <p:sp>
        <p:nvSpPr>
          <p:cNvPr id="156" name="Google Shape;156;p23"/>
          <p:cNvSpPr txBox="1"/>
          <p:nvPr/>
        </p:nvSpPr>
        <p:spPr>
          <a:xfrm>
            <a:off x="119337" y="367397"/>
            <a:ext cx="4381500" cy="2145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000" b="0" i="0" u="sng" strike="noStrike" cap="none">
                <a:solidFill>
                  <a:schemeClr val="hlink"/>
                </a:solidFill>
                <a:latin typeface="Calibri"/>
                <a:ea typeface="Calibri"/>
                <a:cs typeface="Calibri"/>
                <a:sym typeface="Calibri"/>
                <a:hlinkClick r:id="rId3"/>
              </a:rPr>
              <a:t>https://twitter.com/rohanpaul_ai/status/1766887420992299195</a:t>
            </a:r>
            <a:r>
              <a:rPr lang="en"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000" b="0" i="0" u="sng" strike="noStrike" cap="none">
                <a:solidFill>
                  <a:schemeClr val="hlink"/>
                </a:solidFill>
                <a:latin typeface="Calibri"/>
                <a:ea typeface="Calibri"/>
                <a:cs typeface="Calibri"/>
                <a:sym typeface="Calibri"/>
                <a:hlinkClick r:id="rId4"/>
              </a:rPr>
              <a:t>https://github.com/huggingface/optimum-nvidia</a:t>
            </a:r>
            <a:r>
              <a:rPr lang="en" sz="1000" b="0" i="0" u="none" strike="noStrike" cap="none">
                <a:solidFill>
                  <a:schemeClr val="dk1"/>
                </a:solidFill>
                <a:latin typeface="Calibri"/>
                <a:ea typeface="Calibri"/>
                <a:cs typeface="Calibri"/>
                <a:sym typeface="Calibri"/>
              </a:rPr>
              <a:t> </a:t>
            </a:r>
            <a:endParaRPr sz="1300" b="0" i="0" u="none" strike="noStrike" cap="none">
              <a:solidFill>
                <a:schemeClr val="dk1"/>
              </a:solidFill>
              <a:latin typeface="Calibri"/>
              <a:ea typeface="Calibri"/>
              <a:cs typeface="Calibri"/>
              <a:sym typeface="Calibri"/>
            </a:endParaRPr>
          </a:p>
          <a:p>
            <a:pPr marL="228600" marR="0" lvl="0" indent="-196850" algn="l" rtl="0">
              <a:lnSpc>
                <a:spcPct val="100000"/>
              </a:lnSpc>
              <a:spcBef>
                <a:spcPts val="0"/>
              </a:spcBef>
              <a:spcAft>
                <a:spcPts val="0"/>
              </a:spcAft>
              <a:buClr>
                <a:schemeClr val="dk1"/>
              </a:buClr>
              <a:buSzPts val="1300"/>
              <a:buFont typeface="Calibri"/>
              <a:buChar char="●"/>
            </a:pPr>
            <a:r>
              <a:rPr lang="en" sz="1300" b="0" i="0" u="none" strike="noStrike" cap="none">
                <a:solidFill>
                  <a:schemeClr val="dk1"/>
                </a:solidFill>
                <a:latin typeface="Calibri"/>
                <a:ea typeface="Calibri"/>
                <a:cs typeface="Calibri"/>
                <a:sym typeface="Calibri"/>
              </a:rPr>
              <a:t>Optimum-NVIDIA is a new Hugging Face inference library</a:t>
            </a:r>
            <a:endParaRPr sz="1300" b="0" i="0" u="none" strike="noStrike" cap="none">
              <a:solidFill>
                <a:schemeClr val="dk1"/>
              </a:solidFill>
              <a:latin typeface="Calibri"/>
              <a:ea typeface="Calibri"/>
              <a:cs typeface="Calibri"/>
              <a:sym typeface="Calibri"/>
            </a:endParaRPr>
          </a:p>
          <a:p>
            <a:pPr marL="228600" marR="0" lvl="0" indent="-196850" algn="l" rtl="0">
              <a:lnSpc>
                <a:spcPct val="100000"/>
              </a:lnSpc>
              <a:spcBef>
                <a:spcPts val="0"/>
              </a:spcBef>
              <a:spcAft>
                <a:spcPts val="0"/>
              </a:spcAft>
              <a:buClr>
                <a:schemeClr val="dk1"/>
              </a:buClr>
              <a:buSzPts val="1300"/>
              <a:buFont typeface="Calibri"/>
              <a:buChar char="●"/>
            </a:pPr>
            <a:r>
              <a:rPr lang="en" sz="1300" b="0" i="0" u="none" strike="noStrike" cap="none">
                <a:solidFill>
                  <a:schemeClr val="dk1"/>
                </a:solidFill>
                <a:latin typeface="Calibri"/>
                <a:ea typeface="Calibri"/>
                <a:cs typeface="Calibri"/>
                <a:sym typeface="Calibri"/>
              </a:rPr>
              <a:t>Use it for inference instead of "transformers" module</a:t>
            </a:r>
            <a:endParaRPr sz="1300" b="0" i="0" u="none" strike="noStrike" cap="none">
              <a:solidFill>
                <a:schemeClr val="dk1"/>
              </a:solidFill>
              <a:latin typeface="Calibri"/>
              <a:ea typeface="Calibri"/>
              <a:cs typeface="Calibri"/>
              <a:sym typeface="Calibri"/>
            </a:endParaRPr>
          </a:p>
          <a:p>
            <a:pPr marL="228600" marR="0" lvl="0" indent="-196850" algn="l" rtl="0">
              <a:lnSpc>
                <a:spcPct val="100000"/>
              </a:lnSpc>
              <a:spcBef>
                <a:spcPts val="0"/>
              </a:spcBef>
              <a:spcAft>
                <a:spcPts val="0"/>
              </a:spcAft>
              <a:buClr>
                <a:schemeClr val="dk1"/>
              </a:buClr>
              <a:buSzPts val="1300"/>
              <a:buFont typeface="Calibri"/>
              <a:buChar char="●"/>
            </a:pPr>
            <a:r>
              <a:rPr lang="en" sz="1300" b="0" i="0" u="none" strike="noStrike" cap="none">
                <a:solidFill>
                  <a:schemeClr val="dk1"/>
                </a:solidFill>
                <a:latin typeface="Calibri"/>
                <a:ea typeface="Calibri"/>
                <a:cs typeface="Calibri"/>
                <a:sym typeface="Calibri"/>
              </a:rPr>
              <a:t>It has a new float8 format (FP8) which allows you to run a bigger model on a single GPU, at faster speeds, and without sacrificing accuracy</a:t>
            </a:r>
            <a:endParaRPr sz="1300" b="0" i="0" u="none" strike="noStrike" cap="none">
              <a:solidFill>
                <a:schemeClr val="dk1"/>
              </a:solidFill>
              <a:latin typeface="Calibri"/>
              <a:ea typeface="Calibri"/>
              <a:cs typeface="Calibri"/>
              <a:sym typeface="Calibri"/>
            </a:endParaRPr>
          </a:p>
          <a:p>
            <a:pPr marL="228600" marR="0" lvl="0" indent="-196850" algn="l" rtl="0">
              <a:lnSpc>
                <a:spcPct val="100000"/>
              </a:lnSpc>
              <a:spcBef>
                <a:spcPts val="0"/>
              </a:spcBef>
              <a:spcAft>
                <a:spcPts val="0"/>
              </a:spcAft>
              <a:buClr>
                <a:schemeClr val="dk1"/>
              </a:buClr>
              <a:buSzPts val="1300"/>
              <a:buFont typeface="Calibri"/>
              <a:buChar char="●"/>
            </a:pPr>
            <a:r>
              <a:rPr lang="en" sz="1300" b="0" i="0" u="none" strike="noStrike" cap="none">
                <a:solidFill>
                  <a:schemeClr val="dk1"/>
                </a:solidFill>
                <a:latin typeface="Calibri"/>
                <a:ea typeface="Calibri"/>
                <a:cs typeface="Calibri"/>
                <a:sym typeface="Calibri"/>
              </a:rPr>
              <a:t>Can do 28x faster inference (up to 1,200 tokens/second) and can be enabled with one flag. </a:t>
            </a:r>
            <a:endParaRPr sz="1300" b="0" i="0" u="none" strike="noStrike" cap="none">
              <a:solidFill>
                <a:schemeClr val="dk1"/>
              </a:solidFill>
              <a:latin typeface="Calibri"/>
              <a:ea typeface="Calibri"/>
              <a:cs typeface="Calibri"/>
              <a:sym typeface="Calibri"/>
            </a:endParaRPr>
          </a:p>
          <a:p>
            <a:pPr marL="228600" marR="0" lvl="0" indent="-196850" algn="l" rtl="0">
              <a:lnSpc>
                <a:spcPct val="100000"/>
              </a:lnSpc>
              <a:spcBef>
                <a:spcPts val="0"/>
              </a:spcBef>
              <a:spcAft>
                <a:spcPts val="0"/>
              </a:spcAft>
              <a:buClr>
                <a:schemeClr val="dk1"/>
              </a:buClr>
              <a:buSzPts val="1300"/>
              <a:buFont typeface="Calibri"/>
              <a:buChar char="●"/>
            </a:pPr>
            <a:r>
              <a:rPr lang="en" sz="1300" b="0" i="0" u="none" strike="noStrike" cap="none">
                <a:solidFill>
                  <a:schemeClr val="dk1"/>
                </a:solidFill>
                <a:latin typeface="Calibri"/>
                <a:ea typeface="Calibri"/>
                <a:cs typeface="Calibri"/>
                <a:sym typeface="Calibri"/>
              </a:rPr>
              <a:t>But this FP8 feature is only supported on Hopper and Ada architectures</a:t>
            </a:r>
            <a:endParaRPr sz="1300" b="0" i="0" u="none" strike="noStrike" cap="none">
              <a:solidFill>
                <a:schemeClr val="dk1"/>
              </a:solidFill>
              <a:latin typeface="Calibri"/>
              <a:ea typeface="Calibri"/>
              <a:cs typeface="Calibri"/>
              <a:sym typeface="Calibri"/>
            </a:endParaRPr>
          </a:p>
        </p:txBody>
      </p:sp>
      <p:pic>
        <p:nvPicPr>
          <p:cNvPr id="157" name="Google Shape;157;p23"/>
          <p:cNvPicPr preferRelativeResize="0"/>
          <p:nvPr/>
        </p:nvPicPr>
        <p:blipFill rotWithShape="1">
          <a:blip r:embed="rId5">
            <a:alphaModFix/>
          </a:blip>
          <a:srcRect/>
          <a:stretch/>
        </p:blipFill>
        <p:spPr>
          <a:xfrm>
            <a:off x="5262832" y="1104799"/>
            <a:ext cx="1760325" cy="1652700"/>
          </a:xfrm>
          <a:prstGeom prst="rect">
            <a:avLst/>
          </a:prstGeom>
          <a:noFill/>
          <a:ln>
            <a:noFill/>
          </a:ln>
        </p:spPr>
      </p:pic>
      <p:pic>
        <p:nvPicPr>
          <p:cNvPr id="158" name="Google Shape;158;p23"/>
          <p:cNvPicPr preferRelativeResize="0"/>
          <p:nvPr/>
        </p:nvPicPr>
        <p:blipFill rotWithShape="1">
          <a:blip r:embed="rId6">
            <a:alphaModFix/>
          </a:blip>
          <a:srcRect/>
          <a:stretch/>
        </p:blipFill>
        <p:spPr>
          <a:xfrm>
            <a:off x="7175552" y="1104799"/>
            <a:ext cx="1798769" cy="1652700"/>
          </a:xfrm>
          <a:prstGeom prst="rect">
            <a:avLst/>
          </a:prstGeom>
          <a:noFill/>
          <a:ln>
            <a:noFill/>
          </a:ln>
        </p:spPr>
      </p:pic>
      <p:sp>
        <p:nvSpPr>
          <p:cNvPr id="159" name="Google Shape;159;p23"/>
          <p:cNvSpPr txBox="1"/>
          <p:nvPr/>
        </p:nvSpPr>
        <p:spPr>
          <a:xfrm>
            <a:off x="5513596" y="2681300"/>
            <a:ext cx="1258800" cy="3849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 sz="1300" b="0" i="0" u="none" strike="noStrike" cap="none">
                <a:solidFill>
                  <a:schemeClr val="dk1"/>
                </a:solidFill>
                <a:latin typeface="Calibri"/>
                <a:ea typeface="Calibri"/>
                <a:cs typeface="Calibri"/>
                <a:sym typeface="Calibri"/>
              </a:rPr>
              <a:t>Ada Lovelace</a:t>
            </a:r>
            <a:endParaRPr sz="1000" b="0" i="0" u="none" strike="noStrike" cap="none">
              <a:solidFill>
                <a:schemeClr val="dk1"/>
              </a:solidFill>
              <a:latin typeface="Calibri"/>
              <a:ea typeface="Calibri"/>
              <a:cs typeface="Calibri"/>
              <a:sym typeface="Calibri"/>
            </a:endParaRPr>
          </a:p>
        </p:txBody>
      </p:sp>
      <p:sp>
        <p:nvSpPr>
          <p:cNvPr id="160" name="Google Shape;160;p23"/>
          <p:cNvSpPr txBox="1"/>
          <p:nvPr/>
        </p:nvSpPr>
        <p:spPr>
          <a:xfrm>
            <a:off x="7524559" y="2681300"/>
            <a:ext cx="1258800" cy="3849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 sz="1300" b="0" i="0" u="none" strike="noStrike" cap="none">
                <a:solidFill>
                  <a:schemeClr val="dk1"/>
                </a:solidFill>
                <a:latin typeface="Calibri"/>
                <a:ea typeface="Calibri"/>
                <a:cs typeface="Calibri"/>
                <a:sym typeface="Calibri"/>
              </a:rPr>
              <a:t>Grace Hopper</a:t>
            </a:r>
            <a:endParaRPr sz="1000" b="0" i="0" u="none" strike="noStrike" cap="none">
              <a:solidFill>
                <a:schemeClr val="dk1"/>
              </a:solidFill>
              <a:latin typeface="Calibri"/>
              <a:ea typeface="Calibri"/>
              <a:cs typeface="Calibri"/>
              <a:sym typeface="Calibri"/>
            </a:endParaRPr>
          </a:p>
        </p:txBody>
      </p:sp>
      <p:sp>
        <p:nvSpPr>
          <p:cNvPr id="161" name="Google Shape;161;p23"/>
          <p:cNvSpPr txBox="1"/>
          <p:nvPr/>
        </p:nvSpPr>
        <p:spPr>
          <a:xfrm>
            <a:off x="119337" y="3707250"/>
            <a:ext cx="4381500" cy="100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rgbClr val="3C78D8"/>
                </a:solidFill>
                <a:highlight>
                  <a:srgbClr val="F4CCCC"/>
                </a:highlight>
                <a:latin typeface="Roboto Mono"/>
                <a:ea typeface="Roboto Mono"/>
                <a:cs typeface="Roboto Mono"/>
                <a:sym typeface="Roboto Mono"/>
              </a:rPr>
              <a:t>- from </a:t>
            </a:r>
            <a:r>
              <a:rPr lang="en" sz="900" b="1" i="0" u="none" strike="noStrike" cap="none">
                <a:solidFill>
                  <a:srgbClr val="3C78D8"/>
                </a:solidFill>
                <a:highlight>
                  <a:srgbClr val="F4CCCC"/>
                </a:highlight>
                <a:latin typeface="Roboto Mono"/>
                <a:ea typeface="Roboto Mono"/>
                <a:cs typeface="Roboto Mono"/>
                <a:sym typeface="Roboto Mono"/>
              </a:rPr>
              <a:t>transformers</a:t>
            </a:r>
            <a:r>
              <a:rPr lang="en" sz="900" b="0" i="0" u="none" strike="noStrike" cap="none">
                <a:solidFill>
                  <a:srgbClr val="3C78D8"/>
                </a:solidFill>
                <a:highlight>
                  <a:srgbClr val="F4CCCC"/>
                </a:highlight>
                <a:latin typeface="Roboto Mono"/>
                <a:ea typeface="Roboto Mono"/>
                <a:cs typeface="Roboto Mono"/>
                <a:sym typeface="Roboto Mono"/>
              </a:rPr>
              <a:t> import AutoModelForCausalLM</a:t>
            </a:r>
            <a:endParaRPr sz="900" b="0" i="0" u="none" strike="noStrike" cap="none">
              <a:solidFill>
                <a:srgbClr val="3C78D8"/>
              </a:solidFill>
              <a:highlight>
                <a:srgbClr val="F4CCCC"/>
              </a:highlight>
              <a:latin typeface="Roboto Mono"/>
              <a:ea typeface="Roboto Mono"/>
              <a:cs typeface="Roboto Mono"/>
              <a:sym typeface="Roboto Mono"/>
            </a:endParaRPr>
          </a:p>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rgbClr val="3C78D8"/>
                </a:solidFill>
                <a:highlight>
                  <a:srgbClr val="D9EAD3"/>
                </a:highlight>
                <a:latin typeface="Roboto Mono"/>
                <a:ea typeface="Roboto Mono"/>
                <a:cs typeface="Roboto Mono"/>
                <a:sym typeface="Roboto Mono"/>
              </a:rPr>
              <a:t>+ from </a:t>
            </a:r>
            <a:r>
              <a:rPr lang="en" sz="900" b="1" i="0" u="none" strike="noStrike" cap="none">
                <a:solidFill>
                  <a:srgbClr val="3C78D8"/>
                </a:solidFill>
                <a:highlight>
                  <a:srgbClr val="D9EAD3"/>
                </a:highlight>
                <a:latin typeface="Roboto Mono"/>
                <a:ea typeface="Roboto Mono"/>
                <a:cs typeface="Roboto Mono"/>
                <a:sym typeface="Roboto Mono"/>
              </a:rPr>
              <a:t>optimum.nvidia</a:t>
            </a:r>
            <a:r>
              <a:rPr lang="en" sz="900" b="0" i="0" u="none" strike="noStrike" cap="none">
                <a:solidFill>
                  <a:srgbClr val="3C78D8"/>
                </a:solidFill>
                <a:highlight>
                  <a:srgbClr val="D9EAD3"/>
                </a:highlight>
                <a:latin typeface="Roboto Mono"/>
                <a:ea typeface="Roboto Mono"/>
                <a:cs typeface="Roboto Mono"/>
                <a:sym typeface="Roboto Mono"/>
              </a:rPr>
              <a:t> import AutoModelForCausalLM</a:t>
            </a:r>
            <a:endParaRPr sz="900" b="0" i="0" u="none" strike="noStrike" cap="none">
              <a:solidFill>
                <a:srgbClr val="3C78D8"/>
              </a:solidFill>
              <a:highlight>
                <a:srgbClr val="D9EAD3"/>
              </a:highlight>
              <a:latin typeface="Roboto Mono"/>
              <a:ea typeface="Roboto Mono"/>
              <a:cs typeface="Roboto Mono"/>
              <a:sym typeface="Roboto Mono"/>
            </a:endParaRPr>
          </a:p>
          <a:p>
            <a:pPr marL="0" marR="0" lvl="0" indent="0" algn="l" rtl="0">
              <a:lnSpc>
                <a:spcPct val="100000"/>
              </a:lnSpc>
              <a:spcBef>
                <a:spcPts val="0"/>
              </a:spcBef>
              <a:spcAft>
                <a:spcPts val="0"/>
              </a:spcAft>
              <a:buClr>
                <a:schemeClr val="dk1"/>
              </a:buClr>
              <a:buSzPts val="1100"/>
              <a:buFont typeface="Arial"/>
              <a:buNone/>
            </a:pPr>
            <a:endParaRPr sz="900" b="0" i="0" u="none" strike="noStrike" cap="none">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rgbClr val="3C78D8"/>
                </a:solidFill>
                <a:latin typeface="Roboto Mono"/>
                <a:ea typeface="Roboto Mono"/>
                <a:cs typeface="Roboto Mono"/>
                <a:sym typeface="Roboto Mono"/>
              </a:rPr>
              <a:t>model = AutoModelForCausalLM.from_pretrained(</a:t>
            </a:r>
            <a:endParaRPr sz="900" b="0" i="0" u="none" strike="noStrike" cap="none">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rgbClr val="3C78D8"/>
                </a:solidFill>
                <a:latin typeface="Roboto Mono"/>
                <a:ea typeface="Roboto Mono"/>
                <a:cs typeface="Roboto Mono"/>
                <a:sym typeface="Roboto Mono"/>
              </a:rPr>
              <a:t>  "meta-llama/Llama-2-7b-chat-hf",</a:t>
            </a:r>
            <a:endParaRPr sz="900" b="0" i="0" u="none" strike="noStrike" cap="none">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Clr>
                <a:schemeClr val="dk1"/>
              </a:buClr>
              <a:buSzPts val="1100"/>
              <a:buFont typeface="Arial"/>
              <a:buNone/>
            </a:pPr>
            <a:r>
              <a:rPr lang="en" sz="900" b="1" i="0" u="none" strike="noStrike" cap="none">
                <a:solidFill>
                  <a:srgbClr val="3C78D8"/>
                </a:solidFill>
                <a:highlight>
                  <a:srgbClr val="D9EAD3"/>
                </a:highlight>
                <a:latin typeface="Roboto Mono"/>
                <a:ea typeface="Roboto Mono"/>
                <a:cs typeface="Roboto Mono"/>
                <a:sym typeface="Roboto Mono"/>
              </a:rPr>
              <a:t>+ use_fp8=True,  </a:t>
            </a:r>
            <a:endParaRPr sz="900" b="1" i="0" u="none" strike="noStrike" cap="none">
              <a:solidFill>
                <a:srgbClr val="3C78D8"/>
              </a:solidFill>
              <a:highlight>
                <a:srgbClr val="D9EAD3"/>
              </a:highlight>
              <a:latin typeface="Roboto Mono"/>
              <a:ea typeface="Roboto Mono"/>
              <a:cs typeface="Roboto Mono"/>
              <a:sym typeface="Roboto Mono"/>
            </a:endParaRPr>
          </a:p>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rgbClr val="3C78D8"/>
                </a:solidFill>
                <a:latin typeface="Roboto Mono"/>
                <a:ea typeface="Roboto Mono"/>
                <a:cs typeface="Roboto Mono"/>
                <a:sym typeface="Roboto Mono"/>
              </a:rPr>
              <a:t>)</a:t>
            </a:r>
            <a:endParaRPr sz="900" b="0" i="0" u="none" strike="noStrike" cap="none">
              <a:solidFill>
                <a:srgbClr val="3C78D8"/>
              </a:solidFill>
              <a:latin typeface="Roboto Mono"/>
              <a:ea typeface="Roboto Mono"/>
              <a:cs typeface="Roboto Mono"/>
              <a:sym typeface="Roboto Mono"/>
            </a:endParaRPr>
          </a:p>
        </p:txBody>
      </p:sp>
      <p:pic>
        <p:nvPicPr>
          <p:cNvPr id="162" name="Google Shape;162;p23"/>
          <p:cNvPicPr preferRelativeResize="0"/>
          <p:nvPr/>
        </p:nvPicPr>
        <p:blipFill rotWithShape="1">
          <a:blip r:embed="rId7">
            <a:alphaModFix/>
          </a:blip>
          <a:srcRect/>
          <a:stretch/>
        </p:blipFill>
        <p:spPr>
          <a:xfrm>
            <a:off x="5288175" y="3066200"/>
            <a:ext cx="1798774" cy="1368499"/>
          </a:xfrm>
          <a:prstGeom prst="rect">
            <a:avLst/>
          </a:prstGeom>
          <a:noFill/>
          <a:ln>
            <a:noFill/>
          </a:ln>
        </p:spPr>
      </p:pic>
      <p:sp>
        <p:nvSpPr>
          <p:cNvPr id="163" name="Google Shape;163;p23"/>
          <p:cNvSpPr txBox="1"/>
          <p:nvPr/>
        </p:nvSpPr>
        <p:spPr>
          <a:xfrm>
            <a:off x="5288176" y="4426750"/>
            <a:ext cx="1760400" cy="5850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 sz="1300" b="0" i="0" u="none" strike="noStrike" cap="none">
                <a:solidFill>
                  <a:schemeClr val="dk1"/>
                </a:solidFill>
                <a:latin typeface="Calibri"/>
                <a:ea typeface="Calibri"/>
                <a:cs typeface="Calibri"/>
                <a:sym typeface="Calibri"/>
              </a:rPr>
              <a:t>Charles Babbage </a:t>
            </a:r>
            <a:endParaRPr sz="1300" b="0" i="0" u="none" strike="noStrike" cap="none">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1100"/>
              <a:buFont typeface="Arial"/>
              <a:buNone/>
            </a:pPr>
            <a:r>
              <a:rPr lang="en" sz="1300" b="0" i="0" u="none" strike="noStrike" cap="none">
                <a:solidFill>
                  <a:schemeClr val="dk1"/>
                </a:solidFill>
                <a:latin typeface="Calibri"/>
                <a:ea typeface="Calibri"/>
                <a:cs typeface="Calibri"/>
                <a:sym typeface="Calibri"/>
              </a:rPr>
              <a:t>Mechanical Computer</a:t>
            </a:r>
            <a:endParaRPr sz="1000" b="0" i="0" u="none" strike="noStrike" cap="none">
              <a:solidFill>
                <a:schemeClr val="dk1"/>
              </a:solidFill>
              <a:latin typeface="Calibri"/>
              <a:ea typeface="Calibri"/>
              <a:cs typeface="Calibri"/>
              <a:sym typeface="Calibri"/>
            </a:endParaRPr>
          </a:p>
        </p:txBody>
      </p:sp>
      <p:pic>
        <p:nvPicPr>
          <p:cNvPr id="164" name="Google Shape;164;p23"/>
          <p:cNvPicPr preferRelativeResize="0"/>
          <p:nvPr/>
        </p:nvPicPr>
        <p:blipFill rotWithShape="1">
          <a:blip r:embed="rId8">
            <a:alphaModFix/>
          </a:blip>
          <a:srcRect/>
          <a:stretch/>
        </p:blipFill>
        <p:spPr>
          <a:xfrm>
            <a:off x="7365718" y="3068126"/>
            <a:ext cx="1462100" cy="182581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24"/>
          <p:cNvSpPr txBox="1"/>
          <p:nvPr/>
        </p:nvSpPr>
        <p:spPr>
          <a:xfrm>
            <a:off x="119330" y="0"/>
            <a:ext cx="4381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rgbClr val="0F1419"/>
                </a:solidFill>
                <a:highlight>
                  <a:srgbClr val="FFFFFF"/>
                </a:highlight>
                <a:latin typeface="Calibri"/>
                <a:ea typeface="Calibri"/>
                <a:cs typeface="Calibri"/>
                <a:sym typeface="Calibri"/>
              </a:rPr>
              <a:t>Build Company Chatbot on AWS</a:t>
            </a:r>
            <a:endParaRPr sz="2000" b="1" i="0" u="none" strike="noStrike" cap="none">
              <a:solidFill>
                <a:srgbClr val="000000"/>
              </a:solidFill>
              <a:latin typeface="Calibri"/>
              <a:ea typeface="Calibri"/>
              <a:cs typeface="Calibri"/>
              <a:sym typeface="Calibri"/>
            </a:endParaRPr>
          </a:p>
        </p:txBody>
      </p:sp>
      <p:sp>
        <p:nvSpPr>
          <p:cNvPr id="170" name="Google Shape;170;p24"/>
          <p:cNvSpPr txBox="1"/>
          <p:nvPr/>
        </p:nvSpPr>
        <p:spPr>
          <a:xfrm>
            <a:off x="119325" y="369100"/>
            <a:ext cx="4340400" cy="1000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chemeClr val="dk1"/>
                </a:solidFill>
                <a:latin typeface="Calibri"/>
                <a:ea typeface="Calibri"/>
                <a:cs typeface="Calibri"/>
                <a:sym typeface="Calibri"/>
              </a:rPr>
              <a:t>RAG system: </a:t>
            </a:r>
            <a:r>
              <a:rPr lang="en" sz="1300" b="1" i="0" u="none" strike="noStrike" cap="none">
                <a:solidFill>
                  <a:srgbClr val="FF0000"/>
                </a:solidFill>
                <a:latin typeface="Calibri"/>
                <a:ea typeface="Calibri"/>
                <a:cs typeface="Calibri"/>
                <a:sym typeface="Calibri"/>
              </a:rPr>
              <a:t>Lex chatbot</a:t>
            </a:r>
            <a:r>
              <a:rPr lang="en" sz="1300" b="0" i="0" u="none" strike="noStrike" cap="none">
                <a:solidFill>
                  <a:schemeClr val="dk1"/>
                </a:solidFill>
                <a:latin typeface="Calibri"/>
                <a:ea typeface="Calibri"/>
                <a:cs typeface="Calibri"/>
                <a:sym typeface="Calibri"/>
              </a:rPr>
              <a:t> interface, </a:t>
            </a:r>
            <a:r>
              <a:rPr lang="en" sz="1300" b="1" i="0" u="none" strike="noStrike" cap="none">
                <a:solidFill>
                  <a:srgbClr val="FF0000"/>
                </a:solidFill>
                <a:latin typeface="Calibri"/>
                <a:ea typeface="Calibri"/>
                <a:cs typeface="Calibri"/>
                <a:sym typeface="Calibri"/>
              </a:rPr>
              <a:t>LLM on Bedrock</a:t>
            </a:r>
            <a:r>
              <a:rPr lang="en" sz="1300" b="0" i="0" u="none" strike="noStrike" cap="none">
                <a:solidFill>
                  <a:schemeClr val="dk1"/>
                </a:solidFill>
                <a:latin typeface="Calibri"/>
                <a:ea typeface="Calibri"/>
                <a:cs typeface="Calibri"/>
                <a:sym typeface="Calibri"/>
              </a:rPr>
              <a:t>, </a:t>
            </a:r>
            <a:br>
              <a:rPr lang="en" sz="1300" b="0" i="0" u="none" strike="noStrike" cap="none">
                <a:solidFill>
                  <a:schemeClr val="dk1"/>
                </a:solidFill>
                <a:latin typeface="Calibri"/>
                <a:ea typeface="Calibri"/>
                <a:cs typeface="Calibri"/>
                <a:sym typeface="Calibri"/>
              </a:rPr>
            </a:br>
            <a:r>
              <a:rPr lang="en" sz="1300" b="0" i="0" u="none" strike="noStrike" cap="none">
                <a:solidFill>
                  <a:schemeClr val="dk1"/>
                </a:solidFill>
                <a:latin typeface="Calibri"/>
                <a:ea typeface="Calibri"/>
                <a:cs typeface="Calibri"/>
                <a:sym typeface="Calibri"/>
              </a:rPr>
              <a:t>vector DB for semantic search</a:t>
            </a:r>
            <a:br>
              <a:rPr lang="en" sz="1300" b="0" i="0" u="none" strike="noStrike" cap="none">
                <a:solidFill>
                  <a:schemeClr val="dk1"/>
                </a:solidFill>
                <a:latin typeface="Calibri"/>
                <a:ea typeface="Calibri"/>
                <a:cs typeface="Calibri"/>
                <a:sym typeface="Calibri"/>
              </a:rPr>
            </a:br>
            <a:r>
              <a:rPr lang="en" sz="900" b="0" i="0" u="sng" strike="noStrike" cap="none">
                <a:solidFill>
                  <a:schemeClr val="hlink"/>
                </a:solidFill>
                <a:latin typeface="Calibri"/>
                <a:ea typeface="Calibri"/>
                <a:cs typeface="Calibri"/>
                <a:sym typeface="Calibri"/>
                <a:hlinkClick r:id="rId3"/>
              </a:rPr>
              <a:t>https://aws.amazon.com/blogs/machine-learning/quickly-build-high-accuracy-generative-ai-applications-on-enterprise-data-using-amazon-kendra-langchain-and-large-language-models/</a:t>
            </a:r>
            <a:r>
              <a:rPr lang="en" sz="900" b="0" i="0" u="none" strike="noStrike" cap="none">
                <a:solidFill>
                  <a:schemeClr val="dk1"/>
                </a:solidFill>
                <a:latin typeface="Calibri"/>
                <a:ea typeface="Calibri"/>
                <a:cs typeface="Calibri"/>
                <a:sym typeface="Calibri"/>
              </a:rPr>
              <a:t> </a:t>
            </a:r>
            <a:endParaRPr sz="500" b="0" i="0" u="none" strike="noStrike" cap="none">
              <a:solidFill>
                <a:schemeClr val="dk1"/>
              </a:solidFill>
              <a:latin typeface="Calibri"/>
              <a:ea typeface="Calibri"/>
              <a:cs typeface="Calibri"/>
              <a:sym typeface="Calibri"/>
            </a:endParaRPr>
          </a:p>
        </p:txBody>
      </p:sp>
      <p:sp>
        <p:nvSpPr>
          <p:cNvPr id="171" name="Google Shape;171;p24"/>
          <p:cNvSpPr txBox="1"/>
          <p:nvPr/>
        </p:nvSpPr>
        <p:spPr>
          <a:xfrm>
            <a:off x="119325" y="2872097"/>
            <a:ext cx="4340400" cy="136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alibri"/>
                <a:ea typeface="Calibri"/>
                <a:cs typeface="Calibri"/>
                <a:sym typeface="Calibri"/>
              </a:rPr>
              <a:t>AWS offers various vector DBs and related services:</a:t>
            </a:r>
            <a:br>
              <a:rPr lang="en" sz="1300" b="0" i="0" u="none" strike="noStrike" cap="none">
                <a:solidFill>
                  <a:schemeClr val="dk1"/>
                </a:solidFill>
                <a:latin typeface="Calibri"/>
                <a:ea typeface="Calibri"/>
                <a:cs typeface="Calibri"/>
                <a:sym typeface="Calibri"/>
              </a:rPr>
            </a:br>
            <a:r>
              <a:rPr lang="en" sz="900" b="0" i="0" u="sng" strike="noStrike" cap="none">
                <a:solidFill>
                  <a:schemeClr val="hlink"/>
                </a:solidFill>
                <a:latin typeface="Calibri"/>
                <a:ea typeface="Calibri"/>
                <a:cs typeface="Calibri"/>
                <a:sym typeface="Calibri"/>
                <a:hlinkClick r:id="rId4"/>
              </a:rPr>
              <a:t>https://community.aws/concepts/vector-embeddings-and-rag-demystified-2</a:t>
            </a:r>
            <a:r>
              <a:rPr lang="en" sz="900" b="0" i="0" u="none" strike="noStrike" cap="none">
                <a:solidFill>
                  <a:schemeClr val="dk1"/>
                </a:solidFill>
                <a:latin typeface="Calibri"/>
                <a:ea typeface="Calibri"/>
                <a:cs typeface="Calibri"/>
                <a:sym typeface="Calibri"/>
              </a:rPr>
              <a:t> </a:t>
            </a:r>
            <a:endParaRPr sz="1300" b="0" i="0" u="none" strike="noStrike" cap="none">
              <a:solidFill>
                <a:schemeClr val="dk1"/>
              </a:solidFill>
              <a:latin typeface="Calibri"/>
              <a:ea typeface="Calibri"/>
              <a:cs typeface="Calibri"/>
              <a:sym typeface="Calibri"/>
            </a:endParaRPr>
          </a:p>
          <a:p>
            <a:pPr marL="228600" marR="0" lvl="0" indent="-196850" algn="l" rtl="0">
              <a:lnSpc>
                <a:spcPct val="100000"/>
              </a:lnSpc>
              <a:spcBef>
                <a:spcPts val="0"/>
              </a:spcBef>
              <a:spcAft>
                <a:spcPts val="0"/>
              </a:spcAft>
              <a:buClr>
                <a:schemeClr val="dk1"/>
              </a:buClr>
              <a:buSzPts val="1300"/>
              <a:buFont typeface="Calibri"/>
              <a:buChar char="●"/>
            </a:pPr>
            <a:r>
              <a:rPr lang="en" sz="1200" b="1" i="0" u="none" strike="noStrike" cap="none">
                <a:solidFill>
                  <a:srgbClr val="FF0000"/>
                </a:solidFill>
                <a:latin typeface="Calibri"/>
                <a:ea typeface="Calibri"/>
                <a:cs typeface="Calibri"/>
                <a:sym typeface="Calibri"/>
              </a:rPr>
              <a:t>Kendra - low-code semantic search over vast unstructured data (S3)</a:t>
            </a:r>
            <a:r>
              <a:rPr lang="en" sz="1200" b="0" i="0" u="none" strike="noStrike" cap="none">
                <a:solidFill>
                  <a:schemeClr val="dk1"/>
                </a:solidFill>
                <a:latin typeface="Calibri"/>
                <a:ea typeface="Calibri"/>
                <a:cs typeface="Calibri"/>
                <a:sym typeface="Calibri"/>
              </a:rPr>
              <a:t>. Uses OpenSearch under the hood?</a:t>
            </a:r>
            <a:br>
              <a:rPr lang="en" sz="1300" b="0" i="0" u="none" strike="noStrike" cap="none">
                <a:solidFill>
                  <a:schemeClr val="dk1"/>
                </a:solidFill>
                <a:latin typeface="Calibri"/>
                <a:ea typeface="Calibri"/>
                <a:cs typeface="Calibri"/>
                <a:sym typeface="Calibri"/>
              </a:rPr>
            </a:br>
            <a:r>
              <a:rPr lang="en" sz="900" b="0" i="0" u="sng" strike="noStrike" cap="none">
                <a:solidFill>
                  <a:schemeClr val="hlink"/>
                </a:solidFill>
                <a:latin typeface="Calibri"/>
                <a:ea typeface="Calibri"/>
                <a:cs typeface="Calibri"/>
                <a:sym typeface="Calibri"/>
                <a:hlinkClick r:id="rId5"/>
              </a:rPr>
              <a:t>https://aws.amazon.com/kendra</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a:p>
            <a:pPr marL="228600" marR="0" lvl="0" indent="-196850" algn="l" rtl="0">
              <a:lnSpc>
                <a:spcPct val="100000"/>
              </a:lnSpc>
              <a:spcBef>
                <a:spcPts val="0"/>
              </a:spcBef>
              <a:spcAft>
                <a:spcPts val="0"/>
              </a:spcAft>
              <a:buClr>
                <a:schemeClr val="dk1"/>
              </a:buClr>
              <a:buSzPts val="1300"/>
              <a:buFont typeface="Calibri"/>
              <a:buChar char="●"/>
            </a:pPr>
            <a:r>
              <a:rPr lang="en" sz="1200" b="1" i="0" u="none" strike="noStrike" cap="none">
                <a:solidFill>
                  <a:srgbClr val="FF0000"/>
                </a:solidFill>
                <a:latin typeface="Calibri"/>
                <a:ea typeface="Calibri"/>
                <a:cs typeface="Calibri"/>
                <a:sym typeface="Calibri"/>
              </a:rPr>
              <a:t>OpenSearch</a:t>
            </a:r>
            <a:r>
              <a:rPr lang="en" sz="1200" b="0" i="0" u="none" strike="noStrike" cap="none">
                <a:solidFill>
                  <a:schemeClr val="dk1"/>
                </a:solidFill>
                <a:latin typeface="Calibri"/>
                <a:ea typeface="Calibri"/>
                <a:cs typeface="Calibri"/>
                <a:sym typeface="Calibri"/>
              </a:rPr>
              <a:t> (~ ElasticSearch) - open source, NoSQL</a:t>
            </a:r>
            <a:br>
              <a:rPr lang="en" sz="1300" b="0" i="0" u="none" strike="noStrike" cap="none">
                <a:solidFill>
                  <a:schemeClr val="dk1"/>
                </a:solidFill>
                <a:latin typeface="Calibri"/>
                <a:ea typeface="Calibri"/>
                <a:cs typeface="Calibri"/>
                <a:sym typeface="Calibri"/>
              </a:rPr>
            </a:br>
            <a:r>
              <a:rPr lang="en" sz="900" b="0" i="0" u="sng" strike="noStrike" cap="none">
                <a:solidFill>
                  <a:schemeClr val="hlink"/>
                </a:solidFill>
                <a:latin typeface="Calibri"/>
                <a:ea typeface="Calibri"/>
                <a:cs typeface="Calibri"/>
                <a:sym typeface="Calibri"/>
                <a:hlinkClick r:id="rId6"/>
              </a:rPr>
              <a:t>https://aws.amazon.com/opensearch-service</a:t>
            </a:r>
            <a:r>
              <a:rPr lang="en" sz="900" b="0" i="0" u="none" strike="noStrike" cap="none">
                <a:solidFill>
                  <a:schemeClr val="dk1"/>
                </a:solidFill>
                <a:latin typeface="Calibri"/>
                <a:ea typeface="Calibri"/>
                <a:cs typeface="Calibri"/>
                <a:sym typeface="Calibri"/>
              </a:rPr>
              <a:t> </a:t>
            </a:r>
            <a:endParaRPr sz="700" b="0" i="0" u="none" strike="noStrike" cap="none">
              <a:solidFill>
                <a:schemeClr val="dk1"/>
              </a:solidFill>
              <a:latin typeface="Calibri"/>
              <a:ea typeface="Calibri"/>
              <a:cs typeface="Calibri"/>
              <a:sym typeface="Calibri"/>
            </a:endParaRPr>
          </a:p>
        </p:txBody>
      </p:sp>
      <p:sp>
        <p:nvSpPr>
          <p:cNvPr id="172" name="Google Shape;172;p24"/>
          <p:cNvSpPr txBox="1"/>
          <p:nvPr/>
        </p:nvSpPr>
        <p:spPr>
          <a:xfrm>
            <a:off x="119325" y="1370447"/>
            <a:ext cx="4340400" cy="58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rgbClr val="FF0000"/>
                </a:solidFill>
                <a:latin typeface="Calibri"/>
                <a:ea typeface="Calibri"/>
                <a:cs typeface="Calibri"/>
                <a:sym typeface="Calibri"/>
              </a:rPr>
              <a:t>AWS Lex</a:t>
            </a:r>
            <a:r>
              <a:rPr lang="en" sz="1300" b="0" i="0" u="none" strike="noStrike" cap="none">
                <a:solidFill>
                  <a:schemeClr val="dk1"/>
                </a:solidFill>
                <a:latin typeface="Calibri"/>
                <a:ea typeface="Calibri"/>
                <a:cs typeface="Calibri"/>
                <a:sym typeface="Calibri"/>
              </a:rPr>
              <a:t> - building chatbots. Can use </a:t>
            </a:r>
            <a:r>
              <a:rPr lang="en" sz="1300" b="1" i="0" u="none" strike="noStrike" cap="none">
                <a:solidFill>
                  <a:srgbClr val="FF0000"/>
                </a:solidFill>
                <a:latin typeface="Calibri"/>
                <a:ea typeface="Calibri"/>
                <a:cs typeface="Calibri"/>
                <a:sym typeface="Calibri"/>
              </a:rPr>
              <a:t>AWS Kendra</a:t>
            </a:r>
            <a:r>
              <a:rPr lang="en" sz="1300" b="0" i="0" u="none" strike="noStrike" cap="none">
                <a:solidFill>
                  <a:schemeClr val="dk1"/>
                </a:solidFill>
                <a:latin typeface="Calibri"/>
                <a:ea typeface="Calibri"/>
                <a:cs typeface="Calibri"/>
                <a:sym typeface="Calibri"/>
              </a:rPr>
              <a:t> for data search</a:t>
            </a:r>
            <a:r>
              <a:rPr lang="en" sz="900" b="0" i="0" u="none" strike="noStrike" cap="none">
                <a:solidFill>
                  <a:schemeClr val="dk1"/>
                </a:solidFill>
                <a:latin typeface="Calibri"/>
                <a:ea typeface="Calibri"/>
                <a:cs typeface="Calibri"/>
                <a:sym typeface="Calibri"/>
              </a:rPr>
              <a:t> - </a:t>
            </a:r>
            <a:r>
              <a:rPr lang="en" sz="900" b="0" i="0" u="sng" strike="noStrike" cap="none">
                <a:solidFill>
                  <a:schemeClr val="hlink"/>
                </a:solidFill>
                <a:latin typeface="Calibri"/>
                <a:ea typeface="Calibri"/>
                <a:cs typeface="Calibri"/>
                <a:sym typeface="Calibri"/>
                <a:hlinkClick r:id="rId7"/>
              </a:rPr>
              <a:t>https://aws.amazon.com/lex/</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173" name="Google Shape;173;p24"/>
          <p:cNvSpPr txBox="1"/>
          <p:nvPr/>
        </p:nvSpPr>
        <p:spPr>
          <a:xfrm>
            <a:off x="119325" y="1948697"/>
            <a:ext cx="4340400" cy="923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rgbClr val="FF0000"/>
                </a:solidFill>
                <a:latin typeface="Calibri"/>
                <a:ea typeface="Calibri"/>
                <a:cs typeface="Calibri"/>
                <a:sym typeface="Calibri"/>
              </a:rPr>
              <a:t>AWS Bedrock</a:t>
            </a:r>
            <a:r>
              <a:rPr lang="en" sz="1300" b="0" i="0" u="none" strike="noStrike" cap="none">
                <a:solidFill>
                  <a:schemeClr val="dk1"/>
                </a:solidFill>
                <a:latin typeface="Calibri"/>
                <a:ea typeface="Calibri"/>
                <a:cs typeface="Calibri"/>
                <a:sym typeface="Calibri"/>
              </a:rPr>
              <a:t> (available since Sept 2023) - API to run foundation models (Amazon Titan, Claude, AI21, Cohere, Meta Llama, Mistral, Stability)</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8"/>
              </a:rPr>
              <a:t>https://docs.aws.amazon.com/bedrock/latest/userguide/models-supported.html</a:t>
            </a:r>
            <a:endParaRPr sz="900" b="0" i="0" u="none" strike="noStrike" cap="none">
              <a:solidFill>
                <a:schemeClr val="dk1"/>
              </a:solidFill>
              <a:latin typeface="Calibri"/>
              <a:ea typeface="Calibri"/>
              <a:cs typeface="Calibri"/>
              <a:sym typeface="Calibri"/>
            </a:endParaRPr>
          </a:p>
        </p:txBody>
      </p:sp>
      <p:pic>
        <p:nvPicPr>
          <p:cNvPr id="174" name="Google Shape;174;p24"/>
          <p:cNvPicPr preferRelativeResize="0"/>
          <p:nvPr/>
        </p:nvPicPr>
        <p:blipFill rotWithShape="1">
          <a:blip r:embed="rId9">
            <a:alphaModFix/>
          </a:blip>
          <a:srcRect/>
          <a:stretch/>
        </p:blipFill>
        <p:spPr>
          <a:xfrm>
            <a:off x="4587657" y="49775"/>
            <a:ext cx="4506126" cy="2161275"/>
          </a:xfrm>
          <a:prstGeom prst="rect">
            <a:avLst/>
          </a:prstGeom>
          <a:noFill/>
          <a:ln>
            <a:noFill/>
          </a:ln>
        </p:spPr>
      </p:pic>
      <p:sp>
        <p:nvSpPr>
          <p:cNvPr id="175" name="Google Shape;175;p24"/>
          <p:cNvSpPr txBox="1"/>
          <p:nvPr/>
        </p:nvSpPr>
        <p:spPr>
          <a:xfrm>
            <a:off x="4709650" y="2260336"/>
            <a:ext cx="4340400" cy="184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196850" algn="l" rtl="0">
              <a:lnSpc>
                <a:spcPct val="100000"/>
              </a:lnSpc>
              <a:spcBef>
                <a:spcPts val="0"/>
              </a:spcBef>
              <a:spcAft>
                <a:spcPts val="0"/>
              </a:spcAft>
              <a:buClr>
                <a:schemeClr val="dk1"/>
              </a:buClr>
              <a:buSzPts val="1300"/>
              <a:buFont typeface="Calibri"/>
              <a:buChar char="●"/>
            </a:pPr>
            <a:r>
              <a:rPr lang="en" sz="1200" b="1" i="0" u="none" strike="noStrike" cap="none">
                <a:solidFill>
                  <a:srgbClr val="6AA84F"/>
                </a:solidFill>
                <a:latin typeface="Calibri"/>
                <a:ea typeface="Calibri"/>
                <a:cs typeface="Calibri"/>
                <a:sym typeface="Calibri"/>
              </a:rPr>
              <a:t>RDS/</a:t>
            </a:r>
            <a:r>
              <a:rPr lang="en" sz="1200" b="1" i="0" u="none" strike="noStrike" cap="none">
                <a:solidFill>
                  <a:srgbClr val="FF0000"/>
                </a:solidFill>
                <a:latin typeface="Calibri"/>
                <a:ea typeface="Calibri"/>
                <a:cs typeface="Calibri"/>
                <a:sym typeface="Calibri"/>
              </a:rPr>
              <a:t>Aurora PostgreSQL </a:t>
            </a:r>
            <a:r>
              <a:rPr lang="en" sz="1200" b="0" i="0" u="none" strike="noStrike" cap="none">
                <a:solidFill>
                  <a:schemeClr val="dk1"/>
                </a:solidFill>
                <a:latin typeface="Calibri"/>
                <a:ea typeface="Calibri"/>
                <a:cs typeface="Calibri"/>
                <a:sym typeface="Calibri"/>
              </a:rPr>
              <a:t>- vector similarity search using pgvector extension</a:t>
            </a:r>
            <a:br>
              <a:rPr lang="en" sz="1300" b="0" i="0" u="none" strike="noStrike" cap="none">
                <a:solidFill>
                  <a:schemeClr val="dk1"/>
                </a:solidFill>
                <a:latin typeface="Calibri"/>
                <a:ea typeface="Calibri"/>
                <a:cs typeface="Calibri"/>
                <a:sym typeface="Calibri"/>
              </a:rPr>
            </a:br>
            <a:r>
              <a:rPr lang="en" sz="700" b="0" i="0" u="sng" strike="noStrike" cap="none">
                <a:solidFill>
                  <a:schemeClr val="hlink"/>
                </a:solidFill>
                <a:latin typeface="Calibri"/>
                <a:ea typeface="Calibri"/>
                <a:cs typeface="Calibri"/>
                <a:sym typeface="Calibri"/>
                <a:hlinkClick r:id="rId10"/>
              </a:rPr>
              <a:t>https://docs.aws.amazon.com/AmazonRDS/latest/AuroraUserGuide/Aurora.AuroraPostgreSQL.html</a:t>
            </a:r>
            <a:r>
              <a:rPr lang="en" sz="700" b="0" i="0" u="none" strike="noStrike" cap="none">
                <a:solidFill>
                  <a:schemeClr val="dk1"/>
                </a:solidFill>
                <a:latin typeface="Calibri"/>
                <a:ea typeface="Calibri"/>
                <a:cs typeface="Calibri"/>
                <a:sym typeface="Calibri"/>
              </a:rPr>
              <a:t> </a:t>
            </a:r>
            <a:endParaRPr sz="700" b="0" i="0" u="none" strike="noStrike" cap="none">
              <a:solidFill>
                <a:schemeClr val="dk1"/>
              </a:solidFill>
              <a:latin typeface="Calibri"/>
              <a:ea typeface="Calibri"/>
              <a:cs typeface="Calibri"/>
              <a:sym typeface="Calibri"/>
            </a:endParaRPr>
          </a:p>
          <a:p>
            <a:pPr marL="228600" marR="0" lvl="0" indent="-196850" algn="l" rtl="0">
              <a:lnSpc>
                <a:spcPct val="100000"/>
              </a:lnSpc>
              <a:spcBef>
                <a:spcPts val="0"/>
              </a:spcBef>
              <a:spcAft>
                <a:spcPts val="0"/>
              </a:spcAft>
              <a:buClr>
                <a:schemeClr val="dk1"/>
              </a:buClr>
              <a:buSzPts val="1300"/>
              <a:buFont typeface="Calibri"/>
              <a:buChar char="●"/>
            </a:pPr>
            <a:r>
              <a:rPr lang="en" sz="1200" b="1" i="0" u="none" strike="noStrike" cap="none">
                <a:solidFill>
                  <a:srgbClr val="FF0000"/>
                </a:solidFill>
                <a:latin typeface="Calibri"/>
                <a:ea typeface="Calibri"/>
                <a:cs typeface="Calibri"/>
                <a:sym typeface="Calibri"/>
              </a:rPr>
              <a:t>Snowflake DB</a:t>
            </a:r>
            <a:r>
              <a:rPr lang="en" sz="1200" b="0" i="0" u="none" strike="noStrike" cap="none">
                <a:solidFill>
                  <a:schemeClr val="dk1"/>
                </a:solidFill>
                <a:latin typeface="Calibri"/>
                <a:ea typeface="Calibri"/>
                <a:cs typeface="Calibri"/>
                <a:sym typeface="Calibri"/>
              </a:rPr>
              <a:t> - (PostgreSQL) vector similarity, Mistral Large.</a:t>
            </a:r>
            <a:br>
              <a:rPr lang="en" sz="1300" b="0" i="0" u="none" strike="noStrike" cap="none">
                <a:solidFill>
                  <a:schemeClr val="dk1"/>
                </a:solidFill>
                <a:latin typeface="Calibri"/>
                <a:ea typeface="Calibri"/>
                <a:cs typeface="Calibri"/>
                <a:sym typeface="Calibri"/>
              </a:rPr>
            </a:br>
            <a:r>
              <a:rPr lang="en" sz="700" b="0" i="0" u="sng" strike="noStrike" cap="none">
                <a:solidFill>
                  <a:schemeClr val="hlink"/>
                </a:solidFill>
                <a:latin typeface="Calibri"/>
                <a:ea typeface="Calibri"/>
                <a:cs typeface="Calibri"/>
                <a:sym typeface="Calibri"/>
                <a:hlinkClick r:id="rId11"/>
              </a:rPr>
              <a:t>https://investors.snowflake.com/news/news-details/2024/Snowflake-Partners-with-Mistral-AI-to-Bring-Industry-Leading-Language-Models-to-Enterprises-Through-Snowflake-Cortex/default.aspx</a:t>
            </a:r>
            <a:r>
              <a:rPr lang="en" sz="700" b="0" i="0" u="none" strike="noStrike" cap="none">
                <a:solidFill>
                  <a:schemeClr val="dk1"/>
                </a:solidFill>
                <a:latin typeface="Calibri"/>
                <a:ea typeface="Calibri"/>
                <a:cs typeface="Calibri"/>
                <a:sym typeface="Calibri"/>
              </a:rPr>
              <a:t>  </a:t>
            </a:r>
            <a:endParaRPr sz="700" b="0" i="0" u="none" strike="noStrike" cap="none">
              <a:solidFill>
                <a:schemeClr val="dk1"/>
              </a:solidFill>
              <a:latin typeface="Calibri"/>
              <a:ea typeface="Calibri"/>
              <a:cs typeface="Calibri"/>
              <a:sym typeface="Calibri"/>
            </a:endParaRPr>
          </a:p>
          <a:p>
            <a:pPr marL="228600" marR="0" lvl="0" indent="-196850" algn="l" rtl="0">
              <a:lnSpc>
                <a:spcPct val="100000"/>
              </a:lnSpc>
              <a:spcBef>
                <a:spcPts val="0"/>
              </a:spcBef>
              <a:spcAft>
                <a:spcPts val="0"/>
              </a:spcAft>
              <a:buClr>
                <a:schemeClr val="dk1"/>
              </a:buClr>
              <a:buSzPts val="1300"/>
              <a:buFont typeface="Calibri"/>
              <a:buChar char="●"/>
            </a:pPr>
            <a:r>
              <a:rPr lang="en" sz="1200" b="1" i="0" u="none" strike="noStrike" cap="none">
                <a:solidFill>
                  <a:srgbClr val="FF0000"/>
                </a:solidFill>
                <a:latin typeface="Calibri"/>
                <a:ea typeface="Calibri"/>
                <a:cs typeface="Calibri"/>
                <a:sym typeface="Calibri"/>
              </a:rPr>
              <a:t>DynamoDB</a:t>
            </a:r>
            <a:r>
              <a:rPr lang="en" sz="1200" b="0" i="0" u="none" strike="noStrike" cap="none">
                <a:solidFill>
                  <a:schemeClr val="dk1"/>
                </a:solidFill>
                <a:latin typeface="Calibri"/>
                <a:ea typeface="Calibri"/>
                <a:cs typeface="Calibri"/>
                <a:sym typeface="Calibri"/>
              </a:rPr>
              <a:t> - store chat history (Key-Value DB)</a:t>
            </a:r>
            <a:endParaRPr sz="1200" b="0" i="0" u="none" strike="noStrike" cap="none">
              <a:solidFill>
                <a:schemeClr val="dk1"/>
              </a:solidFill>
              <a:latin typeface="Calibri"/>
              <a:ea typeface="Calibri"/>
              <a:cs typeface="Calibri"/>
              <a:sym typeface="Calibri"/>
            </a:endParaRPr>
          </a:p>
          <a:p>
            <a:pPr marL="228600" marR="0" lvl="0" indent="-190500" algn="l" rtl="0">
              <a:lnSpc>
                <a:spcPct val="100000"/>
              </a:lnSpc>
              <a:spcBef>
                <a:spcPts val="0"/>
              </a:spcBef>
              <a:spcAft>
                <a:spcPts val="0"/>
              </a:spcAft>
              <a:buClr>
                <a:schemeClr val="dk1"/>
              </a:buClr>
              <a:buSzPts val="1200"/>
              <a:buFont typeface="Calibri"/>
              <a:buChar char="●"/>
            </a:pPr>
            <a:r>
              <a:rPr lang="en" sz="1200" b="1" i="0" u="none" strike="noStrike" cap="none">
                <a:solidFill>
                  <a:srgbClr val="FF0000"/>
                </a:solidFill>
                <a:latin typeface="Calibri"/>
                <a:ea typeface="Calibri"/>
                <a:cs typeface="Calibri"/>
                <a:sym typeface="Calibri"/>
              </a:rPr>
              <a:t>Athena </a:t>
            </a:r>
            <a:r>
              <a:rPr lang="en" sz="1200" b="0" i="0" u="none" strike="noStrike" cap="none">
                <a:solidFill>
                  <a:schemeClr val="dk1"/>
                </a:solidFill>
                <a:latin typeface="Calibri"/>
                <a:ea typeface="Calibri"/>
                <a:cs typeface="Calibri"/>
                <a:sym typeface="Calibri"/>
              </a:rPr>
              <a:t>- store chat history (SQL over files in S3)</a:t>
            </a:r>
            <a:endParaRPr sz="1200" b="0" i="0" u="none" strike="noStrike" cap="none">
              <a:solidFill>
                <a:schemeClr val="dk1"/>
              </a:solidFill>
              <a:latin typeface="Calibri"/>
              <a:ea typeface="Calibri"/>
              <a:cs typeface="Calibri"/>
              <a:sym typeface="Calibri"/>
            </a:endParaRPr>
          </a:p>
          <a:p>
            <a:pPr marL="228600" marR="0" lvl="0" indent="-190500" algn="l" rtl="0">
              <a:lnSpc>
                <a:spcPct val="100000"/>
              </a:lnSpc>
              <a:spcBef>
                <a:spcPts val="0"/>
              </a:spcBef>
              <a:spcAft>
                <a:spcPts val="0"/>
              </a:spcAft>
              <a:buClr>
                <a:schemeClr val="dk1"/>
              </a:buClr>
              <a:buSzPts val="1200"/>
              <a:buFont typeface="Calibri"/>
              <a:buChar char="●"/>
            </a:pPr>
            <a:r>
              <a:rPr lang="en" sz="1200" b="1" i="0" u="none" strike="noStrike" cap="none">
                <a:solidFill>
                  <a:srgbClr val="FF0000"/>
                </a:solidFill>
                <a:latin typeface="Calibri"/>
                <a:ea typeface="Calibri"/>
                <a:cs typeface="Calibri"/>
                <a:sym typeface="Calibri"/>
              </a:rPr>
              <a:t>Lambda</a:t>
            </a:r>
            <a:r>
              <a:rPr lang="en" sz="1200" b="0" i="0" u="none" strike="noStrike" cap="none">
                <a:solidFill>
                  <a:schemeClr val="dk1"/>
                </a:solidFill>
                <a:latin typeface="Calibri"/>
                <a:ea typeface="Calibri"/>
                <a:cs typeface="Calibri"/>
                <a:sym typeface="Calibri"/>
              </a:rPr>
              <a:t> - serverless functions</a:t>
            </a:r>
            <a:endParaRPr sz="1200" b="0" i="0" u="none" strike="noStrike" cap="none">
              <a:solidFill>
                <a:schemeClr val="dk1"/>
              </a:solidFill>
              <a:latin typeface="Calibri"/>
              <a:ea typeface="Calibri"/>
              <a:cs typeface="Calibri"/>
              <a:sym typeface="Calibri"/>
            </a:endParaRPr>
          </a:p>
          <a:p>
            <a:pPr marL="228600" marR="0" lvl="0" indent="-190500" algn="l" rtl="0">
              <a:lnSpc>
                <a:spcPct val="100000"/>
              </a:lnSpc>
              <a:spcBef>
                <a:spcPts val="0"/>
              </a:spcBef>
              <a:spcAft>
                <a:spcPts val="0"/>
              </a:spcAft>
              <a:buClr>
                <a:schemeClr val="dk1"/>
              </a:buClr>
              <a:buSzPts val="1200"/>
              <a:buFont typeface="Calibri"/>
              <a:buChar char="●"/>
            </a:pPr>
            <a:r>
              <a:rPr lang="en" sz="1200" b="0" i="0" u="none" strike="noStrike" cap="none">
                <a:solidFill>
                  <a:schemeClr val="dk1"/>
                </a:solidFill>
                <a:latin typeface="Calibri"/>
                <a:ea typeface="Calibri"/>
                <a:cs typeface="Calibri"/>
                <a:sym typeface="Calibri"/>
              </a:rPr>
              <a:t>LangChain - python library</a:t>
            </a:r>
            <a:endParaRPr sz="1200" b="0" i="0" u="none" strike="noStrike" cap="none">
              <a:solidFill>
                <a:schemeClr val="dk1"/>
              </a:solidFill>
              <a:latin typeface="Calibri"/>
              <a:ea typeface="Calibri"/>
              <a:cs typeface="Calibri"/>
              <a:sym typeface="Calibri"/>
            </a:endParaRPr>
          </a:p>
        </p:txBody>
      </p:sp>
      <p:sp>
        <p:nvSpPr>
          <p:cNvPr id="176" name="Google Shape;176;p24"/>
          <p:cNvSpPr txBox="1"/>
          <p:nvPr/>
        </p:nvSpPr>
        <p:spPr>
          <a:xfrm>
            <a:off x="4709650" y="4193757"/>
            <a:ext cx="4340400" cy="87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rgbClr val="6AA84F"/>
                </a:solidFill>
                <a:latin typeface="Roboto Mono"/>
                <a:ea typeface="Roboto Mono"/>
                <a:cs typeface="Roboto Mono"/>
                <a:sym typeface="Roboto Mono"/>
              </a:rPr>
              <a:t># simple Lamda function in AWS</a:t>
            </a:r>
            <a:endParaRPr sz="900" b="0" i="0" u="none" strike="noStrike" cap="none">
              <a:solidFill>
                <a:srgbClr val="6AA84F"/>
              </a:solidFill>
              <a:latin typeface="Roboto Mono"/>
              <a:ea typeface="Roboto Mono"/>
              <a:cs typeface="Roboto Mono"/>
              <a:sym typeface="Roboto Mono"/>
            </a:endParaRPr>
          </a:p>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rgbClr val="3C78D8"/>
                </a:solidFill>
                <a:latin typeface="Roboto Mono"/>
                <a:ea typeface="Roboto Mono"/>
                <a:cs typeface="Roboto Mono"/>
                <a:sym typeface="Roboto Mono"/>
              </a:rPr>
              <a:t>import json</a:t>
            </a:r>
            <a:endParaRPr sz="900" b="0" i="0" u="none" strike="noStrike" cap="none">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rgbClr val="3C78D8"/>
                </a:solidFill>
                <a:latin typeface="Roboto Mono"/>
                <a:ea typeface="Roboto Mono"/>
                <a:cs typeface="Roboto Mono"/>
                <a:sym typeface="Roboto Mono"/>
              </a:rPr>
              <a:t>def lambda_handler(event, context):</a:t>
            </a:r>
            <a:endParaRPr sz="900" b="0" i="0" u="none" strike="noStrike" cap="none">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rgbClr val="3C78D8"/>
                </a:solidFill>
                <a:latin typeface="Roboto Mono"/>
                <a:ea typeface="Roboto Mono"/>
                <a:cs typeface="Roboto Mono"/>
                <a:sym typeface="Roboto Mono"/>
              </a:rPr>
              <a:t>    message = "Hello from AWS Lambda!"  </a:t>
            </a:r>
            <a:endParaRPr sz="900" b="0" i="0" u="none" strike="noStrike" cap="none">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rgbClr val="3C78D8"/>
                </a:solidFill>
                <a:latin typeface="Roboto Mono"/>
                <a:ea typeface="Roboto Mono"/>
                <a:cs typeface="Roboto Mono"/>
                <a:sym typeface="Roboto Mono"/>
              </a:rPr>
              <a:t>    return {'statusCode': 200,'body': json.dumps(message)}</a:t>
            </a:r>
            <a:endParaRPr sz="1100" b="0" i="0" u="none" strike="noStrike" cap="none">
              <a:solidFill>
                <a:srgbClr val="3C78D8"/>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25"/>
          <p:cNvSpPr txBox="1"/>
          <p:nvPr/>
        </p:nvSpPr>
        <p:spPr>
          <a:xfrm>
            <a:off x="119324" y="0"/>
            <a:ext cx="5231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rgbClr val="0F1419"/>
                </a:solidFill>
                <a:highlight>
                  <a:srgbClr val="FFFFFF"/>
                </a:highlight>
                <a:latin typeface="Calibri"/>
                <a:ea typeface="Calibri"/>
                <a:cs typeface="Calibri"/>
                <a:sym typeface="Calibri"/>
              </a:rPr>
              <a:t>Build Company Chatbot on AWS - Example</a:t>
            </a:r>
            <a:endParaRPr sz="2000" b="1" i="0" u="none" strike="noStrike" cap="none">
              <a:solidFill>
                <a:srgbClr val="000000"/>
              </a:solidFill>
              <a:latin typeface="Calibri"/>
              <a:ea typeface="Calibri"/>
              <a:cs typeface="Calibri"/>
              <a:sym typeface="Calibri"/>
            </a:endParaRPr>
          </a:p>
        </p:txBody>
      </p:sp>
      <p:sp>
        <p:nvSpPr>
          <p:cNvPr id="182" name="Google Shape;182;p25"/>
          <p:cNvSpPr txBox="1"/>
          <p:nvPr/>
        </p:nvSpPr>
        <p:spPr>
          <a:xfrm>
            <a:off x="87625" y="557350"/>
            <a:ext cx="4945800" cy="58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chemeClr val="dk1"/>
                </a:solidFill>
                <a:latin typeface="Calibri"/>
                <a:ea typeface="Calibri"/>
                <a:cs typeface="Calibri"/>
                <a:sym typeface="Calibri"/>
              </a:rPr>
              <a:t>Building Generative AI Agents with Amazon Bedrock, Amazon Lex, and LangChain - </a:t>
            </a:r>
            <a:r>
              <a:rPr lang="en" sz="1000" b="0" i="0" u="sng" strike="noStrike" cap="none">
                <a:solidFill>
                  <a:schemeClr val="hlink"/>
                </a:solidFill>
                <a:latin typeface="Calibri"/>
                <a:ea typeface="Calibri"/>
                <a:cs typeface="Calibri"/>
                <a:sym typeface="Calibri"/>
                <a:hlinkClick r:id="rId3"/>
              </a:rPr>
              <a:t>https://www.youtube.com/watch?v=bv4XV7epeik</a:t>
            </a:r>
            <a:r>
              <a:rPr lang="en"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p:txBody>
      </p:sp>
      <p:pic>
        <p:nvPicPr>
          <p:cNvPr id="183" name="Google Shape;183;p25"/>
          <p:cNvPicPr preferRelativeResize="0"/>
          <p:nvPr/>
        </p:nvPicPr>
        <p:blipFill rotWithShape="1">
          <a:blip r:embed="rId4">
            <a:alphaModFix/>
          </a:blip>
          <a:srcRect/>
          <a:stretch/>
        </p:blipFill>
        <p:spPr>
          <a:xfrm>
            <a:off x="56050" y="1373300"/>
            <a:ext cx="4977480" cy="3684502"/>
          </a:xfrm>
          <a:prstGeom prst="rect">
            <a:avLst/>
          </a:prstGeom>
          <a:noFill/>
          <a:ln w="9525" cap="flat" cmpd="sng">
            <a:solidFill>
              <a:srgbClr val="3C78D8"/>
            </a:solidFill>
            <a:prstDash val="solid"/>
            <a:round/>
            <a:headEnd type="none" w="sm" len="sm"/>
            <a:tailEnd type="none" w="sm" len="sm"/>
          </a:ln>
        </p:spPr>
      </p:pic>
      <p:pic>
        <p:nvPicPr>
          <p:cNvPr id="184" name="Google Shape;184;p25"/>
          <p:cNvPicPr preferRelativeResize="0"/>
          <p:nvPr/>
        </p:nvPicPr>
        <p:blipFill rotWithShape="1">
          <a:blip r:embed="rId5">
            <a:alphaModFix/>
          </a:blip>
          <a:srcRect/>
          <a:stretch/>
        </p:blipFill>
        <p:spPr>
          <a:xfrm>
            <a:off x="5087225" y="3024900"/>
            <a:ext cx="4010200" cy="2032901"/>
          </a:xfrm>
          <a:prstGeom prst="rect">
            <a:avLst/>
          </a:prstGeom>
          <a:noFill/>
          <a:ln w="9525" cap="flat" cmpd="sng">
            <a:solidFill>
              <a:srgbClr val="3C78D8"/>
            </a:solidFill>
            <a:prstDash val="solid"/>
            <a:round/>
            <a:headEnd type="none" w="sm" len="sm"/>
            <a:tailEnd type="none" w="sm" len="sm"/>
          </a:ln>
        </p:spPr>
      </p:pic>
      <p:pic>
        <p:nvPicPr>
          <p:cNvPr id="185" name="Google Shape;185;p25"/>
          <p:cNvPicPr preferRelativeResize="0"/>
          <p:nvPr/>
        </p:nvPicPr>
        <p:blipFill rotWithShape="1">
          <a:blip r:embed="rId6">
            <a:alphaModFix/>
          </a:blip>
          <a:srcRect/>
          <a:stretch/>
        </p:blipFill>
        <p:spPr>
          <a:xfrm>
            <a:off x="6054738" y="78300"/>
            <a:ext cx="2075175" cy="2865726"/>
          </a:xfrm>
          <a:prstGeom prst="rect">
            <a:avLst/>
          </a:prstGeom>
          <a:noFill/>
          <a:ln w="9525" cap="flat" cmpd="sng">
            <a:solidFill>
              <a:srgbClr val="3C78D8"/>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26"/>
          <p:cNvSpPr txBox="1"/>
          <p:nvPr/>
        </p:nvSpPr>
        <p:spPr>
          <a:xfrm>
            <a:off x="119327" y="76200"/>
            <a:ext cx="5091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Using LLMs in Biology, Biochemistry, Medicine</a:t>
            </a:r>
            <a:endParaRPr sz="2000" b="1" i="0" u="none" strike="noStrike" cap="none">
              <a:solidFill>
                <a:srgbClr val="000000"/>
              </a:solidFill>
              <a:latin typeface="Calibri"/>
              <a:ea typeface="Calibri"/>
              <a:cs typeface="Calibri"/>
              <a:sym typeface="Calibri"/>
            </a:endParaRPr>
          </a:p>
        </p:txBody>
      </p:sp>
      <p:sp>
        <p:nvSpPr>
          <p:cNvPr id="191" name="Google Shape;191;p26"/>
          <p:cNvSpPr txBox="1"/>
          <p:nvPr/>
        </p:nvSpPr>
        <p:spPr>
          <a:xfrm>
            <a:off x="119337" y="426947"/>
            <a:ext cx="4381500" cy="298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196850" algn="l" rtl="0">
              <a:lnSpc>
                <a:spcPct val="100000"/>
              </a:lnSpc>
              <a:spcBef>
                <a:spcPts val="0"/>
              </a:spcBef>
              <a:spcAft>
                <a:spcPts val="0"/>
              </a:spcAft>
              <a:buClr>
                <a:schemeClr val="dk1"/>
              </a:buClr>
              <a:buSzPts val="1300"/>
              <a:buFont typeface="Calibri"/>
              <a:buChar char="●"/>
            </a:pPr>
            <a:r>
              <a:rPr lang="en" sz="1300" b="1" i="0" u="none" strike="noStrike" cap="none">
                <a:solidFill>
                  <a:srgbClr val="FF0000"/>
                </a:solidFill>
                <a:latin typeface="Calibri"/>
                <a:ea typeface="Calibri"/>
                <a:cs typeface="Calibri"/>
                <a:sym typeface="Calibri"/>
              </a:rPr>
              <a:t>3D shape of proteins</a:t>
            </a:r>
            <a:r>
              <a:rPr lang="en" sz="1300" b="0" i="0" u="none" strike="noStrike" cap="none">
                <a:solidFill>
                  <a:schemeClr val="dk1"/>
                </a:solidFill>
                <a:latin typeface="Calibri"/>
                <a:ea typeface="Calibri"/>
                <a:cs typeface="Calibri"/>
                <a:sym typeface="Calibri"/>
              </a:rPr>
              <a:t> is the determining factor for their function. </a:t>
            </a:r>
            <a:r>
              <a:rPr lang="en" sz="1300" b="0" i="0" u="none" strike="noStrike" cap="none">
                <a:solidFill>
                  <a:srgbClr val="3C78D8"/>
                </a:solidFill>
                <a:latin typeface="Calibri"/>
                <a:ea typeface="Calibri"/>
                <a:cs typeface="Calibri"/>
                <a:sym typeface="Calibri"/>
              </a:rPr>
              <a:t>DNA/RNA -&gt; amino acid sequence -&gt; alpha helix -&gt; 3d form of proteins</a:t>
            </a:r>
            <a:r>
              <a:rPr lang="en" sz="1300" b="0" i="0" u="none" strike="noStrike" cap="none">
                <a:solidFill>
                  <a:schemeClr val="dk1"/>
                </a:solidFill>
                <a:latin typeface="Calibri"/>
                <a:ea typeface="Calibri"/>
                <a:cs typeface="Calibri"/>
                <a:sym typeface="Calibri"/>
              </a:rPr>
              <a:t>. </a:t>
            </a:r>
            <a:r>
              <a:rPr lang="en" sz="1300" b="1" i="0" u="none" strike="noStrike" cap="none">
                <a:solidFill>
                  <a:srgbClr val="6AA84F"/>
                </a:solidFill>
                <a:latin typeface="Calibri"/>
                <a:ea typeface="Calibri"/>
                <a:cs typeface="Calibri"/>
                <a:sym typeface="Calibri"/>
              </a:rPr>
              <a:t>Google's Deepmind Alphafold</a:t>
            </a:r>
            <a:r>
              <a:rPr lang="en" sz="1300" b="0" i="0" u="none" strike="noStrike" cap="none">
                <a:solidFill>
                  <a:schemeClr val="dk1"/>
                </a:solidFill>
                <a:latin typeface="Calibri"/>
                <a:ea typeface="Calibri"/>
                <a:cs typeface="Calibri"/>
                <a:sym typeface="Calibri"/>
              </a:rPr>
              <a:t> predicts 3D  shape. New research direction - using LLM. </a:t>
            </a:r>
            <a:endParaRPr sz="1300" b="0" i="0" u="none" strike="noStrike" cap="none">
              <a:solidFill>
                <a:schemeClr val="dk1"/>
              </a:solidFill>
              <a:latin typeface="Calibri"/>
              <a:ea typeface="Calibri"/>
              <a:cs typeface="Calibri"/>
              <a:sym typeface="Calibri"/>
            </a:endParaRPr>
          </a:p>
          <a:p>
            <a:pPr marL="228600" marR="0" lvl="0" indent="-196850" algn="l" rtl="0">
              <a:lnSpc>
                <a:spcPct val="100000"/>
              </a:lnSpc>
              <a:spcBef>
                <a:spcPts val="0"/>
              </a:spcBef>
              <a:spcAft>
                <a:spcPts val="0"/>
              </a:spcAft>
              <a:buClr>
                <a:schemeClr val="dk1"/>
              </a:buClr>
              <a:buSzPts val="1300"/>
              <a:buFont typeface="Calibri"/>
              <a:buChar char="●"/>
            </a:pPr>
            <a:r>
              <a:rPr lang="en" sz="1300" b="0" i="0" u="none" strike="noStrike" cap="none">
                <a:solidFill>
                  <a:schemeClr val="dk1"/>
                </a:solidFill>
                <a:latin typeface="Calibri"/>
                <a:ea typeface="Calibri"/>
                <a:cs typeface="Calibri"/>
                <a:sym typeface="Calibri"/>
              </a:rPr>
              <a:t>There is a separate category of </a:t>
            </a:r>
            <a:r>
              <a:rPr lang="en" sz="1300" b="1" i="0" u="none" strike="noStrike" cap="none">
                <a:solidFill>
                  <a:srgbClr val="FF0000"/>
                </a:solidFill>
                <a:latin typeface="Calibri"/>
                <a:ea typeface="Calibri"/>
                <a:cs typeface="Calibri"/>
                <a:sym typeface="Calibri"/>
              </a:rPr>
              <a:t>protein folding diseases</a:t>
            </a:r>
            <a:r>
              <a:rPr lang="en" sz="1300" b="0" i="0" u="none" strike="noStrike" cap="none">
                <a:solidFill>
                  <a:schemeClr val="dk1"/>
                </a:solidFill>
                <a:latin typeface="Calibri"/>
                <a:ea typeface="Calibri"/>
                <a:cs typeface="Calibri"/>
                <a:sym typeface="Calibri"/>
              </a:rPr>
              <a:t>. They happen when a protein can not be made, or it folds incorrectly because of aging or a DNA sequence error, or even an infection. The diseases like </a:t>
            </a:r>
            <a:r>
              <a:rPr lang="en" sz="1300" b="0" i="0" u="none" strike="noStrike" cap="none">
                <a:solidFill>
                  <a:srgbClr val="FF0000"/>
                </a:solidFill>
                <a:latin typeface="Calibri"/>
                <a:ea typeface="Calibri"/>
                <a:cs typeface="Calibri"/>
                <a:sym typeface="Calibri"/>
              </a:rPr>
              <a:t>Creutzfeldt-Jakob disease (CJD), Parkinson's disease, Alzheimer's, cancer</a:t>
            </a:r>
            <a:r>
              <a:rPr lang="en" sz="1300" b="0" i="0" u="none" strike="noStrike" cap="none">
                <a:solidFill>
                  <a:schemeClr val="dk1"/>
                </a:solidFill>
                <a:latin typeface="Calibri"/>
                <a:ea typeface="Calibri"/>
                <a:cs typeface="Calibri"/>
                <a:sym typeface="Calibri"/>
              </a:rPr>
              <a:t>, ....</a:t>
            </a:r>
            <a:endParaRPr sz="1300" b="0" i="0" u="none" strike="noStrike" cap="none">
              <a:solidFill>
                <a:schemeClr val="dk1"/>
              </a:solidFill>
              <a:latin typeface="Calibri"/>
              <a:ea typeface="Calibri"/>
              <a:cs typeface="Calibri"/>
              <a:sym typeface="Calibri"/>
            </a:endParaRPr>
          </a:p>
          <a:p>
            <a:pPr marL="228600" marR="0" lvl="0" indent="-196850" algn="l" rtl="0">
              <a:lnSpc>
                <a:spcPct val="100000"/>
              </a:lnSpc>
              <a:spcBef>
                <a:spcPts val="0"/>
              </a:spcBef>
              <a:spcAft>
                <a:spcPts val="0"/>
              </a:spcAft>
              <a:buClr>
                <a:schemeClr val="dk1"/>
              </a:buClr>
              <a:buSzPts val="1300"/>
              <a:buFont typeface="Calibri"/>
              <a:buChar char="●"/>
            </a:pPr>
            <a:r>
              <a:rPr lang="en" sz="1300" b="0" i="0" u="none" strike="noStrike" cap="none">
                <a:solidFill>
                  <a:schemeClr val="dk1"/>
                </a:solidFill>
                <a:latin typeface="Calibri"/>
                <a:ea typeface="Calibri"/>
                <a:cs typeface="Calibri"/>
                <a:sym typeface="Calibri"/>
              </a:rPr>
              <a:t>There are so-called </a:t>
            </a:r>
            <a:r>
              <a:rPr lang="en" sz="1300" b="1" i="0" u="none" strike="noStrike" cap="none">
                <a:solidFill>
                  <a:srgbClr val="FF0000"/>
                </a:solidFill>
                <a:latin typeface="Calibri"/>
                <a:ea typeface="Calibri"/>
                <a:cs typeface="Calibri"/>
                <a:sym typeface="Calibri"/>
              </a:rPr>
              <a:t>chaperone-molecules</a:t>
            </a:r>
            <a:r>
              <a:rPr lang="en" sz="1300" b="0" i="0" u="none" strike="noStrike" cap="none">
                <a:solidFill>
                  <a:schemeClr val="dk1"/>
                </a:solidFill>
                <a:latin typeface="Calibri"/>
                <a:ea typeface="Calibri"/>
                <a:cs typeface="Calibri"/>
                <a:sym typeface="Calibri"/>
              </a:rPr>
              <a:t> (often also proteins) that help in the last stage of protein synthesis, specifically the correct folding. And often these chaperones are not coded in the cell nucleus but in the mitochondrial DNA.</a:t>
            </a:r>
            <a:endParaRPr sz="1300" b="0" i="0" u="none" strike="noStrike" cap="none">
              <a:solidFill>
                <a:schemeClr val="dk1"/>
              </a:solidFill>
              <a:latin typeface="Calibri"/>
              <a:ea typeface="Calibri"/>
              <a:cs typeface="Calibri"/>
              <a:sym typeface="Calibri"/>
            </a:endParaRPr>
          </a:p>
        </p:txBody>
      </p:sp>
      <p:sp>
        <p:nvSpPr>
          <p:cNvPr id="192" name="Google Shape;192;p26"/>
          <p:cNvSpPr txBox="1"/>
          <p:nvPr/>
        </p:nvSpPr>
        <p:spPr>
          <a:xfrm>
            <a:off x="4677337" y="402597"/>
            <a:ext cx="43815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190500" algn="l" rtl="0">
              <a:lnSpc>
                <a:spcPct val="100000"/>
              </a:lnSpc>
              <a:spcBef>
                <a:spcPts val="0"/>
              </a:spcBef>
              <a:spcAft>
                <a:spcPts val="0"/>
              </a:spcAft>
              <a:buClr>
                <a:schemeClr val="dk1"/>
              </a:buClr>
              <a:buSzPts val="1200"/>
              <a:buFont typeface="Calibri"/>
              <a:buChar char="●"/>
            </a:pPr>
            <a:r>
              <a:rPr lang="en" sz="1200" b="0" i="0" u="none" strike="noStrike" cap="none">
                <a:solidFill>
                  <a:schemeClr val="dk1"/>
                </a:solidFill>
                <a:latin typeface="Calibri"/>
                <a:ea typeface="Calibri"/>
                <a:cs typeface="Calibri"/>
                <a:sym typeface="Calibri"/>
              </a:rPr>
              <a:t>If it is easier to solve these puzzles with LLMs, you may be able to find medications or via crispr-cas correction mechanisms in stem cells.</a:t>
            </a:r>
            <a:endParaRPr sz="1200" b="0" i="0" u="none" strike="noStrike" cap="none">
              <a:solidFill>
                <a:schemeClr val="dk1"/>
              </a:solidFill>
              <a:latin typeface="Calibri"/>
              <a:ea typeface="Calibri"/>
              <a:cs typeface="Calibri"/>
              <a:sym typeface="Calibri"/>
            </a:endParaRPr>
          </a:p>
          <a:p>
            <a:pPr marL="228600" marR="0" lvl="0" indent="-190500" algn="l" rtl="0">
              <a:lnSpc>
                <a:spcPct val="100000"/>
              </a:lnSpc>
              <a:spcBef>
                <a:spcPts val="0"/>
              </a:spcBef>
              <a:spcAft>
                <a:spcPts val="0"/>
              </a:spcAft>
              <a:buClr>
                <a:schemeClr val="dk1"/>
              </a:buClr>
              <a:buSzPts val="1200"/>
              <a:buFont typeface="Calibri"/>
              <a:buChar char="●"/>
            </a:pPr>
            <a:r>
              <a:rPr lang="en" sz="1200" b="0" i="0" u="none" strike="noStrike" cap="none">
                <a:solidFill>
                  <a:schemeClr val="dk1"/>
                </a:solidFill>
                <a:latin typeface="Calibri"/>
                <a:ea typeface="Calibri"/>
                <a:cs typeface="Calibri"/>
                <a:sym typeface="Calibri"/>
              </a:rPr>
              <a:t>With LLMs we are primary focused on "human languages", including programming languages, but there may be a whole set of other languages that can be used with LLMs. Biology, chemistry, you name it.</a:t>
            </a:r>
            <a:endParaRPr sz="1200">
              <a:solidFill>
                <a:schemeClr val="dk1"/>
              </a:solidFill>
              <a:latin typeface="Calibri"/>
              <a:ea typeface="Calibri"/>
              <a:cs typeface="Calibri"/>
              <a:sym typeface="Calibri"/>
            </a:endParaRPr>
          </a:p>
          <a:p>
            <a:pPr marL="228600" lvl="0" indent="-203200" algn="l" rtl="0">
              <a:spcBef>
                <a:spcPts val="0"/>
              </a:spcBef>
              <a:spcAft>
                <a:spcPts val="0"/>
              </a:spcAft>
              <a:buSzPts val="1400"/>
              <a:buFont typeface="Calibri"/>
              <a:buChar char="●"/>
            </a:pPr>
            <a:r>
              <a:rPr lang="en" sz="1200" b="1">
                <a:solidFill>
                  <a:srgbClr val="FF0000"/>
                </a:solidFill>
                <a:latin typeface="Calibri"/>
                <a:ea typeface="Calibri"/>
                <a:cs typeface="Calibri"/>
                <a:sym typeface="Calibri"/>
              </a:rPr>
              <a:t>GenePT</a:t>
            </a:r>
            <a:r>
              <a:rPr lang="en" sz="1200">
                <a:solidFill>
                  <a:schemeClr val="dk1"/>
                </a:solidFill>
                <a:latin typeface="Calibri"/>
                <a:ea typeface="Calibri"/>
                <a:cs typeface="Calibri"/>
                <a:sym typeface="Calibri"/>
              </a:rPr>
              <a:t> - creating single-cell embeddings by averaging gene embeddings according to expression levels - using GPT-3.5 and NCBI text descriptions of specific genes (National Center for Biotechnology Information) </a:t>
            </a:r>
            <a:r>
              <a:rPr lang="en" sz="1000"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https://cbirt.net/decoding-genes-and-cells-with-genept-a-simple-yet-powerful-foundation-model-leveraging-chatgpt/</a:t>
            </a:r>
            <a:r>
              <a:rPr lang="en" sz="10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3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chemeClr val="dk1"/>
                </a:solidFill>
                <a:latin typeface="Calibri"/>
                <a:ea typeface="Calibri"/>
                <a:cs typeface="Calibri"/>
                <a:sym typeface="Calibri"/>
              </a:rPr>
              <a:t>Some links:</a:t>
            </a:r>
            <a:endParaRPr sz="1300" b="0" i="0" u="none" strike="noStrike" cap="none">
              <a:solidFill>
                <a:schemeClr val="dk1"/>
              </a:solidFill>
              <a:latin typeface="Calibri"/>
              <a:ea typeface="Calibri"/>
              <a:cs typeface="Calibri"/>
              <a:sym typeface="Calibri"/>
            </a:endParaRPr>
          </a:p>
          <a:p>
            <a:pPr marL="228600" marR="0" lvl="0" indent="-177800" algn="l" rtl="0">
              <a:lnSpc>
                <a:spcPct val="100000"/>
              </a:lnSpc>
              <a:spcBef>
                <a:spcPts val="0"/>
              </a:spcBef>
              <a:spcAft>
                <a:spcPts val="0"/>
              </a:spcAft>
              <a:buClr>
                <a:schemeClr val="dk1"/>
              </a:buClr>
              <a:buSzPts val="1000"/>
              <a:buFont typeface="Calibri"/>
              <a:buChar char="●"/>
            </a:pPr>
            <a:r>
              <a:rPr lang="en" sz="1000" b="0" i="0" u="sng" strike="noStrike" cap="none">
                <a:solidFill>
                  <a:schemeClr val="hlink"/>
                </a:solidFill>
                <a:latin typeface="Calibri"/>
                <a:ea typeface="Calibri"/>
                <a:cs typeface="Calibri"/>
                <a:sym typeface="Calibri"/>
                <a:hlinkClick r:id="rId4"/>
              </a:rPr>
              <a:t>https://towardsdatascience.com/large-language-models-in-molecular-biology-9eb6b65d8a30</a:t>
            </a:r>
            <a:r>
              <a:rPr lang="en"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a:p>
            <a:pPr marL="228600" marR="0" lvl="0" indent="-177800" algn="l" rtl="0">
              <a:lnSpc>
                <a:spcPct val="100000"/>
              </a:lnSpc>
              <a:spcBef>
                <a:spcPts val="0"/>
              </a:spcBef>
              <a:spcAft>
                <a:spcPts val="0"/>
              </a:spcAft>
              <a:buClr>
                <a:schemeClr val="dk1"/>
              </a:buClr>
              <a:buSzPts val="1000"/>
              <a:buFont typeface="Calibri"/>
              <a:buChar char="●"/>
            </a:pPr>
            <a:r>
              <a:rPr lang="en" sz="1000" b="0" i="0" u="sng" strike="noStrike" cap="none">
                <a:solidFill>
                  <a:schemeClr val="hlink"/>
                </a:solidFill>
                <a:latin typeface="Calibri"/>
                <a:ea typeface="Calibri"/>
                <a:cs typeface="Calibri"/>
                <a:sym typeface="Calibri"/>
                <a:hlinkClick r:id="rId5"/>
              </a:rPr>
              <a:t>https://www.azorobotics.com/News.aspx?newsID=14638</a:t>
            </a:r>
            <a:r>
              <a:rPr lang="en"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a:p>
            <a:pPr marL="228600" marR="0" lvl="0" indent="-177800" algn="l" rtl="0">
              <a:lnSpc>
                <a:spcPct val="100000"/>
              </a:lnSpc>
              <a:spcBef>
                <a:spcPts val="0"/>
              </a:spcBef>
              <a:spcAft>
                <a:spcPts val="0"/>
              </a:spcAft>
              <a:buClr>
                <a:schemeClr val="dk1"/>
              </a:buClr>
              <a:buSzPts val="1000"/>
              <a:buFont typeface="Calibri"/>
              <a:buChar char="●"/>
            </a:pPr>
            <a:r>
              <a:rPr lang="en" sz="1000" b="0" i="0" u="sng" strike="noStrike" cap="none">
                <a:solidFill>
                  <a:schemeClr val="hlink"/>
                </a:solidFill>
                <a:latin typeface="Calibri"/>
                <a:ea typeface="Calibri"/>
                <a:cs typeface="Calibri"/>
                <a:sym typeface="Calibri"/>
                <a:hlinkClick r:id="rId6"/>
              </a:rPr>
              <a:t>https://bigthink.com/health/how-generative-ai-language-models-are-unlocking-the-secrets-of-dna/</a:t>
            </a:r>
            <a:r>
              <a:rPr lang="en"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a:p>
            <a:pPr marL="228600" marR="0" lvl="0" indent="-177800" algn="l" rtl="0">
              <a:lnSpc>
                <a:spcPct val="100000"/>
              </a:lnSpc>
              <a:spcBef>
                <a:spcPts val="0"/>
              </a:spcBef>
              <a:spcAft>
                <a:spcPts val="0"/>
              </a:spcAft>
              <a:buClr>
                <a:schemeClr val="dk1"/>
              </a:buClr>
              <a:buSzPts val="1000"/>
              <a:buFont typeface="Calibri"/>
              <a:buChar char="●"/>
            </a:pPr>
            <a:r>
              <a:rPr lang="en" sz="1000" b="0" i="0" u="sng" strike="noStrike" cap="none">
                <a:solidFill>
                  <a:schemeClr val="hlink"/>
                </a:solidFill>
                <a:latin typeface="Calibri"/>
                <a:ea typeface="Calibri"/>
                <a:cs typeface="Calibri"/>
                <a:sym typeface="Calibri"/>
                <a:hlinkClick r:id="rId7"/>
              </a:rPr>
              <a:t>https://www.datasciencecentral.com/genai-synthesizing-dna-sequences-with-llm-techniques/</a:t>
            </a:r>
            <a:r>
              <a:rPr lang="en"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a:p>
            <a:pPr marL="228600" marR="0" lvl="0" indent="-177800" algn="l" rtl="0">
              <a:lnSpc>
                <a:spcPct val="100000"/>
              </a:lnSpc>
              <a:spcBef>
                <a:spcPts val="0"/>
              </a:spcBef>
              <a:spcAft>
                <a:spcPts val="0"/>
              </a:spcAft>
              <a:buClr>
                <a:schemeClr val="dk1"/>
              </a:buClr>
              <a:buSzPts val="1000"/>
              <a:buFont typeface="Calibri"/>
              <a:buChar char="●"/>
            </a:pPr>
            <a:r>
              <a:rPr lang="en" sz="1000" b="0" i="0" u="sng" strike="noStrike" cap="none">
                <a:solidFill>
                  <a:schemeClr val="hlink"/>
                </a:solidFill>
                <a:latin typeface="Calibri"/>
                <a:ea typeface="Calibri"/>
                <a:cs typeface="Calibri"/>
                <a:sym typeface="Calibri"/>
                <a:hlinkClick r:id="rId8"/>
              </a:rPr>
              <a:t>https://www.axios.com/2023/11/17/generative-ai-dna-biology</a:t>
            </a:r>
            <a:r>
              <a:rPr lang="en" sz="1000" b="0" i="0" u="none" strike="noStrike" cap="none">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pic>
        <p:nvPicPr>
          <p:cNvPr id="193" name="Google Shape;193;p26"/>
          <p:cNvPicPr preferRelativeResize="0"/>
          <p:nvPr/>
        </p:nvPicPr>
        <p:blipFill rotWithShape="1">
          <a:blip r:embed="rId9">
            <a:alphaModFix/>
          </a:blip>
          <a:srcRect/>
          <a:stretch/>
        </p:blipFill>
        <p:spPr>
          <a:xfrm>
            <a:off x="802722" y="3456143"/>
            <a:ext cx="2933872" cy="165032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27"/>
          <p:cNvSpPr txBox="1"/>
          <p:nvPr/>
        </p:nvSpPr>
        <p:spPr>
          <a:xfrm>
            <a:off x="119327" y="0"/>
            <a:ext cx="4609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Advance RAG - Improve RAG performance</a:t>
            </a:r>
            <a:endParaRPr sz="2000" b="1" i="0" u="none" strike="noStrike" cap="none">
              <a:solidFill>
                <a:srgbClr val="000000"/>
              </a:solidFill>
              <a:latin typeface="Calibri"/>
              <a:ea typeface="Calibri"/>
              <a:cs typeface="Calibri"/>
              <a:sym typeface="Calibri"/>
            </a:endParaRPr>
          </a:p>
        </p:txBody>
      </p:sp>
      <p:sp>
        <p:nvSpPr>
          <p:cNvPr id="199" name="Google Shape;199;p27"/>
          <p:cNvSpPr txBox="1"/>
          <p:nvPr/>
        </p:nvSpPr>
        <p:spPr>
          <a:xfrm>
            <a:off x="119316" y="579350"/>
            <a:ext cx="7550400" cy="785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300" b="0" i="0" u="sng" strike="noStrike" cap="none">
                <a:solidFill>
                  <a:schemeClr val="hlink"/>
                </a:solidFill>
                <a:latin typeface="Calibri"/>
                <a:ea typeface="Calibri"/>
                <a:cs typeface="Calibri"/>
                <a:sym typeface="Calibri"/>
                <a:hlinkClick r:id="rId3"/>
              </a:rPr>
              <a:t>https://luv-bansal.medium.com/advance-rag-improve-rag-performance-208ffad5bb6a</a:t>
            </a:r>
            <a:r>
              <a:rPr lang="en" sz="1300" b="0" i="0" u="none" strike="noStrike" cap="none">
                <a:solidFill>
                  <a:schemeClr val="dk1"/>
                </a:solidFill>
                <a:latin typeface="Calibri"/>
                <a:ea typeface="Calibri"/>
                <a:cs typeface="Calibri"/>
                <a:sym typeface="Calibri"/>
              </a:rPr>
              <a:t> </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chemeClr val="dk1"/>
                </a:solidFill>
                <a:latin typeface="Calibri"/>
                <a:ea typeface="Calibri"/>
                <a:cs typeface="Calibri"/>
                <a:sym typeface="Calibri"/>
              </a:rPr>
              <a:t>Seven Failure Points When Engineering a Retrieval Augmented Generation System</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b="0" i="0" u="sng" strike="noStrike" cap="none">
                <a:solidFill>
                  <a:schemeClr val="hlink"/>
                </a:solidFill>
                <a:latin typeface="Calibri"/>
                <a:ea typeface="Calibri"/>
                <a:cs typeface="Calibri"/>
                <a:sym typeface="Calibri"/>
                <a:hlinkClick r:id="rId4"/>
              </a:rPr>
              <a:t>https://arxiv.org/pdf/2401.05856.pdf</a:t>
            </a:r>
            <a:r>
              <a:rPr lang="en" sz="1300" b="0" i="0" u="none" strike="noStrike" cap="none">
                <a:solidFill>
                  <a:schemeClr val="dk1"/>
                </a:solidFill>
                <a:latin typeface="Calibri"/>
                <a:ea typeface="Calibri"/>
                <a:cs typeface="Calibri"/>
                <a:sym typeface="Calibri"/>
              </a:rPr>
              <a:t> </a:t>
            </a:r>
            <a:endParaRPr sz="1300" b="0" i="0" u="none" strike="noStrike" cap="none">
              <a:solidFill>
                <a:schemeClr val="dk1"/>
              </a:solidFill>
              <a:latin typeface="Calibri"/>
              <a:ea typeface="Calibri"/>
              <a:cs typeface="Calibri"/>
              <a:sym typeface="Calibri"/>
            </a:endParaRPr>
          </a:p>
        </p:txBody>
      </p:sp>
      <p:pic>
        <p:nvPicPr>
          <p:cNvPr id="200" name="Google Shape;200;p27"/>
          <p:cNvPicPr preferRelativeResize="0"/>
          <p:nvPr/>
        </p:nvPicPr>
        <p:blipFill rotWithShape="1">
          <a:blip r:embed="rId5">
            <a:alphaModFix/>
          </a:blip>
          <a:srcRect/>
          <a:stretch/>
        </p:blipFill>
        <p:spPr>
          <a:xfrm>
            <a:off x="119326" y="1504350"/>
            <a:ext cx="7454525" cy="348702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28"/>
          <p:cNvSpPr txBox="1"/>
          <p:nvPr/>
        </p:nvSpPr>
        <p:spPr>
          <a:xfrm>
            <a:off x="119316" y="0"/>
            <a:ext cx="287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Web Research using LLM</a:t>
            </a:r>
            <a:endParaRPr sz="2000" b="1" i="0" u="none" strike="noStrike" cap="none">
              <a:solidFill>
                <a:srgbClr val="000000"/>
              </a:solidFill>
              <a:latin typeface="Calibri"/>
              <a:ea typeface="Calibri"/>
              <a:cs typeface="Calibri"/>
              <a:sym typeface="Calibri"/>
            </a:endParaRPr>
          </a:p>
        </p:txBody>
      </p:sp>
      <p:sp>
        <p:nvSpPr>
          <p:cNvPr id="206" name="Google Shape;206;p28"/>
          <p:cNvSpPr txBox="1"/>
          <p:nvPr/>
        </p:nvSpPr>
        <p:spPr>
          <a:xfrm>
            <a:off x="109912" y="397425"/>
            <a:ext cx="4381500" cy="246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300" b="0" i="0" u="none" strike="noStrike" cap="none">
                <a:solidFill>
                  <a:srgbClr val="000000"/>
                </a:solidFill>
                <a:latin typeface="Calibri"/>
                <a:ea typeface="Calibri"/>
                <a:cs typeface="Calibri"/>
                <a:sym typeface="Calibri"/>
              </a:rPr>
              <a:t>GPT Researcher</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000" b="0" i="0" u="sng" strike="noStrike" cap="none">
                <a:solidFill>
                  <a:schemeClr val="hlink"/>
                </a:solidFill>
                <a:latin typeface="Calibri"/>
                <a:ea typeface="Calibri"/>
                <a:cs typeface="Calibri"/>
                <a:sym typeface="Calibri"/>
                <a:hlinkClick r:id="rId3"/>
              </a:rPr>
              <a:t>https://github.com/assafelovic/gpt-researcher</a:t>
            </a:r>
            <a:r>
              <a:rPr lang="en" sz="1000" b="0" i="0" u="none" strike="noStrike" cap="none">
                <a:solidFill>
                  <a:schemeClr val="dk1"/>
                </a:solidFill>
                <a:latin typeface="Calibri"/>
                <a:ea typeface="Calibri"/>
                <a:cs typeface="Calibri"/>
                <a:sym typeface="Calibri"/>
              </a:rPr>
              <a:t> </a:t>
            </a:r>
            <a:br>
              <a:rPr lang="en" sz="1300" b="0" i="0" u="none" strike="noStrike" cap="none">
                <a:solidFill>
                  <a:schemeClr val="dk1"/>
                </a:solidFill>
                <a:latin typeface="Calibri"/>
                <a:ea typeface="Calibri"/>
                <a:cs typeface="Calibri"/>
                <a:sym typeface="Calibri"/>
              </a:rPr>
            </a:br>
            <a:r>
              <a:rPr lang="en" sz="1300" b="0" i="0" u="none" strike="noStrike" cap="none">
                <a:solidFill>
                  <a:schemeClr val="dk1"/>
                </a:solidFill>
                <a:latin typeface="Calibri"/>
                <a:ea typeface="Calibri"/>
                <a:cs typeface="Calibri"/>
                <a:sym typeface="Calibri"/>
              </a:rPr>
              <a:t>Web scraping</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000" b="0" i="0" u="sng" strike="noStrike" cap="none">
                <a:solidFill>
                  <a:schemeClr val="hlink"/>
                </a:solidFill>
                <a:latin typeface="Calibri"/>
                <a:ea typeface="Calibri"/>
                <a:cs typeface="Calibri"/>
                <a:sym typeface="Calibri"/>
                <a:hlinkClick r:id="rId4"/>
              </a:rPr>
              <a:t>https://python.langchain.com/docs/use_cases/web_scraping</a:t>
            </a:r>
            <a:br>
              <a:rPr lang="en" sz="1300" b="0" i="0" u="none" strike="noStrike" cap="none">
                <a:solidFill>
                  <a:schemeClr val="dk1"/>
                </a:solidFill>
                <a:latin typeface="Calibri"/>
                <a:ea typeface="Calibri"/>
                <a:cs typeface="Calibri"/>
                <a:sym typeface="Calibri"/>
              </a:rPr>
            </a:br>
            <a:r>
              <a:rPr lang="en" sz="1300" b="0" i="0" u="none" strike="noStrike" cap="none">
                <a:solidFill>
                  <a:schemeClr val="dk1"/>
                </a:solidFill>
                <a:latin typeface="Calibri"/>
                <a:ea typeface="Calibri"/>
                <a:cs typeface="Calibri"/>
                <a:sym typeface="Calibri"/>
              </a:rPr>
              <a:t>Web Research chatbot LangChain+OpenAI:</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000" b="0" i="0" u="sng" strike="noStrike" cap="none">
                <a:solidFill>
                  <a:schemeClr val="hlink"/>
                </a:solidFill>
                <a:latin typeface="Calibri"/>
                <a:ea typeface="Calibri"/>
                <a:cs typeface="Calibri"/>
                <a:sym typeface="Calibri"/>
                <a:hlinkClick r:id="rId5"/>
              </a:rPr>
              <a:t>https://medium.com/simform-engineering/creating-a-web-research-chatbot-using-langchain-and-openai-aa7113c9ccbf</a:t>
            </a:r>
            <a:r>
              <a:rPr lang="en" sz="1000" b="0" i="0" u="none" strike="noStrike" cap="none">
                <a:solidFill>
                  <a:schemeClr val="dk1"/>
                </a:solidFill>
                <a:latin typeface="Calibri"/>
                <a:ea typeface="Calibri"/>
                <a:cs typeface="Calibri"/>
                <a:sym typeface="Calibri"/>
              </a:rPr>
              <a:t>  </a:t>
            </a:r>
            <a:br>
              <a:rPr lang="en" sz="1300" b="0" i="0" u="none" strike="noStrike" cap="none">
                <a:solidFill>
                  <a:schemeClr val="dk1"/>
                </a:solidFill>
                <a:latin typeface="Calibri"/>
                <a:ea typeface="Calibri"/>
                <a:cs typeface="Calibri"/>
                <a:sym typeface="Calibri"/>
              </a:rPr>
            </a:br>
            <a:r>
              <a:rPr lang="en" sz="1300" b="0" i="0" u="none" strike="noStrike" cap="none">
                <a:solidFill>
                  <a:schemeClr val="dk1"/>
                </a:solidFill>
                <a:latin typeface="Calibri"/>
                <a:ea typeface="Calibri"/>
                <a:cs typeface="Calibri"/>
                <a:sym typeface="Calibri"/>
              </a:rPr>
              <a:t>Pioneering the Future of Web Scraping with Intelligent AI Agents: Unleash the Power of AutoGen</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000" b="0" i="0" u="sng" strike="noStrike" cap="none">
                <a:solidFill>
                  <a:schemeClr val="hlink"/>
                </a:solidFill>
                <a:latin typeface="Calibri"/>
                <a:ea typeface="Calibri"/>
                <a:cs typeface="Calibri"/>
                <a:sym typeface="Calibri"/>
                <a:hlinkClick r:id="rId6"/>
              </a:rPr>
              <a:t>https://ai.plainenglish.io/pioneering-the-future-of-web-scraping-with-intelligent-ai-agents-unleash-the-power-of-autogen-222aa73daad6</a:t>
            </a:r>
            <a:br>
              <a:rPr lang="en" sz="1300" b="0" i="0" u="none" strike="noStrike" cap="none">
                <a:solidFill>
                  <a:schemeClr val="dk1"/>
                </a:solidFill>
                <a:latin typeface="Calibri"/>
                <a:ea typeface="Calibri"/>
                <a:cs typeface="Calibri"/>
                <a:sym typeface="Calibri"/>
              </a:rPr>
            </a:br>
            <a:r>
              <a:rPr lang="en" sz="1300" b="0" i="0" u="none" strike="noStrike" cap="none">
                <a:solidFill>
                  <a:schemeClr val="dk1"/>
                </a:solidFill>
                <a:latin typeface="Calibri"/>
                <a:ea typeface="Calibri"/>
                <a:cs typeface="Calibri"/>
                <a:sym typeface="Calibri"/>
              </a:rPr>
              <a:t>AutoGen Part 4 | Create Multi-Agents GPT for Research Apps!</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000" b="0" i="0" u="sng" strike="noStrike" cap="none">
                <a:solidFill>
                  <a:schemeClr val="hlink"/>
                </a:solidFill>
                <a:latin typeface="Calibri"/>
                <a:ea typeface="Calibri"/>
                <a:cs typeface="Calibri"/>
                <a:sym typeface="Calibri"/>
                <a:hlinkClick r:id="rId7"/>
              </a:rPr>
              <a:t>https://www.youtube.com/watch?v=WJIzVok-0GI</a:t>
            </a:r>
            <a:r>
              <a:rPr lang="en" sz="1000" b="0" i="0" u="none" strike="noStrike" cap="none">
                <a:solidFill>
                  <a:schemeClr val="dk1"/>
                </a:solidFill>
                <a:latin typeface="Calibri"/>
                <a:ea typeface="Calibri"/>
                <a:cs typeface="Calibri"/>
                <a:sym typeface="Calibri"/>
              </a:rPr>
              <a:t> </a:t>
            </a:r>
            <a:endParaRPr sz="1300" b="0" i="0" u="none" strike="noStrike" cap="none">
              <a:solidFill>
                <a:schemeClr val="dk1"/>
              </a:solidFill>
              <a:latin typeface="Calibri"/>
              <a:ea typeface="Calibri"/>
              <a:cs typeface="Calibri"/>
              <a:sym typeface="Calibri"/>
            </a:endParaRPr>
          </a:p>
        </p:txBody>
      </p:sp>
      <p:sp>
        <p:nvSpPr>
          <p:cNvPr id="207" name="Google Shape;207;p28"/>
          <p:cNvSpPr txBox="1"/>
          <p:nvPr/>
        </p:nvSpPr>
        <p:spPr>
          <a:xfrm>
            <a:off x="4639025" y="391880"/>
            <a:ext cx="4381500" cy="243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1" i="0" u="none" strike="noStrike" cap="none">
                <a:solidFill>
                  <a:srgbClr val="FF0000"/>
                </a:solidFill>
                <a:latin typeface="Calibri"/>
                <a:ea typeface="Calibri"/>
                <a:cs typeface="Calibri"/>
                <a:sym typeface="Calibri"/>
              </a:rPr>
              <a:t>Diffbot</a:t>
            </a:r>
            <a:r>
              <a:rPr lang="en" sz="1300" b="0" i="0" u="none" strike="noStrike" cap="none">
                <a:solidFill>
                  <a:schemeClr val="dk1"/>
                </a:solidFill>
                <a:latin typeface="Calibri"/>
                <a:ea typeface="Calibri"/>
                <a:cs typeface="Calibri"/>
                <a:sym typeface="Calibri"/>
              </a:rPr>
              <a:t> - </a:t>
            </a:r>
            <a:r>
              <a:rPr lang="en" sz="1000" b="0" i="0" u="sng" strike="noStrike" cap="none">
                <a:solidFill>
                  <a:schemeClr val="hlink"/>
                </a:solidFill>
                <a:latin typeface="Calibri"/>
                <a:ea typeface="Calibri"/>
                <a:cs typeface="Calibri"/>
                <a:sym typeface="Calibri"/>
                <a:hlinkClick r:id="rId8"/>
              </a:rPr>
              <a:t>https://www.diffbot.com</a:t>
            </a:r>
            <a:r>
              <a:rPr lang="en" sz="1000" b="0" i="0" u="none" strike="noStrike" cap="none">
                <a:solidFill>
                  <a:schemeClr val="dk1"/>
                </a:solidFill>
                <a:latin typeface="Calibri"/>
                <a:ea typeface="Calibri"/>
                <a:cs typeface="Calibri"/>
                <a:sym typeface="Calibri"/>
              </a:rPr>
              <a:t> </a:t>
            </a:r>
            <a:r>
              <a:rPr lang="en" sz="1300" b="0" i="0" u="none" strike="noStrike" cap="none">
                <a:solidFill>
                  <a:schemeClr val="dk1"/>
                </a:solidFill>
                <a:latin typeface="Calibri"/>
                <a:ea typeface="Calibri"/>
                <a:cs typeface="Calibri"/>
                <a:sym typeface="Calibri"/>
              </a:rPr>
              <a:t>- Menlo Park, CA</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chemeClr val="dk1"/>
                </a:solidFill>
                <a:latin typeface="Calibri"/>
                <a:ea typeface="Calibri"/>
                <a:cs typeface="Calibri"/>
                <a:sym typeface="Calibri"/>
              </a:rPr>
              <a:t>Since 2008, ~35 employees, ~2.3 Mln revenue in 2023</a:t>
            </a:r>
            <a:endParaRPr sz="1300" b="0" i="0" u="none" strike="noStrike" cap="none">
              <a:solidFill>
                <a:schemeClr val="dk1"/>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1" i="0" u="none" strike="noStrike" cap="none">
                <a:solidFill>
                  <a:srgbClr val="FF0000"/>
                </a:solidFill>
                <a:latin typeface="Calibri"/>
                <a:ea typeface="Calibri"/>
                <a:cs typeface="Calibri"/>
                <a:sym typeface="Calibri"/>
              </a:rPr>
              <a:t>Web data extraction</a:t>
            </a:r>
            <a:r>
              <a:rPr lang="en" sz="1300" b="0" i="0" u="none" strike="noStrike" cap="none">
                <a:solidFill>
                  <a:schemeClr val="dk1"/>
                </a:solidFill>
                <a:latin typeface="Calibri"/>
                <a:ea typeface="Calibri"/>
                <a:cs typeface="Calibri"/>
                <a:sym typeface="Calibri"/>
              </a:rPr>
              <a:t> - identify key elements, create a knowledge graph with Billions of entities</a:t>
            </a:r>
            <a:endParaRPr sz="1300" b="0" i="0" u="none" strike="noStrike" cap="none">
              <a:solidFill>
                <a:schemeClr val="dk1"/>
              </a:solidFill>
              <a:latin typeface="Calibri"/>
              <a:ea typeface="Calibri"/>
              <a:cs typeface="Calibri"/>
              <a:sym typeface="Calibri"/>
            </a:endParaRPr>
          </a:p>
          <a:p>
            <a:pPr marL="228600" marR="0" lvl="0" indent="-196850" algn="l" rtl="0">
              <a:lnSpc>
                <a:spcPct val="100000"/>
              </a:lnSpc>
              <a:spcBef>
                <a:spcPts val="0"/>
              </a:spcBef>
              <a:spcAft>
                <a:spcPts val="0"/>
              </a:spcAft>
              <a:buClr>
                <a:schemeClr val="dk1"/>
              </a:buClr>
              <a:buSzPts val="1300"/>
              <a:buFont typeface="Calibri"/>
              <a:buChar char="●"/>
            </a:pPr>
            <a:r>
              <a:rPr lang="en" sz="1300" b="1" i="0" u="none" strike="noStrike" cap="none">
                <a:solidFill>
                  <a:srgbClr val="FF0000"/>
                </a:solidFill>
                <a:latin typeface="Calibri"/>
                <a:ea typeface="Calibri"/>
                <a:cs typeface="Calibri"/>
                <a:sym typeface="Calibri"/>
              </a:rPr>
              <a:t>APIs</a:t>
            </a:r>
            <a:r>
              <a:rPr lang="en" sz="1300" b="0" i="0" u="none" strike="noStrike" cap="none">
                <a:solidFill>
                  <a:schemeClr val="dk1"/>
                </a:solidFill>
                <a:latin typeface="Calibri"/>
                <a:ea typeface="Calibri"/>
                <a:cs typeface="Calibri"/>
                <a:sym typeface="Calibri"/>
              </a:rPr>
              <a:t>: Article, Product, Discussion, Image and Video, Knowledge Graph, Custom Crawlbot</a:t>
            </a:r>
            <a:endParaRPr sz="1300" b="0" i="0" u="none" strike="noStrike" cap="none">
              <a:solidFill>
                <a:schemeClr val="dk1"/>
              </a:solidFill>
              <a:latin typeface="Calibri"/>
              <a:ea typeface="Calibri"/>
              <a:cs typeface="Calibri"/>
              <a:sym typeface="Calibri"/>
            </a:endParaRPr>
          </a:p>
          <a:p>
            <a:pPr marL="228600" marR="0" lvl="0" indent="-196850" algn="l" rtl="0">
              <a:lnSpc>
                <a:spcPct val="100000"/>
              </a:lnSpc>
              <a:spcBef>
                <a:spcPts val="0"/>
              </a:spcBef>
              <a:spcAft>
                <a:spcPts val="0"/>
              </a:spcAft>
              <a:buClr>
                <a:schemeClr val="dk1"/>
              </a:buClr>
              <a:buSzPts val="1300"/>
              <a:buFont typeface="Calibri"/>
              <a:buChar char="●"/>
            </a:pPr>
            <a:r>
              <a:rPr lang="en" sz="1300" b="0" i="0" u="none" strike="noStrike" cap="none">
                <a:solidFill>
                  <a:schemeClr val="dk1"/>
                </a:solidFill>
                <a:latin typeface="Calibri"/>
                <a:ea typeface="Calibri"/>
                <a:cs typeface="Calibri"/>
                <a:sym typeface="Calibri"/>
              </a:rPr>
              <a:t>Use cases: Market Research, Competitive Intelligence, Lead Generation, Data Enrichment, AI and Machine Learning</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000" b="0" i="0" u="none" strike="noStrike" cap="none">
                <a:solidFill>
                  <a:schemeClr val="dk1"/>
                </a:solidFill>
                <a:latin typeface="Calibri"/>
                <a:ea typeface="Calibri"/>
                <a:cs typeface="Calibri"/>
                <a:sym typeface="Calibri"/>
              </a:rPr>
              <a:t>.. </a:t>
            </a:r>
            <a:r>
              <a:rPr lang="en" sz="1000" b="0" i="0" u="sng" strike="noStrike" cap="none">
                <a:solidFill>
                  <a:schemeClr val="hlink"/>
                </a:solidFill>
                <a:latin typeface="Calibri"/>
                <a:ea typeface="Calibri"/>
                <a:cs typeface="Calibri"/>
                <a:sym typeface="Calibri"/>
                <a:hlinkClick r:id="rId9"/>
              </a:rPr>
              <a:t>https://app.diffbot.com/get-started/</a:t>
            </a:r>
            <a:r>
              <a:rPr lang="en"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000" b="0" i="0" u="none" strike="noStrike" cap="none">
                <a:solidFill>
                  <a:schemeClr val="dk1"/>
                </a:solidFill>
                <a:latin typeface="Calibri"/>
                <a:ea typeface="Calibri"/>
                <a:cs typeface="Calibri"/>
                <a:sym typeface="Calibri"/>
              </a:rPr>
              <a:t>.. </a:t>
            </a:r>
            <a:r>
              <a:rPr lang="en" sz="1000" b="0" i="0" u="sng" strike="noStrike" cap="none">
                <a:solidFill>
                  <a:schemeClr val="hlink"/>
                </a:solidFill>
                <a:latin typeface="Calibri"/>
                <a:ea typeface="Calibri"/>
                <a:cs typeface="Calibri"/>
                <a:sym typeface="Calibri"/>
                <a:hlinkClick r:id="rId10"/>
              </a:rPr>
              <a:t>https://www.youtube.com/watch?v=eIDitSyhs7s</a:t>
            </a:r>
            <a:r>
              <a:rPr lang="en"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000" b="0" i="0" u="none" strike="noStrike" cap="none">
                <a:solidFill>
                  <a:schemeClr val="dk1"/>
                </a:solidFill>
                <a:latin typeface="Calibri"/>
                <a:ea typeface="Calibri"/>
                <a:cs typeface="Calibri"/>
                <a:sym typeface="Calibri"/>
              </a:rPr>
              <a:t>.. </a:t>
            </a:r>
            <a:r>
              <a:rPr lang="en" sz="1000" b="0" i="0" u="sng" strike="noStrike" cap="none">
                <a:solidFill>
                  <a:schemeClr val="hlink"/>
                </a:solidFill>
                <a:latin typeface="Calibri"/>
                <a:ea typeface="Calibri"/>
                <a:cs typeface="Calibri"/>
                <a:sym typeface="Calibri"/>
                <a:hlinkClick r:id="rId11"/>
              </a:rPr>
              <a:t>https://github.com/leannchen86/graph-rag-ai-assistant</a:t>
            </a:r>
            <a:r>
              <a:rPr lang="en"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p:txBody>
      </p:sp>
      <p:sp>
        <p:nvSpPr>
          <p:cNvPr id="208" name="Google Shape;208;p28"/>
          <p:cNvSpPr txBox="1"/>
          <p:nvPr/>
        </p:nvSpPr>
        <p:spPr>
          <a:xfrm>
            <a:off x="109912" y="2931150"/>
            <a:ext cx="4381500" cy="138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300" b="1" i="0" u="none" strike="noStrike" cap="none">
                <a:solidFill>
                  <a:srgbClr val="FF0000"/>
                </a:solidFill>
                <a:latin typeface="Calibri"/>
                <a:ea typeface="Calibri"/>
                <a:cs typeface="Calibri"/>
                <a:sym typeface="Calibri"/>
              </a:rPr>
              <a:t>SerpAPI</a:t>
            </a:r>
            <a:r>
              <a:rPr lang="en" sz="1300" b="0" i="0" u="none" strike="noStrike" cap="none">
                <a:solidFill>
                  <a:schemeClr val="dk1"/>
                </a:solidFill>
                <a:latin typeface="Calibri"/>
                <a:ea typeface="Calibri"/>
                <a:cs typeface="Calibri"/>
                <a:sym typeface="Calibri"/>
              </a:rPr>
              <a:t> - Scrape Google and other search engines</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000" b="0" i="0" u="sng" strike="noStrike" cap="none">
                <a:solidFill>
                  <a:schemeClr val="hlink"/>
                </a:solidFill>
                <a:latin typeface="Calibri"/>
                <a:ea typeface="Calibri"/>
                <a:cs typeface="Calibri"/>
                <a:sym typeface="Calibri"/>
                <a:hlinkClick r:id="rId12"/>
              </a:rPr>
              <a:t>https://serpapi.com</a:t>
            </a:r>
            <a:r>
              <a:rPr lang="en" sz="1000" b="0" i="0" u="none" strike="noStrike" cap="none">
                <a:solidFill>
                  <a:schemeClr val="dk1"/>
                </a:solidFill>
                <a:latin typeface="Calibri"/>
                <a:ea typeface="Calibri"/>
                <a:cs typeface="Calibri"/>
                <a:sym typeface="Calibri"/>
              </a:rPr>
              <a:t>    </a:t>
            </a:r>
            <a:r>
              <a:rPr lang="en" sz="1300" b="0" i="0" u="none" strike="noStrike" cap="none">
                <a:solidFill>
                  <a:srgbClr val="FF0000"/>
                </a:solidFill>
                <a:latin typeface="Calibri"/>
                <a:ea typeface="Calibri"/>
                <a:cs typeface="Calibri"/>
                <a:sym typeface="Calibri"/>
              </a:rPr>
              <a:t>SERP = Search Engine Results Pages</a:t>
            </a:r>
            <a:endParaRPr sz="1300" b="0" i="0" u="none" strike="noStrike" cap="none">
              <a:solidFill>
                <a:srgbClr val="FF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b="0" i="0" u="none" strike="noStrike" cap="none">
                <a:solidFill>
                  <a:schemeClr val="dk1"/>
                </a:solidFill>
                <a:latin typeface="Calibri"/>
                <a:ea typeface="Calibri"/>
                <a:cs typeface="Calibri"/>
                <a:sym typeface="Calibri"/>
              </a:rPr>
              <a:t>Google, Bing, Baidu, Yahoo, Yandex, eBay, Walmart, YouTube, ... . SerpAPI manages proxies, solves CAPTCHAs, simulates searches from specific locations to get accurate, localized SERP data, returns results in as JSON.</a:t>
            </a:r>
            <a:endParaRPr sz="1000" b="0" i="0" u="none" strike="noStrike" cap="non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29"/>
          <p:cNvSpPr txBox="1"/>
          <p:nvPr/>
        </p:nvSpPr>
        <p:spPr>
          <a:xfrm>
            <a:off x="72300" y="0"/>
            <a:ext cx="4133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MLX - LLM on Apple M1, M2, M3</a:t>
            </a:r>
            <a:endParaRPr sz="2000" b="1" i="0" u="none" strike="noStrike" cap="none">
              <a:solidFill>
                <a:schemeClr val="dk1"/>
              </a:solidFill>
              <a:latin typeface="Calibri"/>
              <a:ea typeface="Calibri"/>
              <a:cs typeface="Calibri"/>
              <a:sym typeface="Calibri"/>
            </a:endParaRPr>
          </a:p>
        </p:txBody>
      </p:sp>
      <p:sp>
        <p:nvSpPr>
          <p:cNvPr id="214" name="Google Shape;214;p29"/>
          <p:cNvSpPr txBox="1"/>
          <p:nvPr/>
        </p:nvSpPr>
        <p:spPr>
          <a:xfrm>
            <a:off x="72300" y="397425"/>
            <a:ext cx="4381500" cy="378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300" b="0" i="0" u="sng" strike="noStrike" cap="none">
                <a:solidFill>
                  <a:schemeClr val="hlink"/>
                </a:solidFill>
                <a:latin typeface="Calibri"/>
                <a:ea typeface="Calibri"/>
                <a:cs typeface="Calibri"/>
                <a:sym typeface="Calibri"/>
                <a:hlinkClick r:id="rId3"/>
              </a:rPr>
              <a:t>https://ml-explore.github.io/mlx/build/html/</a:t>
            </a:r>
            <a:r>
              <a:rPr lang="en" sz="1300" b="0" i="0" u="none" strike="noStrike" cap="none">
                <a:solidFill>
                  <a:srgbClr val="000000"/>
                </a:solidFill>
                <a:latin typeface="Calibri"/>
                <a:ea typeface="Calibri"/>
                <a:cs typeface="Calibri"/>
                <a:sym typeface="Calibri"/>
              </a:rPr>
              <a:t> - docs</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b="0" i="0" u="sng" strike="noStrike" cap="none">
                <a:solidFill>
                  <a:schemeClr val="hlink"/>
                </a:solidFill>
                <a:latin typeface="Calibri"/>
                <a:ea typeface="Calibri"/>
                <a:cs typeface="Calibri"/>
                <a:sym typeface="Calibri"/>
                <a:hlinkClick r:id="rId4"/>
              </a:rPr>
              <a:t>https://github.com/ml-explore</a:t>
            </a:r>
            <a:r>
              <a:rPr lang="en" sz="1300" b="0" i="0" u="none" strike="noStrike" cap="none">
                <a:solidFill>
                  <a:srgbClr val="000000"/>
                </a:solidFill>
                <a:latin typeface="Calibri"/>
                <a:ea typeface="Calibri"/>
                <a:cs typeface="Calibri"/>
                <a:sym typeface="Calibri"/>
              </a:rPr>
              <a:t> - repos</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100"/>
              <a:buFont typeface="Arial"/>
              <a:buNone/>
            </a:pPr>
            <a:r>
              <a:rPr lang="en" sz="1300" b="0" i="0" u="sng" strike="noStrike" cap="none">
                <a:solidFill>
                  <a:schemeClr val="hlink"/>
                </a:solidFill>
                <a:latin typeface="Calibri"/>
                <a:ea typeface="Calibri"/>
                <a:cs typeface="Calibri"/>
                <a:sym typeface="Calibri"/>
                <a:hlinkClick r:id="rId5"/>
              </a:rPr>
              <a:t>https://www.youtube.com/@code4AI/community</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0" i="0" u="sng" strike="noStrike" cap="none">
                <a:solidFill>
                  <a:schemeClr val="hlink"/>
                </a:solidFill>
                <a:latin typeface="Calibri"/>
                <a:ea typeface="Calibri"/>
                <a:cs typeface="Calibri"/>
                <a:sym typeface="Calibri"/>
                <a:hlinkClick r:id="rId5"/>
              </a:rPr>
              <a:t>https://www.youtube.com/@code4AI</a:t>
            </a:r>
            <a:r>
              <a:rPr lang="en" sz="1300" b="0" i="0" u="none" strike="noStrike" cap="none">
                <a:solidFill>
                  <a:srgbClr val="000000"/>
                </a:solidFill>
                <a:latin typeface="Calibri"/>
                <a:ea typeface="Calibri"/>
                <a:cs typeface="Calibri"/>
                <a:sym typeface="Calibri"/>
              </a:rPr>
              <a:t> - videos</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rgbClr val="000000"/>
                </a:solidFill>
                <a:latin typeface="Calibri"/>
                <a:ea typeface="Calibri"/>
                <a:cs typeface="Calibri"/>
                <a:sym typeface="Calibri"/>
              </a:rPr>
              <a:t>MLX is a NumPy-like framework for ML on Apple silicon.</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rgbClr val="000000"/>
                </a:solidFill>
                <a:latin typeface="Calibri"/>
                <a:ea typeface="Calibri"/>
                <a:cs typeface="Calibri"/>
                <a:sym typeface="Calibri"/>
              </a:rPr>
              <a:t>MLX has Python API and also has a fully featured C++ API.</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rgbClr val="000000"/>
                </a:solidFill>
                <a:latin typeface="Calibri"/>
                <a:ea typeface="Calibri"/>
                <a:cs typeface="Calibri"/>
                <a:sym typeface="Calibri"/>
              </a:rPr>
              <a:t>MLX has composable function transformations for automatic differentiation, automatic vectorization, and computation graph optimization.</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rgbClr val="000000"/>
                </a:solidFill>
                <a:latin typeface="Calibri"/>
                <a:ea typeface="Calibri"/>
                <a:cs typeface="Calibri"/>
                <a:sym typeface="Calibri"/>
              </a:rPr>
              <a:t>Lazy computation: Computations in MLX are lazy. Arrays are only materialized when needed.</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rgbClr val="000000"/>
                </a:solidFill>
                <a:latin typeface="Calibri"/>
                <a:ea typeface="Calibri"/>
                <a:cs typeface="Calibri"/>
                <a:sym typeface="Calibri"/>
              </a:rPr>
              <a:t>Multi-device: Operations can run on any of the supported devices (CPU, GPU, …)</a:t>
            </a:r>
            <a:endParaRPr sz="1300" b="0" i="0" u="none" strike="noStrike" cap="none">
              <a:solidFill>
                <a:srgbClr val="000000"/>
              </a:solidFill>
              <a:latin typeface="Calibri"/>
              <a:ea typeface="Calibri"/>
              <a:cs typeface="Calibri"/>
              <a:sym typeface="Calibri"/>
            </a:endParaRPr>
          </a:p>
        </p:txBody>
      </p:sp>
      <p:pic>
        <p:nvPicPr>
          <p:cNvPr id="215" name="Google Shape;215;p29"/>
          <p:cNvPicPr preferRelativeResize="0"/>
          <p:nvPr/>
        </p:nvPicPr>
        <p:blipFill rotWithShape="1">
          <a:blip r:embed="rId6">
            <a:alphaModFix/>
          </a:blip>
          <a:srcRect/>
          <a:stretch/>
        </p:blipFill>
        <p:spPr>
          <a:xfrm>
            <a:off x="5963750" y="152400"/>
            <a:ext cx="3027850" cy="1730200"/>
          </a:xfrm>
          <a:prstGeom prst="rect">
            <a:avLst/>
          </a:prstGeom>
          <a:noFill/>
          <a:ln>
            <a:noFill/>
          </a:ln>
        </p:spPr>
      </p:pic>
      <p:pic>
        <p:nvPicPr>
          <p:cNvPr id="216" name="Google Shape;216;p29"/>
          <p:cNvPicPr preferRelativeResize="0"/>
          <p:nvPr/>
        </p:nvPicPr>
        <p:blipFill rotWithShape="1">
          <a:blip r:embed="rId7">
            <a:alphaModFix/>
          </a:blip>
          <a:srcRect/>
          <a:stretch/>
        </p:blipFill>
        <p:spPr>
          <a:xfrm>
            <a:off x="5963750" y="2035000"/>
            <a:ext cx="3027849" cy="1288169"/>
          </a:xfrm>
          <a:prstGeom prst="rect">
            <a:avLst/>
          </a:prstGeom>
          <a:noFill/>
          <a:ln>
            <a:noFill/>
          </a:ln>
        </p:spPr>
      </p:pic>
      <p:pic>
        <p:nvPicPr>
          <p:cNvPr id="217" name="Google Shape;217;p29"/>
          <p:cNvPicPr preferRelativeResize="0"/>
          <p:nvPr/>
        </p:nvPicPr>
        <p:blipFill rotWithShape="1">
          <a:blip r:embed="rId8">
            <a:alphaModFix/>
          </a:blip>
          <a:srcRect/>
          <a:stretch/>
        </p:blipFill>
        <p:spPr>
          <a:xfrm>
            <a:off x="6575150" y="3475575"/>
            <a:ext cx="2077800" cy="155835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30"/>
          <p:cNvSpPr txBox="1"/>
          <p:nvPr/>
        </p:nvSpPr>
        <p:spPr>
          <a:xfrm>
            <a:off x="72300" y="0"/>
            <a:ext cx="4133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MLC LLM</a:t>
            </a:r>
            <a:endParaRPr sz="2000" b="1" i="0" u="none" strike="noStrike" cap="none">
              <a:solidFill>
                <a:schemeClr val="dk1"/>
              </a:solidFill>
              <a:latin typeface="Calibri"/>
              <a:ea typeface="Calibri"/>
              <a:cs typeface="Calibri"/>
              <a:sym typeface="Calibri"/>
            </a:endParaRPr>
          </a:p>
        </p:txBody>
      </p:sp>
      <p:sp>
        <p:nvSpPr>
          <p:cNvPr id="223" name="Google Shape;223;p30"/>
          <p:cNvSpPr txBox="1"/>
          <p:nvPr/>
        </p:nvSpPr>
        <p:spPr>
          <a:xfrm>
            <a:off x="72300" y="397425"/>
            <a:ext cx="4381500" cy="238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chemeClr val="dk1"/>
                </a:solidFill>
                <a:latin typeface="Calibri"/>
                <a:ea typeface="Calibri"/>
                <a:cs typeface="Calibri"/>
                <a:sym typeface="Calibri"/>
              </a:rPr>
              <a:t>Machine Learning Compilation for Large Language Models (MLC LLM) - </a:t>
            </a:r>
            <a:r>
              <a:rPr lang="en" sz="1300" b="0" i="0" u="sng" strike="noStrike" cap="none">
                <a:solidFill>
                  <a:schemeClr val="hlink"/>
                </a:solidFill>
                <a:latin typeface="Calibri"/>
                <a:ea typeface="Calibri"/>
                <a:cs typeface="Calibri"/>
                <a:sym typeface="Calibri"/>
                <a:hlinkClick r:id="rId3"/>
              </a:rPr>
              <a:t>https://github.com/mlc-ai/mlc-llm</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0" i="0" u="sng" strike="noStrike" cap="none">
                <a:solidFill>
                  <a:schemeClr val="hlink"/>
                </a:solidFill>
                <a:latin typeface="Calibri"/>
                <a:ea typeface="Calibri"/>
                <a:cs typeface="Calibri"/>
                <a:sym typeface="Calibri"/>
                <a:hlinkClick r:id="rId4"/>
              </a:rPr>
              <a:t>https://llm.mlc.ai</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rgbClr val="000000"/>
                </a:solidFill>
                <a:latin typeface="Calibri"/>
                <a:ea typeface="Calibri"/>
                <a:cs typeface="Calibri"/>
                <a:sym typeface="Calibri"/>
              </a:rPr>
              <a:t>MLC LLM is a high-performance universal deployment solution that allows native deployment of any LLM with native APIs with compiler acceleration. </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rgbClr val="000000"/>
                </a:solidFill>
                <a:latin typeface="Calibri"/>
                <a:ea typeface="Calibri"/>
                <a:cs typeface="Calibri"/>
                <a:sym typeface="Calibri"/>
              </a:rPr>
              <a:t>The mission of this project is to enable everyone to develop, optimize and deploy AI models natively on everyone's devices with ML compilation techniques.</a:t>
            </a:r>
            <a:endParaRPr sz="1300" b="0" i="0" u="none" strike="noStrike" cap="none">
              <a:solidFill>
                <a:srgbClr val="000000"/>
              </a:solidFill>
              <a:latin typeface="Calibri"/>
              <a:ea typeface="Calibri"/>
              <a:cs typeface="Calibri"/>
              <a:sym typeface="Calibri"/>
            </a:endParaRPr>
          </a:p>
        </p:txBody>
      </p:sp>
      <p:pic>
        <p:nvPicPr>
          <p:cNvPr id="224" name="Google Shape;224;p30"/>
          <p:cNvPicPr preferRelativeResize="0"/>
          <p:nvPr/>
        </p:nvPicPr>
        <p:blipFill rotWithShape="1">
          <a:blip r:embed="rId5">
            <a:alphaModFix/>
          </a:blip>
          <a:srcRect/>
          <a:stretch/>
        </p:blipFill>
        <p:spPr>
          <a:xfrm>
            <a:off x="39100" y="2850925"/>
            <a:ext cx="5726726" cy="2255475"/>
          </a:xfrm>
          <a:prstGeom prst="rect">
            <a:avLst/>
          </a:prstGeom>
          <a:noFill/>
          <a:ln>
            <a:noFill/>
          </a:ln>
        </p:spPr>
      </p:pic>
      <p:pic>
        <p:nvPicPr>
          <p:cNvPr id="225" name="Google Shape;225;p30"/>
          <p:cNvPicPr preferRelativeResize="0"/>
          <p:nvPr/>
        </p:nvPicPr>
        <p:blipFill rotWithShape="1">
          <a:blip r:embed="rId6">
            <a:alphaModFix/>
          </a:blip>
          <a:srcRect/>
          <a:stretch/>
        </p:blipFill>
        <p:spPr>
          <a:xfrm>
            <a:off x="6785275" y="-7"/>
            <a:ext cx="2358724" cy="76972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31"/>
          <p:cNvSpPr txBox="1"/>
          <p:nvPr/>
        </p:nvSpPr>
        <p:spPr>
          <a:xfrm>
            <a:off x="72300" y="0"/>
            <a:ext cx="3651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Figure 01 - Breakthrough</a:t>
            </a:r>
            <a:endParaRPr sz="2000" b="1" i="0" u="none" strike="noStrike" cap="none">
              <a:solidFill>
                <a:srgbClr val="000000"/>
              </a:solidFill>
              <a:latin typeface="Calibri"/>
              <a:ea typeface="Calibri"/>
              <a:cs typeface="Calibri"/>
              <a:sym typeface="Calibri"/>
            </a:endParaRPr>
          </a:p>
        </p:txBody>
      </p:sp>
      <p:sp>
        <p:nvSpPr>
          <p:cNvPr id="231" name="Google Shape;231;p31"/>
          <p:cNvSpPr txBox="1"/>
          <p:nvPr/>
        </p:nvSpPr>
        <p:spPr>
          <a:xfrm>
            <a:off x="72300" y="553750"/>
            <a:ext cx="4133400" cy="69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a:latin typeface="Calibri"/>
                <a:ea typeface="Calibri"/>
                <a:cs typeface="Calibri"/>
                <a:sym typeface="Calibri"/>
              </a:rPr>
              <a:t>Robot talks to you and executes commands</a:t>
            </a:r>
            <a:endParaRPr sz="1300">
              <a:latin typeface="Calibri"/>
              <a:ea typeface="Calibri"/>
              <a:cs typeface="Calibri"/>
              <a:sym typeface="Calibri"/>
            </a:endParaRPr>
          </a:p>
          <a:p>
            <a:pPr marL="457200" marR="0" lvl="0" indent="-292100" algn="l" rtl="0">
              <a:lnSpc>
                <a:spcPct val="100000"/>
              </a:lnSpc>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3"/>
              </a:rPr>
              <a:t>https://www.youtube.com/watch?v=Sq1QZB5baNw</a:t>
            </a:r>
            <a:endParaRPr sz="1000">
              <a:latin typeface="Calibri"/>
              <a:ea typeface="Calibri"/>
              <a:cs typeface="Calibri"/>
              <a:sym typeface="Calibri"/>
            </a:endParaRPr>
          </a:p>
          <a:p>
            <a:pPr marL="457200" marR="0" lvl="0" indent="-292100" algn="l" rtl="0">
              <a:lnSpc>
                <a:spcPct val="100000"/>
              </a:lnSpc>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https://www.youtube.com/watch?v=GiKvPJSOUmE</a:t>
            </a:r>
            <a:r>
              <a:rPr lang="en" sz="1000">
                <a:latin typeface="Calibri"/>
                <a:ea typeface="Calibri"/>
                <a:cs typeface="Calibri"/>
                <a:sym typeface="Calibri"/>
              </a:rPr>
              <a:t>  </a:t>
            </a:r>
            <a:endParaRPr sz="1000">
              <a:latin typeface="Calibri"/>
              <a:ea typeface="Calibri"/>
              <a:cs typeface="Calibri"/>
              <a:sym typeface="Calibri"/>
            </a:endParaRPr>
          </a:p>
        </p:txBody>
      </p:sp>
      <p:pic>
        <p:nvPicPr>
          <p:cNvPr id="232" name="Google Shape;232;p3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326821" y="102450"/>
            <a:ext cx="3704574" cy="2258375"/>
          </a:xfrm>
          <a:prstGeom prst="rect">
            <a:avLst/>
          </a:prstGeom>
          <a:noFill/>
          <a:ln>
            <a:noFill/>
          </a:ln>
        </p:spPr>
      </p:pic>
      <p:pic>
        <p:nvPicPr>
          <p:cNvPr id="233" name="Google Shape;233;p3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730250" y="2496125"/>
            <a:ext cx="2820825" cy="190962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32"/>
          <p:cNvSpPr txBox="1"/>
          <p:nvPr/>
        </p:nvSpPr>
        <p:spPr>
          <a:xfrm>
            <a:off x="72300" y="0"/>
            <a:ext cx="3651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RAG, Embeddings, ...</a:t>
            </a:r>
            <a:endParaRPr sz="2000" b="1" i="0" u="none" strike="noStrike" cap="none">
              <a:solidFill>
                <a:srgbClr val="000000"/>
              </a:solidFill>
              <a:latin typeface="Calibri"/>
              <a:ea typeface="Calibri"/>
              <a:cs typeface="Calibri"/>
              <a:sym typeface="Calibri"/>
            </a:endParaRPr>
          </a:p>
        </p:txBody>
      </p:sp>
      <p:sp>
        <p:nvSpPr>
          <p:cNvPr id="239" name="Google Shape;239;p32"/>
          <p:cNvSpPr txBox="1"/>
          <p:nvPr/>
        </p:nvSpPr>
        <p:spPr>
          <a:xfrm>
            <a:off x="72300" y="553750"/>
            <a:ext cx="4133400" cy="38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rgbClr val="000000"/>
                </a:solidFill>
                <a:latin typeface="Calibri"/>
                <a:ea typeface="Calibri"/>
                <a:cs typeface="Calibri"/>
                <a:sym typeface="Calibri"/>
              </a:rPr>
              <a:t>RAG - from Sander</a:t>
            </a:r>
            <a:endParaRPr sz="1300" b="0" i="0" u="none" strike="noStrike" cap="none">
              <a:solidFill>
                <a:srgbClr val="000000"/>
              </a:solidFill>
              <a:latin typeface="Calibri"/>
              <a:ea typeface="Calibri"/>
              <a:cs typeface="Calibri"/>
              <a:sym typeface="Calibri"/>
            </a:endParaRPr>
          </a:p>
        </p:txBody>
      </p:sp>
      <p:pic>
        <p:nvPicPr>
          <p:cNvPr id="240" name="Google Shape;240;p32"/>
          <p:cNvPicPr preferRelativeResize="0"/>
          <p:nvPr/>
        </p:nvPicPr>
        <p:blipFill rotWithShape="1">
          <a:blip r:embed="rId3">
            <a:alphaModFix/>
          </a:blip>
          <a:srcRect/>
          <a:stretch/>
        </p:blipFill>
        <p:spPr>
          <a:xfrm>
            <a:off x="4795775" y="1423925"/>
            <a:ext cx="4290124" cy="2702276"/>
          </a:xfrm>
          <a:prstGeom prst="rect">
            <a:avLst/>
          </a:prstGeom>
          <a:noFill/>
          <a:ln w="9525" cap="flat" cmpd="sng">
            <a:solidFill>
              <a:srgbClr val="FF0000"/>
            </a:solidFill>
            <a:prstDash val="solid"/>
            <a:round/>
            <a:headEnd type="none" w="sm" len="sm"/>
            <a:tailEnd type="none" w="sm" len="sm"/>
          </a:ln>
        </p:spPr>
      </p:pic>
      <p:sp>
        <p:nvSpPr>
          <p:cNvPr id="241" name="Google Shape;241;p32"/>
          <p:cNvSpPr txBox="1"/>
          <p:nvPr/>
        </p:nvSpPr>
        <p:spPr>
          <a:xfrm>
            <a:off x="4952500" y="380900"/>
            <a:ext cx="4133400" cy="785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rgbClr val="000000"/>
                </a:solidFill>
                <a:latin typeface="Calibri"/>
                <a:ea typeface="Calibri"/>
                <a:cs typeface="Calibri"/>
                <a:sym typeface="Calibri"/>
              </a:rPr>
              <a:t>Enterprise RAG</a:t>
            </a:r>
            <a:br>
              <a:rPr lang="en" sz="1300" b="0" i="0" u="none" strike="noStrike" cap="none">
                <a:solidFill>
                  <a:srgbClr val="000000"/>
                </a:solidFill>
                <a:latin typeface="Calibri"/>
                <a:ea typeface="Calibri"/>
                <a:cs typeface="Calibri"/>
                <a:sym typeface="Calibri"/>
              </a:rPr>
            </a:br>
            <a:r>
              <a:rPr lang="en" sz="1300" b="0" i="0" u="sng" strike="noStrike" cap="none">
                <a:solidFill>
                  <a:schemeClr val="hlink"/>
                </a:solidFill>
                <a:latin typeface="Calibri"/>
                <a:ea typeface="Calibri"/>
                <a:cs typeface="Calibri"/>
                <a:sym typeface="Calibri"/>
                <a:hlinkClick r:id="rId4"/>
              </a:rPr>
              <a:t>https://www.rungalileo.io/blog/mastering-rag-how-to-architect-an-enterprise-rag-system</a:t>
            </a:r>
            <a:r>
              <a:rPr lang="en" sz="1300" b="0" i="0" u="none" strike="noStrike" cap="none">
                <a:solidFill>
                  <a:srgbClr val="000000"/>
                </a:solidFill>
                <a:latin typeface="Calibri"/>
                <a:ea typeface="Calibri"/>
                <a:cs typeface="Calibri"/>
                <a:sym typeface="Calibri"/>
              </a:rPr>
              <a:t> </a:t>
            </a:r>
            <a:endParaRPr sz="1300" b="0" i="0" u="none" strike="noStrike" cap="none">
              <a:solidFill>
                <a:srgbClr val="000000"/>
              </a:solidFill>
              <a:latin typeface="Calibri"/>
              <a:ea typeface="Calibri"/>
              <a:cs typeface="Calibri"/>
              <a:sym typeface="Calibri"/>
            </a:endParaRPr>
          </a:p>
        </p:txBody>
      </p:sp>
      <p:pic>
        <p:nvPicPr>
          <p:cNvPr id="242" name="Google Shape;242;p32"/>
          <p:cNvPicPr preferRelativeResize="0"/>
          <p:nvPr/>
        </p:nvPicPr>
        <p:blipFill rotWithShape="1">
          <a:blip r:embed="rId5">
            <a:alphaModFix/>
          </a:blip>
          <a:srcRect/>
          <a:stretch/>
        </p:blipFill>
        <p:spPr>
          <a:xfrm>
            <a:off x="72301" y="1434227"/>
            <a:ext cx="4572001" cy="20828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7" name="Google Shape;247;p33"/>
          <p:cNvSpPr txBox="1"/>
          <p:nvPr/>
        </p:nvSpPr>
        <p:spPr>
          <a:xfrm>
            <a:off x="7484600" y="998050"/>
            <a:ext cx="1567200" cy="6186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models: 73 </a:t>
            </a:r>
            <a:endParaRPr sz="13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votes: 408,144</a:t>
            </a:r>
            <a:endParaRPr sz="13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March 13, 2024</a:t>
            </a:r>
            <a:endParaRPr sz="1300" b="0" i="0" u="none" strike="noStrike" cap="none">
              <a:solidFill>
                <a:schemeClr val="dk1"/>
              </a:solidFill>
              <a:latin typeface="Calibri"/>
              <a:ea typeface="Calibri"/>
              <a:cs typeface="Calibri"/>
              <a:sym typeface="Calibri"/>
            </a:endParaRPr>
          </a:p>
        </p:txBody>
      </p:sp>
      <p:sp>
        <p:nvSpPr>
          <p:cNvPr id="248" name="Google Shape;248;p33"/>
          <p:cNvSpPr txBox="1"/>
          <p:nvPr/>
        </p:nvSpPr>
        <p:spPr>
          <a:xfrm>
            <a:off x="7254050" y="421150"/>
            <a:ext cx="18315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95% CI = Confidence Interval</a:t>
            </a:r>
            <a:endParaRPr sz="1200" b="0" i="0" u="none" strike="noStrike" cap="none">
              <a:solidFill>
                <a:schemeClr val="dk1"/>
              </a:solidFill>
              <a:latin typeface="Calibri"/>
              <a:ea typeface="Calibri"/>
              <a:cs typeface="Calibri"/>
              <a:sym typeface="Calibri"/>
            </a:endParaRPr>
          </a:p>
        </p:txBody>
      </p:sp>
      <p:sp>
        <p:nvSpPr>
          <p:cNvPr id="249" name="Google Shape;249;p33"/>
          <p:cNvSpPr txBox="1"/>
          <p:nvPr/>
        </p:nvSpPr>
        <p:spPr>
          <a:xfrm>
            <a:off x="-38048" y="-108050"/>
            <a:ext cx="41517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Crowd-sourced "Arena" Leaderboard</a:t>
            </a:r>
            <a:endParaRPr sz="2000" b="1" i="0" u="none" strike="noStrike" cap="none">
              <a:solidFill>
                <a:srgbClr val="000000"/>
              </a:solidFill>
              <a:latin typeface="Calibri"/>
              <a:ea typeface="Calibri"/>
              <a:cs typeface="Calibri"/>
              <a:sym typeface="Calibri"/>
            </a:endParaRPr>
          </a:p>
        </p:txBody>
      </p:sp>
      <p:sp>
        <p:nvSpPr>
          <p:cNvPr id="250" name="Google Shape;250;p33"/>
          <p:cNvSpPr txBox="1"/>
          <p:nvPr/>
        </p:nvSpPr>
        <p:spPr>
          <a:xfrm>
            <a:off x="5535876" y="45850"/>
            <a:ext cx="3549600" cy="338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000" b="0" i="0" u="sng" strike="noStrike" cap="none">
                <a:solidFill>
                  <a:schemeClr val="hlink"/>
                </a:solidFill>
                <a:latin typeface="Calibri"/>
                <a:ea typeface="Calibri"/>
                <a:cs typeface="Calibri"/>
                <a:sym typeface="Calibri"/>
                <a:hlinkClick r:id="rId3"/>
              </a:rPr>
              <a:t>https://huggingface.co/spaces/lmsys/chatbot-arena-leaderboard</a:t>
            </a:r>
            <a:r>
              <a:rPr lang="en" sz="1000" b="0" i="0" u="none" strike="noStrike" cap="none">
                <a:solidFill>
                  <a:schemeClr val="dk1"/>
                </a:solidFill>
                <a:latin typeface="Calibri"/>
                <a:ea typeface="Calibri"/>
                <a:cs typeface="Calibri"/>
                <a:sym typeface="Calibri"/>
              </a:rPr>
              <a:t> </a:t>
            </a:r>
            <a:endParaRPr sz="1300" b="0" i="0" u="none" strike="noStrike" cap="none">
              <a:solidFill>
                <a:schemeClr val="dk1"/>
              </a:solidFill>
              <a:latin typeface="Calibri"/>
              <a:ea typeface="Calibri"/>
              <a:cs typeface="Calibri"/>
              <a:sym typeface="Calibri"/>
            </a:endParaRPr>
          </a:p>
        </p:txBody>
      </p:sp>
      <p:pic>
        <p:nvPicPr>
          <p:cNvPr id="251" name="Google Shape;251;p3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52400" y="536950"/>
            <a:ext cx="6710474" cy="44541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34"/>
          <p:cNvSpPr txBox="1"/>
          <p:nvPr/>
        </p:nvSpPr>
        <p:spPr>
          <a:xfrm>
            <a:off x="72300" y="76200"/>
            <a:ext cx="4874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Tech </a:t>
            </a:r>
            <a:r>
              <a:rPr lang="en" sz="2000" b="1" i="0" u="none" strike="noStrike" cap="none">
                <a:solidFill>
                  <a:schemeClr val="dk1"/>
                </a:solidFill>
                <a:latin typeface="Calibri"/>
                <a:ea typeface="Calibri"/>
                <a:cs typeface="Calibri"/>
                <a:sym typeface="Calibri"/>
              </a:rPr>
              <a:t>Layoffs are x3 times lower than in 2023</a:t>
            </a:r>
            <a:endParaRPr sz="2000" b="1" i="0" u="none" strike="noStrike" cap="none">
              <a:solidFill>
                <a:srgbClr val="000000"/>
              </a:solidFill>
              <a:latin typeface="Calibri"/>
              <a:ea typeface="Calibri"/>
              <a:cs typeface="Calibri"/>
              <a:sym typeface="Calibri"/>
            </a:endParaRPr>
          </a:p>
        </p:txBody>
      </p:sp>
      <p:sp>
        <p:nvSpPr>
          <p:cNvPr id="257" name="Google Shape;257;p34"/>
          <p:cNvSpPr txBox="1"/>
          <p:nvPr/>
        </p:nvSpPr>
        <p:spPr>
          <a:xfrm>
            <a:off x="6291625" y="109963"/>
            <a:ext cx="20025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F0F0F"/>
                </a:solidFill>
                <a:latin typeface="Calibri"/>
                <a:ea typeface="Calibri"/>
                <a:cs typeface="Calibri"/>
                <a:sym typeface="Calibri"/>
              </a:rPr>
              <a:t>Layoffs - </a:t>
            </a:r>
            <a:r>
              <a:rPr lang="en" sz="1300" b="0" i="0" u="sng" strike="noStrike" cap="none">
                <a:solidFill>
                  <a:schemeClr val="hlink"/>
                </a:solidFill>
                <a:latin typeface="Calibri"/>
                <a:ea typeface="Calibri"/>
                <a:cs typeface="Calibri"/>
                <a:sym typeface="Calibri"/>
                <a:hlinkClick r:id="rId3"/>
              </a:rPr>
              <a:t>https://layoffs.fyi</a:t>
            </a:r>
            <a:r>
              <a:rPr lang="en" sz="1300" b="0" i="0" u="none" strike="noStrike" cap="none">
                <a:solidFill>
                  <a:srgbClr val="0F0F0F"/>
                </a:solidFill>
                <a:latin typeface="Calibri"/>
                <a:ea typeface="Calibri"/>
                <a:cs typeface="Calibri"/>
                <a:sym typeface="Calibri"/>
              </a:rPr>
              <a:t> </a:t>
            </a:r>
            <a:endParaRPr sz="1300" b="0" i="0" u="none" strike="noStrike" cap="none">
              <a:solidFill>
                <a:srgbClr val="0F0F0F"/>
              </a:solidFill>
              <a:latin typeface="Calibri"/>
              <a:ea typeface="Calibri"/>
              <a:cs typeface="Calibri"/>
              <a:sym typeface="Calibri"/>
            </a:endParaRPr>
          </a:p>
        </p:txBody>
      </p:sp>
      <p:pic>
        <p:nvPicPr>
          <p:cNvPr id="258" name="Google Shape;258;p3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05600" y="1065300"/>
            <a:ext cx="8132799" cy="3399999"/>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pic>
        <p:nvPicPr>
          <p:cNvPr id="263" name="Google Shape;263;p35"/>
          <p:cNvPicPr preferRelativeResize="0"/>
          <p:nvPr/>
        </p:nvPicPr>
        <p:blipFill rotWithShape="1">
          <a:blip r:embed="rId3">
            <a:alphaModFix/>
          </a:blip>
          <a:srcRect/>
          <a:stretch/>
        </p:blipFill>
        <p:spPr>
          <a:xfrm>
            <a:off x="605238" y="1203525"/>
            <a:ext cx="2094075" cy="2094075"/>
          </a:xfrm>
          <a:prstGeom prst="rect">
            <a:avLst/>
          </a:prstGeom>
          <a:noFill/>
          <a:ln>
            <a:noFill/>
          </a:ln>
        </p:spPr>
      </p:pic>
      <p:sp>
        <p:nvSpPr>
          <p:cNvPr id="264" name="Google Shape;264;p35"/>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265" name="Google Shape;265;p35"/>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266" name="Google Shape;266;p35"/>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10941" y="3664175"/>
            <a:ext cx="1144600" cy="415875"/>
          </a:xfrm>
          <a:prstGeom prst="rect">
            <a:avLst/>
          </a:prstGeom>
          <a:noFill/>
          <a:ln>
            <a:noFill/>
          </a:ln>
        </p:spPr>
      </p:pic>
      <p:sp>
        <p:nvSpPr>
          <p:cNvPr id="267" name="Google Shape;267;p35"/>
          <p:cNvSpPr txBox="1"/>
          <p:nvPr/>
        </p:nvSpPr>
        <p:spPr>
          <a:xfrm>
            <a:off x="912377"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268" name="Google Shape;268;p35"/>
          <p:cNvSpPr txBox="1"/>
          <p:nvPr/>
        </p:nvSpPr>
        <p:spPr>
          <a:xfrm>
            <a:off x="536203" y="4360974"/>
            <a:ext cx="2094075" cy="430857"/>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p36"/>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3497</Words>
  <Application>Microsoft Macintosh PowerPoint</Application>
  <PresentationFormat>On-screen Show (16:9)</PresentationFormat>
  <Paragraphs>328</Paragraphs>
  <Slides>24</Slides>
  <Notes>24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Roboto Mono</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1</cp:revision>
  <dcterms:modified xsi:type="dcterms:W3CDTF">2024-03-15T03:03:36Z</dcterms:modified>
</cp:coreProperties>
</file>