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dfea7fbe3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g2dfea7fbe3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e8a450c44d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g2e8a450c44d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eba0d0ca6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2eba0d0ca6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e92a71ca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2e92a71ca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ec4c02dd06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2ec4c02dd06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ebf9533f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2ebf9533f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ebf9533f7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g2ebf9533f7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ec49fe1a0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2ec49fe1a0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ec4c05336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2ec4c05336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ec4c0539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2ec4c0539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hat.lmsys.org/?leaderboard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hat.lmsys.org/?leaderboard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omsguide.com/ai/chatgpt/openais-new-project-strawberry-could-give-chatgpt-more-freedom-to-search-the-web-and-solve-complex-problems" TargetMode="External"/><Relationship Id="rId3" Type="http://schemas.openxmlformats.org/officeDocument/2006/relationships/hyperlink" Target="https://github.com/Dao-AILab/flash-attention" TargetMode="External"/><Relationship Id="rId7" Type="http://schemas.openxmlformats.org/officeDocument/2006/relationships/hyperlink" Target="https://techcrunch.com/2024/07/13/heres-the-full-list-of-28-us-ai-startups-that-have-raised-100m-or-more-in-2024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hyperlink" Target="https://www.sas.com/en_gb/news/press-releases/2024/july/genai-research-study-uki.html" TargetMode="External"/><Relationship Id="rId5" Type="http://schemas.openxmlformats.org/officeDocument/2006/relationships/hyperlink" Target="https://huggingface.co/spaces/openGPT-X/european-llm-leaderboard" TargetMode="External"/><Relationship Id="rId10" Type="http://schemas.openxmlformats.org/officeDocument/2006/relationships/hyperlink" Target="https://www.theinformation.com/briefings/meta-platforms-to-release-largest-llama-3-model-on-july-23" TargetMode="External"/><Relationship Id="rId4" Type="http://schemas.openxmlformats.org/officeDocument/2006/relationships/hyperlink" Target="https://tridao.me/publications/flash3/flash3.pdf" TargetMode="Externa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x.com/karpathy/status/1811467135279104217" TargetMode="External"/><Relationship Id="rId7" Type="http://schemas.openxmlformats.org/officeDocument/2006/relationships/hyperlink" Target="https://lilianweng.github.io/posts/2024-07-07-hallucination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html/2407.02485v1" TargetMode="External"/><Relationship Id="rId5" Type="http://schemas.openxmlformats.org/officeDocument/2006/relationships/hyperlink" Target="https://arxiv.org/abs/2407.04153" TargetMode="External"/><Relationship Id="rId4" Type="http://schemas.openxmlformats.org/officeDocument/2006/relationships/hyperlink" Target="https://twitter.com/omarsar0/status/1810389538340290724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7.png"/><Relationship Id="rId7" Type="http://schemas.openxmlformats.org/officeDocument/2006/relationships/hyperlink" Target="https://www.youtube.com/watch?v=98OwCIpLgjw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tomshardware.com/laptops/the-worlds-first-risc-v-laptop-gets-a-big-update-deepcomputing-doubled-the-core-count-increased-clocks-to-2-ghz-and-added-ai-capabilities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cloud.google.com/tpu" TargetMode="External"/><Relationship Id="rId3" Type="http://schemas.openxmlformats.org/officeDocument/2006/relationships/hyperlink" Target="https://groq.com" TargetMode="External"/><Relationship Id="rId7" Type="http://schemas.openxmlformats.org/officeDocument/2006/relationships/hyperlink" Target="https://www.graphcore.ai/products/ipu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tenstorrent.com" TargetMode="External"/><Relationship Id="rId11" Type="http://schemas.openxmlformats.org/officeDocument/2006/relationships/hyperlink" Target="https://habana.ai" TargetMode="External"/><Relationship Id="rId5" Type="http://schemas.openxmlformats.org/officeDocument/2006/relationships/hyperlink" Target="https://www.etched.com" TargetMode="External"/><Relationship Id="rId10" Type="http://schemas.openxmlformats.org/officeDocument/2006/relationships/hyperlink" Target="https://www.cerebras.net" TargetMode="External"/><Relationship Id="rId4" Type="http://schemas.openxmlformats.org/officeDocument/2006/relationships/hyperlink" Target="https://aws.amazon.com/machine-learning/inferentia/" TargetMode="External"/><Relationship Id="rId9" Type="http://schemas.openxmlformats.org/officeDocument/2006/relationships/hyperlink" Target="https://sambanova.ai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evselector.com/simple_is_good.html#do_we_really_need_i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hyperlink" Target="https://levselector.com/simple_is_good.html#simplicity_vs_politics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Stephen_Wolfram" TargetMode="External"/><Relationship Id="rId3" Type="http://schemas.openxmlformats.org/officeDocument/2006/relationships/hyperlink" Target="https://www.wolfram-media.com/products/what-is-chatgpt-doing-and-why-does-it-work/" TargetMode="External"/><Relationship Id="rId7" Type="http://schemas.openxmlformats.org/officeDocument/2006/relationships/image" Target="../media/image14.jpe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5.png"/><Relationship Id="rId5" Type="http://schemas.openxmlformats.org/officeDocument/2006/relationships/hyperlink" Target="https://writings.stephenwolfram.com/2023/02/what-is-chatgpt-doing-and-why-does-it-work/" TargetMode="External"/><Relationship Id="rId10" Type="http://schemas.openxmlformats.org/officeDocument/2006/relationships/hyperlink" Target="https://www.wolfram.com/mathematica/" TargetMode="External"/><Relationship Id="rId4" Type="http://schemas.openxmlformats.org/officeDocument/2006/relationships/hyperlink" Target="https://www.amazon.com/What-ChatGPT-Doing-Does-Work-ebook/dp/B0BY59PT5Z/" TargetMode="External"/><Relationship Id="rId9" Type="http://schemas.openxmlformats.org/officeDocument/2006/relationships/hyperlink" Target="https://en.wikipedia.org/wiki/Wolfram_Mathematica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ayoffs.fyi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ais.ai" TargetMode="Externa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/>
        </p:nvSpPr>
        <p:spPr>
          <a:xfrm>
            <a:off x="83860" y="1284725"/>
            <a:ext cx="4420200" cy="11082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xxxx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Crowd-sourced "Arena" Leaderboard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Crowd-sourced "Arena" Leaderboard - Coding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xxxx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4633738" y="1284719"/>
            <a:ext cx="4420200" cy="4155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marR="0" lvl="0" indent="-209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Font typeface="Calibri"/>
              <a:buChar char="●"/>
            </a:pPr>
            <a:r>
              <a:rPr lang="en" sz="15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Tech Layoffs in 2024</a:t>
            </a:r>
            <a:endParaRPr sz="15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2631225" y="-80050"/>
            <a:ext cx="25392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6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Updates </a:t>
            </a:r>
            <a:endParaRPr sz="36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July 18</a:t>
            </a:r>
            <a:r>
              <a:rPr lang="en" sz="24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, 2024</a:t>
            </a:r>
            <a:endParaRPr sz="24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5563025" y="183050"/>
            <a:ext cx="3491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solidFill>
                  <a:srgbClr val="FF0000"/>
                </a:solidFill>
              </a:rPr>
              <a:t>xxxx</a:t>
            </a:r>
            <a:endParaRPr b="1" i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25" y="655125"/>
            <a:ext cx="4093275" cy="441212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6" name="Google Shape;66;p15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5425" y="655125"/>
            <a:ext cx="3976774" cy="441212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7" name="Google Shape;67;p15"/>
          <p:cNvSpPr txBox="1"/>
          <p:nvPr/>
        </p:nvSpPr>
        <p:spPr>
          <a:xfrm>
            <a:off x="5439489" y="55350"/>
            <a:ext cx="1761300" cy="5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Total #models: 115.    </a:t>
            </a:r>
            <a:endParaRPr sz="1100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Total #votes: 1,450,208. </a:t>
            </a:r>
            <a:endParaRPr sz="1100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Last updated: 2024-07-08.</a:t>
            </a:r>
            <a:endParaRPr sz="11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7261325" y="52350"/>
            <a:ext cx="18315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Elo rating = 1000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95% CI = Confidence Interval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-38048" y="-108050"/>
            <a:ext cx="4151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Crowd-sourced "Arena" Leaderboard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0" y="157800"/>
            <a:ext cx="2076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https://chat.lmsys.org/?leaderboard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2783010" y="351769"/>
            <a:ext cx="13998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English-only queries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5235575" y="226378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1015575" y="3310003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1015575" y="4610855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971475" y="1321750"/>
            <a:ext cx="213600" cy="2031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5653142" y="1133009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5653142" y="2377870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5653142" y="2869285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5653142" y="3368470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5653142" y="3876209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5653142" y="4376178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5653142" y="4621885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6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2825" y="660275"/>
            <a:ext cx="4217715" cy="441212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975" y="655125"/>
            <a:ext cx="4266772" cy="44121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9" name="Google Shape;89;p16"/>
          <p:cNvSpPr txBox="1"/>
          <p:nvPr/>
        </p:nvSpPr>
        <p:spPr>
          <a:xfrm>
            <a:off x="5439489" y="55350"/>
            <a:ext cx="1761300" cy="5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Total #models: 115.    </a:t>
            </a:r>
            <a:endParaRPr sz="1100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Total #votes: 1,450,208. </a:t>
            </a:r>
            <a:endParaRPr sz="1100">
              <a:solidFill>
                <a:srgbClr val="1F2937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F2937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Last updated: 2024-07-08.</a:t>
            </a:r>
            <a:endParaRPr sz="11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7261325" y="52350"/>
            <a:ext cx="18315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Elo rating = 1000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95% CI = Confidence Interval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-38048" y="-108050"/>
            <a:ext cx="4151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Crowd-sourced "Arena" Leaderboard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0" y="157800"/>
            <a:ext cx="2076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https://chat.lmsys.org/?leaderboard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3755456" y="351775"/>
            <a:ext cx="5523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5235575" y="226378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1015575" y="3396274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1015575" y="4610855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971475" y="1055300"/>
            <a:ext cx="213600" cy="203100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5576942" y="1112868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5576942" y="1362370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5576942" y="1611885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5576942" y="3116702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5576942" y="3614375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5576942" y="4118128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5576942" y="4860965"/>
            <a:ext cx="125400" cy="1254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/>
        </p:nvSpPr>
        <p:spPr>
          <a:xfrm>
            <a:off x="76200" y="0"/>
            <a:ext cx="3220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Misc 1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76200" y="402600"/>
            <a:ext cx="4423500" cy="726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FlashAttention-3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beta release - speeds up transformers 16x, reaching 1.2 PFLOPS on H100 GPUs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https://github.com/Dao-AILab/flash-attention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https://tridao.me/publications/flash3/flash3.pdf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76200" y="1395950"/>
            <a:ext cx="4423500" cy="572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European LLM Leaderboard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by the OpenGPT-X team - evaluating multilingual language models.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https://huggingface.co/spaces/openGPT-X/european-llm-leaderboard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" y="2035300"/>
            <a:ext cx="4423501" cy="3002282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3" name="Google Shape;113;p17"/>
          <p:cNvSpPr txBox="1"/>
          <p:nvPr/>
        </p:nvSpPr>
        <p:spPr>
          <a:xfrm>
            <a:off x="4624425" y="402600"/>
            <a:ext cx="4423500" cy="526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 US Startups that received $100+ Mln in 2024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https://techcrunch.com/2024/07/13/heres-the-full-list-of-28-us-ai-startups-that-have-raised-100m-or-more-in-2024/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4624425" y="2425623"/>
            <a:ext cx="4423500" cy="726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project called "Strawberry"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advanced reasoning capabilities + internet search - for complex tasks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https://www.tomsguide.com/ai/chatgpt/openais-new-project-strawberry-could-give-chatgpt-more-freedom-to-search-the-web-and-solve-complex-problems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5675" y="3217723"/>
            <a:ext cx="1762251" cy="99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/>
          <p:nvPr/>
        </p:nvSpPr>
        <p:spPr>
          <a:xfrm>
            <a:off x="4644300" y="4295273"/>
            <a:ext cx="4403700" cy="726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Meta’s Llama-3 405B model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is set to release on July 23 and will be multimodal - according to a report from The Information.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https://www.theinformation.com/briefings/meta-platforms-to-release-largest-llama-3-model-on-july-23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4624425" y="1002950"/>
            <a:ext cx="4423500" cy="618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 quarter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AI-related startups raised record $24.2 Bln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(according to Crunchbase data) - more than doubling the amount from both the previous quarter and the same period last year.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4624425" y="1714288"/>
            <a:ext cx="4423500" cy="557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China is leading in AI adoption</a:t>
            </a: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: % of organizations using AI: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    China 83%,    UK 70%,    US at 65%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https://www.sas.com/en_gb/news/press-releases/2024/july/genai-research-study-uki.html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/>
        </p:nvSpPr>
        <p:spPr>
          <a:xfrm>
            <a:off x="76200" y="0"/>
            <a:ext cx="3220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Misc 2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76200" y="402600"/>
            <a:ext cx="4426500" cy="572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Andrej Karpathy -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train your own GPT-2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~$672, running on one 8xH100 GPU node for 24 hours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https://x.com/karpathy/status/1811467135279104217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76200" y="2195525"/>
            <a:ext cx="4426500" cy="1727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 DeepMind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introduces a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PEER (parameter efficient expert retrieval)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 novel layer design that utilizes the product key technique for sparse retrieval from over a million of tiny experts.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PEER layers outperform dense FFWs and coarse-grained MoEs in terms of performance-compute trade-off.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efficiently routes to a very large number of tiny experts through a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learned index structure used for routing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https://twitter.com/omarsar0/status/1810389538340290724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https://arxiv.org/abs/2407.04153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76200" y="1076013"/>
            <a:ext cx="4426500" cy="1018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RankRAG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Unifying Context Ranking with Retrieval-Augmented Generation in LLMs - </a:t>
            </a: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https://arxiv.org/html/2407.02485v1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RankRAG framework trains (instruction-tunes) a single LLM for the dual purpose of context ranking and answer generation in RAG. It outperforms existing expert ranking models.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76200" y="3987425"/>
            <a:ext cx="4426500" cy="372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Hallucinations in LLMs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good review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https://lilianweng.github.io/posts/2024-07-07-hallucination/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/>
        </p:nvSpPr>
        <p:spPr>
          <a:xfrm>
            <a:off x="76200" y="0"/>
            <a:ext cx="3220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x86    vs    ARM    vs    RISC-V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76200" y="768496"/>
            <a:ext cx="2853300" cy="322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x86 - a family of CISC processor architectures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currently used on most laptops and desktops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CISC = Complex Instruction Set Computer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Intel x86, IBM System/360, Motorola 68000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 1978 - 8086 16bit CPU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AMD 1985 - AM386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80186, 80286, 80386, AM386, 80486, ..., Pentium, ...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performance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Backward Compatibility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Established Ecosystem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Complexity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9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2600" y="4025925"/>
            <a:ext cx="1283425" cy="108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 txBox="1"/>
          <p:nvPr/>
        </p:nvSpPr>
        <p:spPr>
          <a:xfrm>
            <a:off x="3148468" y="768496"/>
            <a:ext cx="2853300" cy="322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ARM = Advanced RISC Machines - a family of RISC ISAs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(instruction set architectures) for computer processors.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Energy Efficiency - great for laptops, mobile devices and embedded systems.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Widely used in smartphones, tablets, and other mobile devices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ARM licenses its designs to chip manufacturers, allowing them to create customized processors for specific purposes.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Good performance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6233325" y="66450"/>
            <a:ext cx="2853300" cy="572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CISC = Complex Instruction Set Computer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RISC = Reduced ...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ISA = Instruction Set Architecture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6233325" y="749700"/>
            <a:ext cx="2853300" cy="1419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RISC-V - Open Source standard for ISA, .. free to use and modify.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greater flexibility and customization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modular architecture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simplicity: RISC-V has a relatively simple instruction set compared to x86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emerging Ecosystem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9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00973" y="4303875"/>
            <a:ext cx="1022674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9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1951283">
            <a:off x="4805368" y="4315621"/>
            <a:ext cx="696567" cy="501233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9"/>
          <p:cNvSpPr txBox="1"/>
          <p:nvPr/>
        </p:nvSpPr>
        <p:spPr>
          <a:xfrm>
            <a:off x="6233325" y="2279250"/>
            <a:ext cx="2853300" cy="1850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DC-ROMA - first RISC-V laptop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cores, 2GHz, 16 GB memory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DeepComputing, June 2024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https://www.tomshardware.com/laptops/the-worlds-first-risc-v-laptop-gets-a-big-update-deepcomputing-doubled-the-core-count-increased-clocks-to-2-ghz-and-added-ai-capabilities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Framework computer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now provides RISC-V Mainboard from DeepComputing:</a:t>
            </a:r>
            <a:b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https://www.youtube.com/watch?v=98OwCIpLgjw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4209700" y="4801925"/>
            <a:ext cx="1887900" cy="172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Macbooks and Snapdragon laptops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19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93850" y="4167675"/>
            <a:ext cx="1639175" cy="9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/>
        </p:nvSpPr>
        <p:spPr>
          <a:xfrm>
            <a:off x="76200" y="0"/>
            <a:ext cx="3220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ASIC for Fast Inference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76200" y="1309550"/>
            <a:ext cx="3998100" cy="618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Groq chips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designed for fast AI inference. Using proprietary architecture called the Language Processing Unit (LPU). </a:t>
            </a: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https://groq.com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4268800" y="1897875"/>
            <a:ext cx="4754100" cy="41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Amazon Inferentia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chips for high-performance inference for ML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https://aws.amazon.com/machine-learning/inferentia/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76200" y="2010375"/>
            <a:ext cx="3998100" cy="618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Etched "Sohu" chips for transformers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500K tokens/second. One 8xSohu server = 160 H100s.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https://www.etched.com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76200" y="2744400"/>
            <a:ext cx="3998100" cy="818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Tenstorrent ( </a:t>
            </a: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https://tenstorrent.com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)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Grayskull and Wormhole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AI chips are designed to be highly scalable and adaptable for different AI models and workloads.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76200" y="408625"/>
            <a:ext cx="3998100" cy="818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Custom ASICs (Application-Specific Integrated Circuits) 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AI inference are </a:t>
            </a: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specialized chips designed from the ground up to perform the specific calculations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needed for running AI models efficiently and quickly.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4236700" y="408625"/>
            <a:ext cx="4786200" cy="818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Graphcore IPU ( Intelligence Processing Units )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https://www.graphcore.ai/products/ipu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accelerating AI workloads, with a focus on graph-based computations commonly used in AI models.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4268800" y="1323325"/>
            <a:ext cx="4754100" cy="41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 TPU (Tensor Processing Unit)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ASICs for training and inference of large-scale neural networks. - </a:t>
            </a: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https://cloud.google.com/tpu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4268800" y="3046975"/>
            <a:ext cx="4754100" cy="41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SambaNova RDU (Reconfigurable Dataflow Unit)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reconfigurable chips for both training and inference. </a:t>
            </a: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https://sambanova.ai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4268800" y="2472425"/>
            <a:ext cx="4754100" cy="41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Cerebras CS-2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https://www.cerebras.net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- 900,000 cores and 44 GB of on-chip memory on huge 8.5"x8.5" chip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4268800" y="3621525"/>
            <a:ext cx="4754100" cy="41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Habana Labs (now part of Intel)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https://habana.ai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Gaudi and Goya processors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training and inference, respectively.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/>
        </p:nvSpPr>
        <p:spPr>
          <a:xfrm>
            <a:off x="76200" y="0"/>
            <a:ext cx="4371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Deliver AI Projects Fast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221300" y="1965250"/>
            <a:ext cx="4283700" cy="1173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John Hacker vs Bob Architect </a:t>
            </a:r>
            <a:endParaRPr sz="13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"""every time when you have to choose between "making things right" and "making things simple", the simple path will be much better for you over and over again."""</a:t>
            </a:r>
            <a:endParaRPr sz="13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https://levselector.com/simple_is_good.html#do_we_really_need_it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1"/>
          <p:cNvSpPr txBox="1"/>
          <p:nvPr/>
        </p:nvSpPr>
        <p:spPr>
          <a:xfrm>
            <a:off x="4613925" y="1965250"/>
            <a:ext cx="4437000" cy="1173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Simplicity vs politics</a:t>
            </a:r>
            <a:endParaRPr sz="13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"""Managers in big organizations ALWAYS reject simple proven solutions in favor of new hard and expensive solutions."""</a:t>
            </a:r>
            <a:endParaRPr sz="13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https://levselector.com/simple_is_good.html#simplicity_vs_politics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1"/>
          <p:cNvSpPr txBox="1"/>
          <p:nvPr/>
        </p:nvSpPr>
        <p:spPr>
          <a:xfrm>
            <a:off x="1498075" y="3630600"/>
            <a:ext cx="2535600" cy="41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Developers - simple effective solutions (health)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1"/>
          <p:cNvSpPr txBox="1"/>
          <p:nvPr/>
        </p:nvSpPr>
        <p:spPr>
          <a:xfrm>
            <a:off x="5114525" y="3561075"/>
            <a:ext cx="2535600" cy="618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Bureaucrats - making things more and more complex to the point that the systems can't operate (cancer)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1"/>
          <p:cNvSpPr txBox="1"/>
          <p:nvPr/>
        </p:nvSpPr>
        <p:spPr>
          <a:xfrm>
            <a:off x="4383738" y="3653550"/>
            <a:ext cx="380700" cy="3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221300" y="453200"/>
            <a:ext cx="4283700" cy="1018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it basic and simple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Don't get locked into 3rd party solutions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Open-source frameworks and standard clouds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Python, VS Code, GitHub, Linux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9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Split project into small manageable modules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5052875" y="453200"/>
            <a:ext cx="3072300" cy="41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AI is new, there is an opportunity to build new simple and elegant "healthy" systems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21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98075" y="4120675"/>
            <a:ext cx="1361050" cy="91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1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8350" y="4248025"/>
            <a:ext cx="1171775" cy="83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/>
        </p:nvSpPr>
        <p:spPr>
          <a:xfrm>
            <a:off x="76200" y="0"/>
            <a:ext cx="6682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ChatGPT Doing ... and Why Does It Work?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76200" y="408625"/>
            <a:ext cx="3998100" cy="1742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ChatGPT Doing ... and Why Does It Work?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</a:t>
            </a: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Stephen Wolfram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https://www.wolfram-media.com/products/what-is-chatgpt-doing-and-why-does-it-work/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https://www.amazon.com/What-ChatGPT-Doing-Does-Work-ebook/dp/B0BY59PT5Z/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Blog: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https://writings.stephenwolfram.com/2023/02/what-is-chatgpt-doing-and-why-does-it-work/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22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6325" y="378362"/>
            <a:ext cx="1289701" cy="1915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2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00" y="2303425"/>
            <a:ext cx="3998100" cy="267107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2"/>
          <p:cNvSpPr txBox="1"/>
          <p:nvPr/>
        </p:nvSpPr>
        <p:spPr>
          <a:xfrm>
            <a:off x="5669475" y="1613225"/>
            <a:ext cx="3282600" cy="680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Stephen Wolfram </a:t>
            </a:r>
            <a:endParaRPr sz="13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https://en.wikipedia.org/wiki/Stephen_Wolfram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https://en.wikipedia.org/wiki/Wolfram_Mathematica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20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https://www.wolfram.com/mathematica/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22"/>
          <p:cNvPicPr preferRelativeResize="0"/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8547" y="75075"/>
            <a:ext cx="1569800" cy="123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2"/>
          <p:cNvPicPr preferRelativeResize="0"/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7775" y="2431175"/>
            <a:ext cx="4628040" cy="267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/>
        </p:nvSpPr>
        <p:spPr>
          <a:xfrm>
            <a:off x="76200" y="0"/>
            <a:ext cx="3220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xxxx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76200" y="408625"/>
            <a:ext cx="3998100" cy="218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xxxx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4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7275" y="445750"/>
            <a:ext cx="8366998" cy="361178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4"/>
          <p:cNvSpPr/>
          <p:nvPr/>
        </p:nvSpPr>
        <p:spPr>
          <a:xfrm>
            <a:off x="5123725" y="2371675"/>
            <a:ext cx="213900" cy="7389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4"/>
          <p:cNvSpPr/>
          <p:nvPr/>
        </p:nvSpPr>
        <p:spPr>
          <a:xfrm>
            <a:off x="7650800" y="2371675"/>
            <a:ext cx="213900" cy="738900"/>
          </a:xfrm>
          <a:prstGeom prst="rect">
            <a:avLst/>
          </a:prstGeom>
          <a:noFill/>
          <a:ln w="28575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4"/>
          <p:cNvSpPr txBox="1"/>
          <p:nvPr/>
        </p:nvSpPr>
        <p:spPr>
          <a:xfrm>
            <a:off x="72300" y="76200"/>
            <a:ext cx="49011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Layoffs in 2024 </a:t>
            </a: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</a:t>
            </a: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lower than last year</a:t>
            </a:r>
            <a:endParaRPr sz="2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4"/>
          <p:cNvSpPr txBox="1"/>
          <p:nvPr/>
        </p:nvSpPr>
        <p:spPr>
          <a:xfrm>
            <a:off x="6291625" y="109963"/>
            <a:ext cx="2002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F0F0F"/>
                </a:solidFill>
                <a:latin typeface="Calibri"/>
                <a:ea typeface="Calibri"/>
                <a:cs typeface="Calibri"/>
                <a:sym typeface="Calibri"/>
              </a:rPr>
              <a:t>Layoffs - </a:t>
            </a:r>
            <a:r>
              <a:rPr lang="en" sz="13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https://layoffs.fyi</a:t>
            </a:r>
            <a:r>
              <a:rPr lang="en" sz="1300" b="0" i="0" u="none" strike="noStrike" cap="none">
                <a:solidFill>
                  <a:srgbClr val="0F0F0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b="0" i="0" u="none" strike="noStrike" cap="none">
              <a:solidFill>
                <a:srgbClr val="0F0F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387275" y="4126175"/>
            <a:ext cx="8367000" cy="738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Salaries for AI engineers rose 12% from the third to fourth quarter last year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Salaries: 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Python: $110K - $150K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" sz="1200" b="1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Rust: $150K - $200K,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 Engineer: $140K - $250K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●"/>
            </a:pP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 has a talent shortage, meaning </a:t>
            </a:r>
            <a:r>
              <a:rPr lang="en" sz="12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$1 Mln salary job offers! </a:t>
            </a: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Even during tech layoffs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5238" y="1203525"/>
            <a:ext cx="2094075" cy="20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5"/>
          <p:cNvSpPr txBox="1"/>
          <p:nvPr/>
        </p:nvSpPr>
        <p:spPr>
          <a:xfrm>
            <a:off x="-25625" y="-14775"/>
            <a:ext cx="3355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About the Speaker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5"/>
          <p:cNvSpPr txBox="1"/>
          <p:nvPr/>
        </p:nvSpPr>
        <p:spPr>
          <a:xfrm>
            <a:off x="3330175" y="878750"/>
            <a:ext cx="5621700" cy="3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 Selector, Ph.D.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40+ years of software engineering, data science, and building teams (hiring, training, and managing)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Ph.D. in mathematical modeling and computer simulations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Interests: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Generative AI, Using LLM with your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AI for Local Private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Cloud architecture, fin-tech, application security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Find/connect: Linkedin, GitHub, YouTube, Google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25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0941" y="3664175"/>
            <a:ext cx="1144600" cy="41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5"/>
          <p:cNvSpPr txBox="1"/>
          <p:nvPr/>
        </p:nvSpPr>
        <p:spPr>
          <a:xfrm>
            <a:off x="912377" y="4005903"/>
            <a:ext cx="139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https://eais.ai</a:t>
            </a: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5"/>
          <p:cNvSpPr txBox="1"/>
          <p:nvPr/>
        </p:nvSpPr>
        <p:spPr>
          <a:xfrm>
            <a:off x="536203" y="4360974"/>
            <a:ext cx="2094075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 AI Systems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/>
        </p:nvSpPr>
        <p:spPr>
          <a:xfrm>
            <a:off x="2151375" y="1533150"/>
            <a:ext cx="463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" sz="70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70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1503</Words>
  <Application>Microsoft Macintosh PowerPoint</Application>
  <PresentationFormat>On-screen Show (16:9)</PresentationFormat>
  <Paragraphs>157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Lev Selector</cp:lastModifiedBy>
  <cp:revision>1</cp:revision>
  <dcterms:modified xsi:type="dcterms:W3CDTF">2024-07-16T03:30:31Z</dcterms:modified>
</cp:coreProperties>
</file>