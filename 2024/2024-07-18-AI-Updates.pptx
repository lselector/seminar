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61" d="100"/>
          <a:sy n="161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dfea7fbe3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" name="Google Shape;55;g2dfea7fbe3a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ec4c02dd0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g2ec4c02dd0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e8a450c44d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2e8a450c44d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ba0d0ca6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2eba0d0ca6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e92a71ca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g2e92a71ca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ec6c319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g2ec6c319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ecb163f35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g2ecb163f35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ebf9533f7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ebf9533f7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bf9533f7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g2ebf9533f7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ec49fe1a0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2ec49fe1a0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c4c0533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2ec4c05336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2ec94f83b4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2ec94f83b4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1" name="Google Shape;24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_philschmid/status/1811308080166035549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hyperlink" Target="https://huggingface.co/papers/2407.03502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at.lmsys.org/?leaderboard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at.lmsys.org/?leaderboard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omsguide.com/ai/chatgpt/openais-new-project-strawberry-could-give-chatgpt-more-freedom-to-search-the-web-and-solve-complex-problems" TargetMode="External"/><Relationship Id="rId3" Type="http://schemas.openxmlformats.org/officeDocument/2006/relationships/hyperlink" Target="https://github.com/Dao-AILab/flash-attention" TargetMode="External"/><Relationship Id="rId7" Type="http://schemas.openxmlformats.org/officeDocument/2006/relationships/hyperlink" Target="https://techcrunch.com/2024/07/13/heres-the-full-list-of-28-us-ai-startups-that-have-raised-100m-or-more-in-2024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hyperlink" Target="https://www.sas.com/en_gb/news/press-releases/2024/july/genai-research-study-uki.html" TargetMode="External"/><Relationship Id="rId5" Type="http://schemas.openxmlformats.org/officeDocument/2006/relationships/hyperlink" Target="https://huggingface.co/spaces/openGPT-X/european-llm-leaderboard" TargetMode="External"/><Relationship Id="rId10" Type="http://schemas.openxmlformats.org/officeDocument/2006/relationships/hyperlink" Target="https://www.theinformation.com/briefings/meta-platforms-to-release-largest-llama-3-model-on-july-23" TargetMode="External"/><Relationship Id="rId4" Type="http://schemas.openxmlformats.org/officeDocument/2006/relationships/hyperlink" Target="https://tridao.me/publications/flash3/flash3.pdf" TargetMode="External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twitter.com/karpathy/status/1813263734707790301" TargetMode="External"/><Relationship Id="rId13" Type="http://schemas.openxmlformats.org/officeDocument/2006/relationships/image" Target="../media/image12.jpeg"/><Relationship Id="rId3" Type="http://schemas.openxmlformats.org/officeDocument/2006/relationships/hyperlink" Target="https://x.com/karpathy/status/1811467135279104217" TargetMode="External"/><Relationship Id="rId7" Type="http://schemas.openxmlformats.org/officeDocument/2006/relationships/hyperlink" Target="https://lilianweng.github.io/posts/2024-07-07-hallucination/" TargetMode="Externa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html/2407.02485v1" TargetMode="External"/><Relationship Id="rId11" Type="http://schemas.openxmlformats.org/officeDocument/2006/relationships/image" Target="../media/image10.png"/><Relationship Id="rId5" Type="http://schemas.openxmlformats.org/officeDocument/2006/relationships/hyperlink" Target="https://arxiv.org/abs/2407.04153" TargetMode="External"/><Relationship Id="rId10" Type="http://schemas.openxmlformats.org/officeDocument/2006/relationships/hyperlink" Target="https://github.com/EurekaLabsAI" TargetMode="External"/><Relationship Id="rId4" Type="http://schemas.openxmlformats.org/officeDocument/2006/relationships/hyperlink" Target="https://twitter.com/omarsar0/status/1810389538340290724" TargetMode="External"/><Relationship Id="rId9" Type="http://schemas.openxmlformats.org/officeDocument/2006/relationships/hyperlink" Target="https://eurekalabs.ai" TargetMode="External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pli.princeton.edu/blog/2024/mamba-2-algorithms-and-systems" TargetMode="External"/><Relationship Id="rId13" Type="http://schemas.openxmlformats.org/officeDocument/2006/relationships/image" Target="../media/image15.jpeg"/><Relationship Id="rId3" Type="http://schemas.openxmlformats.org/officeDocument/2006/relationships/hyperlink" Target="https://mistral.ai/news/codestral-mamba/" TargetMode="External"/><Relationship Id="rId7" Type="http://schemas.openxmlformats.org/officeDocument/2006/relationships/hyperlink" Target="https://www.youtube.com/watch?v=9mD1FXZkj6E" TargetMode="External"/><Relationship Id="rId12" Type="http://schemas.openxmlformats.org/officeDocument/2006/relationships/hyperlink" Target="https://github.com/microsoft/graphrag/blob/main/docsite/index.md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312.00752" TargetMode="External"/><Relationship Id="rId11" Type="http://schemas.openxmlformats.org/officeDocument/2006/relationships/hyperlink" Target="https://medium.com/@lbq999/graphrag-the-most-incredible-rag-strategy-revealed-05589d3c9a93" TargetMode="External"/><Relationship Id="rId5" Type="http://schemas.openxmlformats.org/officeDocument/2006/relationships/hyperlink" Target="https://en.wikipedia.org/wiki/Mamba_(deep_learning_architecture)" TargetMode="External"/><Relationship Id="rId10" Type="http://schemas.openxmlformats.org/officeDocument/2006/relationships/hyperlink" Target="https://github.com/microsoft/graphrag" TargetMode="External"/><Relationship Id="rId4" Type="http://schemas.openxmlformats.org/officeDocument/2006/relationships/hyperlink" Target="https://github.com/mistralai/mistral-inference/releases/tag/v1.2.0" TargetMode="External"/><Relationship Id="rId9" Type="http://schemas.openxmlformats.org/officeDocument/2006/relationships/image" Target="../media/image14.png"/><Relationship Id="rId1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98OwCIpLgjw" TargetMode="External"/><Relationship Id="rId3" Type="http://schemas.openxmlformats.org/officeDocument/2006/relationships/image" Target="../media/image17.png"/><Relationship Id="rId7" Type="http://schemas.openxmlformats.org/officeDocument/2006/relationships/hyperlink" Target="https://frame.work/blog/introducing-a-new-risc-v-mainboard-from-deepcomput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omshardware.com/laptops/the-worlds-first-risc-v-laptop-gets-a-big-update-deepcomputing-doubled-the-core-count-increased-clocks-to-2-ghz-and-added-ai-capabilities" TargetMode="Externa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0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google.com/tpu" TargetMode="External"/><Relationship Id="rId3" Type="http://schemas.openxmlformats.org/officeDocument/2006/relationships/hyperlink" Target="https://groq.com" TargetMode="External"/><Relationship Id="rId7" Type="http://schemas.openxmlformats.org/officeDocument/2006/relationships/hyperlink" Target="https://www.graphcore.ai/products/ipu" TargetMode="External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nstorrent.com" TargetMode="External"/><Relationship Id="rId11" Type="http://schemas.openxmlformats.org/officeDocument/2006/relationships/hyperlink" Target="https://habana.ai" TargetMode="External"/><Relationship Id="rId5" Type="http://schemas.openxmlformats.org/officeDocument/2006/relationships/hyperlink" Target="https://www.etched.com" TargetMode="External"/><Relationship Id="rId10" Type="http://schemas.openxmlformats.org/officeDocument/2006/relationships/hyperlink" Target="https://www.cerebras.net" TargetMode="External"/><Relationship Id="rId4" Type="http://schemas.openxmlformats.org/officeDocument/2006/relationships/hyperlink" Target="https://aws.amazon.com/machine-learning/inferentia/" TargetMode="External"/><Relationship Id="rId9" Type="http://schemas.openxmlformats.org/officeDocument/2006/relationships/hyperlink" Target="https://sambanova.ai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vselector.com/simple_is_good.html#do_we_really_need_i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hyperlink" Target="https://levselector.com/simple_is_good.html#simplicity_vs_politics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tephen_Wolfram" TargetMode="External"/><Relationship Id="rId3" Type="http://schemas.openxmlformats.org/officeDocument/2006/relationships/hyperlink" Target="https://www.wolfram-media.com/products/what-is-chatgpt-doing-and-why-does-it-work/" TargetMode="External"/><Relationship Id="rId7" Type="http://schemas.openxmlformats.org/officeDocument/2006/relationships/image" Target="../media/image25.jpe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6.png"/><Relationship Id="rId5" Type="http://schemas.openxmlformats.org/officeDocument/2006/relationships/hyperlink" Target="https://writings.stephenwolfram.com/2023/02/what-is-chatgpt-doing-and-why-does-it-work/" TargetMode="External"/><Relationship Id="rId10" Type="http://schemas.openxmlformats.org/officeDocument/2006/relationships/hyperlink" Target="https://www.wolfram.com/mathematica/" TargetMode="External"/><Relationship Id="rId4" Type="http://schemas.openxmlformats.org/officeDocument/2006/relationships/hyperlink" Target="https://www.amazon.com/What-ChatGPT-Doing-Does-Work-ebook/dp/B0BY59PT5Z/" TargetMode="External"/><Relationship Id="rId9" Type="http://schemas.openxmlformats.org/officeDocument/2006/relationships/hyperlink" Target="https://en.wikipedia.org/wiki/Wolfram_Mathematica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ayoffs.fyi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83860" y="1284725"/>
            <a:ext cx="4420200" cy="3648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"AgentInstruct"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 - Coding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FlashAttention-3 - faster transformers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European LLM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28 US Startups that received $100+ Mln in 2024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AI-related startups raised record $24.2 Bln in 1qt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China is leading in AI adoption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project "Strawberry"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Meta’s Llama-3 405B model expected July 23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 started Eureka Labs - AI + Edu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 - train GPT-2 for $672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RankRAG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Deepmind "PEER" uses million experts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Hallucinations in LLMs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4633738" y="1284719"/>
            <a:ext cx="4420200" cy="180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Mistral Codestral Mamba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GraphRAG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x86, ARM, RISC-V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ASIC for Fast Inference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Deliver AI Projects Fast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Stephen Wolfram "What Is ChatGPT Doing"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 Layoffs in 2024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4"/>
          <p:cNvSpPr txBox="1"/>
          <p:nvPr/>
        </p:nvSpPr>
        <p:spPr>
          <a:xfrm>
            <a:off x="2631225" y="-80050"/>
            <a:ext cx="25392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July 18</a:t>
            </a:r>
            <a:r>
              <a:rPr lang="en" sz="24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, 2024</a:t>
            </a:r>
            <a:endParaRPr sz="24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5563025" y="183050"/>
            <a:ext cx="3491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i="1">
                <a:solidFill>
                  <a:srgbClr val="FF0000"/>
                </a:solidFill>
              </a:rPr>
              <a:t>xxxx</a:t>
            </a:r>
            <a:endParaRPr b="1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76200" y="0"/>
            <a:ext cx="4556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"AgentInstruct" - Synthetic Data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76200" y="486075"/>
            <a:ext cx="44265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"AgentInstruct"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teach an LLM using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synthetic data generated by LLM Agents.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Instruct improved a 7B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Orca-3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model by ~20% across all benchmarks and matched GPT-4 on RAG.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Orca3 is a trained Mistral 7B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22M data pairs for 17 different capabilities. It improved Mistral across all benchmarks and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matched GPT-4 on RAG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https://x.com/_philschmid/status/1811308080166035549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https://huggingface.co/papers/2407.03502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Raw documents are transformed 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multiple agents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playing different roles to provide diversity (for 17 listed capabilities).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docs are then used 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yet more agents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generate and refine instructions in a "Content Transformation Flow".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 -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created 22 million instructions for teaching those 17 skills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These instructions then combined with the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3.8 Mln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instructions from prior Orca papers.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combined 25.8 Mln instruction set is used to finetune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7b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7725" y="504143"/>
            <a:ext cx="4336501" cy="179349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4587725" y="2575250"/>
            <a:ext cx="4426500" cy="1603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June 2023 - original Orca model based on Vicuna model, 13B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(Vicunna - March 2023, UC Berkeley, CMU, Stanford, UC San Diego)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June 2023 - Orca-mini community based on LLaMA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3b, 7b, 13b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Nov 2023 - Orca-2 (7B &amp; 13B) based on LLaMA-2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Orca Mini v3, based on the LLaMA 2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 2024 - Orca-Math (7B) based on Mistral-7B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July 2024 - Orca-3 based on Mistral-7B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4587725" y="4306375"/>
            <a:ext cx="4426500" cy="21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only orca-mini is available for commercial use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2875" y="4179045"/>
            <a:ext cx="1309825" cy="87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8656" y="4179051"/>
            <a:ext cx="1069194" cy="8752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/>
        </p:nvSpPr>
        <p:spPr>
          <a:xfrm>
            <a:off x="1394725" y="4524775"/>
            <a:ext cx="5589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Vicuna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525" y="655125"/>
            <a:ext cx="4093275" cy="44121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8" name="Google Shape;78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5425" y="655125"/>
            <a:ext cx="3976774" cy="44121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9" name="Google Shape;79;p16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115.   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1,450,208.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2024-07-08.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2783010" y="351769"/>
            <a:ext cx="13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English-only queries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52355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1015575" y="3310003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1015575" y="461085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971475" y="1321750"/>
            <a:ext cx="213600" cy="2031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5653142" y="113300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5653142" y="23778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5653142" y="28692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5653142" y="33684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5653142" y="387620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5653142" y="43761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6"/>
          <p:cNvSpPr/>
          <p:nvPr/>
        </p:nvSpPr>
        <p:spPr>
          <a:xfrm>
            <a:off x="5653142" y="46218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2825" y="660275"/>
            <a:ext cx="4217715" cy="44121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0" name="Google Shape;100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75" y="655125"/>
            <a:ext cx="4266772" cy="4412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1" name="Google Shape;101;p17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115.   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1,450,208.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2024-07-08.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3755456" y="351775"/>
            <a:ext cx="552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52355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1015575" y="3396274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1015575" y="461085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971475" y="1055300"/>
            <a:ext cx="213600" cy="2031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5576942" y="111286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5576942" y="13623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7"/>
          <p:cNvSpPr/>
          <p:nvPr/>
        </p:nvSpPr>
        <p:spPr>
          <a:xfrm>
            <a:off x="5576942" y="16118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5576942" y="3116702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5576942" y="361437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7"/>
          <p:cNvSpPr/>
          <p:nvPr/>
        </p:nvSpPr>
        <p:spPr>
          <a:xfrm>
            <a:off x="5576942" y="411812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7"/>
          <p:cNvSpPr/>
          <p:nvPr/>
        </p:nvSpPr>
        <p:spPr>
          <a:xfrm>
            <a:off x="5576942" y="486096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1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76200" y="402600"/>
            <a:ext cx="4423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FlashAttention-3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beta release - speeds up transformers 16x, reaching 1.2 PFLOPS on H100 GPUs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https://github.com/Dao-AILab/flash-attention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https://tridao.me/publications/flash3/flash3.pdf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76200" y="1395950"/>
            <a:ext cx="4423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European LLM Leaderboard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by the OpenGPT-X team - evaluating multilingual language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https://huggingface.co/spaces/openGPT-X/european-llm-leaderboard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200" y="2035300"/>
            <a:ext cx="4423501" cy="300228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5" name="Google Shape;125;p18"/>
          <p:cNvSpPr txBox="1"/>
          <p:nvPr/>
        </p:nvSpPr>
        <p:spPr>
          <a:xfrm>
            <a:off x="4624425" y="402600"/>
            <a:ext cx="4423500" cy="52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28 US Startups that received $100+ Mln in 2024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https://techcrunch.com/2024/07/13/heres-the-full-list-of-28-us-ai-startups-that-have-raised-100m-or-more-in-2024/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8"/>
          <p:cNvSpPr txBox="1"/>
          <p:nvPr/>
        </p:nvSpPr>
        <p:spPr>
          <a:xfrm>
            <a:off x="4624425" y="2349423"/>
            <a:ext cx="4423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project called "Strawberry"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advanced reasoning capabilities + internet search - for complex tasks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https://www.tomsguide.com/ai/chatgpt/openais-new-project-strawberry-could-give-chatgpt-more-freedom-to-search-the-web-and-solve-complex-problems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3208" y="3171200"/>
            <a:ext cx="1844718" cy="104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4644300" y="4295273"/>
            <a:ext cx="44037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Meta’s Llama-3 405B model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is set to release on July 23 and will be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multimodal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according to a report from The Information.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https://www.theinformation.com/briefings/meta-platforms-to-release-largest-llama-3-model-on-july-23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8"/>
          <p:cNvSpPr txBox="1"/>
          <p:nvPr/>
        </p:nvSpPr>
        <p:spPr>
          <a:xfrm>
            <a:off x="4624425" y="1002950"/>
            <a:ext cx="4423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Last quarter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AI-related startups raised record $24.2 Bln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(according to Crunchbase data) - more than doubling the amount from both the previous quarter and the same period last year.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8"/>
          <p:cNvSpPr txBox="1"/>
          <p:nvPr/>
        </p:nvSpPr>
        <p:spPr>
          <a:xfrm>
            <a:off x="4624425" y="1714288"/>
            <a:ext cx="4423500" cy="55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China is leading in AI adoption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% of organizations using AI: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   China 83%,    UK 70%,    US at 65%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https://www.sas.com/en_gb/news/press-releases/2024/july/genai-research-study-uki.html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2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9"/>
          <p:cNvSpPr txBox="1"/>
          <p:nvPr/>
        </p:nvSpPr>
        <p:spPr>
          <a:xfrm>
            <a:off x="76200" y="1055974"/>
            <a:ext cx="4426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Andrej Karpathy -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train your own GPT-2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~$672, running on one 8xH100 GPU node for 24 hours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https://x.com/karpathy/status/1811467135279104217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9"/>
          <p:cNvSpPr txBox="1"/>
          <p:nvPr/>
        </p:nvSpPr>
        <p:spPr>
          <a:xfrm>
            <a:off x="76200" y="2848900"/>
            <a:ext cx="74223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DeepMind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introduces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PEER (parameter efficient expert retrieval)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novel layer design that utilizes the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product key technique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sparse retrieval from over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million of tiny experts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PEER layers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outperform dense FFWs and coarse-grained MoEs in terms of performance-compute trade-off.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efficiently routes to a very large number of tiny experts through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learned index structure used for routing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https://twitter.com/omarsar0/status/1810389538340290724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https://arxiv.org/abs/2407.04153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/>
        </p:nvSpPr>
        <p:spPr>
          <a:xfrm>
            <a:off x="76200" y="1729375"/>
            <a:ext cx="49821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RankRAG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Unifying Context Ranking with Retrieval-Augmented Generation in LLMs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https://arxiv.org/html/2407.02485v1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RankRAG framework trains (instruction-tunes) a single LLM for the dual purpose of context ranking and answer generation in RAG. It outperforms existing expert ranking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76200" y="4332749"/>
            <a:ext cx="4426500" cy="37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Hallucinations in LLMs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good review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https://lilianweng.github.io/posts/2024-07-07-hallucination/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76200" y="404838"/>
            <a:ext cx="4426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Andrej Karpathy started Eureka Labs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an AI+Education company </a:t>
            </a:r>
            <a:r>
              <a:rPr lang="en" sz="10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https://twitter.com/karpathy/status/1813263734707790301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Website: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https://eurekalabs.ai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GitHub: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https://github.com/EurekaLabsAI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1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352" y="404850"/>
            <a:ext cx="1057548" cy="1154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2" name="Google Shape;142;p1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4025" y="1729375"/>
            <a:ext cx="2431103" cy="1018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" name="Google Shape;143;p19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95674" y="2848900"/>
            <a:ext cx="1502400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4" name="Google Shape;144;p19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349" y="4076420"/>
            <a:ext cx="2157576" cy="9749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3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0"/>
          <p:cNvSpPr txBox="1"/>
          <p:nvPr/>
        </p:nvSpPr>
        <p:spPr>
          <a:xfrm>
            <a:off x="76200" y="337094"/>
            <a:ext cx="5306700" cy="194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Codestral Mamba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Mamba2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architecture LM for code generation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 Apache 2.0 license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Linear time inference, quick responses, 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ability to handle long sequences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https://mistral.ai/news/codestral-mamba/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https://github.com/mistralai/mistral-inference/releases/tag/v1.2.0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https://en.wikipedia.org/wiki/Mamba_(deep_learning_architecture)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https://arxiv.org/abs/2312.00752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Dec 1, 2023 - original Mamba paper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https://www.youtube.com/watch?v=9mD1FXZkj6E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video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https://pli.princeton.edu/blog/2024/mamba-2-algorithms-and-systems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Mamba 2 blog post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0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200" y="2329150"/>
            <a:ext cx="5306701" cy="151229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2" name="Google Shape;152;p20"/>
          <p:cNvSpPr txBox="1"/>
          <p:nvPr/>
        </p:nvSpPr>
        <p:spPr>
          <a:xfrm>
            <a:off x="76200" y="3982600"/>
            <a:ext cx="62256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GraphRAG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pipeline and transformation suite to extract meaningful, structured data from unstructured text using LLM. Open-Source.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https://github.com/microsoft/graphrag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https://medium.com/@lbq999/graphrag-the-most-incredible-rag-strategy-revealed-05589d3c9a93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https://github.com/microsoft/graphrag/blob/main/docsite/index.md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0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2425" y="606418"/>
            <a:ext cx="1917150" cy="1154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4" name="Google Shape;154;p20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6239" y="3111225"/>
            <a:ext cx="2602637" cy="1951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x86    -    ARM    -    RISC-V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1"/>
          <p:cNvSpPr txBox="1"/>
          <p:nvPr/>
        </p:nvSpPr>
        <p:spPr>
          <a:xfrm>
            <a:off x="76200" y="768496"/>
            <a:ext cx="2853300" cy="322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x86 - a family of CISC processor architectures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currently used on most laptops and desktops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CISC = Complex Instruction Set Computer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Intel x86, IBM System/360, Motorola 68000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Intel 1978 - 8086 16bit CPU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AMD 1985 - AM386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80186, 80286, 80386, AM386, 80486, ..., Pentium, ...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Backward Compatibility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Established Ecosystem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Complexity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21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2600" y="4025925"/>
            <a:ext cx="1283425" cy="108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1"/>
          <p:cNvSpPr txBox="1"/>
          <p:nvPr/>
        </p:nvSpPr>
        <p:spPr>
          <a:xfrm>
            <a:off x="2996318" y="768496"/>
            <a:ext cx="2853300" cy="322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ARM = Advanced RISC Machines - a family of RISC ISAs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(instruction set architectures) for computer processors.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Energy Efficiency - great for laptops, mobile devices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embedded systems.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Widely used in smartphones, tablets, and other mobile devices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ARM licenses its designs to chip manufacturers, allowing them to create customized processors for specific purposes.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1"/>
          <p:cNvSpPr txBox="1"/>
          <p:nvPr/>
        </p:nvSpPr>
        <p:spPr>
          <a:xfrm>
            <a:off x="6233325" y="66450"/>
            <a:ext cx="2853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CISC = Complex Instruction Set Computer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RISC = Reduced ...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ISA = Instruction Set Architecture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1"/>
          <p:cNvSpPr txBox="1"/>
          <p:nvPr/>
        </p:nvSpPr>
        <p:spPr>
          <a:xfrm>
            <a:off x="5916525" y="749700"/>
            <a:ext cx="31701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RISC-V - Open Source standard for ISA, .. free to use and modify.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greater flexibility and customization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modular architecture, simplicity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emerging Ecosystem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973" y="4303875"/>
            <a:ext cx="1022674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1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-1951283">
            <a:off x="4805368" y="4315621"/>
            <a:ext cx="696567" cy="50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1"/>
          <p:cNvSpPr txBox="1"/>
          <p:nvPr/>
        </p:nvSpPr>
        <p:spPr>
          <a:xfrm>
            <a:off x="5916450" y="1844600"/>
            <a:ext cx="3170100" cy="185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DC-ROMA - first RISC-V laptop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 cores, 2GHz, 16 GB memory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DeepComputing, June 2024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https://www.tomshardware.com/laptops/the-worlds-first-risc-v-laptop-gets-a-big-update-deepcomputing-doubled-the-core-count-increased-clocks-to-2-ghz-and-added-ai-capabilities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Framework computer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preview of RISC-V Mainboard from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DeepComputing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https://frame.work/blog/introducing-a-new-risc-v-mainboard-from-deepcomputing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https://www.youtube.com/watch?v=98OwCIpLgjw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1"/>
          <p:cNvSpPr txBox="1"/>
          <p:nvPr/>
        </p:nvSpPr>
        <p:spPr>
          <a:xfrm>
            <a:off x="4209700" y="4801925"/>
            <a:ext cx="18879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Macbooks and Snapdragon laptops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21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0475" y="3731725"/>
            <a:ext cx="2454951" cy="137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ASIC for Fast Inference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2"/>
          <p:cNvSpPr txBox="1"/>
          <p:nvPr/>
        </p:nvSpPr>
        <p:spPr>
          <a:xfrm>
            <a:off x="76200" y="1309550"/>
            <a:ext cx="39981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Groq chips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designed for fast AI inference. Using proprietary architecture called the Language Processing Unit (LPU).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https://groq.com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2"/>
          <p:cNvSpPr txBox="1"/>
          <p:nvPr/>
        </p:nvSpPr>
        <p:spPr>
          <a:xfrm>
            <a:off x="4236700" y="1745475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Amazon Inferentia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chips for high-performance inference for ML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https://aws.amazon.com/machine-learning/inferentia/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2"/>
          <p:cNvSpPr txBox="1"/>
          <p:nvPr/>
        </p:nvSpPr>
        <p:spPr>
          <a:xfrm>
            <a:off x="76200" y="2010375"/>
            <a:ext cx="39981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Etched "Sohu" chips for transformers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500K tokens/second. One 8xSohu server = 160 H100s.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https://www.etched.com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2"/>
          <p:cNvSpPr txBox="1"/>
          <p:nvPr/>
        </p:nvSpPr>
        <p:spPr>
          <a:xfrm>
            <a:off x="76200" y="2744400"/>
            <a:ext cx="39981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Tenstorrent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https://tenstorrent.com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Grayskull and Wormhole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AI chips are designed to be highly scalable and adaptable for different AI models and workloads.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2"/>
          <p:cNvSpPr txBox="1"/>
          <p:nvPr/>
        </p:nvSpPr>
        <p:spPr>
          <a:xfrm>
            <a:off x="76200" y="408625"/>
            <a:ext cx="39981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ASICs (Application-Specific Integrated Circuits)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AI inference are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specialized chips designed from the ground up to perform the specific calculations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needed for running AI models efficiently and quickly.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4236700" y="408625"/>
            <a:ext cx="47862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Graphcore IPU ( Intelligence Processing Units 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https://www.graphcore.ai/products/ipu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accelerating AI workloads, with a focus on graph-based computations commonly used in AI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 txBox="1"/>
          <p:nvPr/>
        </p:nvSpPr>
        <p:spPr>
          <a:xfrm>
            <a:off x="4236700" y="1276102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TPU (Tensor Processing Unit)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ASICs for training and inference of large-scale neural networks.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https://cloud.google.com/tpu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4236700" y="2208775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SambaNova RDU (Reconfigurable Dataflow Unit)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reconfigurable chips for both training and inference.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https://sambanova.ai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4220650" y="3187727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Cerebras CS-2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https://www.cerebras.net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- 900,000 cores and 44 GB of on-chip memory on huge 8.5"x8.5" chip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 txBox="1"/>
          <p:nvPr/>
        </p:nvSpPr>
        <p:spPr>
          <a:xfrm>
            <a:off x="4236700" y="2707125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Habana Labs (now part of Intel)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https://habana.ai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Gaudi and Goya processors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training and inference, respectively.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 txBox="1"/>
          <p:nvPr/>
        </p:nvSpPr>
        <p:spPr>
          <a:xfrm>
            <a:off x="4388125" y="0"/>
            <a:ext cx="4634700" cy="26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ASIC = Application-Specific Integrated Circuits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2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9475" y="3668320"/>
            <a:ext cx="1807367" cy="135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2"/>
          <p:cNvSpPr txBox="1"/>
          <p:nvPr/>
        </p:nvSpPr>
        <p:spPr>
          <a:xfrm>
            <a:off x="6024500" y="4274650"/>
            <a:ext cx="10386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Cerebras chip: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3"/>
          <p:cNvSpPr txBox="1"/>
          <p:nvPr/>
        </p:nvSpPr>
        <p:spPr>
          <a:xfrm>
            <a:off x="76200" y="0"/>
            <a:ext cx="437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Deliver AI Projects Fast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3"/>
          <p:cNvSpPr txBox="1"/>
          <p:nvPr/>
        </p:nvSpPr>
        <p:spPr>
          <a:xfrm>
            <a:off x="221300" y="1965250"/>
            <a:ext cx="42837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John Hacker vs Bob Architect 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"""every time when you have to choose between "making things right" and "making things simple", the simple path will be much better for you over and over again."""</a:t>
            </a:r>
            <a:endParaRPr sz="13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https://levselector.com/simple_is_good.html#do_we_really_need_it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3"/>
          <p:cNvSpPr txBox="1"/>
          <p:nvPr/>
        </p:nvSpPr>
        <p:spPr>
          <a:xfrm>
            <a:off x="4613925" y="1965250"/>
            <a:ext cx="44370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Simplicity vs politics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"""Managers in big organizations ALWAYS reject simple proven solutions in favor of new hard and expensive solutions."""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https://levselector.com/simple_is_good.html#simplicity_vs_politics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3"/>
          <p:cNvSpPr txBox="1"/>
          <p:nvPr/>
        </p:nvSpPr>
        <p:spPr>
          <a:xfrm>
            <a:off x="1498075" y="3630600"/>
            <a:ext cx="25356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Developers - simple effective solutions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health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3"/>
          <p:cNvSpPr txBox="1"/>
          <p:nvPr/>
        </p:nvSpPr>
        <p:spPr>
          <a:xfrm>
            <a:off x="5114525" y="3561075"/>
            <a:ext cx="25356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Bureaucrats - making things more and more complex to the point that the systems can't operate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cancer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3"/>
          <p:cNvSpPr txBox="1"/>
          <p:nvPr/>
        </p:nvSpPr>
        <p:spPr>
          <a:xfrm>
            <a:off x="4383738" y="3653550"/>
            <a:ext cx="3807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vs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3"/>
          <p:cNvSpPr txBox="1"/>
          <p:nvPr/>
        </p:nvSpPr>
        <p:spPr>
          <a:xfrm>
            <a:off x="4613925" y="431150"/>
            <a:ext cx="43710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it basic and simple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get locked into 3rd party solutions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Open-source frameworks and standard clouds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Python, Rust, VS Code, GitHub, Linux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project into small manageable modules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3"/>
          <p:cNvSpPr txBox="1"/>
          <p:nvPr/>
        </p:nvSpPr>
        <p:spPr>
          <a:xfrm>
            <a:off x="221300" y="486650"/>
            <a:ext cx="30723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AI is new, there is an opportunity to build new simple and elegant "healthy" systems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2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98075" y="4120675"/>
            <a:ext cx="1361050" cy="91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3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78350" y="4248025"/>
            <a:ext cx="1171775" cy="83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/>
          <p:nvPr/>
        </p:nvSpPr>
        <p:spPr>
          <a:xfrm>
            <a:off x="76200" y="0"/>
            <a:ext cx="6682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ChatGPT Doing ... and Why Does It Work?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4"/>
          <p:cNvSpPr txBox="1"/>
          <p:nvPr/>
        </p:nvSpPr>
        <p:spPr>
          <a:xfrm>
            <a:off x="76200" y="408625"/>
            <a:ext cx="3998100" cy="1742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ChatGPT Doing ... and Why Does It Work?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Stephen Wolfram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https://www.wolfram-media.com/products/what-is-chatgpt-doing-and-why-does-it-work/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https://www.amazon.com/What-ChatGPT-Doing-Does-Work-ebook/dp/B0BY59PT5Z/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Blog: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https://writings.stephenwolfram.com/2023/02/what-is-chatgpt-doing-and-why-does-it-work/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16325" y="378362"/>
            <a:ext cx="1289701" cy="1915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200" y="2303425"/>
            <a:ext cx="3998100" cy="267107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4"/>
          <p:cNvSpPr txBox="1"/>
          <p:nvPr/>
        </p:nvSpPr>
        <p:spPr>
          <a:xfrm>
            <a:off x="5669475" y="1613225"/>
            <a:ext cx="3282600" cy="68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Stephen Wolfram 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https://en.wikipedia.org/wiki/Stephen_Wolfram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https://en.wikipedia.org/wiki/Wolfram_Mathematica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https://www.wolfram.com/mathematica/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24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8547" y="75075"/>
            <a:ext cx="1569800" cy="123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4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7775" y="2431175"/>
            <a:ext cx="4628040" cy="267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5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xxxx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5"/>
          <p:cNvSpPr txBox="1"/>
          <p:nvPr/>
        </p:nvSpPr>
        <p:spPr>
          <a:xfrm>
            <a:off x="76200" y="408625"/>
            <a:ext cx="3998100" cy="21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xxxx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5" y="445750"/>
            <a:ext cx="8366998" cy="361178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6"/>
          <p:cNvSpPr/>
          <p:nvPr/>
        </p:nvSpPr>
        <p:spPr>
          <a:xfrm>
            <a:off x="5123725" y="2371675"/>
            <a:ext cx="213900" cy="7389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26"/>
          <p:cNvSpPr/>
          <p:nvPr/>
        </p:nvSpPr>
        <p:spPr>
          <a:xfrm>
            <a:off x="7650800" y="2371675"/>
            <a:ext cx="213900" cy="7389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26"/>
          <p:cNvSpPr txBox="1"/>
          <p:nvPr/>
        </p:nvSpPr>
        <p:spPr>
          <a:xfrm>
            <a:off x="72300" y="76200"/>
            <a:ext cx="4901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Layoffs in 2024 </a:t>
            </a: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 </a:t>
            </a: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lower than last year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6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6"/>
          <p:cNvSpPr txBox="1"/>
          <p:nvPr/>
        </p:nvSpPr>
        <p:spPr>
          <a:xfrm>
            <a:off x="387275" y="4126175"/>
            <a:ext cx="836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Salaries for AI engineers rose 12% from the third to fourth quarter last year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Salaries: 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Python: $110K - $150K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2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Rust: $150K - $200K,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Engineer: $140K - $250K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AI has a talent shortage, meaning </a:t>
            </a:r>
            <a:r>
              <a:rPr lang="en" sz="12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 Mln salary job offers!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Even during tech layoffs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7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7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6" name="Google Shape;236;p27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7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7"/>
          <p:cNvSpPr txBox="1"/>
          <p:nvPr/>
        </p:nvSpPr>
        <p:spPr>
          <a:xfrm>
            <a:off x="536203" y="4360974"/>
            <a:ext cx="2094075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2105</Words>
  <Application>Microsoft Macintosh PowerPoint</Application>
  <PresentationFormat>On-screen Show (16:9)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2024-07-17T21:43:14Z</dcterms:modified>
</cp:coreProperties>
</file>