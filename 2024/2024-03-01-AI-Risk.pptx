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10FD3F-B1C8-4509-BF7B-F9E2075FF985}">
  <a:tblStyle styleId="{A310FD3F-B1C8-4509-BF7B-F9E2075FF9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61" d="100"/>
          <a:sy n="161" d="100"/>
        </p:scale>
        <p:origin x="784" y="2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b9b9eac199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b9b9eac199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2bcfa8c8ef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2bcfa8c8ef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bcfa8c8ef8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2bcfa8c8ef8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2bcfa8c8ef8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2bcfa8c8ef8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bd0c8750eb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bd0c8750eb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bcfa8c8ef8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bcfa8c8ef8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b7eafe0074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b7eafe0074_1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dpr-info.eu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oag.ca.gov/privacy/ccpa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so.org/standard/81230.html" TargetMode="External"/><Relationship Id="rId3" Type="http://schemas.openxmlformats.org/officeDocument/2006/relationships/hyperlink" Target="https://www.federalreserve.gov/supervisionreg/srletters/sr1107.htm" TargetMode="External"/><Relationship Id="rId7" Type="http://schemas.openxmlformats.org/officeDocument/2006/relationships/hyperlink" Target="https://www.iso.org/iso-31000-risk-management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coso.org/guidance-erm" TargetMode="External"/><Relationship Id="rId11" Type="http://schemas.openxmlformats.org/officeDocument/2006/relationships/hyperlink" Target="https://www.nist.gov/itl/ai-risk-management-framework" TargetMode="External"/><Relationship Id="rId5" Type="http://schemas.openxmlformats.org/officeDocument/2006/relationships/hyperlink" Target="https://www.fdic.gov/news/financial-institution-letters/2017/fil17022a.pdf" TargetMode="External"/><Relationship Id="rId10" Type="http://schemas.openxmlformats.org/officeDocument/2006/relationships/hyperlink" Target="https://www.theiia.org/en/content/tools/professional/2023/the-iias-updated-ai-auditing-framework/" TargetMode="External"/><Relationship Id="rId4" Type="http://schemas.openxmlformats.org/officeDocument/2006/relationships/hyperlink" Target="https://www.occ.gov/news-issuances/bulletins/2011/bulletin-2011-12.html" TargetMode="External"/><Relationship Id="rId9" Type="http://schemas.openxmlformats.org/officeDocument/2006/relationships/hyperlink" Target="https://www.isaca.org/resources/cobit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bm.com/products/watsonx-governance" TargetMode="External"/><Relationship Id="rId3" Type="http://schemas.openxmlformats.org/officeDocument/2006/relationships/hyperlink" Target="https://aws.amazon.com/machine-learning/responsible-ai/" TargetMode="External"/><Relationship Id="rId7" Type="http://schemas.openxmlformats.org/officeDocument/2006/relationships/hyperlink" Target="https://blog.google/technology/ai/ai-principles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crosoft.com/cms/api/am/binary/RE4pKH5" TargetMode="External"/><Relationship Id="rId5" Type="http://schemas.openxmlformats.org/officeDocument/2006/relationships/hyperlink" Target="https://www.microsoft.com/en-us/ai/principles-and-approach" TargetMode="External"/><Relationship Id="rId10" Type="http://schemas.openxmlformats.org/officeDocument/2006/relationships/hyperlink" Target="https://www.ibm.com/blog/a-look-into-ibms-ai-ethics-governance-framework/" TargetMode="External"/><Relationship Id="rId4" Type="http://schemas.openxmlformats.org/officeDocument/2006/relationships/hyperlink" Target="https://www.microsoft.com/en-us/ai/responsible-ai" TargetMode="External"/><Relationship Id="rId9" Type="http://schemas.openxmlformats.org/officeDocument/2006/relationships/hyperlink" Target="https://www.ibm.com/impact/ai-ethics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bm.com/opensource/open/projects/ai-explainability/" TargetMode="External"/><Relationship Id="rId13" Type="http://schemas.openxmlformats.org/officeDocument/2006/relationships/hyperlink" Target="https://www.tensorflow.org/tfx/model_analysis/get_started" TargetMode="External"/><Relationship Id="rId3" Type="http://schemas.openxmlformats.org/officeDocument/2006/relationships/hyperlink" Target="https://github.com/Azure/PyRIT" TargetMode="External"/><Relationship Id="rId7" Type="http://schemas.openxmlformats.org/officeDocument/2006/relationships/hyperlink" Target="https://www.ibm.com/opensource/open/projects/ai-fairness-360/" TargetMode="External"/><Relationship Id="rId12" Type="http://schemas.openxmlformats.org/officeDocument/2006/relationships/hyperlink" Target="https://github.com/slundberg/shap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dssg/aequitas" TargetMode="External"/><Relationship Id="rId11" Type="http://schemas.openxmlformats.org/officeDocument/2006/relationships/hyperlink" Target="https://github.com/marcotcr/lime" TargetMode="External"/><Relationship Id="rId5" Type="http://schemas.openxmlformats.org/officeDocument/2006/relationships/hyperlink" Target="https://crfm.stanford.edu/helm/lite/latest/" TargetMode="External"/><Relationship Id="rId15" Type="http://schemas.openxmlformats.org/officeDocument/2006/relationships/hyperlink" Target="https://pair-code.github.io/what-if-tool/" TargetMode="External"/><Relationship Id="rId10" Type="http://schemas.openxmlformats.org/officeDocument/2006/relationships/hyperlink" Target="https://fairlearn.org/" TargetMode="External"/><Relationship Id="rId4" Type="http://schemas.openxmlformats.org/officeDocument/2006/relationships/hyperlink" Target="https://docs.ragas.io" TargetMode="External"/><Relationship Id="rId9" Type="http://schemas.openxmlformats.org/officeDocument/2006/relationships/hyperlink" Target="https://www.tensorflow.org/responsible_ai" TargetMode="External"/><Relationship Id="rId14" Type="http://schemas.openxmlformats.org/officeDocument/2006/relationships/hyperlink" Target="https://github.com/microsoft/DiCE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37850" y="1280228"/>
            <a:ext cx="4342500" cy="431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2159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Char char="●"/>
            </a:pPr>
            <a:r>
              <a:rPr lang="en" sz="1600" b="1">
                <a:solidFill>
                  <a:srgbClr val="3C78D8"/>
                </a:solidFill>
              </a:rPr>
              <a:t>xxx</a:t>
            </a:r>
            <a:endParaRPr sz="1600" b="1">
              <a:solidFill>
                <a:srgbClr val="3C78D8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4672738" y="1277253"/>
            <a:ext cx="4342500" cy="431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2159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Char char="●"/>
            </a:pPr>
            <a:r>
              <a:rPr lang="en" sz="1600" b="1">
                <a:solidFill>
                  <a:srgbClr val="3C78D8"/>
                </a:solidFill>
              </a:rPr>
              <a:t>xxx</a:t>
            </a:r>
            <a:endParaRPr sz="1600" b="1">
              <a:solidFill>
                <a:srgbClr val="3C78D8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027550" y="228175"/>
            <a:ext cx="3192600" cy="9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3C78D8"/>
                </a:solidFill>
              </a:rPr>
              <a:t>AI Risks</a:t>
            </a:r>
            <a:endParaRPr sz="3600" b="1">
              <a:solidFill>
                <a:srgbClr val="3C78D8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3C78D8"/>
                </a:solidFill>
              </a:rPr>
              <a:t>March 01, 2024</a:t>
            </a:r>
            <a:endParaRPr sz="2400" b="1">
              <a:solidFill>
                <a:srgbClr val="3C78D8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/>
        </p:nvSpPr>
        <p:spPr>
          <a:xfrm>
            <a:off x="72300" y="0"/>
            <a:ext cx="49320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Risks of Using LLMs in Regulated Industries (Banks, Insurance, Medical, ...)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4"/>
          <p:cNvSpPr txBox="1"/>
          <p:nvPr/>
        </p:nvSpPr>
        <p:spPr>
          <a:xfrm>
            <a:off x="944000" y="864175"/>
            <a:ext cx="7102200" cy="3586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Chief Risk Officers (CROs) need to be aware of both the incredible potential and the significant risks surrounding the use of Large Language Models (LLMs) within their organizations.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The benefits could be increased efficiency, improved decision making, improved customer service, new insights, etc.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Potential Risks: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Harms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Physical harm (self-driving car, AI-enabled medical device), Financial Harms (poor investment advice, miscalculated insurance risk), Reputational Harms (damage brand, trustworthiness, or customer relationships by giving wrong or offensive responses), Legal liabilities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Data Bias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LLMs can reflect biases in their training data.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Explainability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Difficulty in understanding how LLMs reach conclusions.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Data Security &amp; Privacy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Risks of data breaches and leaks.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Unintentional Misuse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Possible use to generate harmful or misleading content.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Over-reliance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Risks of using LLMs as the sole basis for critical decisions.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Vendor Risk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Assess vendor security and compliance if using third-party LLMs.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Long-term Impacts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: Plan for potential workforce changes and reskilling.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72300" y="0"/>
            <a:ext cx="4932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Risks Management Strategies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379375" y="678450"/>
            <a:ext cx="8381400" cy="378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AI Risks Management Strategies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Governance Framework: Establish clear policies on LLM use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Risk Assessment: Identify risks related to specific LLM applications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Implement fail-safes to prevent LLM from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solely controlling actions that could cause significant harm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possible, frame the LLM's role as providing insights to human experts, not as a final decision-making authority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Implement Controls: Utilize data de-identification, bias testing, human oversight (human-in-the-loop), and security measures (encryption, access control, secure data storage, regular penetration testing)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Monitoring &amp; Auditing: Track LLM outputs, periodically audit for issues; Content moderation; Fact-checking mechanisms; Human-in-the-loop review for sensitive topics; Guidelines for avoiding offensive/inappropriate responses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Technical: Stress testing; Redundancy &amp; failover plans; 24/7 monitoring (if critical to your business)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Training: Educate employees on LLM capabilities and responsible use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Legal: which laws would apply? (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GDPR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CCPA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, etc.); Legal review of chatbot scripts and data collection; Clear privacy notices to users; Mechanisms for data subject rights (access, deletion)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GDPR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= General Data Protection Regulation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https://gdpr-info.eu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CCPA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= California Consumer Privacy Act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https://oag.ca.gov/privacy/ccpa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Malicious scenarios: Adversarial testing (have someone try to "break" it); Insurance assessment; Buy specialized insurance for AI-related risks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Rigorously test the LLM in various scenarios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72300" y="0"/>
            <a:ext cx="415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Frameworks for Controling AI Risks - 1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72300" y="378300"/>
            <a:ext cx="2433300" cy="4386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Unfortunately, there's no single  framework for handling all LLM related organizational risks.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This is because LLMs are very new and evolving rapidly, so the best practices and risks are still being codified.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Also the risks and appropriate controls vary greatly based on a company's size, sector (highly regulated industries have stricter needs), and the specific use case of the chatbot.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Managing chatbot risks goes beyond tech. It includes legal implications, customer experience, and reputation management.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2593800" y="378300"/>
            <a:ext cx="6510900" cy="4587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Traditional Risk Frameworks can be a starting point: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Interagency Guidance for Model Risk Management (MRM)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a set of guidelines issued in 2011, 2021 by several U.S. financial regulatory agencies, including: The Federal Reserve Board (FRB), The Office of the Comptroller of the Currency (OCC), The Federal Deposit Insurance Corporation (FDIC)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https://www.federalreserve.gov/supervisionreg/srletters/sr1107.htm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https://www.occ.gov/news-issuances/bulletins/2011/bulletin-2011-12.html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https://www.fdic.gov/news/financial-institution-letters/2017/fil17022a.pdf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COSO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(Committee of Sponsoring Organizations) - Enterprise Risk Management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https://www.coso.org/guidance-erm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ISO 31000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Risk Management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https://www.iso.org/iso-31000-risk-management.html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ISO/IEC 42001:2023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Artificial intelligence Management system - 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https://www.iso.org/standard/81230.html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ISACA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= Information Systems Audit and Control Association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COBIT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= Control Objectives for Information and Related Technologies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https://www.isaca.org/resources/cobit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IIA (Institute of Internal Auditors) AI Auditing Framework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https://www.theiia.org/en/content/tools/professional/2023/the-iias-updated-ai-auditing-framework/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NIST (National Institute of Standards and Technology)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has an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Risk Management Framework (AI RMF 1.0).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It is still a draft, but provides excellent guidance: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ttps://www.nist.gov/itl/ai-risk-management-framework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/>
        </p:nvSpPr>
        <p:spPr>
          <a:xfrm>
            <a:off x="72300" y="0"/>
            <a:ext cx="415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Frameworks for Controling AI Risks - 2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1085175" y="1313500"/>
            <a:ext cx="6510900" cy="278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AWS Responsible AI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https://aws.amazon.com/machine-learning/responsible-ai/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Microsoft: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https://www.microsoft.com/en-us/ai/responsible-ai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;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https://www.microsoft.com/en-us/ai/principles-and-approach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;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https://www.microsoft.com/cms/api/am/binary/RE4pKH5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Google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https://blog.google/technology/ai/ai-principles/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IBM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https://www.ibm.com/products/watsonx-governance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https://www.ibm.com/impact/ai-ethics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;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https://www.ibm.com/blog/a-look-into-ibms-ai-ethics-governance-framework/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OpenAI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Mistral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Claude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Vendor Resources: If using a 3rd party chatbot platform, they likely have risk guidance documents. These are a start but need to be critically assessed.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2300" y="0"/>
            <a:ext cx="4709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Risk Assesment Tools - 1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7" name="Google Shape;87;p18"/>
          <p:cNvGraphicFramePr/>
          <p:nvPr/>
        </p:nvGraphicFramePr>
        <p:xfrm>
          <a:off x="244625" y="53421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{A310FD3F-B1C8-4509-BF7B-F9E2075FF985}</a:tableStyleId>
              </a:tblPr>
              <a:tblGrid>
                <a:gridCol w="1870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9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8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Framework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Description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Link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0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PyRIT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Azure Python Risk Identification Tool for generative AI (PyRIT)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"/>
                        </a:rPr>
                        <a:t>https://github.com/Azure/PyRIT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0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RAGAs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RAG Assessment - open-source Python framework 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/>
                        </a:rPr>
                        <a:t>https://docs.ragas.io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0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HELM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Holistic Evaluation of Language Models (Stanford)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/>
                        </a:rPr>
                        <a:t>https://crfm.stanford.edu/helm/lite/latest/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Aequitas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Toolkit for fairness and bias analysis in machine learning models, including LLMs. Offers metrics and visualizations.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https://github.com/dssg/aequitas</a:t>
                      </a:r>
                      <a:endParaRPr sz="10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14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IBM AI Fairness 360</a:t>
                      </a:r>
                      <a:b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AI Explainability 360 (AIX360)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IBM toolkits, good overview of techniques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https://www.ibm.com/opensource/open/projects/ai-fairness-360/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https://www.ibm.com/opensource/open/projects/ai-explainability/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Responsible AI Toolkit </a:t>
                      </a:r>
                      <a:b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(Google AI)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Suite of tools focused on model evaluation, fairness, explainability, and other responsible AI concerns.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https://www.tensorflow.org/responsible_ai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Fairlearn (Microsoft)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Microsoft toolkit for assessing and mitigating unfairness in machine learning models.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https://fairlearn.org/</a:t>
                      </a:r>
                      <a:endParaRPr sz="10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88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Lime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python module to explain black-box classifiers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https://github.com/marcotcr/lime</a:t>
                      </a:r>
                      <a:endParaRPr sz="10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SHAP (SHapley Additive exPlanations)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Explain model outputs based on game theory. Helps explain LLM decisions.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https://github.com/slundberg/shap</a:t>
                      </a:r>
                      <a:endParaRPr sz="10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TensorFlow Model Analysis (TFMA)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Tools within TensorFlow for model evaluation and fairness, particularly for LLMs built on that platform.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https://www.tensorflow.org/tfx/model_analysis/get_started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72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Counterfactual Explanations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Methods providing "what if" scenarios and explanations on how changes in input would change the LLM output.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Area – look for libraries like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https://github.com/microsoft/DiCE</a:t>
                      </a: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9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What-If Tool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Google-developed tool for interactive model evaluation, scenario analysis, and understanding model behavior.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https://pair-code.github.io/what-if-tool/</a:t>
                      </a:r>
                      <a:endParaRPr sz="10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1352</Words>
  <Application>Microsoft Macintosh PowerPoint</Application>
  <PresentationFormat>On-screen Show (16:9)</PresentationFormat>
  <Paragraphs>99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1</cp:revision>
  <dcterms:modified xsi:type="dcterms:W3CDTF">2024-02-27T13:56:12Z</dcterms:modified>
</cp:coreProperties>
</file>