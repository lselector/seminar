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embeddedFontLst>
    <p:embeddedFont>
      <p:font typeface="Roboto Mono" pitchFamily="49" charset="0"/>
      <p:regular r:id="rId18"/>
      <p:bold r:id="rId19"/>
      <p:italic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p:cViewPr varScale="1">
        <p:scale>
          <a:sx n="161" d="100"/>
          <a:sy n="161" d="100"/>
        </p:scale>
        <p:origin x="78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
        <p:cNvGrpSpPr/>
        <p:nvPr/>
      </p:nvGrpSpPr>
      <p:grpSpPr>
        <a:xfrm>
          <a:off x="0" y="0"/>
          <a:ext cx="0" cy="0"/>
          <a:chOff x="0" y="0"/>
          <a:chExt cx="0" cy="0"/>
        </a:xfrm>
      </p:grpSpPr>
      <p:sp>
        <p:nvSpPr>
          <p:cNvPr id="54" name="Google Shape;54;g2dfea7fbe3a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5" name="Google Shape;55;g2dfea7fbe3a_0_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g2e8a450c44d_0_18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3" name="Google Shape;63;g2e8a450c44d_0_18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2e8a450c44d_0_20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 name="Google Shape;85;g2e8a450c44d_0_20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2e8a450c44d_0_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8" name="Google Shape;98;g2e8a450c44d_0_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2e73a21a63d_2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8" name="Google Shape;108;g2e73a21a63d_2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2e8a450c02d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2" name="Google Shape;122;g2e8a450c02d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2e8a450c02d_0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0" name="Google Shape;140;g2e8a450c02d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2e8a450c44d_0_1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4" name="Google Shape;154;g2e8a450c44d_0_1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2e8a450c44d_0_10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1" name="Google Shape;171;g2e8a450c44d_0_10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2e8a450c44d_0_2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4" name="Google Shape;184;g2e8a450c44d_0_2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2e8a450c44d_0_2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1" name="Google Shape;191;g2e8a450c44d_0_2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g2e7737a56fa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9" name="Google Shape;199;g2e7737a56f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8" name="Google Shape;218;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p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8" name="Google Shape;228;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rtl="0">
              <a:spcBef>
                <a:spcPts val="0"/>
              </a:spcBef>
              <a:spcAft>
                <a:spcPts val="0"/>
              </a:spcAft>
              <a:buSzPts val="2800"/>
              <a:buNone/>
              <a:defRPr/>
            </a:lvl1pPr>
            <a:lvl2pPr lvl="1" algn="l" rtl="0">
              <a:spcBef>
                <a:spcPts val="0"/>
              </a:spcBef>
              <a:spcAft>
                <a:spcPts val="0"/>
              </a:spcAft>
              <a:buSzPts val="2800"/>
              <a:buNone/>
              <a:defRPr/>
            </a:lvl2pPr>
            <a:lvl3pPr lvl="2" algn="l" rtl="0">
              <a:spcBef>
                <a:spcPts val="0"/>
              </a:spcBef>
              <a:spcAft>
                <a:spcPts val="0"/>
              </a:spcAft>
              <a:buSzPts val="2800"/>
              <a:buNone/>
              <a:defRPr/>
            </a:lvl3pPr>
            <a:lvl4pPr lvl="3" algn="l" rtl="0">
              <a:spcBef>
                <a:spcPts val="0"/>
              </a:spcBef>
              <a:spcAft>
                <a:spcPts val="0"/>
              </a:spcAft>
              <a:buSzPts val="2800"/>
              <a:buNone/>
              <a:defRPr/>
            </a:lvl4pPr>
            <a:lvl5pPr lvl="4" algn="l" rtl="0">
              <a:spcBef>
                <a:spcPts val="0"/>
              </a:spcBef>
              <a:spcAft>
                <a:spcPts val="0"/>
              </a:spcAft>
              <a:buSzPts val="2800"/>
              <a:buNone/>
              <a:defRPr/>
            </a:lvl5pPr>
            <a:lvl6pPr lvl="5" algn="l" rtl="0">
              <a:spcBef>
                <a:spcPts val="0"/>
              </a:spcBef>
              <a:spcAft>
                <a:spcPts val="0"/>
              </a:spcAft>
              <a:buSzPts val="2800"/>
              <a:buNone/>
              <a:defRPr/>
            </a:lvl6pPr>
            <a:lvl7pPr lvl="6" algn="l" rtl="0">
              <a:spcBef>
                <a:spcPts val="0"/>
              </a:spcBef>
              <a:spcAft>
                <a:spcPts val="0"/>
              </a:spcAft>
              <a:buSzPts val="2800"/>
              <a:buNone/>
              <a:defRPr/>
            </a:lvl7pPr>
            <a:lvl8pPr lvl="7" algn="l" rtl="0">
              <a:spcBef>
                <a:spcPts val="0"/>
              </a:spcBef>
              <a:spcAft>
                <a:spcPts val="0"/>
              </a:spcAft>
              <a:buSzPts val="2800"/>
              <a:buNone/>
              <a:defRPr/>
            </a:lvl8pPr>
            <a:lvl9pPr lvl="8" algn="l" rtl="0">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rtl="0">
              <a:spcBef>
                <a:spcPts val="0"/>
              </a:spcBef>
              <a:spcAft>
                <a:spcPts val="0"/>
              </a:spcAft>
              <a:buSzPts val="1800"/>
              <a:buNone/>
              <a:defRPr/>
            </a:lvl1pPr>
            <a:lvl2pPr marL="914400" lvl="1" indent="-228600" algn="l" rtl="0">
              <a:spcBef>
                <a:spcPts val="0"/>
              </a:spcBef>
              <a:spcAft>
                <a:spcPts val="0"/>
              </a:spcAft>
              <a:buSzPts val="1400"/>
              <a:buNone/>
              <a:defRPr/>
            </a:lvl2pPr>
            <a:lvl3pPr marL="1371600" lvl="2" indent="-228600" algn="l" rtl="0">
              <a:spcBef>
                <a:spcPts val="0"/>
              </a:spcBef>
              <a:spcAft>
                <a:spcPts val="0"/>
              </a:spcAft>
              <a:buSzPts val="1400"/>
              <a:buNone/>
              <a:defRPr/>
            </a:lvl3pPr>
            <a:lvl4pPr marL="1828800" lvl="3" indent="-228600" algn="l" rtl="0">
              <a:spcBef>
                <a:spcPts val="0"/>
              </a:spcBef>
              <a:spcAft>
                <a:spcPts val="0"/>
              </a:spcAft>
              <a:buSzPts val="1400"/>
              <a:buNone/>
              <a:defRPr/>
            </a:lvl4pPr>
            <a:lvl5pPr marL="2286000" lvl="4" indent="-228600" algn="l" rtl="0">
              <a:spcBef>
                <a:spcPts val="0"/>
              </a:spcBef>
              <a:spcAft>
                <a:spcPts val="0"/>
              </a:spcAft>
              <a:buSzPts val="1400"/>
              <a:buNone/>
              <a:defRPr/>
            </a:lvl5pPr>
            <a:lvl6pPr marL="2743200" lvl="5" indent="-228600" algn="l" rtl="0">
              <a:spcBef>
                <a:spcPts val="0"/>
              </a:spcBef>
              <a:spcAft>
                <a:spcPts val="0"/>
              </a:spcAft>
              <a:buSzPts val="1400"/>
              <a:buNone/>
              <a:defRPr/>
            </a:lvl6pPr>
            <a:lvl7pPr marL="3200400" lvl="6" indent="-228600" algn="l" rtl="0">
              <a:spcBef>
                <a:spcPts val="0"/>
              </a:spcBef>
              <a:spcAft>
                <a:spcPts val="0"/>
              </a:spcAft>
              <a:buSzPts val="1400"/>
              <a:buNone/>
              <a:defRPr/>
            </a:lvl7pPr>
            <a:lvl8pPr marL="3657600" lvl="7" indent="-228600" algn="l" rtl="0">
              <a:spcBef>
                <a:spcPts val="0"/>
              </a:spcBef>
              <a:spcAft>
                <a:spcPts val="0"/>
              </a:spcAft>
              <a:buSzPts val="1400"/>
              <a:buNone/>
              <a:defRPr/>
            </a:lvl8pPr>
            <a:lvl9pPr marL="4114800" lvl="8" indent="-228600" algn="l" rtl="0">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hyperlink" Target="https://chat.lmsys.org/?leaderboard" TargetMode="Externa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hyperlink" Target="https://chat.lmsys.org/?leaderboard"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8" Type="http://schemas.openxmlformats.org/officeDocument/2006/relationships/hyperlink" Target="https://www.krea.ai" TargetMode="External"/><Relationship Id="rId3" Type="http://schemas.openxmlformats.org/officeDocument/2006/relationships/hyperlink" Target="https://evolutionaryscale-public.s3.us-east-2.amazonaws.com/research/esm3.pdf" TargetMode="External"/><Relationship Id="rId7" Type="http://schemas.openxmlformats.org/officeDocument/2006/relationships/hyperlink" Target="https://huggingface.co/spaces/open-llm-leaderboard/open_llm_leaderboard" TargetMode="External"/><Relationship Id="rId12"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huggingface.co/open-llm-leaderboard" TargetMode="External"/><Relationship Id="rId11" Type="http://schemas.openxmlformats.org/officeDocument/2006/relationships/image" Target="../media/image8.png"/><Relationship Id="rId5" Type="http://schemas.openxmlformats.org/officeDocument/2006/relationships/hyperlink" Target="https://twitter.com/talfanevans/status/1805996144662573467" TargetMode="External"/><Relationship Id="rId10" Type="http://schemas.openxmlformats.org/officeDocument/2006/relationships/image" Target="../media/image7.jpeg"/><Relationship Id="rId4" Type="http://schemas.openxmlformats.org/officeDocument/2006/relationships/hyperlink" Target="https://arxiv.org/abs/2406.17711" TargetMode="External"/><Relationship Id="rId9"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www.etched.com" TargetMode="External"/><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png"/><Relationship Id="rId11" Type="http://schemas.openxmlformats.org/officeDocument/2006/relationships/image" Target="../media/image15.png"/><Relationship Id="rId5" Type="http://schemas.openxmlformats.org/officeDocument/2006/relationships/image" Target="../media/image10.png"/><Relationship Id="rId10" Type="http://schemas.openxmlformats.org/officeDocument/2006/relationships/image" Target="../media/image14.png"/><Relationship Id="rId4" Type="http://schemas.openxmlformats.org/officeDocument/2006/relationships/hyperlink" Target="https://stability.ai/news/stability-ai-secures-significant-new-investment" TargetMode="External"/><Relationship Id="rId9" Type="http://schemas.openxmlformats.org/officeDocument/2006/relationships/hyperlink" Target="https://imbue.com/research/70b-intro/" TargetMode="External"/></Relationships>
</file>

<file path=ppt/slides/_rels/slide7.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hyperlink" Target="https://twitter.com/OpenAI/status/1806372369151426673" TargetMode="External"/><Relationship Id="rId7"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6.png"/><Relationship Id="rId11" Type="http://schemas.openxmlformats.org/officeDocument/2006/relationships/image" Target="../media/image19.png"/><Relationship Id="rId5" Type="http://schemas.openxmlformats.org/officeDocument/2006/relationships/hyperlink" Target="https://cloud.google.com/blog/products/ai-machine-learning/vertex-ai-offers-enterprise-ready-generative-ai" TargetMode="External"/><Relationship Id="rId10" Type="http://schemas.openxmlformats.org/officeDocument/2006/relationships/hyperlink" Target="https://openai.com/chatgpt/mac/" TargetMode="External"/><Relationship Id="rId4" Type="http://schemas.openxmlformats.org/officeDocument/2006/relationships/hyperlink" Target="https://www.santacruzworks.org/news/revolutionizing-energy-in-large-language-models" TargetMode="External"/><Relationship Id="rId9" Type="http://schemas.openxmlformats.org/officeDocument/2006/relationships/hyperlink" Target="https://twitter.com/OpenAI/status/1805679342439284831" TargetMode="External"/></Relationships>
</file>

<file path=ppt/slides/_rels/slide8.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twitter.com/rohanpaul_ai/status/1805389473892778185" TargetMode="External"/><Relationship Id="rId7" Type="http://schemas.openxmlformats.org/officeDocument/2006/relationships/hyperlink" Target="https://x.com/mortenjust/status/1805249068588834893"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hyperlink" Target="https://www.google.com/chrome/canary/" TargetMode="External"/><Relationship Id="rId11" Type="http://schemas.openxmlformats.org/officeDocument/2006/relationships/image" Target="../media/image22.png"/><Relationship Id="rId5" Type="http://schemas.openxmlformats.org/officeDocument/2006/relationships/image" Target="../media/image20.jpeg"/><Relationship Id="rId10" Type="http://schemas.openxmlformats.org/officeDocument/2006/relationships/hyperlink" Target="https://www.youtube.com/watch?v=yUoj9B8OpR8" TargetMode="External"/><Relationship Id="rId4" Type="http://schemas.openxmlformats.org/officeDocument/2006/relationships/hyperlink" Target="https://github.com/karpathy/LLM101n" TargetMode="External"/><Relationship Id="rId9" Type="http://schemas.openxmlformats.org/officeDocument/2006/relationships/hyperlink" Target="https://www.techopedia.com/news/nvidias-synthesia-2-0-introduces-full-body-ai-avatars-and-screen-recording"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www.tomshardware.com/pc-components/gpus/amd-mi300x-performance-compared-with-nvidia-h100"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hyperlink" Target="https://willcb.com/blog/parallm/"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togethercomputer/MoA/tree/main" TargetMode="External"/><Relationship Id="rId7"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hyperlink" Target="https://twitter.com/togethercompute/status/1805289022241259803" TargetMode="External"/><Relationship Id="rId4" Type="http://schemas.openxmlformats.org/officeDocument/2006/relationships/hyperlink" Target="https://github.com/togethercomputer/MoA/blob/main/moa.py"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creatoreconomy.so/p/15-life-and-work-principles-from-jensen"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hyperlink" Target="https://substack.com/@petergyang"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hyperlink" Target="https://layoffs.fyi"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3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6"/>
        <p:cNvGrpSpPr/>
        <p:nvPr/>
      </p:nvGrpSpPr>
      <p:grpSpPr>
        <a:xfrm>
          <a:off x="0" y="0"/>
          <a:ext cx="0" cy="0"/>
          <a:chOff x="0" y="0"/>
          <a:chExt cx="0" cy="0"/>
        </a:xfrm>
      </p:grpSpPr>
      <p:sp>
        <p:nvSpPr>
          <p:cNvPr id="57" name="Google Shape;57;p14"/>
          <p:cNvSpPr txBox="1"/>
          <p:nvPr/>
        </p:nvSpPr>
        <p:spPr>
          <a:xfrm>
            <a:off x="83860" y="1132325"/>
            <a:ext cx="4420200" cy="3879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Claude 3.5 is #2 on Crowd-sourced Arena</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Claude 3.5 is #1 for Coding on Arena</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Gemini in Google Workspace Apps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Evolutionary Scale - biological model</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DeepMind - training via joint-example selection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Huggingface Open LLM Leaderboard Upgraded</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Rabbit R1 Security Flaw</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KREA video upscaling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Google Gemma 2 - 27B and 9B</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Etched "Sohu" chips for transformers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Stability AI secures new investment</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imbue - training a 70B LLM to outperform GPT-4o</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Amazon BASE TTS model </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Anthropic Claude AI "Projects"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OpenAI CriticGPT</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Low Energy LLM using Ternary Numbers (-1,0,1)</a:t>
            </a:r>
            <a:endParaRPr sz="1500" b="1">
              <a:solidFill>
                <a:srgbClr val="3C78D8"/>
              </a:solidFill>
              <a:latin typeface="Calibri"/>
              <a:ea typeface="Calibri"/>
              <a:cs typeface="Calibri"/>
              <a:sym typeface="Calibri"/>
            </a:endParaRPr>
          </a:p>
        </p:txBody>
      </p:sp>
      <p:sp>
        <p:nvSpPr>
          <p:cNvPr id="58" name="Google Shape;58;p14"/>
          <p:cNvSpPr txBox="1"/>
          <p:nvPr/>
        </p:nvSpPr>
        <p:spPr>
          <a:xfrm>
            <a:off x="4633738" y="1132319"/>
            <a:ext cx="4420200" cy="3648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Google Vertex for Enterprise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Amazon Metis powered by Olympus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OpenAI ChatGPT on MacOS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75% of workers using AI</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RAG fine-tuning </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Multiple ways to extend context length</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 240T tokens dataset </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Andrej Karpathy LLM101n Storyteller AI course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Chrome Canary can run Gemini locally</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AMD MI300X GPU beats H100</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pdfplumber - extract tables from PDFs </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ParaLLM: 1600+ tok/s on a MacBook</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Mixture-of-Agents (MoA) in 50 lines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15 Life and Work Principles from Jensen Huang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Tech Layoffs in 2024 are lower than last year</a:t>
            </a:r>
            <a:endParaRPr sz="1500" b="1">
              <a:solidFill>
                <a:srgbClr val="3C78D8"/>
              </a:solidFill>
              <a:latin typeface="Calibri"/>
              <a:ea typeface="Calibri"/>
              <a:cs typeface="Calibri"/>
              <a:sym typeface="Calibri"/>
            </a:endParaRPr>
          </a:p>
        </p:txBody>
      </p:sp>
      <p:sp>
        <p:nvSpPr>
          <p:cNvPr id="59" name="Google Shape;59;p14"/>
          <p:cNvSpPr txBox="1"/>
          <p:nvPr/>
        </p:nvSpPr>
        <p:spPr>
          <a:xfrm>
            <a:off x="2555025" y="72350"/>
            <a:ext cx="2539200" cy="9420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600" b="1" i="0" u="none" strike="noStrike" cap="none">
                <a:solidFill>
                  <a:srgbClr val="3C78D8"/>
                </a:solidFill>
                <a:latin typeface="Calibri"/>
                <a:ea typeface="Calibri"/>
                <a:cs typeface="Calibri"/>
                <a:sym typeface="Calibri"/>
              </a:rPr>
              <a:t>AI Updates </a:t>
            </a:r>
            <a:endParaRPr sz="3600" b="1" i="0" u="none" strike="noStrike" cap="none">
              <a:solidFill>
                <a:srgbClr val="3C78D8"/>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400"/>
              <a:buFont typeface="Arial"/>
              <a:buNone/>
            </a:pPr>
            <a:r>
              <a:rPr lang="en" sz="2400" b="1">
                <a:solidFill>
                  <a:srgbClr val="3C78D8"/>
                </a:solidFill>
                <a:latin typeface="Calibri"/>
                <a:ea typeface="Calibri"/>
                <a:cs typeface="Calibri"/>
                <a:sym typeface="Calibri"/>
              </a:rPr>
              <a:t>June 28</a:t>
            </a:r>
            <a:r>
              <a:rPr lang="en" sz="2400" b="1" i="0" u="none" strike="noStrike" cap="none">
                <a:solidFill>
                  <a:srgbClr val="3C78D8"/>
                </a:solidFill>
                <a:latin typeface="Calibri"/>
                <a:ea typeface="Calibri"/>
                <a:cs typeface="Calibri"/>
                <a:sym typeface="Calibri"/>
              </a:rPr>
              <a:t>, 2024</a:t>
            </a:r>
            <a:endParaRPr sz="2400" b="1" i="0" u="none" strike="noStrike" cap="none">
              <a:solidFill>
                <a:srgbClr val="3C78D8"/>
              </a:solidFill>
              <a:latin typeface="Calibri"/>
              <a:ea typeface="Calibri"/>
              <a:cs typeface="Calibri"/>
              <a:sym typeface="Calibri"/>
            </a:endParaRPr>
          </a:p>
        </p:txBody>
      </p:sp>
      <p:sp>
        <p:nvSpPr>
          <p:cNvPr id="60" name="Google Shape;60;p14"/>
          <p:cNvSpPr txBox="1"/>
          <p:nvPr/>
        </p:nvSpPr>
        <p:spPr>
          <a:xfrm>
            <a:off x="5857600" y="183050"/>
            <a:ext cx="31197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i="1">
                <a:solidFill>
                  <a:srgbClr val="FF0000"/>
                </a:solidFill>
              </a:rPr>
              <a:t>"Learning to ask AI the right questions is the key to success"</a:t>
            </a:r>
            <a:endParaRPr b="1" i="1">
              <a:solidFill>
                <a:srgbClr val="FF0000"/>
              </a:solidFill>
            </a:endParaRPr>
          </a:p>
          <a:p>
            <a:pPr marL="0" lvl="0" indent="0" algn="l" rtl="0">
              <a:spcBef>
                <a:spcPts val="0"/>
              </a:spcBef>
              <a:spcAft>
                <a:spcPts val="0"/>
              </a:spcAft>
              <a:buNone/>
            </a:pPr>
            <a:r>
              <a:rPr lang="en" b="1" i="1">
                <a:solidFill>
                  <a:srgbClr val="FF0000"/>
                </a:solidFill>
              </a:rPr>
              <a:t>  - Jill Kramer</a:t>
            </a:r>
            <a:endParaRPr b="1" i="1">
              <a:solidFill>
                <a:srgbClr val="FF000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pic>
        <p:nvPicPr>
          <p:cNvPr id="65" name="Google Shape;65;p15"/>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763920" y="1506053"/>
            <a:ext cx="4300327" cy="3561208"/>
          </a:xfrm>
          <a:prstGeom prst="rect">
            <a:avLst/>
          </a:prstGeom>
          <a:noFill/>
          <a:ln w="9525" cap="flat" cmpd="sng">
            <a:solidFill>
              <a:srgbClr val="FF0000"/>
            </a:solidFill>
            <a:prstDash val="solid"/>
            <a:round/>
            <a:headEnd type="none" w="sm" len="sm"/>
            <a:tailEnd type="none" w="sm" len="sm"/>
          </a:ln>
        </p:spPr>
      </p:pic>
      <p:pic>
        <p:nvPicPr>
          <p:cNvPr id="66" name="Google Shape;66;p1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08355" y="1067450"/>
            <a:ext cx="4430526" cy="3999801"/>
          </a:xfrm>
          <a:prstGeom prst="rect">
            <a:avLst/>
          </a:prstGeom>
          <a:noFill/>
          <a:ln w="9525" cap="flat" cmpd="sng">
            <a:solidFill>
              <a:srgbClr val="FF0000"/>
            </a:solidFill>
            <a:prstDash val="solid"/>
            <a:round/>
            <a:headEnd type="none" w="sm" len="sm"/>
            <a:tailEnd type="none" w="sm" len="sm"/>
          </a:ln>
        </p:spPr>
      </p:pic>
      <p:sp>
        <p:nvSpPr>
          <p:cNvPr id="67" name="Google Shape;67;p15"/>
          <p:cNvSpPr txBox="1"/>
          <p:nvPr/>
        </p:nvSpPr>
        <p:spPr>
          <a:xfrm>
            <a:off x="5650240" y="55346"/>
            <a:ext cx="1550400" cy="526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100">
                <a:solidFill>
                  <a:srgbClr val="1F2937"/>
                </a:solidFill>
                <a:highlight>
                  <a:srgbClr val="FFFFFF"/>
                </a:highlight>
                <a:latin typeface="Calibri"/>
                <a:ea typeface="Calibri"/>
                <a:cs typeface="Calibri"/>
                <a:sym typeface="Calibri"/>
              </a:rPr>
              <a:t>Total #models: 114.</a:t>
            </a:r>
            <a:endParaRPr sz="1100">
              <a:solidFill>
                <a:srgbClr val="1F2937"/>
              </a:solidFill>
              <a:highlight>
                <a:srgbClr val="FFFFFF"/>
              </a:highlight>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100">
                <a:solidFill>
                  <a:srgbClr val="1F2937"/>
                </a:solidFill>
                <a:highlight>
                  <a:srgbClr val="FFFFFF"/>
                </a:highlight>
                <a:latin typeface="Calibri"/>
                <a:ea typeface="Calibri"/>
                <a:cs typeface="Calibri"/>
                <a:sym typeface="Calibri"/>
              </a:rPr>
              <a:t>Total #votes: 1,385,252.</a:t>
            </a:r>
            <a:endParaRPr sz="1100">
              <a:solidFill>
                <a:srgbClr val="1F2937"/>
              </a:solidFill>
              <a:highlight>
                <a:srgbClr val="FFFFFF"/>
              </a:highlight>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100">
                <a:solidFill>
                  <a:srgbClr val="1F2937"/>
                </a:solidFill>
                <a:highlight>
                  <a:srgbClr val="FFFFFF"/>
                </a:highlight>
                <a:latin typeface="Calibri"/>
                <a:ea typeface="Calibri"/>
                <a:cs typeface="Calibri"/>
                <a:sym typeface="Calibri"/>
              </a:rPr>
              <a:t>Last updated: 2024-06-26.</a:t>
            </a:r>
            <a:endParaRPr sz="1100" b="1">
              <a:solidFill>
                <a:srgbClr val="FF0000"/>
              </a:solidFill>
              <a:latin typeface="Calibri"/>
              <a:ea typeface="Calibri"/>
              <a:cs typeface="Calibri"/>
              <a:sym typeface="Calibri"/>
            </a:endParaRPr>
          </a:p>
        </p:txBody>
      </p:sp>
      <p:sp>
        <p:nvSpPr>
          <p:cNvPr id="68" name="Google Shape;68;p15"/>
          <p:cNvSpPr txBox="1"/>
          <p:nvPr/>
        </p:nvSpPr>
        <p:spPr>
          <a:xfrm>
            <a:off x="7261325" y="52350"/>
            <a:ext cx="18315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95% CI = Confidence Interval</a:t>
            </a:r>
            <a:endParaRPr sz="1200" b="0" i="0" u="none" strike="noStrike" cap="none">
              <a:solidFill>
                <a:schemeClr val="dk1"/>
              </a:solidFill>
              <a:latin typeface="Calibri"/>
              <a:ea typeface="Calibri"/>
              <a:cs typeface="Calibri"/>
              <a:sym typeface="Calibri"/>
            </a:endParaRPr>
          </a:p>
        </p:txBody>
      </p:sp>
      <p:sp>
        <p:nvSpPr>
          <p:cNvPr id="69" name="Google Shape;69;p15"/>
          <p:cNvSpPr txBox="1"/>
          <p:nvPr/>
        </p:nvSpPr>
        <p:spPr>
          <a:xfrm>
            <a:off x="-38048" y="-108050"/>
            <a:ext cx="41517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Crowd-sourced "Arena" Leaderboard</a:t>
            </a:r>
            <a:endParaRPr sz="2000" b="1" i="0" u="none" strike="noStrike" cap="none">
              <a:solidFill>
                <a:srgbClr val="000000"/>
              </a:solidFill>
              <a:latin typeface="Calibri"/>
              <a:ea typeface="Calibri"/>
              <a:cs typeface="Calibri"/>
              <a:sym typeface="Calibri"/>
            </a:endParaRPr>
          </a:p>
        </p:txBody>
      </p:sp>
      <p:sp>
        <p:nvSpPr>
          <p:cNvPr id="70" name="Google Shape;70;p15"/>
          <p:cNvSpPr txBox="1"/>
          <p:nvPr/>
        </p:nvSpPr>
        <p:spPr>
          <a:xfrm>
            <a:off x="0" y="157800"/>
            <a:ext cx="20769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5"/>
              </a:rPr>
              <a:t>https://chat.lmsys.org/?leaderboard</a:t>
            </a:r>
            <a:r>
              <a:rPr lang="en" sz="1000">
                <a:solidFill>
                  <a:schemeClr val="dk1"/>
                </a:solidFill>
                <a:latin typeface="Calibri"/>
                <a:ea typeface="Calibri"/>
                <a:cs typeface="Calibri"/>
                <a:sym typeface="Calibri"/>
              </a:rPr>
              <a:t> </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p:txBody>
      </p:sp>
      <p:sp>
        <p:nvSpPr>
          <p:cNvPr id="71" name="Google Shape;71;p15"/>
          <p:cNvSpPr txBox="1"/>
          <p:nvPr/>
        </p:nvSpPr>
        <p:spPr>
          <a:xfrm>
            <a:off x="1598860" y="786619"/>
            <a:ext cx="13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English-only queries</a:t>
            </a:r>
            <a:endParaRPr sz="1200">
              <a:solidFill>
                <a:schemeClr val="dk1"/>
              </a:solidFill>
              <a:latin typeface="Calibri"/>
              <a:ea typeface="Calibri"/>
              <a:cs typeface="Calibri"/>
              <a:sym typeface="Calibri"/>
            </a:endParaRPr>
          </a:p>
        </p:txBody>
      </p:sp>
      <p:sp>
        <p:nvSpPr>
          <p:cNvPr id="72" name="Google Shape;72;p15"/>
          <p:cNvSpPr/>
          <p:nvPr/>
        </p:nvSpPr>
        <p:spPr>
          <a:xfrm>
            <a:off x="5464175" y="226378"/>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3" name="Google Shape;73;p15"/>
          <p:cNvSpPr/>
          <p:nvPr/>
        </p:nvSpPr>
        <p:spPr>
          <a:xfrm>
            <a:off x="1103000" y="4662103"/>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4" name="Google Shape;74;p15"/>
          <p:cNvSpPr/>
          <p:nvPr/>
        </p:nvSpPr>
        <p:spPr>
          <a:xfrm>
            <a:off x="5740345" y="1559681"/>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5" name="Google Shape;75;p15"/>
          <p:cNvSpPr/>
          <p:nvPr/>
        </p:nvSpPr>
        <p:spPr>
          <a:xfrm>
            <a:off x="5740345" y="2663640"/>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6" name="Google Shape;76;p15"/>
          <p:cNvSpPr/>
          <p:nvPr/>
        </p:nvSpPr>
        <p:spPr>
          <a:xfrm>
            <a:off x="5740345" y="2446359"/>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7" name="Google Shape;77;p15"/>
          <p:cNvSpPr/>
          <p:nvPr/>
        </p:nvSpPr>
        <p:spPr>
          <a:xfrm>
            <a:off x="5740345" y="3095025"/>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8" name="Google Shape;78;p15"/>
          <p:cNvSpPr/>
          <p:nvPr/>
        </p:nvSpPr>
        <p:spPr>
          <a:xfrm>
            <a:off x="1103000" y="3286417"/>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9" name="Google Shape;79;p15"/>
          <p:cNvSpPr/>
          <p:nvPr/>
        </p:nvSpPr>
        <p:spPr>
          <a:xfrm>
            <a:off x="5740345" y="3569252"/>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0" name="Google Shape;80;p15"/>
          <p:cNvSpPr/>
          <p:nvPr/>
        </p:nvSpPr>
        <p:spPr>
          <a:xfrm>
            <a:off x="5740345" y="4212945"/>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1" name="Google Shape;81;p15"/>
          <p:cNvSpPr/>
          <p:nvPr/>
        </p:nvSpPr>
        <p:spPr>
          <a:xfrm>
            <a:off x="5740345" y="4441545"/>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2" name="Google Shape;82;p15"/>
          <p:cNvSpPr/>
          <p:nvPr/>
        </p:nvSpPr>
        <p:spPr>
          <a:xfrm>
            <a:off x="1089800" y="1626600"/>
            <a:ext cx="213600" cy="203100"/>
          </a:xfrm>
          <a:prstGeom prst="star5">
            <a:avLst>
              <a:gd name="adj" fmla="val 19098"/>
              <a:gd name="hf" fmla="val 105146"/>
              <a:gd name="vf" fmla="val 110557"/>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6"/>
          <p:cNvSpPr txBox="1"/>
          <p:nvPr/>
        </p:nvSpPr>
        <p:spPr>
          <a:xfrm>
            <a:off x="5650240" y="55346"/>
            <a:ext cx="1550400" cy="526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100">
                <a:solidFill>
                  <a:srgbClr val="1F2937"/>
                </a:solidFill>
                <a:highlight>
                  <a:srgbClr val="FFFFFF"/>
                </a:highlight>
                <a:latin typeface="Calibri"/>
                <a:ea typeface="Calibri"/>
                <a:cs typeface="Calibri"/>
                <a:sym typeface="Calibri"/>
              </a:rPr>
              <a:t>Total #models: 114.</a:t>
            </a:r>
            <a:endParaRPr sz="1100">
              <a:solidFill>
                <a:srgbClr val="1F2937"/>
              </a:solidFill>
              <a:highlight>
                <a:srgbClr val="FFFFFF"/>
              </a:highlight>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100">
                <a:solidFill>
                  <a:srgbClr val="1F2937"/>
                </a:solidFill>
                <a:highlight>
                  <a:srgbClr val="FFFFFF"/>
                </a:highlight>
                <a:latin typeface="Calibri"/>
                <a:ea typeface="Calibri"/>
                <a:cs typeface="Calibri"/>
                <a:sym typeface="Calibri"/>
              </a:rPr>
              <a:t>Total #votes: 1,385,252.</a:t>
            </a:r>
            <a:endParaRPr sz="1100">
              <a:solidFill>
                <a:srgbClr val="1F2937"/>
              </a:solidFill>
              <a:highlight>
                <a:srgbClr val="FFFFFF"/>
              </a:highlight>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100">
                <a:solidFill>
                  <a:srgbClr val="1F2937"/>
                </a:solidFill>
                <a:highlight>
                  <a:srgbClr val="FFFFFF"/>
                </a:highlight>
                <a:latin typeface="Calibri"/>
                <a:ea typeface="Calibri"/>
                <a:cs typeface="Calibri"/>
                <a:sym typeface="Calibri"/>
              </a:rPr>
              <a:t>Last updated: 2024-06-26.</a:t>
            </a:r>
            <a:endParaRPr sz="1100" b="1">
              <a:solidFill>
                <a:srgbClr val="FF0000"/>
              </a:solidFill>
              <a:latin typeface="Calibri"/>
              <a:ea typeface="Calibri"/>
              <a:cs typeface="Calibri"/>
              <a:sym typeface="Calibri"/>
            </a:endParaRPr>
          </a:p>
        </p:txBody>
      </p:sp>
      <p:sp>
        <p:nvSpPr>
          <p:cNvPr id="88" name="Google Shape;88;p16"/>
          <p:cNvSpPr txBox="1"/>
          <p:nvPr/>
        </p:nvSpPr>
        <p:spPr>
          <a:xfrm>
            <a:off x="7261325" y="52350"/>
            <a:ext cx="18315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95% CI = Confidence Interval</a:t>
            </a:r>
            <a:endParaRPr sz="1200" b="0" i="0" u="none" strike="noStrike" cap="none">
              <a:solidFill>
                <a:schemeClr val="dk1"/>
              </a:solidFill>
              <a:latin typeface="Calibri"/>
              <a:ea typeface="Calibri"/>
              <a:cs typeface="Calibri"/>
              <a:sym typeface="Calibri"/>
            </a:endParaRPr>
          </a:p>
        </p:txBody>
      </p:sp>
      <p:sp>
        <p:nvSpPr>
          <p:cNvPr id="89" name="Google Shape;89;p16"/>
          <p:cNvSpPr txBox="1"/>
          <p:nvPr/>
        </p:nvSpPr>
        <p:spPr>
          <a:xfrm>
            <a:off x="-38051" y="-108050"/>
            <a:ext cx="52059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Crowd-sourced "Arena" Leaderboard - Coding</a:t>
            </a:r>
            <a:endParaRPr sz="2000" b="1" i="0" u="none" strike="noStrike" cap="none">
              <a:solidFill>
                <a:srgbClr val="000000"/>
              </a:solidFill>
              <a:latin typeface="Calibri"/>
              <a:ea typeface="Calibri"/>
              <a:cs typeface="Calibri"/>
              <a:sym typeface="Calibri"/>
            </a:endParaRPr>
          </a:p>
        </p:txBody>
      </p:sp>
      <p:sp>
        <p:nvSpPr>
          <p:cNvPr id="90" name="Google Shape;90;p16"/>
          <p:cNvSpPr txBox="1"/>
          <p:nvPr/>
        </p:nvSpPr>
        <p:spPr>
          <a:xfrm>
            <a:off x="0" y="157800"/>
            <a:ext cx="20769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3"/>
              </a:rPr>
              <a:t>https://chat.lmsys.org/?leaderboard</a:t>
            </a:r>
            <a:r>
              <a:rPr lang="en" sz="1000">
                <a:solidFill>
                  <a:schemeClr val="dk1"/>
                </a:solidFill>
                <a:latin typeface="Calibri"/>
                <a:ea typeface="Calibri"/>
                <a:cs typeface="Calibri"/>
                <a:sym typeface="Calibri"/>
              </a:rPr>
              <a:t> </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p:txBody>
      </p:sp>
      <p:sp>
        <p:nvSpPr>
          <p:cNvPr id="91" name="Google Shape;91;p16"/>
          <p:cNvSpPr/>
          <p:nvPr/>
        </p:nvSpPr>
        <p:spPr>
          <a:xfrm>
            <a:off x="5464175" y="226378"/>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92" name="Google Shape;92;p1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01475" y="768296"/>
            <a:ext cx="7947162" cy="4256854"/>
          </a:xfrm>
          <a:prstGeom prst="rect">
            <a:avLst/>
          </a:prstGeom>
          <a:noFill/>
          <a:ln w="9525" cap="flat" cmpd="sng">
            <a:solidFill>
              <a:srgbClr val="FF0000"/>
            </a:solidFill>
            <a:prstDash val="solid"/>
            <a:round/>
            <a:headEnd type="none" w="sm" len="sm"/>
            <a:tailEnd type="none" w="sm" len="sm"/>
          </a:ln>
        </p:spPr>
      </p:pic>
      <p:sp>
        <p:nvSpPr>
          <p:cNvPr id="93" name="Google Shape;93;p16"/>
          <p:cNvSpPr/>
          <p:nvPr/>
        </p:nvSpPr>
        <p:spPr>
          <a:xfrm>
            <a:off x="1379275" y="1643625"/>
            <a:ext cx="213600" cy="203100"/>
          </a:xfrm>
          <a:prstGeom prst="star5">
            <a:avLst>
              <a:gd name="adj" fmla="val 19098"/>
              <a:gd name="hf" fmla="val 105146"/>
              <a:gd name="vf" fmla="val 110557"/>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4" name="Google Shape;94;p16"/>
          <p:cNvSpPr/>
          <p:nvPr/>
        </p:nvSpPr>
        <p:spPr>
          <a:xfrm>
            <a:off x="1423375" y="3580878"/>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6"/>
          <p:cNvSpPr/>
          <p:nvPr/>
        </p:nvSpPr>
        <p:spPr>
          <a:xfrm>
            <a:off x="1423375" y="4639590"/>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7"/>
          <p:cNvSpPr txBox="1"/>
          <p:nvPr/>
        </p:nvSpPr>
        <p:spPr>
          <a:xfrm>
            <a:off x="76200" y="0"/>
            <a:ext cx="4749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Gemini Access in Google Workspace Apps</a:t>
            </a:r>
            <a:endParaRPr sz="2000" b="1">
              <a:solidFill>
                <a:schemeClr val="dk1"/>
              </a:solidFill>
              <a:latin typeface="Calibri"/>
              <a:ea typeface="Calibri"/>
              <a:cs typeface="Calibri"/>
              <a:sym typeface="Calibri"/>
            </a:endParaRPr>
          </a:p>
        </p:txBody>
      </p:sp>
      <p:sp>
        <p:nvSpPr>
          <p:cNvPr id="101" name="Google Shape;101;p17"/>
          <p:cNvSpPr txBox="1"/>
          <p:nvPr/>
        </p:nvSpPr>
        <p:spPr>
          <a:xfrm>
            <a:off x="76200" y="410700"/>
            <a:ext cx="44397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Gemini out to the world and is now adding it as a side panel to Google Drive, Docs, Sheets, Slides, and Gmail, the company announced Monday.</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This means Gemini 1.5 Pro will soon be present as a pop-out sidebar via a button on your Google Drive. When you search or ask a question, it will sift through documents or scan data for specific information. In Gmail, Gemini can write emails or summarize incoming messages.</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In Google's PowerPoint and Keynote rival Slides, the Gemini sidebar will be able to create agendas based on existing presentations, summarize presentations, create new slides, or create custom images, for example. In its Excel-like Sheets, the Gemini sidebar will generate table templates and formulas or help users sort their data in a sheet.</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p:txBody>
      </p:sp>
      <p:pic>
        <p:nvPicPr>
          <p:cNvPr id="102" name="Google Shape;102;p1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825804" y="1937650"/>
            <a:ext cx="4241995" cy="3155224"/>
          </a:xfrm>
          <a:prstGeom prst="rect">
            <a:avLst/>
          </a:prstGeom>
          <a:noFill/>
          <a:ln w="9525" cap="flat" cmpd="sng">
            <a:solidFill>
              <a:srgbClr val="FF0000"/>
            </a:solidFill>
            <a:prstDash val="solid"/>
            <a:round/>
            <a:headEnd type="none" w="sm" len="sm"/>
            <a:tailEnd type="none" w="sm" len="sm"/>
          </a:ln>
        </p:spPr>
      </p:pic>
      <p:pic>
        <p:nvPicPr>
          <p:cNvPr id="103" name="Google Shape;103;p17"/>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827350" y="416150"/>
            <a:ext cx="3294274" cy="1369100"/>
          </a:xfrm>
          <a:prstGeom prst="rect">
            <a:avLst/>
          </a:prstGeom>
          <a:noFill/>
          <a:ln w="9525" cap="flat" cmpd="sng">
            <a:solidFill>
              <a:srgbClr val="FF0000"/>
            </a:solidFill>
            <a:prstDash val="solid"/>
            <a:round/>
            <a:headEnd type="none" w="sm" len="sm"/>
            <a:tailEnd type="none" w="sm" len="sm"/>
          </a:ln>
        </p:spPr>
      </p:pic>
      <p:sp>
        <p:nvSpPr>
          <p:cNvPr id="104" name="Google Shape;104;p17"/>
          <p:cNvSpPr/>
          <p:nvPr/>
        </p:nvSpPr>
        <p:spPr>
          <a:xfrm>
            <a:off x="7446250" y="360750"/>
            <a:ext cx="121200" cy="3264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5" name="Google Shape;105;p17"/>
          <p:cNvSpPr txBox="1"/>
          <p:nvPr/>
        </p:nvSpPr>
        <p:spPr>
          <a:xfrm>
            <a:off x="7227700" y="131400"/>
            <a:ext cx="558300" cy="203100"/>
          </a:xfrm>
          <a:prstGeom prst="rect">
            <a:avLst/>
          </a:prstGeom>
          <a:solidFill>
            <a:srgbClr val="FFF2CC"/>
          </a:solidFill>
          <a:ln>
            <a:noFill/>
          </a:ln>
        </p:spPr>
        <p:txBody>
          <a:bodyPr spcFirstLastPara="1" wrap="square" lIns="9125" tIns="9125" rIns="9125" bIns="9125" anchor="t" anchorCtr="0">
            <a:spAutoFit/>
          </a:bodyPr>
          <a:lstStyle/>
          <a:p>
            <a:pPr marL="0" lvl="0" indent="0" algn="ctr" rtl="0">
              <a:spcBef>
                <a:spcPts val="0"/>
              </a:spcBef>
              <a:spcAft>
                <a:spcPts val="0"/>
              </a:spcAft>
              <a:buNone/>
            </a:pPr>
            <a:r>
              <a:rPr lang="en" sz="1200">
                <a:solidFill>
                  <a:schemeClr val="dk1"/>
                </a:solidFill>
                <a:latin typeface="Calibri"/>
                <a:ea typeface="Calibri"/>
                <a:cs typeface="Calibri"/>
                <a:sym typeface="Calibri"/>
              </a:rPr>
              <a:t>Gemini </a:t>
            </a:r>
            <a:endParaRPr sz="12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18"/>
          <p:cNvSpPr txBox="1"/>
          <p:nvPr/>
        </p:nvSpPr>
        <p:spPr>
          <a:xfrm>
            <a:off x="76200" y="0"/>
            <a:ext cx="2350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Misc 1</a:t>
            </a:r>
            <a:endParaRPr sz="2000" b="1">
              <a:solidFill>
                <a:schemeClr val="dk1"/>
              </a:solidFill>
              <a:latin typeface="Calibri"/>
              <a:ea typeface="Calibri"/>
              <a:cs typeface="Calibri"/>
              <a:sym typeface="Calibri"/>
            </a:endParaRPr>
          </a:p>
        </p:txBody>
      </p:sp>
      <p:sp>
        <p:nvSpPr>
          <p:cNvPr id="111" name="Google Shape;111;p18"/>
          <p:cNvSpPr txBox="1"/>
          <p:nvPr/>
        </p:nvSpPr>
        <p:spPr>
          <a:xfrm>
            <a:off x="76200" y="410700"/>
            <a:ext cx="4424100" cy="895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Evolutionary Scale,</a:t>
            </a:r>
            <a:r>
              <a:rPr lang="en" sz="1200" b="1">
                <a:solidFill>
                  <a:srgbClr val="3C78D8"/>
                </a:solidFill>
                <a:latin typeface="Calibri"/>
                <a:ea typeface="Calibri"/>
                <a:cs typeface="Calibri"/>
                <a:sym typeface="Calibri"/>
              </a:rPr>
              <a:t> a biology startup,raises $142M</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company released foundation model, ESM 3, 98B params, trained on 771B biology tokens. It allowed to discover a novel fluorescent green protein</a:t>
            </a:r>
            <a:endParaRPr sz="1200">
              <a:solidFill>
                <a:schemeClr val="dk1"/>
              </a:solidFill>
              <a:latin typeface="Calibri"/>
              <a:ea typeface="Calibri"/>
              <a:cs typeface="Calibri"/>
              <a:sym typeface="Calibri"/>
            </a:endParaRPr>
          </a:p>
          <a:p>
            <a:pPr marL="22860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https://evolutionaryscale-public.s3.us-east-2.amazonaws.com/research/esm3.pdf</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12" name="Google Shape;112;p18"/>
          <p:cNvSpPr txBox="1"/>
          <p:nvPr/>
        </p:nvSpPr>
        <p:spPr>
          <a:xfrm>
            <a:off x="76200" y="1536770"/>
            <a:ext cx="4424100" cy="195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DeepMind paper - effective training using joint-example selection</a:t>
            </a:r>
            <a:endParaRPr sz="1200" b="1">
              <a:solidFill>
                <a:srgbClr val="FF0000"/>
              </a:solidFill>
              <a:latin typeface="Calibri"/>
              <a:ea typeface="Calibri"/>
              <a:cs typeface="Calibri"/>
              <a:sym typeface="Calibri"/>
            </a:endParaRPr>
          </a:p>
          <a:p>
            <a:pPr marL="228600" lvl="0" indent="-133350" algn="l" rtl="0">
              <a:spcBef>
                <a:spcPts val="0"/>
              </a:spcBef>
              <a:spcAft>
                <a:spcPts val="0"/>
              </a:spcAft>
              <a:buClr>
                <a:schemeClr val="dk1"/>
              </a:buClr>
              <a:buSzPts val="1200"/>
              <a:buFont typeface="Calibri"/>
              <a:buChar char="●"/>
            </a:pPr>
            <a:r>
              <a:rPr lang="en" sz="1200">
                <a:solidFill>
                  <a:srgbClr val="3C78D8"/>
                </a:solidFill>
                <a:latin typeface="Calibri"/>
                <a:ea typeface="Calibri"/>
                <a:cs typeface="Calibri"/>
                <a:sym typeface="Calibri"/>
              </a:rPr>
              <a:t>"Data curation via joint example selection further accelerates multimodal learning"</a:t>
            </a:r>
            <a:r>
              <a:rPr lang="en" sz="1200">
                <a:solidFill>
                  <a:schemeClr val="dk1"/>
                </a:solidFill>
                <a:latin typeface="Calibri"/>
                <a:ea typeface="Calibri"/>
                <a:cs typeface="Calibri"/>
                <a:sym typeface="Calibri"/>
              </a:rPr>
              <a:t> - DeepMind paper on how to achieve SOTA with just 10% calculations by actively selecting the next best batch</a:t>
            </a:r>
            <a:endParaRPr sz="1200">
              <a:solidFill>
                <a:schemeClr val="dk1"/>
              </a:solidFill>
              <a:latin typeface="Calibri"/>
              <a:ea typeface="Calibri"/>
              <a:cs typeface="Calibri"/>
              <a:sym typeface="Calibri"/>
            </a:endParaRPr>
          </a:p>
          <a:p>
            <a:pPr marL="22860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We show that picking good batches of data is more important than selecting data points independently.  Small high quality datasets can be bootstrapped to leverage much larger un-curated datasets! Our method, which we call JEST (Joint Example Selection ) allows us to beat the previous SOTA with 10% of the FLOP budget.</a:t>
            </a:r>
            <a:endParaRPr sz="1200">
              <a:solidFill>
                <a:schemeClr val="dk1"/>
              </a:solidFill>
              <a:latin typeface="Calibri"/>
              <a:ea typeface="Calibri"/>
              <a:cs typeface="Calibri"/>
              <a:sym typeface="Calibri"/>
            </a:endParaRPr>
          </a:p>
          <a:p>
            <a:pPr marL="22860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https://arxiv.org/abs/2406.17711</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22860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https://twitter.com/talfanevans/status/1805996144662573467</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13" name="Google Shape;113;p18"/>
          <p:cNvSpPr txBox="1"/>
          <p:nvPr/>
        </p:nvSpPr>
        <p:spPr>
          <a:xfrm>
            <a:off x="76200" y="3650100"/>
            <a:ext cx="4424100" cy="1403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Hugging Face upgraded its Open LLM Leaderboard</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adding six new benchmarks and eval methods to be more challenging and less prone to contamination. </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N</a:t>
            </a:r>
            <a:r>
              <a:rPr lang="en" sz="1200">
                <a:solidFill>
                  <a:schemeClr val="dk1"/>
                </a:solidFill>
                <a:latin typeface="Calibri"/>
                <a:ea typeface="Calibri"/>
                <a:cs typeface="Calibri"/>
                <a:sym typeface="Calibri"/>
              </a:rPr>
              <a:t>ew normalized scoring, new community voting.</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Qwen2-72B-Instruct is leading, followed by Meta's Llama-3-70B-Instruct and Mixtral 8×22b.</a:t>
            </a:r>
            <a:endParaRPr sz="12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https://huggingface.co/open-llm-leaderboard</a:t>
            </a:r>
            <a:r>
              <a:rPr lang="en" sz="900">
                <a:latin typeface="Calibri"/>
                <a:ea typeface="Calibri"/>
                <a:cs typeface="Calibri"/>
                <a:sym typeface="Calibri"/>
              </a:rPr>
              <a:t> </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https://huggingface.co/spaces/open-llm-leaderboard/open_llm_leaderboard</a:t>
            </a:r>
            <a:r>
              <a:rPr lang="en" sz="900">
                <a:latin typeface="Calibri"/>
                <a:ea typeface="Calibri"/>
                <a:cs typeface="Calibri"/>
                <a:sym typeface="Calibri"/>
              </a:rPr>
              <a:t> </a:t>
            </a:r>
            <a:endParaRPr sz="900">
              <a:latin typeface="Calibri"/>
              <a:ea typeface="Calibri"/>
              <a:cs typeface="Calibri"/>
              <a:sym typeface="Calibri"/>
            </a:endParaRPr>
          </a:p>
        </p:txBody>
      </p:sp>
      <p:sp>
        <p:nvSpPr>
          <p:cNvPr id="114" name="Google Shape;114;p18"/>
          <p:cNvSpPr txBox="1"/>
          <p:nvPr/>
        </p:nvSpPr>
        <p:spPr>
          <a:xfrm>
            <a:off x="4633825" y="1439600"/>
            <a:ext cx="29781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u="sng">
                <a:solidFill>
                  <a:schemeClr val="hlink"/>
                </a:solidFill>
                <a:latin typeface="Calibri"/>
                <a:ea typeface="Calibri"/>
                <a:cs typeface="Calibri"/>
                <a:sym typeface="Calibri"/>
                <a:hlinkClick r:id="rId8"/>
              </a:rPr>
              <a:t>https://www.krea.ai</a:t>
            </a:r>
            <a:r>
              <a:rPr lang="en" sz="1200" b="1">
                <a:solidFill>
                  <a:srgbClr val="FF0000"/>
                </a:solidFill>
                <a:latin typeface="Calibri"/>
                <a:ea typeface="Calibri"/>
                <a:cs typeface="Calibri"/>
                <a:sym typeface="Calibri"/>
              </a:rPr>
              <a:t> - video upscaling</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image generation, free video upscaling</a:t>
            </a:r>
            <a:endParaRPr sz="1200">
              <a:latin typeface="Calibri"/>
              <a:ea typeface="Calibri"/>
              <a:cs typeface="Calibri"/>
              <a:sym typeface="Calibri"/>
            </a:endParaRPr>
          </a:p>
        </p:txBody>
      </p:sp>
      <p:pic>
        <p:nvPicPr>
          <p:cNvPr id="115" name="Google Shape;115;p18"/>
          <p:cNvPicPr preferRelativeResize="0"/>
          <p:nvPr/>
        </p:nvPicPr>
        <p:blipFill rotWithShape="1">
          <a:blip r:embed="rId9" cstate="email">
            <a:alphaModFix/>
            <a:extLst>
              <a:ext uri="{28A0092B-C50C-407E-A947-70E740481C1C}">
                <a14:useLocalDpi xmlns:a14="http://schemas.microsoft.com/office/drawing/2010/main"/>
              </a:ext>
            </a:extLst>
          </a:blip>
          <a:srcRect/>
          <a:stretch/>
        </p:blipFill>
        <p:spPr>
          <a:xfrm>
            <a:off x="7686944" y="1439600"/>
            <a:ext cx="1218580" cy="387900"/>
          </a:xfrm>
          <a:prstGeom prst="rect">
            <a:avLst/>
          </a:prstGeom>
          <a:noFill/>
          <a:ln w="9525" cap="flat" cmpd="sng">
            <a:solidFill>
              <a:srgbClr val="FF0000"/>
            </a:solidFill>
            <a:prstDash val="solid"/>
            <a:round/>
            <a:headEnd type="none" w="sm" len="sm"/>
            <a:tailEnd type="none" w="sm" len="sm"/>
          </a:ln>
        </p:spPr>
      </p:pic>
      <p:sp>
        <p:nvSpPr>
          <p:cNvPr id="116" name="Google Shape;116;p18"/>
          <p:cNvSpPr txBox="1"/>
          <p:nvPr/>
        </p:nvSpPr>
        <p:spPr>
          <a:xfrm>
            <a:off x="4633825" y="410700"/>
            <a:ext cx="44241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Rabbit R1 Security Flaw</a:t>
            </a:r>
            <a:endParaRPr sz="1200" b="1">
              <a:solidFill>
                <a:srgbClr val="FF0000"/>
              </a:solidFill>
              <a:latin typeface="Calibri"/>
              <a:ea typeface="Calibri"/>
              <a:cs typeface="Calibri"/>
              <a:sym typeface="Calibri"/>
            </a:endParaRPr>
          </a:p>
          <a:p>
            <a:pPr marL="22860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community-led group called Rabbitude </a:t>
            </a:r>
            <a:r>
              <a:rPr lang="en" sz="1200" b="1">
                <a:solidFill>
                  <a:srgbClr val="3C78D8"/>
                </a:solidFill>
                <a:latin typeface="Calibri"/>
                <a:ea typeface="Calibri"/>
                <a:cs typeface="Calibri"/>
                <a:sym typeface="Calibri"/>
              </a:rPr>
              <a:t>uncovered hardcoded API keys in Rabbit’s codebase</a:t>
            </a:r>
            <a:r>
              <a:rPr lang="en" sz="1200">
                <a:solidFill>
                  <a:schemeClr val="dk1"/>
                </a:solidFill>
                <a:latin typeface="Calibri"/>
                <a:ea typeface="Calibri"/>
                <a:cs typeface="Calibri"/>
                <a:sym typeface="Calibri"/>
              </a:rPr>
              <a:t>, which allowed access to all R1 responses. Rabbit acknowledged via a Discord post, but claims no customer data was leaked.</a:t>
            </a:r>
            <a:endParaRPr sz="1200">
              <a:solidFill>
                <a:schemeClr val="dk1"/>
              </a:solidFill>
              <a:latin typeface="Calibri"/>
              <a:ea typeface="Calibri"/>
              <a:cs typeface="Calibri"/>
              <a:sym typeface="Calibri"/>
            </a:endParaRPr>
          </a:p>
        </p:txBody>
      </p:sp>
      <p:pic>
        <p:nvPicPr>
          <p:cNvPr id="117" name="Google Shape;117;p18"/>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8019100" y="47900"/>
            <a:ext cx="860300" cy="481775"/>
          </a:xfrm>
          <a:prstGeom prst="rect">
            <a:avLst/>
          </a:prstGeom>
          <a:noFill/>
          <a:ln w="9525" cap="flat" cmpd="sng">
            <a:solidFill>
              <a:srgbClr val="FF0000"/>
            </a:solidFill>
            <a:prstDash val="solid"/>
            <a:round/>
            <a:headEnd type="none" w="sm" len="sm"/>
            <a:tailEnd type="none" w="sm" len="sm"/>
          </a:ln>
        </p:spPr>
      </p:pic>
      <p:pic>
        <p:nvPicPr>
          <p:cNvPr id="118" name="Google Shape;118;p18"/>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4633826" y="3647700"/>
            <a:ext cx="3887925" cy="1420150"/>
          </a:xfrm>
          <a:prstGeom prst="rect">
            <a:avLst/>
          </a:prstGeom>
          <a:noFill/>
          <a:ln w="9525" cap="flat" cmpd="sng">
            <a:solidFill>
              <a:srgbClr val="FF0000"/>
            </a:solidFill>
            <a:prstDash val="solid"/>
            <a:round/>
            <a:headEnd type="none" w="sm" len="sm"/>
            <a:tailEnd type="none" w="sm" len="sm"/>
          </a:ln>
        </p:spPr>
      </p:pic>
      <p:pic>
        <p:nvPicPr>
          <p:cNvPr id="119" name="Google Shape;119;p18"/>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4633825" y="1914400"/>
            <a:ext cx="2978100" cy="164640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19"/>
          <p:cNvSpPr txBox="1"/>
          <p:nvPr/>
        </p:nvSpPr>
        <p:spPr>
          <a:xfrm>
            <a:off x="76200" y="0"/>
            <a:ext cx="2350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Misc 2</a:t>
            </a:r>
            <a:endParaRPr sz="2000" b="1">
              <a:solidFill>
                <a:schemeClr val="dk1"/>
              </a:solidFill>
              <a:latin typeface="Calibri"/>
              <a:ea typeface="Calibri"/>
              <a:cs typeface="Calibri"/>
              <a:sym typeface="Calibri"/>
            </a:endParaRPr>
          </a:p>
        </p:txBody>
      </p:sp>
      <p:sp>
        <p:nvSpPr>
          <p:cNvPr id="125" name="Google Shape;125;p19"/>
          <p:cNvSpPr txBox="1"/>
          <p:nvPr/>
        </p:nvSpPr>
        <p:spPr>
          <a:xfrm>
            <a:off x="76200" y="410700"/>
            <a:ext cx="36360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Google Gemma 2 - two new models: 27B and 9B</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Trained on 13T tokens (27B) and 8T tokens (9B)</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Used Soft Attention, Distillation, RLHF &amp; Model Merging</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Whole lineup: 2B, 7B, 9B, and 27B sizes</a:t>
            </a:r>
            <a:endParaRPr sz="1200">
              <a:solidFill>
                <a:schemeClr val="dk1"/>
              </a:solidFill>
              <a:latin typeface="Calibri"/>
              <a:ea typeface="Calibri"/>
              <a:cs typeface="Calibri"/>
              <a:sym typeface="Calibri"/>
            </a:endParaRPr>
          </a:p>
        </p:txBody>
      </p:sp>
      <p:sp>
        <p:nvSpPr>
          <p:cNvPr id="126" name="Google Shape;126;p19"/>
          <p:cNvSpPr txBox="1"/>
          <p:nvPr/>
        </p:nvSpPr>
        <p:spPr>
          <a:xfrm>
            <a:off x="76200" y="1366775"/>
            <a:ext cx="37806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Etched "Sohu" chips for transformers - raises $120M</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u="sng">
                <a:solidFill>
                  <a:schemeClr val="hlink"/>
                </a:solidFill>
                <a:latin typeface="Calibri"/>
                <a:ea typeface="Calibri"/>
                <a:cs typeface="Calibri"/>
                <a:sym typeface="Calibri"/>
                <a:hlinkClick r:id="rId3"/>
              </a:rPr>
              <a:t>https://www.etched.com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Etched is working to produce chips on their state-of-the-art, 4nm node Its chips can achieve </a:t>
            </a:r>
            <a:r>
              <a:rPr lang="en" sz="1200" b="1">
                <a:solidFill>
                  <a:srgbClr val="3C78D8"/>
                </a:solidFill>
                <a:latin typeface="Calibri"/>
                <a:ea typeface="Calibri"/>
                <a:cs typeface="Calibri"/>
                <a:sym typeface="Calibri"/>
              </a:rPr>
              <a:t>500K tokens/second</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b="1">
                <a:solidFill>
                  <a:srgbClr val="FF0000"/>
                </a:solidFill>
                <a:latin typeface="Calibri"/>
                <a:ea typeface="Calibri"/>
                <a:cs typeface="Calibri"/>
                <a:sym typeface="Calibri"/>
              </a:rPr>
              <a:t>One 8xSohu server can replace 160 H100s</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p:txBody>
      </p:sp>
      <p:sp>
        <p:nvSpPr>
          <p:cNvPr id="127" name="Google Shape;127;p19"/>
          <p:cNvSpPr txBox="1"/>
          <p:nvPr/>
        </p:nvSpPr>
        <p:spPr>
          <a:xfrm>
            <a:off x="76200" y="2585600"/>
            <a:ext cx="4274400" cy="71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Open-source AI startup Stability AI </a:t>
            </a:r>
            <a:r>
              <a:rPr lang="en" sz="1200">
                <a:solidFill>
                  <a:schemeClr val="dk1"/>
                </a:solidFill>
                <a:latin typeface="Calibri"/>
                <a:ea typeface="Calibri"/>
                <a:cs typeface="Calibri"/>
                <a:sym typeface="Calibri"/>
              </a:rPr>
              <a:t>has appointed a new CEO and has received a cash injection, following months of turmoil and the departure of former CEO Emad Mostaque.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4"/>
              </a:rPr>
              <a:t>https://stability.ai/news/stability-ai-secures-significant-new-investment</a:t>
            </a:r>
            <a:endParaRPr sz="900">
              <a:solidFill>
                <a:schemeClr val="dk1"/>
              </a:solidFill>
              <a:latin typeface="Calibri"/>
              <a:ea typeface="Calibri"/>
              <a:cs typeface="Calibri"/>
              <a:sym typeface="Calibri"/>
            </a:endParaRPr>
          </a:p>
        </p:txBody>
      </p:sp>
      <p:pic>
        <p:nvPicPr>
          <p:cNvPr id="128" name="Google Shape;128;p1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1746200" y="3360812"/>
            <a:ext cx="791351" cy="849425"/>
          </a:xfrm>
          <a:prstGeom prst="rect">
            <a:avLst/>
          </a:prstGeom>
          <a:noFill/>
          <a:ln w="9525" cap="flat" cmpd="sng">
            <a:solidFill>
              <a:srgbClr val="FF0000"/>
            </a:solidFill>
            <a:prstDash val="solid"/>
            <a:round/>
            <a:headEnd type="none" w="sm" len="sm"/>
            <a:tailEnd type="none" w="sm" len="sm"/>
          </a:ln>
        </p:spPr>
      </p:pic>
      <p:sp>
        <p:nvSpPr>
          <p:cNvPr id="129" name="Google Shape;129;p19"/>
          <p:cNvSpPr txBox="1"/>
          <p:nvPr/>
        </p:nvSpPr>
        <p:spPr>
          <a:xfrm>
            <a:off x="2494445" y="3513200"/>
            <a:ext cx="12975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rgbClr val="A64D79"/>
                </a:solidFill>
                <a:latin typeface="Calibri"/>
                <a:ea typeface="Calibri"/>
                <a:cs typeface="Calibri"/>
                <a:sym typeface="Calibri"/>
              </a:rPr>
              <a:t>Prem Akkaraju</a:t>
            </a:r>
            <a:endParaRPr sz="1200">
              <a:solidFill>
                <a:srgbClr val="A64D79"/>
              </a:solidFill>
              <a:latin typeface="Calibri"/>
              <a:ea typeface="Calibri"/>
              <a:cs typeface="Calibri"/>
              <a:sym typeface="Calibri"/>
            </a:endParaRPr>
          </a:p>
          <a:p>
            <a:pPr marL="0" lvl="0" indent="0" algn="l" rtl="0">
              <a:spcBef>
                <a:spcPts val="0"/>
              </a:spcBef>
              <a:spcAft>
                <a:spcPts val="0"/>
              </a:spcAft>
              <a:buNone/>
            </a:pPr>
            <a:r>
              <a:rPr lang="en" sz="1200">
                <a:solidFill>
                  <a:srgbClr val="A64D79"/>
                </a:solidFill>
                <a:latin typeface="Calibri"/>
                <a:ea typeface="Calibri"/>
                <a:cs typeface="Calibri"/>
                <a:sym typeface="Calibri"/>
              </a:rPr>
              <a:t>CEO of Stability.AI</a:t>
            </a:r>
            <a:endParaRPr sz="1200">
              <a:solidFill>
                <a:srgbClr val="A64D79"/>
              </a:solidFill>
              <a:latin typeface="Calibri"/>
              <a:ea typeface="Calibri"/>
              <a:cs typeface="Calibri"/>
              <a:sym typeface="Calibri"/>
            </a:endParaRPr>
          </a:p>
        </p:txBody>
      </p:sp>
      <p:pic>
        <p:nvPicPr>
          <p:cNvPr id="130" name="Google Shape;130;p1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6200" y="3349138"/>
            <a:ext cx="1603275" cy="530323"/>
          </a:xfrm>
          <a:prstGeom prst="rect">
            <a:avLst/>
          </a:prstGeom>
          <a:noFill/>
          <a:ln>
            <a:noFill/>
          </a:ln>
        </p:spPr>
      </p:pic>
      <p:pic>
        <p:nvPicPr>
          <p:cNvPr id="131" name="Google Shape;131;p19"/>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4000200" y="1481325"/>
            <a:ext cx="1603277" cy="712909"/>
          </a:xfrm>
          <a:prstGeom prst="rect">
            <a:avLst/>
          </a:prstGeom>
          <a:noFill/>
          <a:ln>
            <a:noFill/>
          </a:ln>
        </p:spPr>
      </p:pic>
      <p:pic>
        <p:nvPicPr>
          <p:cNvPr id="132" name="Google Shape;132;p1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3794450" y="403748"/>
            <a:ext cx="1360000" cy="764153"/>
          </a:xfrm>
          <a:prstGeom prst="rect">
            <a:avLst/>
          </a:prstGeom>
          <a:noFill/>
          <a:ln>
            <a:noFill/>
          </a:ln>
        </p:spPr>
      </p:pic>
      <p:sp>
        <p:nvSpPr>
          <p:cNvPr id="133" name="Google Shape;133;p19"/>
          <p:cNvSpPr txBox="1"/>
          <p:nvPr/>
        </p:nvSpPr>
        <p:spPr>
          <a:xfrm>
            <a:off x="76200" y="4274450"/>
            <a:ext cx="378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imbue</a:t>
            </a:r>
            <a:r>
              <a:rPr lang="en" sz="1200">
                <a:solidFill>
                  <a:srgbClr val="0F0F0F"/>
                </a:solidFill>
                <a:latin typeface="Calibri"/>
                <a:ea typeface="Calibri"/>
                <a:cs typeface="Calibri"/>
                <a:sym typeface="Calibri"/>
              </a:rPr>
              <a:t> - training a </a:t>
            </a:r>
            <a:r>
              <a:rPr lang="en" sz="1200" b="1">
                <a:solidFill>
                  <a:srgbClr val="3C78D8"/>
                </a:solidFill>
                <a:latin typeface="Calibri"/>
                <a:ea typeface="Calibri"/>
                <a:cs typeface="Calibri"/>
                <a:sym typeface="Calibri"/>
              </a:rPr>
              <a:t>70B model</a:t>
            </a:r>
            <a:r>
              <a:rPr lang="en" sz="1200">
                <a:solidFill>
                  <a:srgbClr val="0F0F0F"/>
                </a:solidFill>
                <a:latin typeface="Calibri"/>
                <a:ea typeface="Calibri"/>
                <a:cs typeface="Calibri"/>
                <a:sym typeface="Calibri"/>
              </a:rPr>
              <a:t> to match/outperform </a:t>
            </a:r>
            <a:r>
              <a:rPr lang="en" sz="1200" b="1">
                <a:solidFill>
                  <a:srgbClr val="3C78D8"/>
                </a:solidFill>
                <a:latin typeface="Calibri"/>
                <a:ea typeface="Calibri"/>
                <a:cs typeface="Calibri"/>
                <a:sym typeface="Calibri"/>
              </a:rPr>
              <a:t>GPT-4o</a:t>
            </a:r>
            <a:endParaRPr sz="1200" b="1">
              <a:solidFill>
                <a:srgbClr val="3C78D8"/>
              </a:solidFill>
              <a:latin typeface="Calibri"/>
              <a:ea typeface="Calibri"/>
              <a:cs typeface="Calibri"/>
              <a:sym typeface="Calibri"/>
            </a:endParaRPr>
          </a:p>
          <a:p>
            <a:pPr marL="0" lvl="0" indent="0" algn="l" rtl="0">
              <a:spcBef>
                <a:spcPts val="0"/>
              </a:spcBef>
              <a:spcAft>
                <a:spcPts val="0"/>
              </a:spcAft>
              <a:buNone/>
            </a:pPr>
            <a:r>
              <a:rPr lang="en" sz="1200" u="sng">
                <a:solidFill>
                  <a:schemeClr val="hlink"/>
                </a:solidFill>
                <a:latin typeface="Calibri"/>
                <a:ea typeface="Calibri"/>
                <a:cs typeface="Calibri"/>
                <a:sym typeface="Calibri"/>
                <a:hlinkClick r:id="rId9"/>
              </a:rPr>
              <a:t>https://imbue.com/research/70b-intro/</a:t>
            </a:r>
            <a:r>
              <a:rPr lang="en" sz="1200">
                <a:solidFill>
                  <a:srgbClr val="0F0F0F"/>
                </a:solidFill>
                <a:latin typeface="Calibri"/>
                <a:ea typeface="Calibri"/>
                <a:cs typeface="Calibri"/>
                <a:sym typeface="Calibri"/>
              </a:rPr>
              <a:t> </a:t>
            </a:r>
            <a:endParaRPr sz="1200">
              <a:solidFill>
                <a:srgbClr val="0F0F0F"/>
              </a:solidFill>
              <a:latin typeface="Calibri"/>
              <a:ea typeface="Calibri"/>
              <a:cs typeface="Calibri"/>
              <a:sym typeface="Calibri"/>
            </a:endParaRPr>
          </a:p>
        </p:txBody>
      </p:sp>
      <p:pic>
        <p:nvPicPr>
          <p:cNvPr id="134" name="Google Shape;134;p19"/>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76201" y="4705200"/>
            <a:ext cx="1359987" cy="326400"/>
          </a:xfrm>
          <a:prstGeom prst="rect">
            <a:avLst/>
          </a:prstGeom>
          <a:noFill/>
          <a:ln>
            <a:noFill/>
          </a:ln>
        </p:spPr>
      </p:pic>
      <p:sp>
        <p:nvSpPr>
          <p:cNvPr id="135" name="Google Shape;135;p19"/>
          <p:cNvSpPr txBox="1"/>
          <p:nvPr/>
        </p:nvSpPr>
        <p:spPr>
          <a:xfrm>
            <a:off x="5944000" y="3682450"/>
            <a:ext cx="31221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Anthropic Claude AI "Projects"</a:t>
            </a:r>
            <a:r>
              <a:rPr lang="en" sz="1200">
                <a:solidFill>
                  <a:srgbClr val="0F0F0F"/>
                </a:solidFill>
                <a:latin typeface="Calibri"/>
                <a:ea typeface="Calibri"/>
                <a:cs typeface="Calibri"/>
                <a:sym typeface="Calibri"/>
              </a:rPr>
              <a:t> - allow users to organize files, chats, and info within a single location - a shared 200K context window, giving Claude quick access. Users can share Projects, collaborate with teammates. Users may have custom instructions for each Project,</a:t>
            </a:r>
            <a:endParaRPr sz="1200">
              <a:solidFill>
                <a:srgbClr val="0F0F0F"/>
              </a:solidFill>
              <a:latin typeface="Calibri"/>
              <a:ea typeface="Calibri"/>
              <a:cs typeface="Calibri"/>
              <a:sym typeface="Calibri"/>
            </a:endParaRPr>
          </a:p>
        </p:txBody>
      </p:sp>
      <p:pic>
        <p:nvPicPr>
          <p:cNvPr id="136" name="Google Shape;136;p19"/>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6810100" y="2314500"/>
            <a:ext cx="2256000" cy="1269000"/>
          </a:xfrm>
          <a:prstGeom prst="rect">
            <a:avLst/>
          </a:prstGeom>
          <a:noFill/>
          <a:ln>
            <a:noFill/>
          </a:ln>
        </p:spPr>
      </p:pic>
      <p:sp>
        <p:nvSpPr>
          <p:cNvPr id="137" name="Google Shape;137;p19"/>
          <p:cNvSpPr txBox="1"/>
          <p:nvPr/>
        </p:nvSpPr>
        <p:spPr>
          <a:xfrm>
            <a:off x="6589800" y="79800"/>
            <a:ext cx="2476200" cy="101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Researchers at </a:t>
            </a:r>
            <a:r>
              <a:rPr lang="en" sz="1300" b="1">
                <a:solidFill>
                  <a:srgbClr val="FF0000"/>
                </a:solidFill>
                <a:latin typeface="Calibri"/>
                <a:ea typeface="Calibri"/>
                <a:cs typeface="Calibri"/>
                <a:sym typeface="Calibri"/>
              </a:rPr>
              <a:t>Amazon</a:t>
            </a:r>
            <a:r>
              <a:rPr lang="en" sz="1300">
                <a:solidFill>
                  <a:schemeClr val="dk1"/>
                </a:solidFill>
                <a:latin typeface="Calibri"/>
                <a:ea typeface="Calibri"/>
                <a:cs typeface="Calibri"/>
                <a:sym typeface="Calibri"/>
              </a:rPr>
              <a:t> have trained a new LLM for </a:t>
            </a:r>
            <a:r>
              <a:rPr lang="en" sz="1300" b="1">
                <a:solidFill>
                  <a:srgbClr val="FF0000"/>
                </a:solidFill>
                <a:latin typeface="Calibri"/>
                <a:ea typeface="Calibri"/>
                <a:cs typeface="Calibri"/>
                <a:sym typeface="Calibri"/>
              </a:rPr>
              <a:t>text-to-speech</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BASE TTS</a:t>
            </a:r>
            <a:r>
              <a:rPr lang="en" sz="1300">
                <a:solidFill>
                  <a:schemeClr val="dk1"/>
                </a:solidFill>
                <a:latin typeface="Calibri"/>
                <a:ea typeface="Calibri"/>
                <a:cs typeface="Calibri"/>
                <a:sym typeface="Calibri"/>
              </a:rPr>
              <a:t> with 980 Million params is the largest text-to-speech model yet created. Feb 2024</a:t>
            </a:r>
            <a:endParaRPr sz="13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20"/>
          <p:cNvSpPr txBox="1"/>
          <p:nvPr/>
        </p:nvSpPr>
        <p:spPr>
          <a:xfrm>
            <a:off x="76200" y="0"/>
            <a:ext cx="2350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Misc 3</a:t>
            </a:r>
            <a:endParaRPr sz="2000" b="1">
              <a:solidFill>
                <a:schemeClr val="dk1"/>
              </a:solidFill>
              <a:latin typeface="Calibri"/>
              <a:ea typeface="Calibri"/>
              <a:cs typeface="Calibri"/>
              <a:sym typeface="Calibri"/>
            </a:endParaRPr>
          </a:p>
        </p:txBody>
      </p:sp>
      <p:sp>
        <p:nvSpPr>
          <p:cNvPr id="143" name="Google Shape;143;p20"/>
          <p:cNvSpPr txBox="1"/>
          <p:nvPr/>
        </p:nvSpPr>
        <p:spPr>
          <a:xfrm>
            <a:off x="76200" y="410700"/>
            <a:ext cx="4437900" cy="35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OpenAI</a:t>
            </a:r>
            <a:r>
              <a:rPr lang="en" sz="1300">
                <a:solidFill>
                  <a:schemeClr val="dk1"/>
                </a:solidFill>
                <a:latin typeface="Calibri"/>
                <a:ea typeface="Calibri"/>
                <a:cs typeface="Calibri"/>
                <a:sym typeface="Calibri"/>
              </a:rPr>
              <a:t> trained a model, </a:t>
            </a:r>
            <a:r>
              <a:rPr lang="en" sz="1300" b="1">
                <a:solidFill>
                  <a:srgbClr val="FF0000"/>
                </a:solidFill>
                <a:latin typeface="Calibri"/>
                <a:ea typeface="Calibri"/>
                <a:cs typeface="Calibri"/>
                <a:sym typeface="Calibri"/>
              </a:rPr>
              <a:t>CriticGPT</a:t>
            </a:r>
            <a:r>
              <a:rPr lang="en" sz="1300">
                <a:solidFill>
                  <a:schemeClr val="dk1"/>
                </a:solidFill>
                <a:latin typeface="Calibri"/>
                <a:ea typeface="Calibri"/>
                <a:cs typeface="Calibri"/>
                <a:sym typeface="Calibri"/>
              </a:rPr>
              <a:t>, to catch bugs in GPT-4’s code.</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3"/>
              </a:rPr>
              <a:t>https://twitter.com/OpenAI/status/1806372369151426673</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44" name="Google Shape;144;p20"/>
          <p:cNvSpPr txBox="1"/>
          <p:nvPr/>
        </p:nvSpPr>
        <p:spPr>
          <a:xfrm>
            <a:off x="76200" y="867900"/>
            <a:ext cx="4224000" cy="95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Low Energy LLM</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Idea - use Ternary Numbers: [-1, 0, +1].</a:t>
            </a:r>
            <a:br>
              <a:rPr lang="en" sz="13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This allows to use addition instead of multiplication</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50+ times less energy use</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4"/>
              </a:rPr>
              <a:t>https://www.santacruzworks.org/news/revolutionizing-energy-in-large-language-models</a:t>
            </a:r>
            <a:r>
              <a:rPr lang="en" sz="900">
                <a:solidFill>
                  <a:schemeClr val="dk1"/>
                </a:solidFill>
                <a:latin typeface="Calibri"/>
                <a:ea typeface="Calibri"/>
                <a:cs typeface="Calibri"/>
                <a:sym typeface="Calibri"/>
              </a:rPr>
              <a:t> </a:t>
            </a:r>
            <a:endParaRPr sz="500">
              <a:solidFill>
                <a:schemeClr val="dk1"/>
              </a:solidFill>
              <a:latin typeface="Calibri"/>
              <a:ea typeface="Calibri"/>
              <a:cs typeface="Calibri"/>
              <a:sym typeface="Calibri"/>
            </a:endParaRPr>
          </a:p>
        </p:txBody>
      </p:sp>
      <p:sp>
        <p:nvSpPr>
          <p:cNvPr id="145" name="Google Shape;145;p20"/>
          <p:cNvSpPr txBox="1"/>
          <p:nvPr/>
        </p:nvSpPr>
        <p:spPr>
          <a:xfrm>
            <a:off x="76200" y="1925400"/>
            <a:ext cx="4437900" cy="1896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Google Vertex AI for enterprise</a:t>
            </a:r>
            <a:r>
              <a:rPr lang="en" sz="1300">
                <a:solidFill>
                  <a:schemeClr val="dk1"/>
                </a:solidFill>
                <a:latin typeface="Calibri"/>
                <a:ea typeface="Calibri"/>
                <a:cs typeface="Calibri"/>
                <a:sym typeface="Calibri"/>
              </a:rPr>
              <a:t> (since 2021):</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b="1">
                <a:solidFill>
                  <a:srgbClr val="3C78D8"/>
                </a:solidFill>
                <a:latin typeface="Calibri"/>
                <a:ea typeface="Calibri"/>
                <a:cs typeface="Calibri"/>
                <a:sym typeface="Calibri"/>
              </a:rPr>
              <a:t>Grounding with Google Search</a:t>
            </a:r>
            <a:r>
              <a:rPr lang="en" sz="1300">
                <a:solidFill>
                  <a:schemeClr val="dk1"/>
                </a:solidFill>
                <a:latin typeface="Calibri"/>
                <a:ea typeface="Calibri"/>
                <a:cs typeface="Calibri"/>
                <a:sym typeface="Calibri"/>
              </a:rPr>
              <a:t>, allowing models to retrieve live internet information</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Upcoming (in Q3) </a:t>
            </a:r>
            <a:r>
              <a:rPr lang="en" sz="1300" b="1">
                <a:solidFill>
                  <a:srgbClr val="3C78D8"/>
                </a:solidFill>
                <a:latin typeface="Calibri"/>
                <a:ea typeface="Calibri"/>
                <a:cs typeface="Calibri"/>
                <a:sym typeface="Calibri"/>
              </a:rPr>
              <a:t>integration of 3rd party datasets</a:t>
            </a:r>
            <a:r>
              <a:rPr lang="en" sz="1300">
                <a:solidFill>
                  <a:schemeClr val="dk1"/>
                </a:solidFill>
                <a:latin typeface="Calibri"/>
                <a:ea typeface="Calibri"/>
                <a:cs typeface="Calibri"/>
                <a:sym typeface="Calibri"/>
              </a:rPr>
              <a:t> from providers like Moody’s and Thomson Reuters, available in</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b="1">
                <a:solidFill>
                  <a:srgbClr val="3C78D8"/>
                </a:solidFill>
                <a:latin typeface="Calibri"/>
                <a:ea typeface="Calibri"/>
                <a:cs typeface="Calibri"/>
                <a:sym typeface="Calibri"/>
              </a:rPr>
              <a:t>"high-fidelity mode" enables organizations to use their own datasets</a:t>
            </a:r>
            <a:r>
              <a:rPr lang="en" sz="1300">
                <a:solidFill>
                  <a:schemeClr val="dk1"/>
                </a:solidFill>
                <a:latin typeface="Calibri"/>
                <a:ea typeface="Calibri"/>
                <a:cs typeface="Calibri"/>
                <a:sym typeface="Calibri"/>
              </a:rPr>
              <a:t> for AI outputs (now in preview)</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b="1">
                <a:solidFill>
                  <a:srgbClr val="3C78D8"/>
                </a:solidFill>
                <a:latin typeface="Calibri"/>
                <a:ea typeface="Calibri"/>
                <a:cs typeface="Calibri"/>
                <a:sym typeface="Calibri"/>
              </a:rPr>
              <a:t>expanded Vector Search</a:t>
            </a:r>
            <a:r>
              <a:rPr lang="en" sz="1300">
                <a:solidFill>
                  <a:schemeClr val="dk1"/>
                </a:solidFill>
                <a:latin typeface="Calibri"/>
                <a:ea typeface="Calibri"/>
                <a:cs typeface="Calibri"/>
                <a:sym typeface="Calibri"/>
              </a:rPr>
              <a:t> capabilities</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5"/>
              </a:rPr>
              <a:t>https://cloud.google.com/blog/products/ai-machine-learning/vertex-ai-offers-enterprise-ready-generative-ai</a:t>
            </a:r>
            <a:endParaRPr sz="900">
              <a:solidFill>
                <a:schemeClr val="dk1"/>
              </a:solidFill>
              <a:latin typeface="Calibri"/>
              <a:ea typeface="Calibri"/>
              <a:cs typeface="Calibri"/>
              <a:sym typeface="Calibri"/>
            </a:endParaRPr>
          </a:p>
        </p:txBody>
      </p:sp>
      <p:pic>
        <p:nvPicPr>
          <p:cNvPr id="146" name="Google Shape;146;p2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00250" y="2200525"/>
            <a:ext cx="2713300" cy="1356650"/>
          </a:xfrm>
          <a:prstGeom prst="rect">
            <a:avLst/>
          </a:prstGeom>
          <a:noFill/>
          <a:ln w="9525" cap="flat" cmpd="sng">
            <a:solidFill>
              <a:srgbClr val="FF0000"/>
            </a:solidFill>
            <a:prstDash val="solid"/>
            <a:round/>
            <a:headEnd type="none" w="sm" len="sm"/>
            <a:tailEnd type="none" w="sm" len="sm"/>
          </a:ln>
        </p:spPr>
      </p:pic>
      <p:pic>
        <p:nvPicPr>
          <p:cNvPr id="147" name="Google Shape;147;p20"/>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4360813" y="867900"/>
            <a:ext cx="2251418" cy="957299"/>
          </a:xfrm>
          <a:prstGeom prst="rect">
            <a:avLst/>
          </a:prstGeom>
          <a:noFill/>
          <a:ln w="9525" cap="flat" cmpd="sng">
            <a:solidFill>
              <a:srgbClr val="FF0000"/>
            </a:solidFill>
            <a:prstDash val="solid"/>
            <a:round/>
            <a:headEnd type="none" w="sm" len="sm"/>
            <a:tailEnd type="none" w="sm" len="sm"/>
          </a:ln>
        </p:spPr>
      </p:pic>
      <p:sp>
        <p:nvSpPr>
          <p:cNvPr id="148" name="Google Shape;148;p20"/>
          <p:cNvSpPr txBox="1"/>
          <p:nvPr/>
        </p:nvSpPr>
        <p:spPr>
          <a:xfrm>
            <a:off x="76200" y="3971200"/>
            <a:ext cx="4437900" cy="101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Amazon Metis - new Chatbot powered by new model "Olympus" to be released in September.</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Instead of previous "Titan" (since Nov 2023) - a family of foundation models (text, image, multimodal embeddings and semantic search) available on AWS Bedrock</a:t>
            </a:r>
            <a:endParaRPr sz="900">
              <a:solidFill>
                <a:schemeClr val="dk1"/>
              </a:solidFill>
              <a:latin typeface="Calibri"/>
              <a:ea typeface="Calibri"/>
              <a:cs typeface="Calibri"/>
              <a:sym typeface="Calibri"/>
            </a:endParaRPr>
          </a:p>
        </p:txBody>
      </p:sp>
      <p:pic>
        <p:nvPicPr>
          <p:cNvPr id="149" name="Google Shape;149;p2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83075" y="3971200"/>
            <a:ext cx="2037600" cy="1018800"/>
          </a:xfrm>
          <a:prstGeom prst="rect">
            <a:avLst/>
          </a:prstGeom>
          <a:noFill/>
          <a:ln w="9525" cap="flat" cmpd="sng">
            <a:solidFill>
              <a:srgbClr val="FF0000"/>
            </a:solidFill>
            <a:prstDash val="solid"/>
            <a:round/>
            <a:headEnd type="none" w="sm" len="sm"/>
            <a:tailEnd type="none" w="sm" len="sm"/>
          </a:ln>
        </p:spPr>
      </p:pic>
      <p:sp>
        <p:nvSpPr>
          <p:cNvPr id="150" name="Google Shape;150;p20"/>
          <p:cNvSpPr txBox="1"/>
          <p:nvPr/>
        </p:nvSpPr>
        <p:spPr>
          <a:xfrm>
            <a:off x="5428435" y="52873"/>
            <a:ext cx="3659100" cy="52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OpenAI ChatGPT on MacOS</a:t>
            </a:r>
            <a:r>
              <a:rPr lang="en" sz="1300">
                <a:solidFill>
                  <a:schemeClr val="dk1"/>
                </a:solidFill>
                <a:latin typeface="Calibri"/>
                <a:ea typeface="Calibri"/>
                <a:cs typeface="Calibri"/>
                <a:sym typeface="Calibri"/>
              </a:rPr>
              <a:t> (Option-SPACE)</a:t>
            </a:r>
            <a:endParaRPr sz="1300">
              <a:solidFill>
                <a:schemeClr val="dk1"/>
              </a:solidFill>
              <a:latin typeface="Calibri"/>
              <a:ea typeface="Calibri"/>
              <a:cs typeface="Calibri"/>
              <a:sym typeface="Calibri"/>
            </a:endParaRPr>
          </a:p>
          <a:p>
            <a:pPr marL="228600" lvl="0" indent="-12065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9"/>
              </a:rPr>
              <a:t>https://twitter.com/OpenAI/status/1805679342439284831</a:t>
            </a:r>
            <a:endParaRPr sz="1000">
              <a:solidFill>
                <a:schemeClr val="dk1"/>
              </a:solidFill>
              <a:latin typeface="Calibri"/>
              <a:ea typeface="Calibri"/>
              <a:cs typeface="Calibri"/>
              <a:sym typeface="Calibri"/>
            </a:endParaRPr>
          </a:p>
          <a:p>
            <a:pPr marL="228600" lvl="0" indent="-12065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10"/>
              </a:rPr>
              <a:t>https://openai.com/chatgpt/mac/</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151" name="Google Shape;151;p20"/>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6701444" y="640975"/>
            <a:ext cx="2386081" cy="13566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21"/>
          <p:cNvSpPr txBox="1"/>
          <p:nvPr/>
        </p:nvSpPr>
        <p:spPr>
          <a:xfrm>
            <a:off x="76200" y="0"/>
            <a:ext cx="10305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Misc 4</a:t>
            </a:r>
            <a:endParaRPr sz="2000" b="1">
              <a:solidFill>
                <a:schemeClr val="dk1"/>
              </a:solidFill>
              <a:latin typeface="Calibri"/>
              <a:ea typeface="Calibri"/>
              <a:cs typeface="Calibri"/>
              <a:sym typeface="Calibri"/>
            </a:endParaRPr>
          </a:p>
        </p:txBody>
      </p:sp>
      <p:sp>
        <p:nvSpPr>
          <p:cNvPr id="157" name="Google Shape;157;p21"/>
          <p:cNvSpPr txBox="1"/>
          <p:nvPr/>
        </p:nvSpPr>
        <p:spPr>
          <a:xfrm>
            <a:off x="76200" y="410700"/>
            <a:ext cx="4436100" cy="818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75% of workers using AI</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b="1">
                <a:solidFill>
                  <a:srgbClr val="3C78D8"/>
                </a:solidFill>
                <a:latin typeface="Calibri"/>
                <a:ea typeface="Calibri"/>
                <a:cs typeface="Calibri"/>
                <a:sym typeface="Calibri"/>
              </a:rPr>
              <a:t>It is becoming rare to find people not using AI.</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Even small productivity boosts from AI are highly valuable for busy people and startups</a:t>
            </a:r>
            <a:endParaRPr sz="1300">
              <a:solidFill>
                <a:schemeClr val="dk1"/>
              </a:solidFill>
              <a:latin typeface="Calibri"/>
              <a:ea typeface="Calibri"/>
              <a:cs typeface="Calibri"/>
              <a:sym typeface="Calibri"/>
            </a:endParaRPr>
          </a:p>
        </p:txBody>
      </p:sp>
      <p:sp>
        <p:nvSpPr>
          <p:cNvPr id="158" name="Google Shape;158;p21"/>
          <p:cNvSpPr txBox="1"/>
          <p:nvPr/>
        </p:nvSpPr>
        <p:spPr>
          <a:xfrm>
            <a:off x="76200" y="1296160"/>
            <a:ext cx="4436100" cy="818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RAG fine-tuning outperforms larger models</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For example, fine-tuned Mistral 7B models using RAG match or beat larger models like GPT-4o &amp; Claude 3 Opus on popular open source codebases, with 150x lower cost &amp; 3.7x faster speed.</a:t>
            </a:r>
            <a:endParaRPr sz="1300">
              <a:solidFill>
                <a:schemeClr val="dk1"/>
              </a:solidFill>
              <a:latin typeface="Calibri"/>
              <a:ea typeface="Calibri"/>
              <a:cs typeface="Calibri"/>
              <a:sym typeface="Calibri"/>
            </a:endParaRPr>
          </a:p>
        </p:txBody>
      </p:sp>
      <p:sp>
        <p:nvSpPr>
          <p:cNvPr id="159" name="Google Shape;159;p21"/>
          <p:cNvSpPr txBox="1"/>
          <p:nvPr/>
        </p:nvSpPr>
        <p:spPr>
          <a:xfrm>
            <a:off x="76200" y="2173107"/>
            <a:ext cx="4436100" cy="181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Multiple ways to extend context length:</a:t>
            </a:r>
            <a:endParaRPr sz="1300" b="1">
              <a:solidFill>
                <a:srgbClr val="FF0000"/>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KVQuant for 10M token context</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Activation Beacon for 400K context</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Google Infini-attention for 1M sequence length</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Microsoft LongEmbed for 32K context</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PoSE for 128K context</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Microsoft LongRoPE for 2M context</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Self-Extend for long context</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Dual Chunk Attention for 100K context</a:t>
            </a:r>
            <a:endParaRPr sz="1300">
              <a:solidFill>
                <a:schemeClr val="dk1"/>
              </a:solidFill>
              <a:latin typeface="Calibri"/>
              <a:ea typeface="Calibri"/>
              <a:cs typeface="Calibri"/>
              <a:sym typeface="Calibri"/>
            </a:endParaRPr>
          </a:p>
        </p:txBody>
      </p:sp>
      <p:sp>
        <p:nvSpPr>
          <p:cNvPr id="160" name="Google Shape;160;p21"/>
          <p:cNvSpPr txBox="1"/>
          <p:nvPr/>
        </p:nvSpPr>
        <p:spPr>
          <a:xfrm>
            <a:off x="4614125" y="410700"/>
            <a:ext cx="4436100" cy="1173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 240T tokens dataset </a:t>
            </a:r>
            <a:r>
              <a:rPr lang="en" sz="1300">
                <a:latin typeface="Calibri"/>
                <a:ea typeface="Calibri"/>
                <a:cs typeface="Calibri"/>
                <a:sym typeface="Calibri"/>
              </a:rPr>
              <a:t>is now available!</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If FineWeb 15T comes out to 48 Terabytes,</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latin typeface="Calibri"/>
                <a:ea typeface="Calibri"/>
                <a:cs typeface="Calibri"/>
                <a:sym typeface="Calibri"/>
              </a:rPr>
              <a:t>can you imagine what a 240T looks like?</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8× larger than previous SOTA (RedPajama-Data-v2 30T 125TB)</a:t>
            </a:r>
            <a:endParaRPr sz="13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3"/>
              </a:rPr>
              <a:t>https://twitter.com/rohanpaul_ai/status/1805389473892778185</a:t>
            </a:r>
            <a:endParaRPr sz="1300">
              <a:solidFill>
                <a:schemeClr val="dk1"/>
              </a:solidFill>
              <a:latin typeface="Calibri"/>
              <a:ea typeface="Calibri"/>
              <a:cs typeface="Calibri"/>
              <a:sym typeface="Calibri"/>
            </a:endParaRPr>
          </a:p>
        </p:txBody>
      </p:sp>
      <p:sp>
        <p:nvSpPr>
          <p:cNvPr id="161" name="Google Shape;161;p21"/>
          <p:cNvSpPr txBox="1"/>
          <p:nvPr/>
        </p:nvSpPr>
        <p:spPr>
          <a:xfrm>
            <a:off x="4614125" y="1655908"/>
            <a:ext cx="3614700" cy="41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Andrej Karpathy</a:t>
            </a:r>
            <a:r>
              <a:rPr lang="en" sz="1300">
                <a:latin typeface="Calibri"/>
                <a:ea typeface="Calibri"/>
                <a:cs typeface="Calibri"/>
                <a:sym typeface="Calibri"/>
              </a:rPr>
              <a:t> announces LLM101n Storyteller AI course - </a:t>
            </a:r>
            <a:r>
              <a:rPr lang="en" sz="1000" u="sng">
                <a:solidFill>
                  <a:schemeClr val="hlink"/>
                </a:solidFill>
                <a:latin typeface="Calibri"/>
                <a:ea typeface="Calibri"/>
                <a:cs typeface="Calibri"/>
                <a:sym typeface="Calibri"/>
                <a:hlinkClick r:id="rId4"/>
              </a:rPr>
              <a:t>https://github.com/karpathy/LLM101n</a:t>
            </a:r>
            <a:endParaRPr sz="1300">
              <a:latin typeface="Calibri"/>
              <a:ea typeface="Calibri"/>
              <a:cs typeface="Calibri"/>
              <a:sym typeface="Calibri"/>
            </a:endParaRPr>
          </a:p>
        </p:txBody>
      </p:sp>
      <p:pic>
        <p:nvPicPr>
          <p:cNvPr id="162" name="Google Shape;162;p21"/>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301000" y="1638900"/>
            <a:ext cx="749225" cy="889300"/>
          </a:xfrm>
          <a:prstGeom prst="rect">
            <a:avLst/>
          </a:prstGeom>
          <a:noFill/>
          <a:ln>
            <a:noFill/>
          </a:ln>
        </p:spPr>
      </p:pic>
      <p:sp>
        <p:nvSpPr>
          <p:cNvPr id="163" name="Google Shape;163;p21"/>
          <p:cNvSpPr txBox="1"/>
          <p:nvPr/>
        </p:nvSpPr>
        <p:spPr>
          <a:xfrm>
            <a:off x="4599300" y="2146608"/>
            <a:ext cx="3614700" cy="52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Chrome Canary</a:t>
            </a:r>
            <a:r>
              <a:rPr lang="en" sz="1300">
                <a:latin typeface="Calibri"/>
                <a:ea typeface="Calibri"/>
                <a:cs typeface="Calibri"/>
                <a:sym typeface="Calibri"/>
              </a:rPr>
              <a:t> - can run Gemini locally, not stable</a:t>
            </a:r>
            <a:endParaRPr sz="13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6"/>
              </a:rPr>
              <a:t>https://www.google.com/chrome/canary/</a:t>
            </a:r>
            <a:endParaRPr sz="10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7"/>
              </a:rPr>
              <a:t>https://x.com/mortenjust/status/1805249068588834893</a:t>
            </a:r>
            <a:r>
              <a:rPr lang="en" sz="1000">
                <a:latin typeface="Calibri"/>
                <a:ea typeface="Calibri"/>
                <a:cs typeface="Calibri"/>
                <a:sym typeface="Calibri"/>
              </a:rPr>
              <a:t> </a:t>
            </a:r>
            <a:endParaRPr sz="1000">
              <a:latin typeface="Calibri"/>
              <a:ea typeface="Calibri"/>
              <a:cs typeface="Calibri"/>
              <a:sym typeface="Calibri"/>
            </a:endParaRPr>
          </a:p>
        </p:txBody>
      </p:sp>
      <p:pic>
        <p:nvPicPr>
          <p:cNvPr id="164" name="Google Shape;164;p21"/>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14124" y="2745301"/>
            <a:ext cx="1898550" cy="1898550"/>
          </a:xfrm>
          <a:prstGeom prst="rect">
            <a:avLst/>
          </a:prstGeom>
          <a:noFill/>
          <a:ln w="9525" cap="flat" cmpd="sng">
            <a:solidFill>
              <a:srgbClr val="FF0000"/>
            </a:solidFill>
            <a:prstDash val="solid"/>
            <a:round/>
            <a:headEnd type="none" w="sm" len="sm"/>
            <a:tailEnd type="none" w="sm" len="sm"/>
          </a:ln>
        </p:spPr>
      </p:pic>
      <p:sp>
        <p:nvSpPr>
          <p:cNvPr id="165" name="Google Shape;165;p21"/>
          <p:cNvSpPr txBox="1"/>
          <p:nvPr/>
        </p:nvSpPr>
        <p:spPr>
          <a:xfrm>
            <a:off x="76200" y="4050550"/>
            <a:ext cx="44361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Google Translate now supports 243 languages !</a:t>
            </a:r>
            <a:endParaRPr sz="1300">
              <a:solidFill>
                <a:schemeClr val="dk1"/>
              </a:solidFill>
              <a:latin typeface="Calibri"/>
              <a:ea typeface="Calibri"/>
              <a:cs typeface="Calibri"/>
              <a:sym typeface="Calibri"/>
            </a:endParaRPr>
          </a:p>
        </p:txBody>
      </p:sp>
      <p:sp>
        <p:nvSpPr>
          <p:cNvPr id="166" name="Google Shape;166;p21"/>
          <p:cNvSpPr txBox="1"/>
          <p:nvPr/>
        </p:nvSpPr>
        <p:spPr>
          <a:xfrm>
            <a:off x="76200" y="4340453"/>
            <a:ext cx="4436100" cy="52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Nvidia’s Synthesia 2.0 - Full-Body AI Avatars</a:t>
            </a: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9"/>
              </a:rPr>
              <a:t>https://www.techopedia.com/news/nvidias-synthesia-2-0-introduces-full-body-ai-avatars-and-screen-recording</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67" name="Google Shape;167;p21"/>
          <p:cNvSpPr txBox="1"/>
          <p:nvPr/>
        </p:nvSpPr>
        <p:spPr>
          <a:xfrm>
            <a:off x="6614500" y="2726000"/>
            <a:ext cx="2435700" cy="115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latin typeface="Calibri"/>
                <a:ea typeface="Calibri"/>
                <a:cs typeface="Calibri"/>
                <a:sym typeface="Calibri"/>
              </a:rPr>
              <a:t>OpenAI's CTO, </a:t>
            </a:r>
            <a:r>
              <a:rPr lang="en" sz="1300" b="1">
                <a:solidFill>
                  <a:srgbClr val="FF0000"/>
                </a:solidFill>
                <a:latin typeface="Calibri"/>
                <a:ea typeface="Calibri"/>
                <a:cs typeface="Calibri"/>
                <a:sym typeface="Calibri"/>
              </a:rPr>
              <a:t>Mira Murati</a:t>
            </a:r>
            <a:r>
              <a:rPr lang="en" sz="1300">
                <a:latin typeface="Calibri"/>
                <a:ea typeface="Calibri"/>
                <a:cs typeface="Calibri"/>
                <a:sym typeface="Calibri"/>
              </a:rPr>
              <a:t>, has revealed that </a:t>
            </a:r>
            <a:r>
              <a:rPr lang="en" sz="1300" b="1">
                <a:solidFill>
                  <a:srgbClr val="3C78D8"/>
                </a:solidFill>
                <a:latin typeface="Calibri"/>
                <a:ea typeface="Calibri"/>
                <a:cs typeface="Calibri"/>
                <a:sym typeface="Calibri"/>
              </a:rPr>
              <a:t>GPT-5 will likely be released only in late 2025 </a:t>
            </a:r>
            <a:r>
              <a:rPr lang="en" sz="1300">
                <a:latin typeface="Calibri"/>
                <a:ea typeface="Calibri"/>
                <a:cs typeface="Calibri"/>
                <a:sym typeface="Calibri"/>
              </a:rPr>
              <a:t>or early 2026. It will have Ph.D. level intelligence in some areas.</a:t>
            </a:r>
            <a:endParaRPr sz="900">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10"/>
              </a:rPr>
              <a:t>https://www.youtube.com/watch?v=yUoj9B8OpR8</a:t>
            </a:r>
            <a:r>
              <a:rPr lang="en" sz="900">
                <a:latin typeface="Calibri"/>
                <a:ea typeface="Calibri"/>
                <a:cs typeface="Calibri"/>
                <a:sym typeface="Calibri"/>
              </a:rPr>
              <a:t> </a:t>
            </a:r>
            <a:endParaRPr sz="900">
              <a:latin typeface="Calibri"/>
              <a:ea typeface="Calibri"/>
              <a:cs typeface="Calibri"/>
              <a:sym typeface="Calibri"/>
            </a:endParaRPr>
          </a:p>
        </p:txBody>
      </p:sp>
      <p:pic>
        <p:nvPicPr>
          <p:cNvPr id="168" name="Google Shape;168;p21"/>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8113800" y="3942998"/>
            <a:ext cx="936400" cy="11043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22"/>
          <p:cNvSpPr txBox="1"/>
          <p:nvPr/>
        </p:nvSpPr>
        <p:spPr>
          <a:xfrm>
            <a:off x="76200" y="0"/>
            <a:ext cx="2350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AMD MI300X</a:t>
            </a:r>
            <a:endParaRPr sz="2000" b="1">
              <a:solidFill>
                <a:schemeClr val="dk1"/>
              </a:solidFill>
              <a:latin typeface="Calibri"/>
              <a:ea typeface="Calibri"/>
              <a:cs typeface="Calibri"/>
              <a:sym typeface="Calibri"/>
            </a:endParaRPr>
          </a:p>
        </p:txBody>
      </p:sp>
      <p:sp>
        <p:nvSpPr>
          <p:cNvPr id="174" name="Google Shape;174;p22"/>
          <p:cNvSpPr txBox="1"/>
          <p:nvPr/>
        </p:nvSpPr>
        <p:spPr>
          <a:xfrm>
            <a:off x="76200" y="410700"/>
            <a:ext cx="6102600" cy="115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AMD MI300X vs H100 comparison on the LLaMA-2 70B model: </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AMD's MI300X is ~5% slower - but 46% cheaper with 2.5X the memory of NVIDIA's H100.</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3"/>
              </a:rPr>
              <a:t>https://www.tomshardware.com/pc-components/gpus/amd-mi300x-performance-compared-with-nvidia-h100</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The MI300X is AMD's latest and greatest AI GPU flagship (to compete with Nvidia H100).</a:t>
            </a:r>
            <a:br>
              <a:rPr lang="en" sz="13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The upcoming MI325X will take on the H200</a:t>
            </a:r>
            <a:br>
              <a:rPr lang="en" sz="13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the MI350 and MI400 - on Blackwell B200. </a:t>
            </a:r>
            <a:endParaRPr sz="1300">
              <a:solidFill>
                <a:schemeClr val="dk1"/>
              </a:solidFill>
              <a:latin typeface="Calibri"/>
              <a:ea typeface="Calibri"/>
              <a:cs typeface="Calibri"/>
              <a:sym typeface="Calibri"/>
            </a:endParaRPr>
          </a:p>
        </p:txBody>
      </p:sp>
      <p:pic>
        <p:nvPicPr>
          <p:cNvPr id="175" name="Google Shape;175;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82450" y="3300025"/>
            <a:ext cx="4325099" cy="1779900"/>
          </a:xfrm>
          <a:prstGeom prst="rect">
            <a:avLst/>
          </a:prstGeom>
          <a:noFill/>
          <a:ln>
            <a:noFill/>
          </a:ln>
        </p:spPr>
      </p:pic>
      <p:sp>
        <p:nvSpPr>
          <p:cNvPr id="176" name="Google Shape;176;p22"/>
          <p:cNvSpPr txBox="1"/>
          <p:nvPr/>
        </p:nvSpPr>
        <p:spPr>
          <a:xfrm>
            <a:off x="4083450" y="4579875"/>
            <a:ext cx="6990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ctr" rtl="0">
              <a:spcBef>
                <a:spcPts val="0"/>
              </a:spcBef>
              <a:spcAft>
                <a:spcPts val="0"/>
              </a:spcAft>
              <a:buNone/>
            </a:pPr>
            <a:r>
              <a:rPr lang="en" sz="1300">
                <a:solidFill>
                  <a:schemeClr val="dk1"/>
                </a:solidFill>
                <a:latin typeface="Calibri"/>
                <a:ea typeface="Calibri"/>
                <a:cs typeface="Calibri"/>
                <a:sym typeface="Calibri"/>
              </a:rPr>
              <a:t>MI300X</a:t>
            </a:r>
            <a:endParaRPr sz="900">
              <a:solidFill>
                <a:schemeClr val="dk1"/>
              </a:solidFill>
              <a:latin typeface="Calibri"/>
              <a:ea typeface="Calibri"/>
              <a:cs typeface="Calibri"/>
              <a:sym typeface="Calibri"/>
            </a:endParaRPr>
          </a:p>
        </p:txBody>
      </p:sp>
      <p:sp>
        <p:nvSpPr>
          <p:cNvPr id="177" name="Google Shape;177;p22"/>
          <p:cNvSpPr txBox="1"/>
          <p:nvPr/>
        </p:nvSpPr>
        <p:spPr>
          <a:xfrm>
            <a:off x="4083450" y="3937950"/>
            <a:ext cx="6990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ctr" rtl="0">
              <a:spcBef>
                <a:spcPts val="0"/>
              </a:spcBef>
              <a:spcAft>
                <a:spcPts val="0"/>
              </a:spcAft>
              <a:buNone/>
            </a:pPr>
            <a:r>
              <a:rPr lang="en" sz="1300">
                <a:solidFill>
                  <a:schemeClr val="dk1"/>
                </a:solidFill>
                <a:latin typeface="Calibri"/>
                <a:ea typeface="Calibri"/>
                <a:cs typeface="Calibri"/>
                <a:sym typeface="Calibri"/>
              </a:rPr>
              <a:t>H100</a:t>
            </a:r>
            <a:endParaRPr sz="900">
              <a:solidFill>
                <a:schemeClr val="dk1"/>
              </a:solidFill>
              <a:latin typeface="Calibri"/>
              <a:ea typeface="Calibri"/>
              <a:cs typeface="Calibri"/>
              <a:sym typeface="Calibri"/>
            </a:endParaRPr>
          </a:p>
        </p:txBody>
      </p:sp>
      <p:sp>
        <p:nvSpPr>
          <p:cNvPr id="178" name="Google Shape;178;p22"/>
          <p:cNvSpPr txBox="1"/>
          <p:nvPr/>
        </p:nvSpPr>
        <p:spPr>
          <a:xfrm>
            <a:off x="6935975" y="3606600"/>
            <a:ext cx="13962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ctr" rtl="0">
              <a:spcBef>
                <a:spcPts val="0"/>
              </a:spcBef>
              <a:spcAft>
                <a:spcPts val="0"/>
              </a:spcAft>
              <a:buNone/>
            </a:pPr>
            <a:r>
              <a:rPr lang="en" sz="1300">
                <a:solidFill>
                  <a:schemeClr val="dk1"/>
                </a:solidFill>
                <a:latin typeface="Calibri"/>
                <a:ea typeface="Calibri"/>
                <a:cs typeface="Calibri"/>
                <a:sym typeface="Calibri"/>
              </a:rPr>
              <a:t>Tokens per Second</a:t>
            </a:r>
            <a:endParaRPr sz="900">
              <a:solidFill>
                <a:schemeClr val="dk1"/>
              </a:solidFill>
              <a:latin typeface="Calibri"/>
              <a:ea typeface="Calibri"/>
              <a:cs typeface="Calibri"/>
              <a:sym typeface="Calibri"/>
            </a:endParaRPr>
          </a:p>
        </p:txBody>
      </p:sp>
      <p:sp>
        <p:nvSpPr>
          <p:cNvPr id="179" name="Google Shape;179;p22"/>
          <p:cNvSpPr txBox="1"/>
          <p:nvPr/>
        </p:nvSpPr>
        <p:spPr>
          <a:xfrm>
            <a:off x="5723275" y="2881525"/>
            <a:ext cx="3147600" cy="41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At times the MI300X was 5X faster than the H100, and at worst it was roughly 40% faster. </a:t>
            </a:r>
            <a:endParaRPr sz="1300">
              <a:solidFill>
                <a:schemeClr val="dk1"/>
              </a:solidFill>
              <a:latin typeface="Calibri"/>
              <a:ea typeface="Calibri"/>
              <a:cs typeface="Calibri"/>
              <a:sym typeface="Calibri"/>
            </a:endParaRPr>
          </a:p>
        </p:txBody>
      </p:sp>
      <p:pic>
        <p:nvPicPr>
          <p:cNvPr id="180" name="Google Shape;180;p22"/>
          <p:cNvPicPr preferRelativeResize="0"/>
          <p:nvPr/>
        </p:nvPicPr>
        <p:blipFill>
          <a:blip r:embed="rId5">
            <a:alphaModFix/>
          </a:blip>
          <a:stretch>
            <a:fillRect/>
          </a:stretch>
        </p:blipFill>
        <p:spPr>
          <a:xfrm>
            <a:off x="6656425" y="169025"/>
            <a:ext cx="2350200" cy="2198247"/>
          </a:xfrm>
          <a:prstGeom prst="rect">
            <a:avLst/>
          </a:prstGeom>
          <a:noFill/>
          <a:ln>
            <a:noFill/>
          </a:ln>
        </p:spPr>
      </p:pic>
      <p:pic>
        <p:nvPicPr>
          <p:cNvPr id="181" name="Google Shape;181;p22"/>
          <p:cNvPicPr preferRelativeResize="0"/>
          <p:nvPr/>
        </p:nvPicPr>
        <p:blipFill>
          <a:blip r:embed="rId6">
            <a:alphaModFix/>
          </a:blip>
          <a:stretch>
            <a:fillRect/>
          </a:stretch>
        </p:blipFill>
        <p:spPr>
          <a:xfrm>
            <a:off x="76200" y="1700575"/>
            <a:ext cx="3924300" cy="19683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23"/>
          <p:cNvSpPr txBox="1"/>
          <p:nvPr/>
        </p:nvSpPr>
        <p:spPr>
          <a:xfrm>
            <a:off x="76200" y="0"/>
            <a:ext cx="1473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pdfplumber</a:t>
            </a:r>
            <a:endParaRPr sz="2000" b="1">
              <a:solidFill>
                <a:schemeClr val="dk1"/>
              </a:solidFill>
              <a:latin typeface="Calibri"/>
              <a:ea typeface="Calibri"/>
              <a:cs typeface="Calibri"/>
              <a:sym typeface="Calibri"/>
            </a:endParaRPr>
          </a:p>
        </p:txBody>
      </p:sp>
      <p:sp>
        <p:nvSpPr>
          <p:cNvPr id="187" name="Google Shape;187;p23"/>
          <p:cNvSpPr txBox="1"/>
          <p:nvPr/>
        </p:nvSpPr>
        <p:spPr>
          <a:xfrm>
            <a:off x="76200" y="410700"/>
            <a:ext cx="4410600" cy="2311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pdfplumber</a:t>
            </a:r>
            <a:r>
              <a:rPr lang="en" sz="1300">
                <a:solidFill>
                  <a:schemeClr val="dk1"/>
                </a:solidFill>
                <a:latin typeface="Calibri"/>
                <a:ea typeface="Calibri"/>
                <a:cs typeface="Calibri"/>
                <a:sym typeface="Calibri"/>
              </a:rPr>
              <a:t> - a python module to extract content from PDF files, including text, tables, and metadata. </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b="1">
                <a:solidFill>
                  <a:srgbClr val="3C78D8"/>
                </a:solidFill>
                <a:latin typeface="Roboto Mono"/>
                <a:ea typeface="Roboto Mono"/>
                <a:cs typeface="Roboto Mono"/>
                <a:sym typeface="Roboto Mono"/>
              </a:rPr>
              <a:t>import pdfplumber</a:t>
            </a:r>
            <a:endParaRPr sz="10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000" b="1">
                <a:solidFill>
                  <a:srgbClr val="3C78D8"/>
                </a:solidFill>
                <a:latin typeface="Roboto Mono"/>
                <a:ea typeface="Roboto Mono"/>
                <a:cs typeface="Roboto Mono"/>
                <a:sym typeface="Roboto Mono"/>
              </a:rPr>
              <a:t>import pandas as pd</a:t>
            </a:r>
            <a:endParaRPr sz="10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endParaRPr sz="10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000" b="1">
                <a:solidFill>
                  <a:srgbClr val="3C78D8"/>
                </a:solidFill>
                <a:latin typeface="Roboto Mono"/>
                <a:ea typeface="Roboto Mono"/>
                <a:cs typeface="Roboto Mono"/>
                <a:sym typeface="Roboto Mono"/>
              </a:rPr>
              <a:t>pdf_path = "path/to/your/pdf_file.pdf"</a:t>
            </a:r>
            <a:endParaRPr sz="10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endParaRPr sz="10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000" b="1">
                <a:solidFill>
                  <a:srgbClr val="3C78D8"/>
                </a:solidFill>
                <a:latin typeface="Roboto Mono"/>
                <a:ea typeface="Roboto Mono"/>
                <a:cs typeface="Roboto Mono"/>
                <a:sym typeface="Roboto Mono"/>
              </a:rPr>
              <a:t>with pdfplumber.open(pdf_path) as pdf:</a:t>
            </a:r>
            <a:endParaRPr sz="10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000" b="1">
                <a:solidFill>
                  <a:srgbClr val="3C78D8"/>
                </a:solidFill>
                <a:latin typeface="Roboto Mono"/>
                <a:ea typeface="Roboto Mono"/>
                <a:cs typeface="Roboto Mono"/>
                <a:sym typeface="Roboto Mono"/>
              </a:rPr>
              <a:t>    for page in pdf.pages:</a:t>
            </a:r>
            <a:endParaRPr sz="10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000" b="1">
                <a:solidFill>
                  <a:srgbClr val="3C78D8"/>
                </a:solidFill>
                <a:latin typeface="Roboto Mono"/>
                <a:ea typeface="Roboto Mono"/>
                <a:cs typeface="Roboto Mono"/>
                <a:sym typeface="Roboto Mono"/>
              </a:rPr>
              <a:t>        tbl = page.extract_table()</a:t>
            </a:r>
            <a:endParaRPr sz="10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1000" b="1">
                <a:solidFill>
                  <a:srgbClr val="3C78D8"/>
                </a:solidFill>
                <a:latin typeface="Roboto Mono"/>
                <a:ea typeface="Roboto Mono"/>
                <a:cs typeface="Roboto Mono"/>
                <a:sym typeface="Roboto Mono"/>
              </a:rPr>
              <a:t>        if tbl:</a:t>
            </a:r>
            <a:endParaRPr sz="10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000" b="1">
                <a:solidFill>
                  <a:srgbClr val="3C78D8"/>
                </a:solidFill>
                <a:latin typeface="Roboto Mono"/>
                <a:ea typeface="Roboto Mono"/>
                <a:cs typeface="Roboto Mono"/>
                <a:sym typeface="Roboto Mono"/>
              </a:rPr>
              <a:t>            df = pd.DataFrame(tbl[1:], columns=tbl[0])</a:t>
            </a:r>
            <a:endParaRPr sz="10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1000" b="1">
                <a:solidFill>
                  <a:srgbClr val="3C78D8"/>
                </a:solidFill>
                <a:latin typeface="Roboto Mono"/>
                <a:ea typeface="Roboto Mono"/>
                <a:cs typeface="Roboto Mono"/>
                <a:sym typeface="Roboto Mono"/>
              </a:rPr>
              <a:t>            print(df)</a:t>
            </a:r>
            <a:endParaRPr sz="1300">
              <a:solidFill>
                <a:schemeClr val="dk1"/>
              </a:solidFill>
              <a:latin typeface="Calibri"/>
              <a:ea typeface="Calibri"/>
              <a:cs typeface="Calibri"/>
              <a:sym typeface="Calibri"/>
            </a:endParaRPr>
          </a:p>
        </p:txBody>
      </p:sp>
      <p:sp>
        <p:nvSpPr>
          <p:cNvPr id="188" name="Google Shape;188;p23"/>
          <p:cNvSpPr txBox="1"/>
          <p:nvPr/>
        </p:nvSpPr>
        <p:spPr>
          <a:xfrm>
            <a:off x="76200" y="3089300"/>
            <a:ext cx="8812200" cy="194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 </a:t>
            </a:r>
            <a:r>
              <a:rPr lang="en" sz="1300" b="1">
                <a:solidFill>
                  <a:srgbClr val="FF0000"/>
                </a:solidFill>
                <a:latin typeface="Calibri"/>
                <a:ea typeface="Calibri"/>
                <a:cs typeface="Calibri"/>
                <a:sym typeface="Calibri"/>
              </a:rPr>
              <a:t>ParaLLM: 1600+ tok/s on a MacBook</a:t>
            </a:r>
            <a:r>
              <a:rPr lang="en" sz="1300">
                <a:solidFill>
                  <a:schemeClr val="dk1"/>
                </a:solidFill>
                <a:latin typeface="Calibri"/>
                <a:ea typeface="Calibri"/>
                <a:cs typeface="Calibri"/>
                <a:sym typeface="Calibri"/>
              </a:rPr>
              <a:t> - </a:t>
            </a:r>
            <a:r>
              <a:rPr lang="en" sz="1300" u="sng">
                <a:solidFill>
                  <a:schemeClr val="hlink"/>
                </a:solidFill>
                <a:latin typeface="Calibri"/>
                <a:ea typeface="Calibri"/>
                <a:cs typeface="Calibri"/>
                <a:sym typeface="Calibri"/>
                <a:hlinkClick r:id="rId3"/>
              </a:rPr>
              <a:t>https://willcb.com/blog/parallm/</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900" b="1">
                <a:solidFill>
                  <a:srgbClr val="3C78D8"/>
                </a:solidFill>
                <a:latin typeface="Roboto Mono"/>
                <a:ea typeface="Roboto Mono"/>
                <a:cs typeface="Roboto Mono"/>
                <a:sym typeface="Roboto Mono"/>
              </a:rPr>
              <a:t>from mlx_parallm.utils import load, generate, batch_generate</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None/>
            </a:pPr>
            <a:endParaRPr sz="9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900" b="1">
                <a:solidFill>
                  <a:srgbClr val="6AA84F"/>
                </a:solidFill>
                <a:latin typeface="Roboto Mono"/>
                <a:ea typeface="Roboto Mono"/>
                <a:cs typeface="Roboto Mono"/>
                <a:sym typeface="Roboto Mono"/>
              </a:rPr>
              <a:t># fun trick for generating workloads</a:t>
            </a:r>
            <a:endParaRPr sz="900" b="1">
              <a:solidFill>
                <a:srgbClr val="6AA84F"/>
              </a:solidFill>
              <a:latin typeface="Roboto Mono"/>
              <a:ea typeface="Roboto Mono"/>
              <a:cs typeface="Roboto Mono"/>
              <a:sym typeface="Roboto Mono"/>
            </a:endParaRPr>
          </a:p>
          <a:p>
            <a:pPr marL="0" lvl="0" indent="0" algn="l" rtl="0">
              <a:spcBef>
                <a:spcPts val="0"/>
              </a:spcBef>
              <a:spcAft>
                <a:spcPts val="0"/>
              </a:spcAft>
              <a:buNone/>
            </a:pPr>
            <a:r>
              <a:rPr lang="en" sz="900" b="1">
                <a:solidFill>
                  <a:srgbClr val="3C78D8"/>
                </a:solidFill>
                <a:latin typeface="Roboto Mono"/>
                <a:ea typeface="Roboto Mono"/>
                <a:cs typeface="Roboto Mono"/>
                <a:sym typeface="Roboto Mono"/>
              </a:rPr>
              <a:t>import string</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900" b="1">
                <a:solidFill>
                  <a:srgbClr val="3C78D8"/>
                </a:solidFill>
                <a:latin typeface="Roboto Mono"/>
                <a:ea typeface="Roboto Mono"/>
                <a:cs typeface="Roboto Mono"/>
                <a:sym typeface="Roboto Mono"/>
              </a:rPr>
              <a:t>capital_letters = string.ascii_uppercase</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900" b="1">
                <a:solidFill>
                  <a:srgbClr val="3C78D8"/>
                </a:solidFill>
                <a:latin typeface="Roboto Mono"/>
                <a:ea typeface="Roboto Mono"/>
                <a:cs typeface="Roboto Mono"/>
                <a:sym typeface="Roboto Mono"/>
              </a:rPr>
              <a:t>distinct_pairs = [(a, b) for i, a in enumerate(capital_letters) for b in capital_letters[i + 1:]]</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900" b="1">
                <a:solidFill>
                  <a:srgbClr val="3C78D8"/>
                </a:solidFill>
                <a:latin typeface="Roboto Mono"/>
                <a:ea typeface="Roboto Mono"/>
                <a:cs typeface="Roboto Mono"/>
                <a:sym typeface="Roboto Mono"/>
              </a:rPr>
              <a:t>prompt_template = </a:t>
            </a:r>
            <a:r>
              <a:rPr lang="en" sz="900" b="1">
                <a:solidFill>
                  <a:srgbClr val="A61C00"/>
                </a:solidFill>
                <a:latin typeface="Roboto Mono"/>
                <a:ea typeface="Roboto Mono"/>
                <a:cs typeface="Roboto Mono"/>
                <a:sym typeface="Roboto Mono"/>
              </a:rPr>
              <a:t>"Think of a real word containing both the letters {l1} and {l2}. Then, say 3 sentences which use the word."</a:t>
            </a:r>
            <a:endParaRPr sz="900" b="1">
              <a:solidFill>
                <a:srgbClr val="A61C00"/>
              </a:solidFill>
              <a:latin typeface="Roboto Mono"/>
              <a:ea typeface="Roboto Mono"/>
              <a:cs typeface="Roboto Mono"/>
              <a:sym typeface="Roboto Mono"/>
            </a:endParaRPr>
          </a:p>
          <a:p>
            <a:pPr marL="0" lvl="0" indent="0" algn="l" rtl="0">
              <a:spcBef>
                <a:spcPts val="0"/>
              </a:spcBef>
              <a:spcAft>
                <a:spcPts val="0"/>
              </a:spcAft>
              <a:buNone/>
            </a:pPr>
            <a:r>
              <a:rPr lang="en" sz="900" b="1">
                <a:solidFill>
                  <a:srgbClr val="3C78D8"/>
                </a:solidFill>
                <a:latin typeface="Roboto Mono"/>
                <a:ea typeface="Roboto Mono"/>
                <a:cs typeface="Roboto Mono"/>
                <a:sym typeface="Roboto Mono"/>
              </a:rPr>
              <a:t>prompts_raw = [prompt_template.format(l1=p[0], l2=p[1]) for p in random.sample(distinct_pairs, 325)]</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None/>
            </a:pPr>
            <a:endParaRPr sz="9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900" b="1">
                <a:solidFill>
                  <a:srgbClr val="3C78D8"/>
                </a:solidFill>
                <a:latin typeface="Roboto Mono"/>
                <a:ea typeface="Roboto Mono"/>
                <a:cs typeface="Roboto Mono"/>
                <a:sym typeface="Roboto Mono"/>
              </a:rPr>
              <a:t>model, tokenizer = load(</a:t>
            </a:r>
            <a:r>
              <a:rPr lang="en" sz="900" b="1">
                <a:solidFill>
                  <a:srgbClr val="A61C00"/>
                </a:solidFill>
                <a:latin typeface="Roboto Mono"/>
                <a:ea typeface="Roboto Mono"/>
                <a:cs typeface="Roboto Mono"/>
                <a:sym typeface="Roboto Mono"/>
              </a:rPr>
              <a:t>"google/gemma-1.1-2b-it"</a:t>
            </a: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900" b="1">
                <a:solidFill>
                  <a:srgbClr val="3C78D8"/>
                </a:solidFill>
                <a:latin typeface="Roboto Mono"/>
                <a:ea typeface="Roboto Mono"/>
                <a:cs typeface="Roboto Mono"/>
                <a:sym typeface="Roboto Mono"/>
              </a:rPr>
              <a:t>responses = batch_generate(model, tokenizer, prompts=prompts_raw, max_tokens=100, verbose=True, temp=0.0)</a:t>
            </a:r>
            <a:endParaRPr sz="900" b="1">
              <a:solidFill>
                <a:srgbClr val="3C78D8"/>
              </a:solidFill>
              <a:latin typeface="Roboto Mono"/>
              <a:ea typeface="Roboto Mono"/>
              <a:cs typeface="Roboto Mono"/>
              <a:sym typeface="Roboto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24"/>
          <p:cNvSpPr txBox="1"/>
          <p:nvPr/>
        </p:nvSpPr>
        <p:spPr>
          <a:xfrm>
            <a:off x="76200" y="59600"/>
            <a:ext cx="4955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Mixture-of-Agents (MoA) in 50 lines</a:t>
            </a:r>
            <a:endParaRPr sz="2000" b="1">
              <a:solidFill>
                <a:schemeClr val="dk1"/>
              </a:solidFill>
              <a:latin typeface="Calibri"/>
              <a:ea typeface="Calibri"/>
              <a:cs typeface="Calibri"/>
              <a:sym typeface="Calibri"/>
            </a:endParaRPr>
          </a:p>
        </p:txBody>
      </p:sp>
      <p:sp>
        <p:nvSpPr>
          <p:cNvPr id="194" name="Google Shape;194;p24"/>
          <p:cNvSpPr txBox="1"/>
          <p:nvPr/>
        </p:nvSpPr>
        <p:spPr>
          <a:xfrm>
            <a:off x="76200" y="486900"/>
            <a:ext cx="4410600" cy="680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Mixture-of-Agents (MoA) in 50 lines of code</a:t>
            </a:r>
            <a:endParaRPr sz="1300">
              <a:solidFill>
                <a:schemeClr val="dk1"/>
              </a:solidFill>
              <a:latin typeface="Calibri"/>
              <a:ea typeface="Calibri"/>
              <a:cs typeface="Calibri"/>
              <a:sym typeface="Calibri"/>
            </a:endParaRPr>
          </a:p>
          <a:p>
            <a:pPr marL="228600" lvl="0" indent="-12065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3"/>
              </a:rPr>
              <a:t>https://github.com/togethercomputer/MoA/tree/main</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2065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https://github.com/togethercomputer/MoA/blob/main/moa.py</a:t>
            </a:r>
            <a:endParaRPr sz="1000">
              <a:solidFill>
                <a:schemeClr val="dk1"/>
              </a:solidFill>
              <a:latin typeface="Calibri"/>
              <a:ea typeface="Calibri"/>
              <a:cs typeface="Calibri"/>
              <a:sym typeface="Calibri"/>
            </a:endParaRPr>
          </a:p>
          <a:p>
            <a:pPr marL="228600" lvl="0" indent="-120650" algn="l" rtl="0">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5"/>
              </a:rPr>
              <a:t>https://twitter.com/togethercompute/status/1805289022241259803</a:t>
            </a:r>
            <a:r>
              <a:rPr lang="en" sz="10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pic>
        <p:nvPicPr>
          <p:cNvPr id="195" name="Google Shape;195;p2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114300" y="1314400"/>
            <a:ext cx="4334400" cy="2261115"/>
          </a:xfrm>
          <a:prstGeom prst="rect">
            <a:avLst/>
          </a:prstGeom>
          <a:noFill/>
          <a:ln>
            <a:noFill/>
          </a:ln>
        </p:spPr>
      </p:pic>
      <p:pic>
        <p:nvPicPr>
          <p:cNvPr id="196" name="Google Shape;196;p24"/>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5210550" y="212850"/>
            <a:ext cx="3746150" cy="384830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01" name="Google Shape;201;p25"/>
          <p:cNvSpPr txBox="1"/>
          <p:nvPr/>
        </p:nvSpPr>
        <p:spPr>
          <a:xfrm>
            <a:off x="76200" y="0"/>
            <a:ext cx="51459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15 Life and Work Principles from Jensen Huang </a:t>
            </a:r>
            <a:endParaRPr sz="2000" b="1">
              <a:solidFill>
                <a:schemeClr val="dk1"/>
              </a:solidFill>
              <a:latin typeface="Calibri"/>
              <a:ea typeface="Calibri"/>
              <a:cs typeface="Calibri"/>
              <a:sym typeface="Calibri"/>
            </a:endParaRPr>
          </a:p>
        </p:txBody>
      </p:sp>
      <p:sp>
        <p:nvSpPr>
          <p:cNvPr id="202" name="Google Shape;202;p25"/>
          <p:cNvSpPr txBox="1"/>
          <p:nvPr/>
        </p:nvSpPr>
        <p:spPr>
          <a:xfrm>
            <a:off x="76200" y="410700"/>
            <a:ext cx="53835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15 Life and Work Principles from Jensen Huang (NVIDIA CEO)</a:t>
            </a:r>
            <a:endParaRPr sz="12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 - </a:t>
            </a:r>
            <a:r>
              <a:rPr lang="en" sz="1200" u="sng">
                <a:solidFill>
                  <a:schemeClr val="hlink"/>
                </a:solidFill>
                <a:latin typeface="Calibri"/>
                <a:ea typeface="Calibri"/>
                <a:cs typeface="Calibri"/>
                <a:sym typeface="Calibri"/>
                <a:hlinkClick r:id="rId3"/>
              </a:rPr>
              <a:t>https://creatoreconomy.so/p/15-life-and-work-principles-from-jensen</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   by Peter Yang - </a:t>
            </a:r>
            <a:r>
              <a:rPr lang="en" sz="1200" u="sng">
                <a:solidFill>
                  <a:schemeClr val="hlink"/>
                </a:solidFill>
                <a:latin typeface="Calibri"/>
                <a:ea typeface="Calibri"/>
                <a:cs typeface="Calibri"/>
                <a:sym typeface="Calibri"/>
                <a:hlinkClick r:id="rId4"/>
              </a:rPr>
              <a:t>https://substack.com/@petergyang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85750" lvl="0" indent="-13335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Create conditions for amazing people to do their life's work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by empowering them with information, reasoning through problems publicly,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and creating a full-stack company.</a:t>
            </a:r>
            <a:endParaRPr sz="1200">
              <a:solidFill>
                <a:schemeClr val="dk1"/>
              </a:solidFill>
              <a:latin typeface="Calibri"/>
              <a:ea typeface="Calibri"/>
              <a:cs typeface="Calibri"/>
              <a:sym typeface="Calibri"/>
            </a:endParaRPr>
          </a:p>
          <a:p>
            <a:pPr marL="285750" lvl="0" indent="-13335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Information should not be based on privileged access; everyone should have access to the same information and contribute to problem-solving.</a:t>
            </a:r>
            <a:endParaRPr sz="1200">
              <a:solidFill>
                <a:schemeClr val="dk1"/>
              </a:solidFill>
              <a:latin typeface="Calibri"/>
              <a:ea typeface="Calibri"/>
              <a:cs typeface="Calibri"/>
              <a:sym typeface="Calibri"/>
            </a:endParaRPr>
          </a:p>
          <a:p>
            <a:pPr marL="285750" lvl="0" indent="-13335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Feedback is learning, and everyone should learn from each other’s mistakes.</a:t>
            </a:r>
            <a:endParaRPr sz="1200">
              <a:solidFill>
                <a:schemeClr val="dk1"/>
              </a:solidFill>
              <a:latin typeface="Calibri"/>
              <a:ea typeface="Calibri"/>
              <a:cs typeface="Calibri"/>
              <a:sym typeface="Calibri"/>
            </a:endParaRPr>
          </a:p>
          <a:p>
            <a:pPr marL="285750" lvl="0" indent="-13335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Reasoning through decisions publicly empowers employees to understand how leaders think.</a:t>
            </a:r>
            <a:endParaRPr sz="1200">
              <a:solidFill>
                <a:schemeClr val="dk1"/>
              </a:solidFill>
              <a:latin typeface="Calibri"/>
              <a:ea typeface="Calibri"/>
              <a:cs typeface="Calibri"/>
              <a:sym typeface="Calibri"/>
            </a:endParaRPr>
          </a:p>
          <a:p>
            <a:pPr marL="285750" lvl="0" indent="-13335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Include people from all levels of the organization in meetings, based on their skills and expertise.</a:t>
            </a:r>
            <a:endParaRPr sz="1200">
              <a:solidFill>
                <a:schemeClr val="dk1"/>
              </a:solidFill>
              <a:latin typeface="Calibri"/>
              <a:ea typeface="Calibri"/>
              <a:cs typeface="Calibri"/>
              <a:sym typeface="Calibri"/>
            </a:endParaRPr>
          </a:p>
          <a:p>
            <a:pPr marL="285750" lvl="0" indent="-13335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Don’t give up on people easily, help them learn and grow instead.</a:t>
            </a:r>
            <a:endParaRPr sz="1200">
              <a:solidFill>
                <a:schemeClr val="dk1"/>
              </a:solidFill>
              <a:latin typeface="Calibri"/>
              <a:ea typeface="Calibri"/>
              <a:cs typeface="Calibri"/>
              <a:sym typeface="Calibri"/>
            </a:endParaRPr>
          </a:p>
          <a:p>
            <a:pPr marL="285750" lvl="0" indent="-13335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Focus on doing something that has never been done before, rather than competing for market share.</a:t>
            </a:r>
            <a:endParaRPr sz="1200">
              <a:solidFill>
                <a:schemeClr val="dk1"/>
              </a:solidFill>
              <a:latin typeface="Calibri"/>
              <a:ea typeface="Calibri"/>
              <a:cs typeface="Calibri"/>
              <a:sym typeface="Calibri"/>
            </a:endParaRPr>
          </a:p>
          <a:p>
            <a:pPr marL="285750" lvl="0" indent="-13335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Decide what to give up on to achieve success.</a:t>
            </a:r>
            <a:endParaRPr sz="1200">
              <a:solidFill>
                <a:schemeClr val="dk1"/>
              </a:solidFill>
              <a:latin typeface="Calibri"/>
              <a:ea typeface="Calibri"/>
              <a:cs typeface="Calibri"/>
              <a:sym typeface="Calibri"/>
            </a:endParaRPr>
          </a:p>
          <a:p>
            <a:pPr marL="285750" lvl="0" indent="-13335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Strategy is action, not words; understand what your employees are doing by getting a feel for their top five priorities.</a:t>
            </a:r>
            <a:endParaRPr sz="1200">
              <a:solidFill>
                <a:schemeClr val="dk1"/>
              </a:solidFill>
              <a:latin typeface="Calibri"/>
              <a:ea typeface="Calibri"/>
              <a:cs typeface="Calibri"/>
              <a:sym typeface="Calibri"/>
            </a:endParaRPr>
          </a:p>
          <a:p>
            <a:pPr marL="285750" lvl="0" indent="-13335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Embrace pain and suffering as part of the journey to greatness.</a:t>
            </a:r>
            <a:endParaRPr sz="1200">
              <a:solidFill>
                <a:schemeClr val="dk1"/>
              </a:solidFill>
              <a:latin typeface="Calibri"/>
              <a:ea typeface="Calibri"/>
              <a:cs typeface="Calibri"/>
              <a:sym typeface="Calibri"/>
            </a:endParaRPr>
          </a:p>
          <a:p>
            <a:pPr marL="285750" lvl="0" indent="-13335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Develop resilience and be willing to do any task, no matter how small.</a:t>
            </a:r>
            <a:endParaRPr sz="1200">
              <a:solidFill>
                <a:schemeClr val="dk1"/>
              </a:solidFill>
              <a:latin typeface="Calibri"/>
              <a:ea typeface="Calibri"/>
              <a:cs typeface="Calibri"/>
              <a:sym typeface="Calibri"/>
            </a:endParaRPr>
          </a:p>
          <a:p>
            <a:pPr marL="285750" lvl="0" indent="-13335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Have the humility to confront failure and ask for help.</a:t>
            </a:r>
            <a:endParaRPr sz="1200">
              <a:solidFill>
                <a:schemeClr val="dk1"/>
              </a:solidFill>
              <a:latin typeface="Calibri"/>
              <a:ea typeface="Calibri"/>
              <a:cs typeface="Calibri"/>
              <a:sym typeface="Calibri"/>
            </a:endParaRPr>
          </a:p>
          <a:p>
            <a:pPr marL="285750" lvl="0" indent="-13335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Run, don't walk; choose something you're destined to do and love working on it.</a:t>
            </a:r>
            <a:endParaRPr sz="1200">
              <a:solidFill>
                <a:schemeClr val="dk1"/>
              </a:solidFill>
              <a:latin typeface="Calibri"/>
              <a:ea typeface="Calibri"/>
              <a:cs typeface="Calibri"/>
              <a:sym typeface="Calibri"/>
            </a:endParaRPr>
          </a:p>
          <a:p>
            <a:pPr marL="285750" lvl="0" indent="-13335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Dedicate yourself to your work and think about it even when you're not working.</a:t>
            </a:r>
            <a:endParaRPr sz="1200">
              <a:solidFill>
                <a:schemeClr val="dk1"/>
              </a:solidFill>
              <a:latin typeface="Calibri"/>
              <a:ea typeface="Calibri"/>
              <a:cs typeface="Calibri"/>
              <a:sym typeface="Calibri"/>
            </a:endParaRPr>
          </a:p>
          <a:p>
            <a:pPr marL="285750" lvl="0" indent="-13335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Prioritize your life and you will have plenty of time to do the important things.</a:t>
            </a:r>
            <a:endParaRPr sz="1200">
              <a:solidFill>
                <a:schemeClr val="dk1"/>
              </a:solidFill>
              <a:latin typeface="Calibri"/>
              <a:ea typeface="Calibri"/>
              <a:cs typeface="Calibri"/>
              <a:sym typeface="Calibri"/>
            </a:endParaRPr>
          </a:p>
        </p:txBody>
      </p:sp>
      <p:pic>
        <p:nvPicPr>
          <p:cNvPr id="203" name="Google Shape;203;p2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629275" y="410700"/>
            <a:ext cx="2259126" cy="2634149"/>
          </a:xfrm>
          <a:prstGeom prst="rect">
            <a:avLst/>
          </a:prstGeom>
          <a:noFill/>
          <a:ln w="9525" cap="flat" cmpd="sng">
            <a:solidFill>
              <a:srgbClr val="FF0000"/>
            </a:solidFill>
            <a:prstDash val="solid"/>
            <a:round/>
            <a:headEnd type="none" w="sm" len="sm"/>
            <a:tailEnd type="none" w="sm" len="sm"/>
          </a:ln>
        </p:spPr>
      </p:pic>
      <p:sp>
        <p:nvSpPr>
          <p:cNvPr id="204" name="Google Shape;204;p25"/>
          <p:cNvSpPr txBox="1"/>
          <p:nvPr/>
        </p:nvSpPr>
        <p:spPr>
          <a:xfrm>
            <a:off x="6846475" y="3040600"/>
            <a:ext cx="1946700" cy="449400"/>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b="1">
                <a:solidFill>
                  <a:schemeClr val="dk1"/>
                </a:solidFill>
                <a:latin typeface="Calibri"/>
                <a:ea typeface="Calibri"/>
                <a:cs typeface="Calibri"/>
                <a:sym typeface="Calibri"/>
              </a:rPr>
              <a:t>Jensen Huang</a:t>
            </a:r>
            <a:endParaRPr b="1">
              <a:solidFill>
                <a:schemeClr val="dk1"/>
              </a:solidFill>
              <a:latin typeface="Calibri"/>
              <a:ea typeface="Calibri"/>
              <a:cs typeface="Calibri"/>
              <a:sym typeface="Calibri"/>
            </a:endParaRPr>
          </a:p>
          <a:p>
            <a:pPr marL="0" lvl="0" indent="0" algn="ctr" rtl="0">
              <a:spcBef>
                <a:spcPts val="0"/>
              </a:spcBef>
              <a:spcAft>
                <a:spcPts val="0"/>
              </a:spcAft>
              <a:buClr>
                <a:schemeClr val="dk1"/>
              </a:buClr>
              <a:buSzPts val="1100"/>
              <a:buFont typeface="Arial"/>
              <a:buNone/>
            </a:pPr>
            <a:r>
              <a:rPr lang="en" b="1">
                <a:solidFill>
                  <a:schemeClr val="dk1"/>
                </a:solidFill>
                <a:latin typeface="Calibri"/>
                <a:ea typeface="Calibri"/>
                <a:cs typeface="Calibri"/>
                <a:sym typeface="Calibri"/>
              </a:rPr>
              <a:t>NVIDIA CEO </a:t>
            </a:r>
            <a:endParaRPr b="1">
              <a:solidFill>
                <a:schemeClr val="dk1"/>
              </a:solidFill>
              <a:latin typeface="Calibri"/>
              <a:ea typeface="Calibri"/>
              <a:cs typeface="Calibri"/>
              <a:sym typeface="Calibri"/>
            </a:endParaRPr>
          </a:p>
        </p:txBody>
      </p:sp>
      <p:sp>
        <p:nvSpPr>
          <p:cNvPr id="205" name="Google Shape;205;p25"/>
          <p:cNvSpPr txBox="1"/>
          <p:nvPr/>
        </p:nvSpPr>
        <p:spPr>
          <a:xfrm>
            <a:off x="5796300" y="3670150"/>
            <a:ext cx="3092100" cy="618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Jensen cleaned toilets and washed dishes before leading NVIDIA to become the most valuable company in the world.</a:t>
            </a:r>
            <a:endParaRPr sz="13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pic>
        <p:nvPicPr>
          <p:cNvPr id="210" name="Google Shape;210;p26"/>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387275" y="598150"/>
            <a:ext cx="8366998" cy="3611792"/>
          </a:xfrm>
          <a:prstGeom prst="rect">
            <a:avLst/>
          </a:prstGeom>
          <a:noFill/>
          <a:ln>
            <a:noFill/>
          </a:ln>
        </p:spPr>
      </p:pic>
      <p:sp>
        <p:nvSpPr>
          <p:cNvPr id="211" name="Google Shape;211;p26"/>
          <p:cNvSpPr txBox="1"/>
          <p:nvPr/>
        </p:nvSpPr>
        <p:spPr>
          <a:xfrm>
            <a:off x="72300" y="76200"/>
            <a:ext cx="4901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Tech Layoffs in 2024 </a:t>
            </a:r>
            <a:r>
              <a:rPr lang="en" sz="2000" b="1">
                <a:solidFill>
                  <a:schemeClr val="dk1"/>
                </a:solidFill>
                <a:latin typeface="Calibri"/>
                <a:ea typeface="Calibri"/>
                <a:cs typeface="Calibri"/>
                <a:sym typeface="Calibri"/>
              </a:rPr>
              <a:t>are </a:t>
            </a:r>
            <a:r>
              <a:rPr lang="en" sz="2000" b="1" i="0" u="none" strike="noStrike" cap="none">
                <a:solidFill>
                  <a:schemeClr val="dk1"/>
                </a:solidFill>
                <a:latin typeface="Calibri"/>
                <a:ea typeface="Calibri"/>
                <a:cs typeface="Calibri"/>
                <a:sym typeface="Calibri"/>
              </a:rPr>
              <a:t>lower than last year</a:t>
            </a:r>
            <a:endParaRPr sz="2000" b="1" i="0" u="none" strike="noStrike" cap="none">
              <a:solidFill>
                <a:srgbClr val="000000"/>
              </a:solidFill>
              <a:latin typeface="Calibri"/>
              <a:ea typeface="Calibri"/>
              <a:cs typeface="Calibri"/>
              <a:sym typeface="Calibri"/>
            </a:endParaRPr>
          </a:p>
        </p:txBody>
      </p:sp>
      <p:sp>
        <p:nvSpPr>
          <p:cNvPr id="212" name="Google Shape;212;p26"/>
          <p:cNvSpPr txBox="1"/>
          <p:nvPr/>
        </p:nvSpPr>
        <p:spPr>
          <a:xfrm>
            <a:off x="6291625" y="109963"/>
            <a:ext cx="20025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F0F0F"/>
                </a:solidFill>
                <a:latin typeface="Calibri"/>
                <a:ea typeface="Calibri"/>
                <a:cs typeface="Calibri"/>
                <a:sym typeface="Calibri"/>
              </a:rPr>
              <a:t>Layoffs - </a:t>
            </a:r>
            <a:r>
              <a:rPr lang="en" sz="1300" b="0" i="0" u="sng" strike="noStrike" cap="none">
                <a:solidFill>
                  <a:schemeClr val="hlink"/>
                </a:solidFill>
                <a:latin typeface="Calibri"/>
                <a:ea typeface="Calibri"/>
                <a:cs typeface="Calibri"/>
                <a:sym typeface="Calibri"/>
                <a:hlinkClick r:id="rId4"/>
              </a:rPr>
              <a:t>https://layoffs.fyi</a:t>
            </a:r>
            <a:r>
              <a:rPr lang="en" sz="1300" b="0" i="0" u="none" strike="noStrike" cap="none">
                <a:solidFill>
                  <a:srgbClr val="0F0F0F"/>
                </a:solidFill>
                <a:latin typeface="Calibri"/>
                <a:ea typeface="Calibri"/>
                <a:cs typeface="Calibri"/>
                <a:sym typeface="Calibri"/>
              </a:rPr>
              <a:t> </a:t>
            </a:r>
            <a:endParaRPr sz="1300" b="0" i="0" u="none" strike="noStrike" cap="none">
              <a:solidFill>
                <a:srgbClr val="0F0F0F"/>
              </a:solidFill>
              <a:latin typeface="Calibri"/>
              <a:ea typeface="Calibri"/>
              <a:cs typeface="Calibri"/>
              <a:sym typeface="Calibri"/>
            </a:endParaRPr>
          </a:p>
        </p:txBody>
      </p:sp>
      <p:sp>
        <p:nvSpPr>
          <p:cNvPr id="213" name="Google Shape;213;p26"/>
          <p:cNvSpPr txBox="1"/>
          <p:nvPr/>
        </p:nvSpPr>
        <p:spPr>
          <a:xfrm>
            <a:off x="387275" y="4278575"/>
            <a:ext cx="8367000" cy="738900"/>
          </a:xfrm>
          <a:prstGeom prst="rect">
            <a:avLst/>
          </a:prstGeom>
          <a:solidFill>
            <a:srgbClr val="FFF2CC"/>
          </a:solidFill>
          <a:ln>
            <a:noFill/>
          </a:ln>
        </p:spPr>
        <p:txBody>
          <a:bodyPr spcFirstLastPara="1" wrap="square" lIns="91425" tIns="91425" rIns="91425" bIns="91425" anchor="t" anchorCtr="0">
            <a:spAutoFit/>
          </a:bodyPr>
          <a:lstStyle/>
          <a:p>
            <a:pPr marL="457200" marR="0" lvl="0" indent="-3048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Salaries for AI engineers rose 12% from the third to fourth quarter last year</a:t>
            </a:r>
            <a:endParaRPr sz="1200" b="0" i="0" u="none" strike="noStrike" cap="none">
              <a:solidFill>
                <a:srgbClr val="000000"/>
              </a:solidFill>
              <a:latin typeface="Calibri"/>
              <a:ea typeface="Calibri"/>
              <a:cs typeface="Calibri"/>
              <a:sym typeface="Calibri"/>
            </a:endParaRPr>
          </a:p>
          <a:p>
            <a:pPr marL="457200" marR="0" lvl="0" indent="-3048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The average salary for a senior AI engineer nationally is more than $190,000, according to Comprehensive.io.</a:t>
            </a:r>
            <a:endParaRPr sz="1200" b="0" i="0" u="none" strike="noStrike" cap="none">
              <a:solidFill>
                <a:srgbClr val="000000"/>
              </a:solidFill>
              <a:latin typeface="Calibri"/>
              <a:ea typeface="Calibri"/>
              <a:cs typeface="Calibri"/>
              <a:sym typeface="Calibri"/>
            </a:endParaRPr>
          </a:p>
          <a:p>
            <a:pPr marL="457200" marR="0" lvl="0" indent="-3048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AI has a talent shortage, meaning </a:t>
            </a:r>
            <a:r>
              <a:rPr lang="en" sz="1200" b="1" i="0" u="none" strike="noStrike" cap="none">
                <a:solidFill>
                  <a:srgbClr val="FF0000"/>
                </a:solidFill>
                <a:latin typeface="Calibri"/>
                <a:ea typeface="Calibri"/>
                <a:cs typeface="Calibri"/>
                <a:sym typeface="Calibri"/>
              </a:rPr>
              <a:t>$1 Mln salary job offers! </a:t>
            </a:r>
            <a:r>
              <a:rPr lang="en" sz="1200" b="0" i="0" u="none" strike="noStrike" cap="none">
                <a:solidFill>
                  <a:srgbClr val="000000"/>
                </a:solidFill>
                <a:latin typeface="Calibri"/>
                <a:ea typeface="Calibri"/>
                <a:cs typeface="Calibri"/>
                <a:sym typeface="Calibri"/>
              </a:rPr>
              <a:t>Even during tech layoffs</a:t>
            </a:r>
            <a:endParaRPr sz="1200" b="0" i="0" u="none" strike="noStrike" cap="none">
              <a:solidFill>
                <a:srgbClr val="000000"/>
              </a:solidFill>
              <a:latin typeface="Calibri"/>
              <a:ea typeface="Calibri"/>
              <a:cs typeface="Calibri"/>
              <a:sym typeface="Calibri"/>
            </a:endParaRPr>
          </a:p>
        </p:txBody>
      </p:sp>
      <p:sp>
        <p:nvSpPr>
          <p:cNvPr id="214" name="Google Shape;214;p26"/>
          <p:cNvSpPr/>
          <p:nvPr/>
        </p:nvSpPr>
        <p:spPr>
          <a:xfrm>
            <a:off x="4094425" y="1597675"/>
            <a:ext cx="1226700" cy="1665300"/>
          </a:xfrm>
          <a:prstGeom prst="rect">
            <a:avLst/>
          </a:prstGeom>
          <a:noFill/>
          <a:ln w="28575" cap="flat" cmpd="sng">
            <a:solidFill>
              <a:srgbClr val="00FF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5" name="Google Shape;215;p26"/>
          <p:cNvSpPr/>
          <p:nvPr/>
        </p:nvSpPr>
        <p:spPr>
          <a:xfrm>
            <a:off x="6605274" y="1597675"/>
            <a:ext cx="1259400" cy="1665300"/>
          </a:xfrm>
          <a:prstGeom prst="rect">
            <a:avLst/>
          </a:prstGeom>
          <a:noFill/>
          <a:ln w="28575" cap="flat" cmpd="sng">
            <a:solidFill>
              <a:srgbClr val="00FF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pic>
        <p:nvPicPr>
          <p:cNvPr id="220" name="Google Shape;220;p27"/>
          <p:cNvPicPr preferRelativeResize="0"/>
          <p:nvPr/>
        </p:nvPicPr>
        <p:blipFill rotWithShape="1">
          <a:blip r:embed="rId3">
            <a:alphaModFix/>
          </a:blip>
          <a:srcRect/>
          <a:stretch/>
        </p:blipFill>
        <p:spPr>
          <a:xfrm>
            <a:off x="605238" y="1203525"/>
            <a:ext cx="2094075" cy="2094075"/>
          </a:xfrm>
          <a:prstGeom prst="rect">
            <a:avLst/>
          </a:prstGeom>
          <a:noFill/>
          <a:ln>
            <a:noFill/>
          </a:ln>
        </p:spPr>
      </p:pic>
      <p:sp>
        <p:nvSpPr>
          <p:cNvPr id="221" name="Google Shape;221;p27"/>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22" name="Google Shape;222;p27"/>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23" name="Google Shape;223;p27"/>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10941" y="3664175"/>
            <a:ext cx="1144600" cy="415875"/>
          </a:xfrm>
          <a:prstGeom prst="rect">
            <a:avLst/>
          </a:prstGeom>
          <a:noFill/>
          <a:ln>
            <a:noFill/>
          </a:ln>
        </p:spPr>
      </p:pic>
      <p:sp>
        <p:nvSpPr>
          <p:cNvPr id="224" name="Google Shape;224;p27"/>
          <p:cNvSpPr txBox="1"/>
          <p:nvPr/>
        </p:nvSpPr>
        <p:spPr>
          <a:xfrm>
            <a:off x="912377"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25" name="Google Shape;225;p27"/>
          <p:cNvSpPr txBox="1"/>
          <p:nvPr/>
        </p:nvSpPr>
        <p:spPr>
          <a:xfrm>
            <a:off x="536203" y="4360974"/>
            <a:ext cx="2094075" cy="430857"/>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8"/>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2427</Words>
  <Application>Microsoft Macintosh PowerPoint</Application>
  <PresentationFormat>On-screen Show (16:9)</PresentationFormat>
  <Paragraphs>225</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Roboto Mono</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2024-06-28T17:56:13Z</dcterms:modified>
</cp:coreProperties>
</file>