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Roboto Mono" pitchFamily="49"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2dfea7fbe3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 name="Google Shape;55;g2dfea7fbe3a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e5dd7421f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 name="Google Shape;62;g2e5dd7421f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e73a21a63d_2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2e73a21a63d_2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e73a21a63d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 name="Google Shape;78;g2e73a21a63d_1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e73a21a63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e73a21a63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e73a21a63d_1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e73a21a63d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e73a21a63d_2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2e73a21a63d_2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e740949732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2e740949732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1f80c797b9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g1f80c797b9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rtl="0">
              <a:spcBef>
                <a:spcPts val="0"/>
              </a:spcBef>
              <a:spcAft>
                <a:spcPts val="0"/>
              </a:spcAft>
              <a:buSzPts val="2800"/>
              <a:buNone/>
              <a:defRPr/>
            </a:lvl1pPr>
            <a:lvl2pPr lvl="1" algn="l" rtl="0">
              <a:spcBef>
                <a:spcPts val="0"/>
              </a:spcBef>
              <a:spcAft>
                <a:spcPts val="0"/>
              </a:spcAft>
              <a:buSzPts val="2800"/>
              <a:buNone/>
              <a:defRPr/>
            </a:lvl2pPr>
            <a:lvl3pPr lvl="2" algn="l" rtl="0">
              <a:spcBef>
                <a:spcPts val="0"/>
              </a:spcBef>
              <a:spcAft>
                <a:spcPts val="0"/>
              </a:spcAft>
              <a:buSzPts val="2800"/>
              <a:buNone/>
              <a:defRPr/>
            </a:lvl3pPr>
            <a:lvl4pPr lvl="3" algn="l" rtl="0">
              <a:spcBef>
                <a:spcPts val="0"/>
              </a:spcBef>
              <a:spcAft>
                <a:spcPts val="0"/>
              </a:spcAft>
              <a:buSzPts val="2800"/>
              <a:buNone/>
              <a:defRPr/>
            </a:lvl4pPr>
            <a:lvl5pPr lvl="4" algn="l" rtl="0">
              <a:spcBef>
                <a:spcPts val="0"/>
              </a:spcBef>
              <a:spcAft>
                <a:spcPts val="0"/>
              </a:spcAft>
              <a:buSzPts val="2800"/>
              <a:buNone/>
              <a:defRPr/>
            </a:lvl5pPr>
            <a:lvl6pPr lvl="5" algn="l" rtl="0">
              <a:spcBef>
                <a:spcPts val="0"/>
              </a:spcBef>
              <a:spcAft>
                <a:spcPts val="0"/>
              </a:spcAft>
              <a:buSzPts val="2800"/>
              <a:buNone/>
              <a:defRPr/>
            </a:lvl6pPr>
            <a:lvl7pPr lvl="6" algn="l" rtl="0">
              <a:spcBef>
                <a:spcPts val="0"/>
              </a:spcBef>
              <a:spcAft>
                <a:spcPts val="0"/>
              </a:spcAft>
              <a:buSzPts val="2800"/>
              <a:buNone/>
              <a:defRPr/>
            </a:lvl7pPr>
            <a:lvl8pPr lvl="7" algn="l" rtl="0">
              <a:spcBef>
                <a:spcPts val="0"/>
              </a:spcBef>
              <a:spcAft>
                <a:spcPts val="0"/>
              </a:spcAft>
              <a:buSzPts val="2800"/>
              <a:buNone/>
              <a:defRPr/>
            </a:lvl8pPr>
            <a:lvl9pPr lvl="8" algn="l"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rtl="0">
              <a:spcBef>
                <a:spcPts val="0"/>
              </a:spcBef>
              <a:spcAft>
                <a:spcPts val="0"/>
              </a:spcAft>
              <a:buSzPts val="1800"/>
              <a:buNone/>
              <a:defRPr/>
            </a:lvl1pPr>
            <a:lvl2pPr marL="914400" lvl="1" indent="-228600" algn="l" rtl="0">
              <a:spcBef>
                <a:spcPts val="0"/>
              </a:spcBef>
              <a:spcAft>
                <a:spcPts val="0"/>
              </a:spcAft>
              <a:buSzPts val="1400"/>
              <a:buNone/>
              <a:defRPr/>
            </a:lvl2pPr>
            <a:lvl3pPr marL="1371600" lvl="2" indent="-228600" algn="l" rtl="0">
              <a:spcBef>
                <a:spcPts val="0"/>
              </a:spcBef>
              <a:spcAft>
                <a:spcPts val="0"/>
              </a:spcAft>
              <a:buSzPts val="1400"/>
              <a:buNone/>
              <a:defRPr/>
            </a:lvl3pPr>
            <a:lvl4pPr marL="1828800" lvl="3" indent="-228600" algn="l" rtl="0">
              <a:spcBef>
                <a:spcPts val="0"/>
              </a:spcBef>
              <a:spcAft>
                <a:spcPts val="0"/>
              </a:spcAft>
              <a:buSzPts val="1400"/>
              <a:buNone/>
              <a:defRPr/>
            </a:lvl4pPr>
            <a:lvl5pPr marL="2286000" lvl="4" indent="-228600" algn="l" rtl="0">
              <a:spcBef>
                <a:spcPts val="0"/>
              </a:spcBef>
              <a:spcAft>
                <a:spcPts val="0"/>
              </a:spcAft>
              <a:buSzPts val="1400"/>
              <a:buNone/>
              <a:defRPr/>
            </a:lvl5pPr>
            <a:lvl6pPr marL="2743200" lvl="5" indent="-228600" algn="l" rtl="0">
              <a:spcBef>
                <a:spcPts val="0"/>
              </a:spcBef>
              <a:spcAft>
                <a:spcPts val="0"/>
              </a:spcAft>
              <a:buSzPts val="1400"/>
              <a:buNone/>
              <a:defRPr/>
            </a:lvl6pPr>
            <a:lvl7pPr marL="3200400" lvl="6" indent="-228600" algn="l" rtl="0">
              <a:spcBef>
                <a:spcPts val="0"/>
              </a:spcBef>
              <a:spcAft>
                <a:spcPts val="0"/>
              </a:spcAft>
              <a:buSzPts val="1400"/>
              <a:buNone/>
              <a:defRPr/>
            </a:lvl7pPr>
            <a:lvl8pPr marL="3657600" lvl="7" indent="-228600" algn="l" rtl="0">
              <a:spcBef>
                <a:spcPts val="0"/>
              </a:spcBef>
              <a:spcAft>
                <a:spcPts val="0"/>
              </a:spcAft>
              <a:buSzPts val="1400"/>
              <a:buNone/>
              <a:defRPr/>
            </a:lvl8pPr>
            <a:lvl9pPr marL="4114800" lvl="8" indent="-228600" algn="l" rtl="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anthropic.com/news/claude-3-5-sonnet" TargetMode="External"/><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x.com/anthropicai/status/1803790676988920098"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Cd6f86zsAyg"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localhost:11434/v1" TargetMode="External"/><Relationship Id="rId5" Type="http://schemas.openxmlformats.org/officeDocument/2006/relationships/hyperlink" Target="https://www.markhneedham.com/blog/2024/05/11/side-by-side-local-llms-ollama-streamlit/" TargetMode="External"/><Relationship Id="rId4" Type="http://schemas.openxmlformats.org/officeDocument/2006/relationships/hyperlink" Target="https://github.com/mneedham/LearnDataWithMark/blob/main/ollama-parallel/app.py"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twitter.com/ssi/status/1803472825476587910" TargetMode="External"/><Relationship Id="rId7"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hyperlink" Target="https://ssi.inc"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s://www.dell.com/en-us/dt/ai-technologies/" TargetMode="External"/><Relationship Id="rId7" Type="http://schemas.openxmlformats.org/officeDocument/2006/relationships/hyperlink" Target="https://www.dell.com/en-us/shop/desktop-computers/precision-5860-tower/spd/precision-5860-workstation/xctopt5860us_vp?configurationid=1cda8e9b-b3af-40fb-a43d-72242abd5f55"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www.youtube.com/watch?v=8HC6aRMmg3I" TargetMode="Externa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s://www.youtube.com/watch?v=gxc5kvzoddE" TargetMode="External"/><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www.youtube.com/watch?v=GZy5NOYwYiw" TargetMode="External"/><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hyperlink" Target="https://github.com/deepseek-ai/DeepSeek-Coder-V2" TargetMode="External"/><Relationship Id="rId3" Type="http://schemas.openxmlformats.org/officeDocument/2006/relationships/hyperlink" Target="https://www.youtube.com/watch?v=_7QgNfpGUhM" TargetMode="External"/><Relationship Id="rId7"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0.png"/><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hyperlink" Target="https://docs.nvidia.com/nemo-framework/" TargetMode="External"/><Relationship Id="rId9" Type="http://schemas.openxmlformats.org/officeDocument/2006/relationships/hyperlink" Target="https://www.youtube.com/watch?v=0Xp7K2rHcZ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https://nofilmschool.com/runway-gen-3-alpha" TargetMode="Externa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hyperlink" Target="https://chat.lmsys.org/?leaderboard" TargetMode="Externa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layoffs.fyi"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4"/>
          <p:cNvSpPr txBox="1"/>
          <p:nvPr/>
        </p:nvSpPr>
        <p:spPr>
          <a:xfrm>
            <a:off x="83860" y="1513325"/>
            <a:ext cx="4420200" cy="29553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Anthropic Sonet v.3.5</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Ollama Concurrent Models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Ilya Sutskever starting a new company</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DELL AI Workstations - 96GB GPU memory</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Snapdragon X Elite Laptops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NVIDIA Nemotron 4 340B</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DeepSeek-Coder-V2</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Google now offers ‘web’ search</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deeplearning.ai course "Function-Calling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 Nvidia surpassing Microsoft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factory for xAI with 100K GPUs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Runway’s Gen-3 Alpha Video Generation</a:t>
            </a:r>
            <a:endParaRPr sz="1500" b="1">
              <a:solidFill>
                <a:srgbClr val="3C78D8"/>
              </a:solidFill>
              <a:latin typeface="Calibri"/>
              <a:ea typeface="Calibri"/>
              <a:cs typeface="Calibri"/>
              <a:sym typeface="Calibri"/>
            </a:endParaRPr>
          </a:p>
        </p:txBody>
      </p:sp>
      <p:sp>
        <p:nvSpPr>
          <p:cNvPr id="58" name="Google Shape;58;p14"/>
          <p:cNvSpPr txBox="1"/>
          <p:nvPr/>
        </p:nvSpPr>
        <p:spPr>
          <a:xfrm>
            <a:off x="4633738" y="1513319"/>
            <a:ext cx="4420200" cy="8772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xxx</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Crowd-sourced "Arena" Leaderboard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Tech Layoffs were lower than in 2023</a:t>
            </a:r>
            <a:endParaRPr sz="1500" b="1">
              <a:solidFill>
                <a:srgbClr val="3C78D8"/>
              </a:solidFill>
              <a:latin typeface="Calibri"/>
              <a:ea typeface="Calibri"/>
              <a:cs typeface="Calibri"/>
              <a:sym typeface="Calibri"/>
            </a:endParaRPr>
          </a:p>
        </p:txBody>
      </p:sp>
      <p:sp>
        <p:nvSpPr>
          <p:cNvPr id="59" name="Google Shape;59;p14"/>
          <p:cNvSpPr txBox="1"/>
          <p:nvPr/>
        </p:nvSpPr>
        <p:spPr>
          <a:xfrm>
            <a:off x="3227625" y="248875"/>
            <a:ext cx="2539200" cy="9420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600" b="1" i="0" u="none" strike="noStrike" cap="none">
                <a:solidFill>
                  <a:srgbClr val="3C78D8"/>
                </a:solidFill>
                <a:latin typeface="Calibri"/>
                <a:ea typeface="Calibri"/>
                <a:cs typeface="Calibri"/>
                <a:sym typeface="Calibri"/>
              </a:rPr>
              <a:t>AI Updates </a:t>
            </a:r>
            <a:endParaRPr sz="3600" b="1" i="0" u="none" strike="noStrike" cap="none">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n" sz="2400" b="1">
                <a:solidFill>
                  <a:srgbClr val="3C78D8"/>
                </a:solidFill>
                <a:latin typeface="Calibri"/>
                <a:ea typeface="Calibri"/>
                <a:cs typeface="Calibri"/>
                <a:sym typeface="Calibri"/>
              </a:rPr>
              <a:t>June 21</a:t>
            </a:r>
            <a:r>
              <a:rPr lang="en" sz="2400" b="1" i="0" u="none" strike="noStrike" cap="none">
                <a:solidFill>
                  <a:srgbClr val="3C78D8"/>
                </a:solidFill>
                <a:latin typeface="Calibri"/>
                <a:ea typeface="Calibri"/>
                <a:cs typeface="Calibri"/>
                <a:sym typeface="Calibri"/>
              </a:rPr>
              <a:t>, 2024</a:t>
            </a:r>
            <a:endParaRPr sz="2400" b="1" i="0" u="none" strike="noStrike" cap="none">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txBox="1"/>
          <p:nvPr/>
        </p:nvSpPr>
        <p:spPr>
          <a:xfrm>
            <a:off x="0" y="8100"/>
            <a:ext cx="3996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Sonet v.3.5 </a:t>
            </a:r>
            <a:endParaRPr sz="2000" b="1">
              <a:solidFill>
                <a:schemeClr val="dk1"/>
              </a:solidFill>
              <a:latin typeface="Calibri"/>
              <a:ea typeface="Calibri"/>
              <a:cs typeface="Calibri"/>
              <a:sym typeface="Calibri"/>
            </a:endParaRPr>
          </a:p>
        </p:txBody>
      </p:sp>
      <p:sp>
        <p:nvSpPr>
          <p:cNvPr id="65" name="Google Shape;65;p15"/>
          <p:cNvSpPr txBox="1"/>
          <p:nvPr/>
        </p:nvSpPr>
        <p:spPr>
          <a:xfrm>
            <a:off x="0" y="334500"/>
            <a:ext cx="4532400" cy="192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Anthropic has just released new version of their Sonet - v.3.5</a:t>
            </a:r>
            <a:endParaRPr sz="1300">
              <a:solidFill>
                <a:schemeClr val="dk1"/>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https://www.anthropic.com/news/claude-3-5-sonnet</a:t>
            </a:r>
            <a:endParaRPr sz="1000">
              <a:solidFill>
                <a:schemeClr val="dk1"/>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https://x.com/anthropicai/status/1803790676988920098</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39700" algn="l" rtl="0">
              <a:spcBef>
                <a:spcPts val="0"/>
              </a:spcBef>
              <a:spcAft>
                <a:spcPts val="0"/>
              </a:spcAft>
              <a:buClr>
                <a:srgbClr val="3C78D8"/>
              </a:buClr>
              <a:buSzPts val="1300"/>
              <a:buFont typeface="Calibri"/>
              <a:buChar char="●"/>
            </a:pPr>
            <a:r>
              <a:rPr lang="en" sz="1300">
                <a:solidFill>
                  <a:srgbClr val="3C78D8"/>
                </a:solidFill>
                <a:latin typeface="Calibri"/>
                <a:ea typeface="Calibri"/>
                <a:cs typeface="Calibri"/>
                <a:sym typeface="Calibri"/>
              </a:rPr>
              <a:t>Surpasses gpt-4o, x2 faster than 3.0 Opus, x2 more intelligent, 80% cheaper - $3 in/ $15 out per 1M tokens</a:t>
            </a:r>
            <a:endParaRPr sz="1300">
              <a:solidFill>
                <a:srgbClr val="3C78D8"/>
              </a:solidFill>
              <a:latin typeface="Calibri"/>
              <a:ea typeface="Calibri"/>
              <a:cs typeface="Calibri"/>
              <a:sym typeface="Calibri"/>
            </a:endParaRPr>
          </a:p>
          <a:p>
            <a:pPr marL="228600" lvl="0" indent="-139700" algn="l" rtl="0">
              <a:spcBef>
                <a:spcPts val="0"/>
              </a:spcBef>
              <a:spcAft>
                <a:spcPts val="0"/>
              </a:spcAft>
              <a:buClr>
                <a:srgbClr val="3C78D8"/>
              </a:buClr>
              <a:buSzPts val="1300"/>
              <a:buFont typeface="Calibri"/>
              <a:buChar char="●"/>
            </a:pPr>
            <a:r>
              <a:rPr lang="en" sz="1300">
                <a:solidFill>
                  <a:srgbClr val="3C78D8"/>
                </a:solidFill>
                <a:latin typeface="Calibri"/>
                <a:ea typeface="Calibri"/>
                <a:cs typeface="Calibri"/>
                <a:sym typeface="Calibri"/>
              </a:rPr>
              <a:t>Context Window - 200K</a:t>
            </a:r>
            <a:endParaRPr sz="1300">
              <a:solidFill>
                <a:srgbClr val="3C78D8"/>
              </a:solidFill>
              <a:latin typeface="Calibri"/>
              <a:ea typeface="Calibri"/>
              <a:cs typeface="Calibri"/>
              <a:sym typeface="Calibri"/>
            </a:endParaRPr>
          </a:p>
          <a:p>
            <a:pPr marL="228600" lvl="0" indent="-139700" algn="l" rtl="0">
              <a:spcBef>
                <a:spcPts val="0"/>
              </a:spcBef>
              <a:spcAft>
                <a:spcPts val="0"/>
              </a:spcAft>
              <a:buClr>
                <a:srgbClr val="3C78D8"/>
              </a:buClr>
              <a:buSzPts val="1300"/>
              <a:buFont typeface="Calibri"/>
              <a:buChar char="●"/>
            </a:pPr>
            <a:r>
              <a:rPr lang="en" sz="1300">
                <a:solidFill>
                  <a:srgbClr val="3C78D8"/>
                </a:solidFill>
                <a:latin typeface="Calibri"/>
                <a:ea typeface="Calibri"/>
                <a:cs typeface="Calibri"/>
                <a:sym typeface="Calibri"/>
              </a:rPr>
              <a:t>The model excels in graduate-level reasoning (GPQA), undergraduate-level knowledge (MMLU), and coding proficiency (HumanEval)</a:t>
            </a:r>
            <a:endParaRPr sz="1300">
              <a:solidFill>
                <a:srgbClr val="3C78D8"/>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Opus and Haiku models coming later this year</a:t>
            </a:r>
            <a:endParaRPr sz="1300">
              <a:solidFill>
                <a:schemeClr val="dk1"/>
              </a:solidFill>
              <a:latin typeface="Calibri"/>
              <a:ea typeface="Calibri"/>
              <a:cs typeface="Calibri"/>
              <a:sym typeface="Calibri"/>
            </a:endParaRPr>
          </a:p>
        </p:txBody>
      </p:sp>
      <p:pic>
        <p:nvPicPr>
          <p:cNvPr id="66" name="Google Shape;66;p15"/>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11775" y="2337901"/>
            <a:ext cx="3749350" cy="2733350"/>
          </a:xfrm>
          <a:prstGeom prst="rect">
            <a:avLst/>
          </a:prstGeom>
          <a:noFill/>
          <a:ln w="9525" cap="flat" cmpd="sng">
            <a:solidFill>
              <a:srgbClr val="FF0000"/>
            </a:solidFill>
            <a:prstDash val="solid"/>
            <a:round/>
            <a:headEnd type="none" w="sm" len="sm"/>
            <a:tailEnd type="none" w="sm" len="sm"/>
          </a:ln>
        </p:spPr>
      </p:pic>
      <p:pic>
        <p:nvPicPr>
          <p:cNvPr id="67" name="Google Shape;67;p1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19325" y="1245154"/>
            <a:ext cx="4420500" cy="3805347"/>
          </a:xfrm>
          <a:prstGeom prst="rect">
            <a:avLst/>
          </a:prstGeom>
          <a:noFill/>
          <a:ln w="9525" cap="flat" cmpd="sng">
            <a:solidFill>
              <a:srgbClr val="FF0000"/>
            </a:solidFill>
            <a:prstDash val="solid"/>
            <a:round/>
            <a:headEnd type="none" w="sm" len="sm"/>
            <a:tailEnd type="none" w="sm" len="sm"/>
          </a:ln>
        </p:spPr>
      </p:pic>
      <p:pic>
        <p:nvPicPr>
          <p:cNvPr id="68" name="Google Shape;68;p15"/>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7651878" y="84300"/>
            <a:ext cx="1387950" cy="780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0" y="25425"/>
            <a:ext cx="59064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Run Multiple Models In Parallel - Ollama example</a:t>
            </a:r>
            <a:endParaRPr sz="2000" b="1">
              <a:solidFill>
                <a:schemeClr val="dk1"/>
              </a:solidFill>
              <a:latin typeface="Calibri"/>
              <a:ea typeface="Calibri"/>
              <a:cs typeface="Calibri"/>
              <a:sym typeface="Calibri"/>
            </a:endParaRPr>
          </a:p>
        </p:txBody>
      </p:sp>
      <p:sp>
        <p:nvSpPr>
          <p:cNvPr id="74" name="Google Shape;74;p16"/>
          <p:cNvSpPr txBox="1"/>
          <p:nvPr/>
        </p:nvSpPr>
        <p:spPr>
          <a:xfrm>
            <a:off x="76200" y="410700"/>
            <a:ext cx="7361400" cy="1357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Both </a:t>
            </a:r>
            <a:r>
              <a:rPr lang="en" sz="1200" b="1">
                <a:solidFill>
                  <a:srgbClr val="FF0000"/>
                </a:solidFill>
                <a:latin typeface="Calibri"/>
                <a:ea typeface="Calibri"/>
                <a:cs typeface="Calibri"/>
                <a:sym typeface="Calibri"/>
              </a:rPr>
              <a:t>LM Studio</a:t>
            </a:r>
            <a:r>
              <a:rPr lang="en" sz="1200">
                <a:solidFill>
                  <a:schemeClr val="dk1"/>
                </a:solidFill>
                <a:latin typeface="Calibri"/>
                <a:ea typeface="Calibri"/>
                <a:cs typeface="Calibri"/>
                <a:sym typeface="Calibri"/>
              </a:rPr>
              <a:t> and </a:t>
            </a:r>
            <a:r>
              <a:rPr lang="en" sz="1200" b="1">
                <a:solidFill>
                  <a:srgbClr val="FF0000"/>
                </a:solidFill>
                <a:latin typeface="Calibri"/>
                <a:ea typeface="Calibri"/>
                <a:cs typeface="Calibri"/>
                <a:sym typeface="Calibri"/>
              </a:rPr>
              <a:t>Ollama</a:t>
            </a:r>
            <a:r>
              <a:rPr lang="en" sz="1200">
                <a:solidFill>
                  <a:schemeClr val="dk1"/>
                </a:solidFill>
                <a:latin typeface="Calibri"/>
                <a:ea typeface="Calibri"/>
                <a:cs typeface="Calibri"/>
                <a:sym typeface="Calibri"/>
              </a:rPr>
              <a:t> allow to run multiple models at once in parallel.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For Ollama:</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b="1">
                <a:solidFill>
                  <a:srgbClr val="3C78D8"/>
                </a:solidFill>
                <a:latin typeface="Calibri"/>
                <a:ea typeface="Calibri"/>
                <a:cs typeface="Calibri"/>
                <a:sym typeface="Calibri"/>
              </a:rPr>
              <a:t>export OLLAMA_NUM_PARALLEL=4                  </a:t>
            </a:r>
            <a:r>
              <a:rPr lang="en" sz="1200" b="1">
                <a:solidFill>
                  <a:srgbClr val="6AA84F"/>
                </a:solidFill>
                <a:latin typeface="Calibri"/>
                <a:ea typeface="Calibri"/>
                <a:cs typeface="Calibri"/>
                <a:sym typeface="Calibri"/>
              </a:rPr>
              <a:t># </a:t>
            </a:r>
            <a:r>
              <a:rPr lang="en" sz="1200">
                <a:solidFill>
                  <a:srgbClr val="6AA84F"/>
                </a:solidFill>
                <a:latin typeface="Calibri"/>
                <a:ea typeface="Calibri"/>
                <a:cs typeface="Calibri"/>
                <a:sym typeface="Calibri"/>
              </a:rPr>
              <a:t>multiple requests simultaneously for a single model</a:t>
            </a:r>
            <a:endParaRPr sz="1200" b="1">
              <a:solidFill>
                <a:srgbClr val="6AA84F"/>
              </a:solidFill>
              <a:latin typeface="Calibri"/>
              <a:ea typeface="Calibri"/>
              <a:cs typeface="Calibri"/>
              <a:sym typeface="Calibri"/>
            </a:endParaRPr>
          </a:p>
          <a:p>
            <a:pPr marL="0" lvl="0" indent="0" algn="l" rtl="0">
              <a:spcBef>
                <a:spcPts val="0"/>
              </a:spcBef>
              <a:spcAft>
                <a:spcPts val="0"/>
              </a:spcAft>
              <a:buNone/>
            </a:pPr>
            <a:r>
              <a:rPr lang="en" sz="1200" b="1">
                <a:solidFill>
                  <a:srgbClr val="3C78D8"/>
                </a:solidFill>
                <a:latin typeface="Calibri"/>
                <a:ea typeface="Calibri"/>
                <a:cs typeface="Calibri"/>
                <a:sym typeface="Calibri"/>
              </a:rPr>
              <a:t>export OLLAMA_MAX_LOADED_MODELS=4   </a:t>
            </a:r>
            <a:r>
              <a:rPr lang="en" sz="1200" b="1">
                <a:solidFill>
                  <a:srgbClr val="6AA84F"/>
                </a:solidFill>
                <a:latin typeface="Calibri"/>
                <a:ea typeface="Calibri"/>
                <a:cs typeface="Calibri"/>
                <a:sym typeface="Calibri"/>
              </a:rPr>
              <a:t># </a:t>
            </a:r>
            <a:r>
              <a:rPr lang="en" sz="1200">
                <a:solidFill>
                  <a:srgbClr val="6AA84F"/>
                </a:solidFill>
                <a:latin typeface="Calibri"/>
                <a:ea typeface="Calibri"/>
                <a:cs typeface="Calibri"/>
                <a:sym typeface="Calibri"/>
              </a:rPr>
              <a:t>load multiple models simultaneously</a:t>
            </a:r>
            <a:endParaRPr sz="1200" b="1">
              <a:solidFill>
                <a:srgbClr val="6AA84F"/>
              </a:solidFill>
              <a:latin typeface="Calibri"/>
              <a:ea typeface="Calibri"/>
              <a:cs typeface="Calibri"/>
              <a:sym typeface="Calibri"/>
            </a:endParaRPr>
          </a:p>
          <a:p>
            <a:pPr marL="0" lvl="0" indent="0" algn="l" rtl="0">
              <a:spcBef>
                <a:spcPts val="0"/>
              </a:spcBef>
              <a:spcAft>
                <a:spcPts val="0"/>
              </a:spcAft>
              <a:buNone/>
            </a:pPr>
            <a:r>
              <a:rPr lang="en" sz="1200" b="1">
                <a:solidFill>
                  <a:srgbClr val="3C78D8"/>
                </a:solidFill>
                <a:latin typeface="Calibri"/>
                <a:ea typeface="Calibri"/>
                <a:cs typeface="Calibri"/>
                <a:sym typeface="Calibri"/>
              </a:rPr>
              <a:t>ollama serve</a:t>
            </a:r>
            <a:endParaRPr sz="1200" b="1">
              <a:solidFill>
                <a:srgbClr val="3C78D8"/>
              </a:solidFill>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3"/>
              </a:rPr>
              <a:t>https://www.youtube.com/watch?v=Cd6f86zsAyg</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0" lvl="0" indent="0" algn="l" rtl="0">
              <a:spcBef>
                <a:spcPts val="0"/>
              </a:spcBef>
              <a:spcAft>
                <a:spcPts val="0"/>
              </a:spcAft>
              <a:buNone/>
            </a:pPr>
            <a:r>
              <a:rPr lang="en" sz="900" u="sng">
                <a:solidFill>
                  <a:schemeClr val="accent5"/>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https://github.com/mneedham/LearnDataWithMark/blob/main/ollama-parallel/app.py</a:t>
            </a:r>
            <a:endParaRPr sz="9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900" u="sng">
                <a:solidFill>
                  <a:schemeClr val="accent5"/>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https://www.markhneedham.com/blog/2024/05/11/side-by-side-local-llms-ollama-streamlit/</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75" name="Google Shape;75;p16"/>
          <p:cNvSpPr txBox="1"/>
          <p:nvPr/>
        </p:nvSpPr>
        <p:spPr>
          <a:xfrm>
            <a:off x="76200" y="1941975"/>
            <a:ext cx="7361400" cy="306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import ollama, asyncio</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from openai import AsyncOpenAI</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from token_count import TokenCount</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client = AsyncOpenAI(base_url="</a:t>
            </a:r>
            <a:r>
              <a:rPr lang="en" sz="900" b="1" u="sng">
                <a:solidFill>
                  <a:schemeClr val="hlink"/>
                </a:solidFill>
                <a:latin typeface="Roboto Mono"/>
                <a:ea typeface="Roboto Mono"/>
                <a:cs typeface="Roboto Mono"/>
                <a:sym typeface="Roboto Mono"/>
                <a:hlinkClick r:id="rId6"/>
              </a:rPr>
              <a:t>http://localhost:11434/v1</a:t>
            </a:r>
            <a:r>
              <a:rPr lang="en" sz="900" b="1">
                <a:solidFill>
                  <a:srgbClr val="3C78D8"/>
                </a:solidFill>
                <a:latin typeface="Roboto Mono"/>
                <a:ea typeface="Roboto Mono"/>
                <a:cs typeface="Roboto Mono"/>
                <a:sym typeface="Roboto Mono"/>
              </a:rPr>
              <a:t>", ap_key="ignore-me")</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models = [ m['name'] for m in ollama.list()["models"] if m["details"]["family"] in ["llama", "gemma"] ]</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async def run_prompt(placeholder, meta, prompt, model):</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    tc = TokenCount(model_name="gpt-3.5-turbo")</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    stream = await client.chat.completions.create(</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        model=model,</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        messages=[{"role":"system","content":"You are a helpful assistant."},</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                  {"role":"user"  ,"content":prompt"},], stream=True)</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async for chunk in stream:</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    chunk_content = chunk.choices[0].delta.content</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    if chunk_content is not None:</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      ...</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async def main():</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    await asyncio.gather(</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        run_prompt( body_1, meta_1, prompt=prompt, model=model_1),</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        run_prompt( body_2, meta_2, prompt=prompt, model=model_2))</a:t>
            </a:r>
            <a:endParaRPr sz="900" b="1">
              <a:solidFill>
                <a:srgbClr val="3C78D8"/>
              </a:solidFill>
              <a:latin typeface="Roboto Mono"/>
              <a:ea typeface="Roboto Mono"/>
              <a:cs typeface="Roboto Mono"/>
              <a:sym typeface="Roboto Mon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7"/>
          <p:cNvSpPr txBox="1"/>
          <p:nvPr/>
        </p:nvSpPr>
        <p:spPr>
          <a:xfrm>
            <a:off x="76200" y="8100"/>
            <a:ext cx="4420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Ilya Sutskever starting a new company </a:t>
            </a:r>
            <a:endParaRPr sz="2000" b="1" i="0" u="none" strike="noStrike" cap="none">
              <a:solidFill>
                <a:srgbClr val="000000"/>
              </a:solidFill>
              <a:latin typeface="Calibri"/>
              <a:ea typeface="Calibri"/>
              <a:cs typeface="Calibri"/>
              <a:sym typeface="Calibri"/>
            </a:endParaRPr>
          </a:p>
        </p:txBody>
      </p:sp>
      <p:sp>
        <p:nvSpPr>
          <p:cNvPr id="81" name="Google Shape;81;p17"/>
          <p:cNvSpPr txBox="1"/>
          <p:nvPr/>
        </p:nvSpPr>
        <p:spPr>
          <a:xfrm>
            <a:off x="76200" y="1219200"/>
            <a:ext cx="4420500" cy="3820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Superintelligence is within reach.</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Building safe superintelligence (SSI) is the most important technical problem of our​​ time.</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We've started the world’s first straight-shot SSI lab, with one goal and one product: a safe superintelligence.</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It’s called Safe Superintelligence Inc.</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SSI is our mission, our name, and our entire product roadmap, because it is our sole focus. Our team, investors, and business model are all aligned to achieve SSI.</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We approach safety and capabilities in tandem, as technical problems to be solved through revolutionary engineering and scientific breakthroughs. We plan to advance capabilities as fast as possible while making sure our safety always remains ahead.</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This way, we can scale in peace.</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Our singular focus means no distraction by management overhead or product cycles, and our business model means safety, security, and progress are all insulated from short-term commercial pressures.</a:t>
            </a:r>
            <a:endParaRPr sz="1300">
              <a:solidFill>
                <a:schemeClr val="dk1"/>
              </a:solidFill>
              <a:latin typeface="Calibri"/>
              <a:ea typeface="Calibri"/>
              <a:cs typeface="Calibri"/>
              <a:sym typeface="Calibri"/>
            </a:endParaRPr>
          </a:p>
        </p:txBody>
      </p:sp>
      <p:sp>
        <p:nvSpPr>
          <p:cNvPr id="82" name="Google Shape;82;p17"/>
          <p:cNvSpPr txBox="1"/>
          <p:nvPr/>
        </p:nvSpPr>
        <p:spPr>
          <a:xfrm>
            <a:off x="76200" y="385806"/>
            <a:ext cx="4420500" cy="72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Ilya Sutskever</a:t>
            </a:r>
            <a:r>
              <a:rPr lang="en" sz="1300">
                <a:solidFill>
                  <a:schemeClr val="dk1"/>
                </a:solidFill>
                <a:latin typeface="Calibri"/>
                <a:ea typeface="Calibri"/>
                <a:cs typeface="Calibri"/>
                <a:sym typeface="Calibri"/>
              </a:rPr>
              <a:t> starting a new company:</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      </a:t>
            </a:r>
            <a:r>
              <a:rPr lang="en" sz="1300" b="1">
                <a:solidFill>
                  <a:srgbClr val="FF0000"/>
                </a:solidFill>
                <a:latin typeface="Calibri"/>
                <a:ea typeface="Calibri"/>
                <a:cs typeface="Calibri"/>
                <a:sym typeface="Calibri"/>
              </a:rPr>
              <a:t>Safe Superintelligence Inc.   (  ssi  )</a:t>
            </a:r>
            <a:endParaRPr sz="1300" b="1">
              <a:solidFill>
                <a:srgbClr val="FF0000"/>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https://twitter.com/ssi/status/1803472825476587910</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https://ssi.inc</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83" name="Google Shape;83;p17"/>
          <p:cNvSpPr txBox="1"/>
          <p:nvPr/>
        </p:nvSpPr>
        <p:spPr>
          <a:xfrm>
            <a:off x="4600625" y="2620200"/>
            <a:ext cx="44205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We are an American company with offices </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in Palo Alto and Tel Aviv, where we have deep roots </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and the ability to recruit top technical talent.</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We are assembling a lean, cracked team of the world’s best engineers and researchers dedicated to focusing on SSI and nothing else.</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If that’s you, we offer an opportunity to do your life’s work and help solve the most important technical challenge of our age.</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Now is the time. Join us.</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Ilya Sutskever, Daniel Gross, Daniel Levy</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June 19, 2024</a:t>
            </a:r>
            <a:endParaRPr sz="1300">
              <a:solidFill>
                <a:schemeClr val="dk1"/>
              </a:solidFill>
              <a:latin typeface="Calibri"/>
              <a:ea typeface="Calibri"/>
              <a:cs typeface="Calibri"/>
              <a:sym typeface="Calibri"/>
            </a:endParaRPr>
          </a:p>
        </p:txBody>
      </p:sp>
      <p:pic>
        <p:nvPicPr>
          <p:cNvPr id="84" name="Google Shape;84;p1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49100" y="152400"/>
            <a:ext cx="1228300" cy="1147850"/>
          </a:xfrm>
          <a:prstGeom prst="rect">
            <a:avLst/>
          </a:prstGeom>
          <a:noFill/>
          <a:ln w="9525" cap="flat" cmpd="sng">
            <a:solidFill>
              <a:srgbClr val="FF0000"/>
            </a:solidFill>
            <a:prstDash val="solid"/>
            <a:round/>
            <a:headEnd type="none" w="sm" len="sm"/>
            <a:tailEnd type="none" w="sm" len="sm"/>
          </a:ln>
        </p:spPr>
      </p:pic>
      <p:pic>
        <p:nvPicPr>
          <p:cNvPr id="85" name="Google Shape;85;p1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969537" y="152400"/>
            <a:ext cx="1147850" cy="1147850"/>
          </a:xfrm>
          <a:prstGeom prst="rect">
            <a:avLst/>
          </a:prstGeom>
          <a:noFill/>
          <a:ln w="9525" cap="flat" cmpd="sng">
            <a:solidFill>
              <a:srgbClr val="FF0000"/>
            </a:solidFill>
            <a:prstDash val="solid"/>
            <a:round/>
            <a:headEnd type="none" w="sm" len="sm"/>
            <a:tailEnd type="none" w="sm" len="sm"/>
          </a:ln>
        </p:spPr>
      </p:pic>
      <p:pic>
        <p:nvPicPr>
          <p:cNvPr id="86" name="Google Shape;86;p1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7225300" y="152400"/>
            <a:ext cx="1147850" cy="1147850"/>
          </a:xfrm>
          <a:prstGeom prst="rect">
            <a:avLst/>
          </a:prstGeom>
          <a:noFill/>
          <a:ln w="9525" cap="flat" cmpd="sng">
            <a:solidFill>
              <a:srgbClr val="FF0000"/>
            </a:solidFill>
            <a:prstDash val="solid"/>
            <a:round/>
            <a:headEnd type="none" w="sm" len="sm"/>
            <a:tailEnd type="none" w="sm" len="sm"/>
          </a:ln>
        </p:spPr>
      </p:pic>
      <p:sp>
        <p:nvSpPr>
          <p:cNvPr id="87" name="Google Shape;87;p17"/>
          <p:cNvSpPr txBox="1"/>
          <p:nvPr/>
        </p:nvSpPr>
        <p:spPr>
          <a:xfrm>
            <a:off x="4649100" y="1219200"/>
            <a:ext cx="3724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Ilya Sutskever            Daniel Gross             Daniel Levy</a:t>
            </a:r>
            <a:endParaRPr/>
          </a:p>
        </p:txBody>
      </p:sp>
      <p:pic>
        <p:nvPicPr>
          <p:cNvPr id="88" name="Google Shape;88;p17"/>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00625" y="1680300"/>
            <a:ext cx="817950" cy="817950"/>
          </a:xfrm>
          <a:prstGeom prst="rect">
            <a:avLst/>
          </a:prstGeom>
          <a:noFill/>
          <a:ln>
            <a:noFill/>
          </a:ln>
        </p:spPr>
      </p:pic>
      <p:sp>
        <p:nvSpPr>
          <p:cNvPr id="89" name="Google Shape;89;p17"/>
          <p:cNvSpPr txBox="1"/>
          <p:nvPr/>
        </p:nvSpPr>
        <p:spPr>
          <a:xfrm>
            <a:off x="5522500" y="1783050"/>
            <a:ext cx="29883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ssi</a:t>
            </a:r>
            <a:r>
              <a:rPr lang="en" sz="1300">
                <a:solidFill>
                  <a:schemeClr val="dk1"/>
                </a:solidFill>
                <a:latin typeface="Calibri"/>
                <a:ea typeface="Calibri"/>
                <a:cs typeface="Calibri"/>
                <a:sym typeface="Calibri"/>
              </a:rPr>
              <a:t> is co-founded by Suskever,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former Y Combinator partner Daniel Gross,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and Ex-OpenAI engineer Daniel Levy</a:t>
            </a:r>
            <a:endParaRPr sz="13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p:nvPr/>
        </p:nvSpPr>
        <p:spPr>
          <a:xfrm>
            <a:off x="76200" y="400200"/>
            <a:ext cx="4907700" cy="1293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45700" tIns="45700" rIns="45700" bIns="45700" anchor="t" anchorCtr="0">
            <a:spAutoFit/>
          </a:bodyPr>
          <a:lstStyle/>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3"/>
              </a:rPr>
              <a:t>https://www.dell.com/en-us/dt/ai-technologies/</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Precision 5860 Tower Workstation   -  </a:t>
            </a:r>
            <a:r>
              <a:rPr lang="en" sz="1300" b="1">
                <a:solidFill>
                  <a:srgbClr val="FF0000"/>
                </a:solidFill>
                <a:latin typeface="Calibri"/>
                <a:ea typeface="Calibri"/>
                <a:cs typeface="Calibri"/>
                <a:sym typeface="Calibri"/>
              </a:rPr>
              <a:t>$24K+</a:t>
            </a:r>
            <a:endParaRPr sz="13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Intel® Xeon® W7-2475X (37.5 MB cache, 20 cores, 40 threads)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Dual NVIDIA® RTX™ A6000 Ada, 2*48 = 96GB total</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128GB RAM (8 x 16 GB) DDR5</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2*4TB SSD</a:t>
            </a:r>
            <a:endParaRPr sz="1300">
              <a:solidFill>
                <a:schemeClr val="dk1"/>
              </a:solidFill>
              <a:latin typeface="Calibri"/>
              <a:ea typeface="Calibri"/>
              <a:cs typeface="Calibri"/>
              <a:sym typeface="Calibri"/>
            </a:endParaRPr>
          </a:p>
        </p:txBody>
      </p:sp>
      <p:sp>
        <p:nvSpPr>
          <p:cNvPr id="95" name="Google Shape;95;p18"/>
          <p:cNvSpPr txBox="1"/>
          <p:nvPr/>
        </p:nvSpPr>
        <p:spPr>
          <a:xfrm>
            <a:off x="0" y="0"/>
            <a:ext cx="3188100" cy="400200"/>
          </a:xfrm>
          <a:prstGeom prst="rect">
            <a:avLst/>
          </a:prstGeom>
          <a:noFill/>
          <a:ln>
            <a:noFill/>
          </a:ln>
        </p:spPr>
        <p:txBody>
          <a:bodyPr spcFirstLastPara="1" wrap="square" lIns="45700" tIns="45700" rIns="45700" bIns="45700"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DELL AI-Ready Workstations</a:t>
            </a:r>
            <a:endParaRPr sz="2000" b="1">
              <a:solidFill>
                <a:schemeClr val="dk1"/>
              </a:solidFill>
              <a:latin typeface="Calibri"/>
              <a:ea typeface="Calibri"/>
              <a:cs typeface="Calibri"/>
              <a:sym typeface="Calibri"/>
            </a:endParaRPr>
          </a:p>
        </p:txBody>
      </p:sp>
      <p:pic>
        <p:nvPicPr>
          <p:cNvPr id="96" name="Google Shape;96;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314694" y="4152154"/>
            <a:ext cx="1137151" cy="823500"/>
          </a:xfrm>
          <a:prstGeom prst="rect">
            <a:avLst/>
          </a:prstGeom>
          <a:noFill/>
          <a:ln>
            <a:noFill/>
          </a:ln>
        </p:spPr>
      </p:pic>
      <p:pic>
        <p:nvPicPr>
          <p:cNvPr id="97" name="Google Shape;97;p1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224025" y="69475"/>
            <a:ext cx="3849951" cy="1940551"/>
          </a:xfrm>
          <a:prstGeom prst="rect">
            <a:avLst/>
          </a:prstGeom>
          <a:noFill/>
          <a:ln>
            <a:noFill/>
          </a:ln>
        </p:spPr>
      </p:pic>
      <p:sp>
        <p:nvSpPr>
          <p:cNvPr id="98" name="Google Shape;98;p18"/>
          <p:cNvSpPr txBox="1"/>
          <p:nvPr/>
        </p:nvSpPr>
        <p:spPr>
          <a:xfrm>
            <a:off x="4779350" y="2078302"/>
            <a:ext cx="4294800" cy="260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Matthew Berman testing DELL</a:t>
            </a:r>
            <a:endParaRPr sz="1300">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accent5"/>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https://www.youtube.com/watch?v=8HC6aRMmg3I</a:t>
            </a:r>
            <a:endParaRPr sz="1000">
              <a:solidFill>
                <a:schemeClr val="dk1"/>
              </a:solidFill>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7"/>
              </a:rPr>
              <a:t>https://www.dell.com/en-us/shop/desktop-computers/precision-5860-tower/spd/precision-5860-workstation/xctopt5860us_vp?configurationid=1cda8e9b-b3af-40fb-a43d-72242abd5f55</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Tested models running in parallel using LM Studio:</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llama-3-70b-instruct q8</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Mistral-7b-instruct fp16 (42 t/s)</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llama-3-70b-instruct q6</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Phi-3-mini-4k-Instruct fp16 (~60 ts)</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llama3-8b-Instruct q8</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llama3-8b-Instruct q4  (~60 ts) (12t/s if run 10 in parallel)</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Phi-3-medium-128k-instruct f32</a:t>
            </a:r>
            <a:endParaRPr sz="1300">
              <a:solidFill>
                <a:schemeClr val="dk1"/>
              </a:solidFill>
              <a:latin typeface="Calibri"/>
              <a:ea typeface="Calibri"/>
              <a:cs typeface="Calibri"/>
              <a:sym typeface="Calibri"/>
            </a:endParaRPr>
          </a:p>
        </p:txBody>
      </p:sp>
      <p:pic>
        <p:nvPicPr>
          <p:cNvPr id="99" name="Google Shape;99;p1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314704" y="1769390"/>
            <a:ext cx="3188101" cy="225070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p:nvPr/>
        </p:nvSpPr>
        <p:spPr>
          <a:xfrm>
            <a:off x="76200" y="400200"/>
            <a:ext cx="4907700" cy="144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45700" tIns="45700" rIns="45700" bIns="45700"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Lenovo Yoga Slim 7x 14" Gen 9 - up to 32GB memory, 1TB SSD, 2.8 lbs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Lenovo ThinkPad T14s Gen 6 - up to 64GB memory, 2.7 lbs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3"/>
              </a:rPr>
              <a:t>https://www.youtube.com/watch?v=gxc5kvzoddE</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ASUS Vivobook S 15</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Samsung Galaxy Book4 Edge 16" screen</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Microsoft Surface</a:t>
            </a:r>
            <a:r>
              <a:rPr lang="en" sz="1000">
                <a:solidFill>
                  <a:schemeClr val="dk1"/>
                </a:solidFill>
                <a:latin typeface="Calibri"/>
                <a:ea typeface="Calibri"/>
                <a:cs typeface="Calibri"/>
                <a:sym typeface="Calibri"/>
              </a:rPr>
              <a:t> - </a:t>
            </a:r>
            <a:r>
              <a:rPr lang="en" sz="1000" u="sng">
                <a:solidFill>
                  <a:schemeClr val="hlink"/>
                </a:solidFill>
                <a:latin typeface="Calibri"/>
                <a:ea typeface="Calibri"/>
                <a:cs typeface="Calibri"/>
                <a:sym typeface="Calibri"/>
                <a:hlinkClick r:id="rId4"/>
              </a:rPr>
              <a:t>https://www.youtube.com/watch?v=GZy5NOYwYiw</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05" name="Google Shape;105;p19"/>
          <p:cNvSpPr txBox="1"/>
          <p:nvPr/>
        </p:nvSpPr>
        <p:spPr>
          <a:xfrm>
            <a:off x="0" y="0"/>
            <a:ext cx="6638100" cy="400200"/>
          </a:xfrm>
          <a:prstGeom prst="rect">
            <a:avLst/>
          </a:prstGeom>
          <a:noFill/>
          <a:ln>
            <a:noFill/>
          </a:ln>
        </p:spPr>
        <p:txBody>
          <a:bodyPr spcFirstLastPara="1" wrap="square" lIns="45700" tIns="45700" rIns="45700" bIns="45700"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Snapdragon X Elite Laptops - 30+ hrs battery life, Sys-on-Chip</a:t>
            </a:r>
            <a:endParaRPr sz="2000" b="1">
              <a:solidFill>
                <a:schemeClr val="dk1"/>
              </a:solidFill>
              <a:latin typeface="Calibri"/>
              <a:ea typeface="Calibri"/>
              <a:cs typeface="Calibri"/>
              <a:sym typeface="Calibri"/>
            </a:endParaRPr>
          </a:p>
        </p:txBody>
      </p:sp>
      <p:pic>
        <p:nvPicPr>
          <p:cNvPr id="106" name="Google Shape;106;p19"/>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295250" y="538150"/>
            <a:ext cx="1228974" cy="917100"/>
          </a:xfrm>
          <a:prstGeom prst="rect">
            <a:avLst/>
          </a:prstGeom>
          <a:noFill/>
          <a:ln>
            <a:noFill/>
          </a:ln>
        </p:spPr>
      </p:pic>
      <p:pic>
        <p:nvPicPr>
          <p:cNvPr id="107" name="Google Shape;107;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273076" y="2145875"/>
            <a:ext cx="2709373" cy="1572076"/>
          </a:xfrm>
          <a:prstGeom prst="rect">
            <a:avLst/>
          </a:prstGeom>
          <a:noFill/>
          <a:ln>
            <a:noFill/>
          </a:ln>
        </p:spPr>
      </p:pic>
      <p:pic>
        <p:nvPicPr>
          <p:cNvPr id="108" name="Google Shape;108;p1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569725" y="2098225"/>
            <a:ext cx="2412375" cy="1399726"/>
          </a:xfrm>
          <a:prstGeom prst="rect">
            <a:avLst/>
          </a:prstGeom>
          <a:noFill/>
          <a:ln>
            <a:noFill/>
          </a:ln>
        </p:spPr>
      </p:pic>
      <p:pic>
        <p:nvPicPr>
          <p:cNvPr id="109" name="Google Shape;109;p1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7652871" y="49825"/>
            <a:ext cx="1491128" cy="1506500"/>
          </a:xfrm>
          <a:prstGeom prst="rect">
            <a:avLst/>
          </a:prstGeom>
          <a:noFill/>
          <a:ln>
            <a:noFill/>
          </a:ln>
        </p:spPr>
      </p:pic>
      <p:pic>
        <p:nvPicPr>
          <p:cNvPr id="110" name="Google Shape;110;p19"/>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053630" y="2098227"/>
            <a:ext cx="2492744" cy="1399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txBox="1"/>
          <p:nvPr/>
        </p:nvSpPr>
        <p:spPr>
          <a:xfrm>
            <a:off x="76200" y="0"/>
            <a:ext cx="995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Misc 1</a:t>
            </a:r>
            <a:endParaRPr sz="2000" b="1" i="0" u="none" strike="noStrike" cap="none">
              <a:solidFill>
                <a:srgbClr val="000000"/>
              </a:solidFill>
              <a:latin typeface="Calibri"/>
              <a:ea typeface="Calibri"/>
              <a:cs typeface="Calibri"/>
              <a:sym typeface="Calibri"/>
            </a:endParaRPr>
          </a:p>
        </p:txBody>
      </p:sp>
      <p:sp>
        <p:nvSpPr>
          <p:cNvPr id="116" name="Google Shape;116;p20"/>
          <p:cNvSpPr txBox="1"/>
          <p:nvPr/>
        </p:nvSpPr>
        <p:spPr>
          <a:xfrm>
            <a:off x="76200" y="334500"/>
            <a:ext cx="3978900" cy="212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NVIDIA Nemotron 4 340B</a:t>
            </a:r>
            <a:r>
              <a:rPr lang="en" sz="1300">
                <a:solidFill>
                  <a:schemeClr val="dk1"/>
                </a:solidFill>
                <a:latin typeface="Calibri"/>
                <a:ea typeface="Calibri"/>
                <a:cs typeface="Calibri"/>
                <a:sym typeface="Calibri"/>
              </a:rPr>
              <a:t> is a family of open-source AI models released by NVIDIA. The models are designed to </a:t>
            </a:r>
            <a:r>
              <a:rPr lang="en" sz="1300" b="1">
                <a:solidFill>
                  <a:srgbClr val="3C78D8"/>
                </a:solidFill>
                <a:latin typeface="Calibri"/>
                <a:ea typeface="Calibri"/>
                <a:cs typeface="Calibri"/>
                <a:sym typeface="Calibri"/>
              </a:rPr>
              <a:t>generate synthetic data for training</a:t>
            </a:r>
            <a:r>
              <a:rPr lang="en" sz="1300">
                <a:solidFill>
                  <a:schemeClr val="dk1"/>
                </a:solidFill>
                <a:latin typeface="Calibri"/>
                <a:ea typeface="Calibri"/>
                <a:cs typeface="Calibri"/>
                <a:sym typeface="Calibri"/>
              </a:rPr>
              <a:t> LLMs.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The </a:t>
            </a:r>
            <a:r>
              <a:rPr lang="en" sz="1300" b="1">
                <a:solidFill>
                  <a:srgbClr val="FF0000"/>
                </a:solidFill>
                <a:latin typeface="Calibri"/>
                <a:ea typeface="Calibri"/>
                <a:cs typeface="Calibri"/>
                <a:sym typeface="Calibri"/>
              </a:rPr>
              <a:t>Nemotron-4 340B</a:t>
            </a:r>
            <a:r>
              <a:rPr lang="en" sz="1300">
                <a:solidFill>
                  <a:schemeClr val="dk1"/>
                </a:solidFill>
                <a:latin typeface="Calibri"/>
                <a:ea typeface="Calibri"/>
                <a:cs typeface="Calibri"/>
                <a:sym typeface="Calibri"/>
              </a:rPr>
              <a:t> </a:t>
            </a:r>
            <a:r>
              <a:rPr lang="en" sz="1300" b="1">
                <a:solidFill>
                  <a:srgbClr val="3C78D8"/>
                </a:solidFill>
                <a:latin typeface="Calibri"/>
                <a:ea typeface="Calibri"/>
                <a:cs typeface="Calibri"/>
                <a:sym typeface="Calibri"/>
              </a:rPr>
              <a:t>Reward model</a:t>
            </a:r>
            <a:r>
              <a:rPr lang="en" sz="1300">
                <a:solidFill>
                  <a:schemeClr val="dk1"/>
                </a:solidFill>
                <a:latin typeface="Calibri"/>
                <a:ea typeface="Calibri"/>
                <a:cs typeface="Calibri"/>
                <a:sym typeface="Calibri"/>
              </a:rPr>
              <a:t> can be used to enhance the quality of responses generated by AI models, to filter for high-quality responses generated by AI models, based on attributes like </a:t>
            </a:r>
            <a:r>
              <a:rPr lang="en" sz="1300" b="1">
                <a:solidFill>
                  <a:srgbClr val="6AA84F"/>
                </a:solidFill>
                <a:latin typeface="Calibri"/>
                <a:ea typeface="Calibri"/>
                <a:cs typeface="Calibri"/>
                <a:sym typeface="Calibri"/>
              </a:rPr>
              <a:t>helpfulness, correctness, coherence, complexity, and verbosity</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https://www.youtube.com/watch?v=_7QgNfpGUhM</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NeMo</a:t>
            </a:r>
            <a:r>
              <a:rPr lang="en" sz="1300">
                <a:solidFill>
                  <a:schemeClr val="dk1"/>
                </a:solidFill>
                <a:latin typeface="Calibri"/>
                <a:ea typeface="Calibri"/>
                <a:cs typeface="Calibri"/>
                <a:sym typeface="Calibri"/>
              </a:rPr>
              <a:t> - Framework for Building GenAI Models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https://docs.nvidia.com/nemo-framework/</a:t>
            </a:r>
            <a:endParaRPr sz="1000">
              <a:solidFill>
                <a:schemeClr val="dk1"/>
              </a:solidFill>
              <a:latin typeface="Calibri"/>
              <a:ea typeface="Calibri"/>
              <a:cs typeface="Calibri"/>
              <a:sym typeface="Calibri"/>
            </a:endParaRPr>
          </a:p>
        </p:txBody>
      </p:sp>
      <p:sp>
        <p:nvSpPr>
          <p:cNvPr id="117" name="Google Shape;117;p20"/>
          <p:cNvSpPr txBox="1"/>
          <p:nvPr/>
        </p:nvSpPr>
        <p:spPr>
          <a:xfrm>
            <a:off x="4157300" y="78325"/>
            <a:ext cx="49326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Google now offers ‘web’ search</a:t>
            </a:r>
            <a:r>
              <a:rPr lang="en" sz="1300">
                <a:solidFill>
                  <a:schemeClr val="dk1"/>
                </a:solidFill>
                <a:latin typeface="Calibri"/>
                <a:ea typeface="Calibri"/>
                <a:cs typeface="Calibri"/>
                <a:sym typeface="Calibri"/>
              </a:rPr>
              <a:t> — and an AI opt-out button.</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The optional setting filters out almost all the other blocks of content that Google crams into a search results page, leaving you with links and text </a:t>
            </a:r>
            <a:endParaRPr sz="1300">
              <a:solidFill>
                <a:schemeClr val="dk1"/>
              </a:solidFill>
              <a:latin typeface="Calibri"/>
              <a:ea typeface="Calibri"/>
              <a:cs typeface="Calibri"/>
              <a:sym typeface="Calibri"/>
            </a:endParaRPr>
          </a:p>
        </p:txBody>
      </p:sp>
      <p:pic>
        <p:nvPicPr>
          <p:cNvPr id="118" name="Google Shape;118;p20"/>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6456030" y="764963"/>
            <a:ext cx="2633870" cy="998300"/>
          </a:xfrm>
          <a:prstGeom prst="rect">
            <a:avLst/>
          </a:prstGeom>
          <a:noFill/>
          <a:ln w="9525" cap="flat" cmpd="sng">
            <a:solidFill>
              <a:srgbClr val="FF0000"/>
            </a:solidFill>
            <a:prstDash val="solid"/>
            <a:round/>
            <a:headEnd type="none" w="sm" len="sm"/>
            <a:tailEnd type="none" w="sm" len="sm"/>
          </a:ln>
        </p:spPr>
      </p:pic>
      <p:pic>
        <p:nvPicPr>
          <p:cNvPr id="119" name="Google Shape;119;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4772" y="2532904"/>
            <a:ext cx="1963577" cy="998300"/>
          </a:xfrm>
          <a:prstGeom prst="rect">
            <a:avLst/>
          </a:prstGeom>
          <a:noFill/>
          <a:ln w="9525" cap="flat" cmpd="sng">
            <a:solidFill>
              <a:srgbClr val="FF0000"/>
            </a:solidFill>
            <a:prstDash val="solid"/>
            <a:round/>
            <a:headEnd type="none" w="sm" len="sm"/>
            <a:tailEnd type="none" w="sm" len="sm"/>
          </a:ln>
        </p:spPr>
      </p:pic>
      <p:pic>
        <p:nvPicPr>
          <p:cNvPr id="120" name="Google Shape;120;p2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2090090" y="2532904"/>
            <a:ext cx="1963582" cy="998300"/>
          </a:xfrm>
          <a:prstGeom prst="rect">
            <a:avLst/>
          </a:prstGeom>
          <a:noFill/>
          <a:ln w="9525" cap="flat" cmpd="sng">
            <a:solidFill>
              <a:srgbClr val="FF0000"/>
            </a:solidFill>
            <a:prstDash val="solid"/>
            <a:round/>
            <a:headEnd type="none" w="sm" len="sm"/>
            <a:tailEnd type="none" w="sm" len="sm"/>
          </a:ln>
        </p:spPr>
      </p:pic>
      <p:sp>
        <p:nvSpPr>
          <p:cNvPr id="121" name="Google Shape;121;p20"/>
          <p:cNvSpPr txBox="1"/>
          <p:nvPr/>
        </p:nvSpPr>
        <p:spPr>
          <a:xfrm>
            <a:off x="76200" y="3670750"/>
            <a:ext cx="3977400" cy="92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DeepSeek-Coder-V2</a:t>
            </a:r>
            <a:r>
              <a:rPr lang="en" sz="1300">
                <a:solidFill>
                  <a:schemeClr val="dk1"/>
                </a:solidFill>
                <a:latin typeface="Calibri"/>
                <a:ea typeface="Calibri"/>
                <a:cs typeface="Calibri"/>
                <a:sym typeface="Calibri"/>
              </a:rPr>
              <a:t> - an open-source Mixture-of-Experts (MoE) code language model that achieves performance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comparable to GPT4-Turbo in code-specific tasks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8"/>
              </a:rPr>
              <a:t>https://github.com/deepseek-ai/DeepSeek-Coder-V2</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9"/>
              </a:rPr>
              <a:t>https://www.youtube.com/watch?v=0Xp7K2rHcZg</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22" name="Google Shape;122;p20"/>
          <p:cNvPicPr preferRelativeResize="0"/>
          <p:nvPr/>
        </p:nvPicPr>
        <p:blipFill>
          <a:blip r:embed="rId10">
            <a:alphaModFix/>
          </a:blip>
          <a:stretch>
            <a:fillRect/>
          </a:stretch>
        </p:blipFill>
        <p:spPr>
          <a:xfrm>
            <a:off x="1357763" y="4680250"/>
            <a:ext cx="1857375" cy="390525"/>
          </a:xfrm>
          <a:prstGeom prst="rect">
            <a:avLst/>
          </a:prstGeom>
          <a:noFill/>
          <a:ln>
            <a:noFill/>
          </a:ln>
        </p:spPr>
      </p:pic>
      <p:pic>
        <p:nvPicPr>
          <p:cNvPr id="123" name="Google Shape;123;p20"/>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4157300" y="2683925"/>
            <a:ext cx="4932675" cy="23868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txBox="1"/>
          <p:nvPr/>
        </p:nvSpPr>
        <p:spPr>
          <a:xfrm>
            <a:off x="76200" y="0"/>
            <a:ext cx="995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Misc 2</a:t>
            </a:r>
            <a:endParaRPr sz="2000" b="1" i="0" u="none" strike="noStrike" cap="none">
              <a:solidFill>
                <a:srgbClr val="000000"/>
              </a:solidFill>
              <a:latin typeface="Calibri"/>
              <a:ea typeface="Calibri"/>
              <a:cs typeface="Calibri"/>
              <a:sym typeface="Calibri"/>
            </a:endParaRPr>
          </a:p>
        </p:txBody>
      </p:sp>
      <p:sp>
        <p:nvSpPr>
          <p:cNvPr id="129" name="Google Shape;129;p21"/>
          <p:cNvSpPr txBox="1"/>
          <p:nvPr/>
        </p:nvSpPr>
        <p:spPr>
          <a:xfrm>
            <a:off x="76200" y="410700"/>
            <a:ext cx="39789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deeplearning.ai</a:t>
            </a:r>
            <a:r>
              <a:rPr lang="en" sz="1300">
                <a:solidFill>
                  <a:schemeClr val="dk1"/>
                </a:solidFill>
                <a:latin typeface="Calibri"/>
                <a:ea typeface="Calibri"/>
                <a:cs typeface="Calibri"/>
                <a:sym typeface="Calibri"/>
              </a:rPr>
              <a:t> - new course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3C78D8"/>
                </a:solidFill>
                <a:latin typeface="Calibri"/>
                <a:ea typeface="Calibri"/>
                <a:cs typeface="Calibri"/>
                <a:sym typeface="Calibri"/>
              </a:rPr>
              <a:t>"Function-Calling and Data Extraction with LLMs"</a:t>
            </a:r>
            <a:endParaRPr sz="1000" b="1">
              <a:solidFill>
                <a:srgbClr val="3C78D8"/>
              </a:solidFill>
              <a:latin typeface="Calibri"/>
              <a:ea typeface="Calibri"/>
              <a:cs typeface="Calibri"/>
              <a:sym typeface="Calibri"/>
            </a:endParaRPr>
          </a:p>
        </p:txBody>
      </p:sp>
      <p:pic>
        <p:nvPicPr>
          <p:cNvPr id="130" name="Google Shape;130;p21"/>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166243" y="117376"/>
            <a:ext cx="2252749" cy="1172576"/>
          </a:xfrm>
          <a:prstGeom prst="rect">
            <a:avLst/>
          </a:prstGeom>
          <a:noFill/>
          <a:ln>
            <a:noFill/>
          </a:ln>
        </p:spPr>
      </p:pic>
      <p:sp>
        <p:nvSpPr>
          <p:cNvPr id="131" name="Google Shape;131;p21"/>
          <p:cNvSpPr txBox="1"/>
          <p:nvPr/>
        </p:nvSpPr>
        <p:spPr>
          <a:xfrm>
            <a:off x="76200" y="1493325"/>
            <a:ext cx="39789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Nvidia</a:t>
            </a:r>
            <a:r>
              <a:rPr lang="en" sz="1300">
                <a:solidFill>
                  <a:schemeClr val="dk1"/>
                </a:solidFill>
                <a:latin typeface="Calibri"/>
                <a:ea typeface="Calibri"/>
                <a:cs typeface="Calibri"/>
                <a:sym typeface="Calibri"/>
              </a:rPr>
              <a:t> grew x9 since the end of 2022, surpassed Apple and on par with Microsoft</a:t>
            </a:r>
            <a:endParaRPr sz="1000" b="1">
              <a:solidFill>
                <a:srgbClr val="3C78D8"/>
              </a:solidFill>
              <a:latin typeface="Calibri"/>
              <a:ea typeface="Calibri"/>
              <a:cs typeface="Calibri"/>
              <a:sym typeface="Calibri"/>
            </a:endParaRPr>
          </a:p>
        </p:txBody>
      </p:sp>
      <p:pic>
        <p:nvPicPr>
          <p:cNvPr id="132" name="Google Shape;132;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6200" y="1989897"/>
            <a:ext cx="3978901" cy="3051078"/>
          </a:xfrm>
          <a:prstGeom prst="rect">
            <a:avLst/>
          </a:prstGeom>
          <a:noFill/>
          <a:ln w="9525" cap="flat" cmpd="sng">
            <a:solidFill>
              <a:srgbClr val="FF0000"/>
            </a:solidFill>
            <a:prstDash val="solid"/>
            <a:round/>
            <a:headEnd type="none" w="sm" len="sm"/>
            <a:tailEnd type="none" w="sm" len="sm"/>
          </a:ln>
        </p:spPr>
      </p:pic>
      <p:sp>
        <p:nvSpPr>
          <p:cNvPr id="133" name="Google Shape;133;p21"/>
          <p:cNvSpPr txBox="1"/>
          <p:nvPr/>
        </p:nvSpPr>
        <p:spPr>
          <a:xfrm>
            <a:off x="4166250" y="3191492"/>
            <a:ext cx="48591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Runway’s Gen-3 Alpha</a:t>
            </a:r>
            <a:r>
              <a:rPr lang="en" sz="1300">
                <a:solidFill>
                  <a:schemeClr val="dk1"/>
                </a:solidFill>
                <a:latin typeface="Calibri"/>
                <a:ea typeface="Calibri"/>
                <a:cs typeface="Calibri"/>
                <a:sym typeface="Calibri"/>
              </a:rPr>
              <a:t> - another Sora AI Video Competitor</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5"/>
              </a:rPr>
              <a:t>https://nofilmschool.com/runway-gen-3-alpha</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
        <p:nvSpPr>
          <p:cNvPr id="134" name="Google Shape;134;p21"/>
          <p:cNvSpPr txBox="1"/>
          <p:nvPr/>
        </p:nvSpPr>
        <p:spPr>
          <a:xfrm>
            <a:off x="4166250" y="1497475"/>
            <a:ext cx="4859100" cy="161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Dell, Nvidia, and Super Micro Computer</a:t>
            </a:r>
            <a:r>
              <a:rPr lang="en" sz="1300">
                <a:solidFill>
                  <a:schemeClr val="dk1"/>
                </a:solidFill>
                <a:latin typeface="Calibri"/>
                <a:ea typeface="Calibri"/>
                <a:cs typeface="Calibri"/>
                <a:sym typeface="Calibri"/>
              </a:rPr>
              <a:t> are building an AI factory for xAI’s massive supercomputer to train Grok AI.</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Dell</a:t>
            </a:r>
            <a:r>
              <a:rPr lang="en" sz="1300">
                <a:solidFill>
                  <a:schemeClr val="dk1"/>
                </a:solidFill>
                <a:latin typeface="Calibri"/>
                <a:ea typeface="Calibri"/>
                <a:cs typeface="Calibri"/>
                <a:sym typeface="Calibri"/>
              </a:rPr>
              <a:t> is assembling half of the server racks for xAI's planned supercomputer, with </a:t>
            </a:r>
            <a:r>
              <a:rPr lang="en" sz="1300" b="1">
                <a:solidFill>
                  <a:srgbClr val="FF0000"/>
                </a:solidFill>
                <a:latin typeface="Calibri"/>
                <a:ea typeface="Calibri"/>
                <a:cs typeface="Calibri"/>
                <a:sym typeface="Calibri"/>
              </a:rPr>
              <a:t>Super Micro</a:t>
            </a:r>
            <a:r>
              <a:rPr lang="en" sz="1300">
                <a:solidFill>
                  <a:schemeClr val="dk1"/>
                </a:solidFill>
                <a:latin typeface="Calibri"/>
                <a:ea typeface="Calibri"/>
                <a:cs typeface="Calibri"/>
                <a:sym typeface="Calibri"/>
              </a:rPr>
              <a:t> handling the other half.</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system aims to use up to </a:t>
            </a:r>
            <a:r>
              <a:rPr lang="en" sz="1300" b="1">
                <a:solidFill>
                  <a:srgbClr val="3C78D8"/>
                </a:solidFill>
                <a:latin typeface="Calibri"/>
                <a:ea typeface="Calibri"/>
                <a:cs typeface="Calibri"/>
                <a:sym typeface="Calibri"/>
              </a:rPr>
              <a:t>100,000 Nvidia H100 GPUs</a:t>
            </a:r>
            <a:r>
              <a:rPr lang="en" sz="1300">
                <a:solidFill>
                  <a:schemeClr val="dk1"/>
                </a:solidFill>
                <a:latin typeface="Calibri"/>
                <a:ea typeface="Calibri"/>
                <a:cs typeface="Calibri"/>
                <a:sym typeface="Calibri"/>
              </a:rPr>
              <a:t>, potentially making it 4x larger than the biggest existing AI clusters.</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Musk wants the supercomputer to be </a:t>
            </a:r>
            <a:r>
              <a:rPr lang="en" sz="1300" b="1">
                <a:solidFill>
                  <a:srgbClr val="3C78D8"/>
                </a:solidFill>
                <a:latin typeface="Calibri"/>
                <a:ea typeface="Calibri"/>
                <a:cs typeface="Calibri"/>
                <a:sym typeface="Calibri"/>
              </a:rPr>
              <a:t>fully operational by Fall 2025</a:t>
            </a:r>
            <a:r>
              <a:rPr lang="en" sz="1300">
                <a:solidFill>
                  <a:schemeClr val="dk1"/>
                </a:solidFill>
                <a:latin typeface="Calibri"/>
                <a:ea typeface="Calibri"/>
                <a:cs typeface="Calibri"/>
                <a:sym typeface="Calibri"/>
              </a:rPr>
              <a:t> to accelerate the development of advanced Grok models.</a:t>
            </a:r>
            <a:endParaRPr sz="13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p2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06426" y="1382703"/>
            <a:ext cx="4378896" cy="3284172"/>
          </a:xfrm>
          <a:prstGeom prst="rect">
            <a:avLst/>
          </a:prstGeom>
          <a:noFill/>
          <a:ln w="9525" cap="flat" cmpd="sng">
            <a:solidFill>
              <a:srgbClr val="FF0000"/>
            </a:solidFill>
            <a:prstDash val="solid"/>
            <a:round/>
            <a:headEnd type="none" w="sm" len="sm"/>
            <a:tailEnd type="none" w="sm" len="sm"/>
          </a:ln>
        </p:spPr>
      </p:pic>
      <p:pic>
        <p:nvPicPr>
          <p:cNvPr id="140" name="Google Shape;140;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37225" y="1082625"/>
            <a:ext cx="4323076" cy="3584251"/>
          </a:xfrm>
          <a:prstGeom prst="rect">
            <a:avLst/>
          </a:prstGeom>
          <a:noFill/>
          <a:ln w="9525" cap="flat" cmpd="sng">
            <a:solidFill>
              <a:srgbClr val="FF0000"/>
            </a:solidFill>
            <a:prstDash val="solid"/>
            <a:round/>
            <a:headEnd type="none" w="sm" len="sm"/>
            <a:tailEnd type="none" w="sm" len="sm"/>
          </a:ln>
        </p:spPr>
      </p:pic>
      <p:sp>
        <p:nvSpPr>
          <p:cNvPr id="141" name="Google Shape;141;p22"/>
          <p:cNvSpPr txBox="1"/>
          <p:nvPr/>
        </p:nvSpPr>
        <p:spPr>
          <a:xfrm>
            <a:off x="5650240" y="55346"/>
            <a:ext cx="1550400" cy="526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100">
                <a:solidFill>
                  <a:srgbClr val="1F2937"/>
                </a:solidFill>
                <a:highlight>
                  <a:srgbClr val="FFFFFF"/>
                </a:highlight>
                <a:latin typeface="Calibri"/>
                <a:ea typeface="Calibri"/>
                <a:cs typeface="Calibri"/>
                <a:sym typeface="Calibri"/>
              </a:rPr>
              <a:t>Total #models: 109.    </a:t>
            </a:r>
            <a:endParaRPr sz="1100">
              <a:solidFill>
                <a:srgbClr val="1F2937"/>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100">
                <a:solidFill>
                  <a:srgbClr val="1F2937"/>
                </a:solidFill>
                <a:highlight>
                  <a:srgbClr val="FFFFFF"/>
                </a:highlight>
                <a:latin typeface="Calibri"/>
                <a:ea typeface="Calibri"/>
                <a:cs typeface="Calibri"/>
                <a:sym typeface="Calibri"/>
              </a:rPr>
              <a:t>Total #votes: 1,314,230.</a:t>
            </a:r>
            <a:endParaRPr sz="1100">
              <a:solidFill>
                <a:srgbClr val="1F2937"/>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100">
                <a:solidFill>
                  <a:srgbClr val="1F2937"/>
                </a:solidFill>
                <a:highlight>
                  <a:srgbClr val="FFFFFF"/>
                </a:highlight>
                <a:latin typeface="Calibri"/>
                <a:ea typeface="Calibri"/>
                <a:cs typeface="Calibri"/>
                <a:sym typeface="Calibri"/>
              </a:rPr>
              <a:t>Last updated: 2024-06-17.</a:t>
            </a:r>
            <a:endParaRPr sz="1100" b="1">
              <a:solidFill>
                <a:srgbClr val="FF0000"/>
              </a:solidFill>
              <a:latin typeface="Calibri"/>
              <a:ea typeface="Calibri"/>
              <a:cs typeface="Calibri"/>
              <a:sym typeface="Calibri"/>
            </a:endParaRPr>
          </a:p>
        </p:txBody>
      </p:sp>
      <p:sp>
        <p:nvSpPr>
          <p:cNvPr id="142" name="Google Shape;142;p22"/>
          <p:cNvSpPr txBox="1"/>
          <p:nvPr/>
        </p:nvSpPr>
        <p:spPr>
          <a:xfrm>
            <a:off x="7261325" y="52350"/>
            <a:ext cx="1831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95% CI = Confidence Interval</a:t>
            </a:r>
            <a:endParaRPr sz="1200" b="0" i="0" u="none" strike="noStrike" cap="none">
              <a:solidFill>
                <a:schemeClr val="dk1"/>
              </a:solidFill>
              <a:latin typeface="Calibri"/>
              <a:ea typeface="Calibri"/>
              <a:cs typeface="Calibri"/>
              <a:sym typeface="Calibri"/>
            </a:endParaRPr>
          </a:p>
        </p:txBody>
      </p:sp>
      <p:sp>
        <p:nvSpPr>
          <p:cNvPr id="143" name="Google Shape;143;p22"/>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Crowd-sourced "Arena" Leaderboard</a:t>
            </a:r>
            <a:endParaRPr sz="2000" b="1" i="0" u="none" strike="noStrike" cap="none">
              <a:solidFill>
                <a:srgbClr val="000000"/>
              </a:solidFill>
              <a:latin typeface="Calibri"/>
              <a:ea typeface="Calibri"/>
              <a:cs typeface="Calibri"/>
              <a:sym typeface="Calibri"/>
            </a:endParaRPr>
          </a:p>
        </p:txBody>
      </p:sp>
      <p:sp>
        <p:nvSpPr>
          <p:cNvPr id="144" name="Google Shape;144;p22"/>
          <p:cNvSpPr txBox="1"/>
          <p:nvPr/>
        </p:nvSpPr>
        <p:spPr>
          <a:xfrm>
            <a:off x="0" y="157800"/>
            <a:ext cx="2076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5"/>
              </a:rPr>
              <a:t>https://chat.lmsys.org/?leaderboard</a:t>
            </a:r>
            <a:r>
              <a:rPr lang="en" sz="1000">
                <a:solidFill>
                  <a:schemeClr val="dk1"/>
                </a:solidFill>
                <a:latin typeface="Calibri"/>
                <a:ea typeface="Calibri"/>
                <a:cs typeface="Calibri"/>
                <a:sym typeface="Calibri"/>
              </a:rPr>
              <a:t> </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p:txBody>
      </p:sp>
      <p:sp>
        <p:nvSpPr>
          <p:cNvPr id="145" name="Google Shape;145;p22"/>
          <p:cNvSpPr txBox="1"/>
          <p:nvPr/>
        </p:nvSpPr>
        <p:spPr>
          <a:xfrm>
            <a:off x="1598860" y="786619"/>
            <a:ext cx="13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English-only queries</a:t>
            </a:r>
            <a:endParaRPr sz="1200">
              <a:solidFill>
                <a:schemeClr val="dk1"/>
              </a:solidFill>
              <a:latin typeface="Calibri"/>
              <a:ea typeface="Calibri"/>
              <a:cs typeface="Calibri"/>
              <a:sym typeface="Calibri"/>
            </a:endParaRPr>
          </a:p>
        </p:txBody>
      </p:sp>
      <p:sp>
        <p:nvSpPr>
          <p:cNvPr id="146" name="Google Shape;146;p22"/>
          <p:cNvSpPr/>
          <p:nvPr/>
        </p:nvSpPr>
        <p:spPr>
          <a:xfrm>
            <a:off x="5464175" y="226378"/>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 name="Google Shape;147;p22"/>
          <p:cNvSpPr/>
          <p:nvPr/>
        </p:nvSpPr>
        <p:spPr>
          <a:xfrm>
            <a:off x="1142750" y="2856503"/>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 name="Google Shape;148;p22"/>
          <p:cNvSpPr/>
          <p:nvPr/>
        </p:nvSpPr>
        <p:spPr>
          <a:xfrm>
            <a:off x="5688750" y="3044903"/>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 name="Google Shape;149;p22"/>
          <p:cNvSpPr/>
          <p:nvPr/>
        </p:nvSpPr>
        <p:spPr>
          <a:xfrm>
            <a:off x="5688750" y="2000503"/>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 name="Google Shape;150;p22"/>
          <p:cNvSpPr/>
          <p:nvPr/>
        </p:nvSpPr>
        <p:spPr>
          <a:xfrm>
            <a:off x="5688750" y="2241478"/>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 name="Google Shape;151;p22"/>
          <p:cNvSpPr/>
          <p:nvPr/>
        </p:nvSpPr>
        <p:spPr>
          <a:xfrm>
            <a:off x="5688750" y="1628761"/>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 name="Google Shape;152;p22"/>
          <p:cNvSpPr/>
          <p:nvPr/>
        </p:nvSpPr>
        <p:spPr>
          <a:xfrm>
            <a:off x="5688738" y="4501470"/>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 name="Google Shape;153;p22"/>
          <p:cNvSpPr/>
          <p:nvPr/>
        </p:nvSpPr>
        <p:spPr>
          <a:xfrm>
            <a:off x="1142750" y="3866312"/>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 name="Google Shape;154;p22"/>
          <p:cNvSpPr/>
          <p:nvPr/>
        </p:nvSpPr>
        <p:spPr>
          <a:xfrm>
            <a:off x="5688750" y="4296653"/>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Google Shape;159;p2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87275" y="598150"/>
            <a:ext cx="8366998" cy="3611792"/>
          </a:xfrm>
          <a:prstGeom prst="rect">
            <a:avLst/>
          </a:prstGeom>
          <a:noFill/>
          <a:ln>
            <a:noFill/>
          </a:ln>
        </p:spPr>
      </p:pic>
      <p:sp>
        <p:nvSpPr>
          <p:cNvPr id="160" name="Google Shape;160;p23"/>
          <p:cNvSpPr txBox="1"/>
          <p:nvPr/>
        </p:nvSpPr>
        <p:spPr>
          <a:xfrm>
            <a:off x="72300" y="76200"/>
            <a:ext cx="399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Tech Layoffs </a:t>
            </a:r>
            <a:r>
              <a:rPr lang="en" sz="2000" b="1">
                <a:solidFill>
                  <a:schemeClr val="dk1"/>
                </a:solidFill>
                <a:latin typeface="Calibri"/>
                <a:ea typeface="Calibri"/>
                <a:cs typeface="Calibri"/>
                <a:sym typeface="Calibri"/>
              </a:rPr>
              <a:t>were</a:t>
            </a:r>
            <a:r>
              <a:rPr lang="en" sz="2000" b="1" i="0" u="none" strike="noStrike" cap="none">
                <a:solidFill>
                  <a:schemeClr val="dk1"/>
                </a:solidFill>
                <a:latin typeface="Calibri"/>
                <a:ea typeface="Calibri"/>
                <a:cs typeface="Calibri"/>
                <a:sym typeface="Calibri"/>
              </a:rPr>
              <a:t> lower than in 2023</a:t>
            </a:r>
            <a:endParaRPr sz="2000" b="1" i="0" u="none" strike="noStrike" cap="none">
              <a:solidFill>
                <a:srgbClr val="000000"/>
              </a:solidFill>
              <a:latin typeface="Calibri"/>
              <a:ea typeface="Calibri"/>
              <a:cs typeface="Calibri"/>
              <a:sym typeface="Calibri"/>
            </a:endParaRPr>
          </a:p>
        </p:txBody>
      </p:sp>
      <p:sp>
        <p:nvSpPr>
          <p:cNvPr id="161" name="Google Shape;161;p23"/>
          <p:cNvSpPr txBox="1"/>
          <p:nvPr/>
        </p:nvSpPr>
        <p:spPr>
          <a:xfrm>
            <a:off x="6291625" y="109963"/>
            <a:ext cx="20025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F0F0F"/>
                </a:solidFill>
                <a:latin typeface="Calibri"/>
                <a:ea typeface="Calibri"/>
                <a:cs typeface="Calibri"/>
                <a:sym typeface="Calibri"/>
              </a:rPr>
              <a:t>Layoffs - </a:t>
            </a:r>
            <a:r>
              <a:rPr lang="en" sz="1300" b="0" i="0" u="sng" strike="noStrike" cap="none">
                <a:solidFill>
                  <a:schemeClr val="hlink"/>
                </a:solidFill>
                <a:latin typeface="Calibri"/>
                <a:ea typeface="Calibri"/>
                <a:cs typeface="Calibri"/>
                <a:sym typeface="Calibri"/>
                <a:hlinkClick r:id="rId4"/>
              </a:rPr>
              <a:t>https://layoffs.fyi</a:t>
            </a:r>
            <a:r>
              <a:rPr lang="en" sz="1300" b="0" i="0" u="none" strike="noStrike" cap="none">
                <a:solidFill>
                  <a:srgbClr val="0F0F0F"/>
                </a:solidFill>
                <a:latin typeface="Calibri"/>
                <a:ea typeface="Calibri"/>
                <a:cs typeface="Calibri"/>
                <a:sym typeface="Calibri"/>
              </a:rPr>
              <a:t> </a:t>
            </a:r>
            <a:endParaRPr sz="1300" b="0" i="0" u="none" strike="noStrike" cap="none">
              <a:solidFill>
                <a:srgbClr val="0F0F0F"/>
              </a:solidFill>
              <a:latin typeface="Calibri"/>
              <a:ea typeface="Calibri"/>
              <a:cs typeface="Calibri"/>
              <a:sym typeface="Calibri"/>
            </a:endParaRPr>
          </a:p>
        </p:txBody>
      </p:sp>
      <p:sp>
        <p:nvSpPr>
          <p:cNvPr id="162" name="Google Shape;162;p23"/>
          <p:cNvSpPr txBox="1"/>
          <p:nvPr/>
        </p:nvSpPr>
        <p:spPr>
          <a:xfrm>
            <a:off x="387275" y="4278575"/>
            <a:ext cx="8367000" cy="738900"/>
          </a:xfrm>
          <a:prstGeom prst="rect">
            <a:avLst/>
          </a:prstGeom>
          <a:solidFill>
            <a:srgbClr val="FFF2CC"/>
          </a:solidFill>
          <a:ln>
            <a:noFill/>
          </a:ln>
        </p:spPr>
        <p:txBody>
          <a:bodyPr spcFirstLastPara="1" wrap="square" lIns="91425" tIns="91425" rIns="91425" bIns="91425" anchor="t" anchorCtr="0">
            <a:spAutoFit/>
          </a:bodyPr>
          <a:lstStyle/>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Salaries for AI engineers rose 12% from the third to fourth quarter last year</a:t>
            </a:r>
            <a:endParaRPr sz="1200" b="0" i="0" u="none" strike="noStrike" cap="none">
              <a:solidFill>
                <a:srgbClr val="000000"/>
              </a:solidFill>
              <a:latin typeface="Calibri"/>
              <a:ea typeface="Calibri"/>
              <a:cs typeface="Calibri"/>
              <a:sym typeface="Calibri"/>
            </a:endParaRPr>
          </a:p>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The average salary for a senior AI engineer nationally is more than $190,000, according to Comprehensive.io.</a:t>
            </a:r>
            <a:endParaRPr sz="1200" b="0" i="0" u="none" strike="noStrike" cap="none">
              <a:solidFill>
                <a:srgbClr val="000000"/>
              </a:solidFill>
              <a:latin typeface="Calibri"/>
              <a:ea typeface="Calibri"/>
              <a:cs typeface="Calibri"/>
              <a:sym typeface="Calibri"/>
            </a:endParaRPr>
          </a:p>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AI has a talent shortage, meaning </a:t>
            </a:r>
            <a:r>
              <a:rPr lang="en" sz="1200" b="1" i="0" u="none" strike="noStrike" cap="none">
                <a:solidFill>
                  <a:srgbClr val="FF0000"/>
                </a:solidFill>
                <a:latin typeface="Calibri"/>
                <a:ea typeface="Calibri"/>
                <a:cs typeface="Calibri"/>
                <a:sym typeface="Calibri"/>
              </a:rPr>
              <a:t>$1 Mln salary job offers! </a:t>
            </a:r>
            <a:r>
              <a:rPr lang="en" sz="1200" b="0" i="0" u="none" strike="noStrike" cap="none">
                <a:solidFill>
                  <a:srgbClr val="000000"/>
                </a:solidFill>
                <a:latin typeface="Calibri"/>
                <a:ea typeface="Calibri"/>
                <a:cs typeface="Calibri"/>
                <a:sym typeface="Calibri"/>
              </a:rPr>
              <a:t>Even during tech layoffs</a:t>
            </a:r>
            <a:endParaRPr sz="1200" b="0" i="0" u="none" strike="noStrike" cap="none">
              <a:solidFill>
                <a:srgbClr val="000000"/>
              </a:solidFill>
              <a:latin typeface="Calibri"/>
              <a:ea typeface="Calibri"/>
              <a:cs typeface="Calibri"/>
              <a:sym typeface="Calibri"/>
            </a:endParaRPr>
          </a:p>
        </p:txBody>
      </p:sp>
      <p:sp>
        <p:nvSpPr>
          <p:cNvPr id="163" name="Google Shape;163;p23"/>
          <p:cNvSpPr/>
          <p:nvPr/>
        </p:nvSpPr>
        <p:spPr>
          <a:xfrm>
            <a:off x="4094425" y="1597675"/>
            <a:ext cx="1226700" cy="16653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 name="Google Shape;164;p23"/>
          <p:cNvSpPr/>
          <p:nvPr/>
        </p:nvSpPr>
        <p:spPr>
          <a:xfrm>
            <a:off x="6605274" y="1597675"/>
            <a:ext cx="1259400" cy="16653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24"/>
          <p:cNvPicPr preferRelativeResize="0"/>
          <p:nvPr/>
        </p:nvPicPr>
        <p:blipFill rotWithShape="1">
          <a:blip r:embed="rId3">
            <a:alphaModFix/>
          </a:blip>
          <a:srcRect/>
          <a:stretch/>
        </p:blipFill>
        <p:spPr>
          <a:xfrm>
            <a:off x="605238" y="1203525"/>
            <a:ext cx="2094075" cy="2094075"/>
          </a:xfrm>
          <a:prstGeom prst="rect">
            <a:avLst/>
          </a:prstGeom>
          <a:noFill/>
          <a:ln>
            <a:noFill/>
          </a:ln>
        </p:spPr>
      </p:pic>
      <p:sp>
        <p:nvSpPr>
          <p:cNvPr id="170" name="Google Shape;170;p24"/>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171" name="Google Shape;171;p24"/>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172" name="Google Shape;172;p2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10941" y="3664175"/>
            <a:ext cx="1144600" cy="415875"/>
          </a:xfrm>
          <a:prstGeom prst="rect">
            <a:avLst/>
          </a:prstGeom>
          <a:noFill/>
          <a:ln>
            <a:noFill/>
          </a:ln>
        </p:spPr>
      </p:pic>
      <p:sp>
        <p:nvSpPr>
          <p:cNvPr id="173" name="Google Shape;173;p24"/>
          <p:cNvSpPr txBox="1"/>
          <p:nvPr/>
        </p:nvSpPr>
        <p:spPr>
          <a:xfrm>
            <a:off x="912377"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174" name="Google Shape;174;p24"/>
          <p:cNvSpPr txBox="1"/>
          <p:nvPr/>
        </p:nvSpPr>
        <p:spPr>
          <a:xfrm>
            <a:off x="536203" y="4360974"/>
            <a:ext cx="2094075" cy="430857"/>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5"/>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1592</Words>
  <Application>Microsoft Macintosh PowerPoint</Application>
  <PresentationFormat>On-screen Show (16:9)</PresentationFormat>
  <Paragraphs>154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2024-06-21T03:19:09Z</dcterms:modified>
</cp:coreProperties>
</file>