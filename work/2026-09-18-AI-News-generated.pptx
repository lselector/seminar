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ena.ai/leaderboard/text" TargetMode="External"/><Relationship Id="rId3" Type="http://schemas.openxmlformats.org/officeDocument/2006/relationships/hyperlink" Target="https://arena.ai/leaderboard/text/codi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tificialanalysis.ai/evaluations/artificial-analysis-intelligence-index" TargetMode="Externa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anthropic.com/research/formalizing-fermats-last-theorem" TargetMode="External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lev-selector" TargetMode="Externa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institute/econ-scenarios" TargetMode="Externa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ayoffs.fyi" TargetMode="External"/><Relationship Id="rId3" Type="http://schemas.openxmlformats.org/officeDocument/2006/relationships/image" Target="../media/image10.jpg"/><Relationship Id="rId4" Type="http://schemas.openxmlformats.org/officeDocument/2006/relationships/hyperlink" Target="https://trueup.io/layoffs" TargetMode="External"/><Relationship Id="rId5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ais.ai" TargetMode="Externa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lev-selector" TargetMode="External"/><Relationship Id="rId3" Type="http://schemas.openxmlformats.org/officeDocument/2006/relationships/hyperlink" Target="https://github.com/lselector/seminar" TargetMode="External"/><Relationship Id="rId4" Type="http://schemas.openxmlformats.org/officeDocument/2006/relationships/hyperlink" Target="https://drive.google.com/drive/folders/1dmj00iilSP-JYmriMUUaHCKz5X54e3UX?ths=tru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2932789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AI News - Sept 18,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0" y="54864"/>
            <a:ext cx="3666744" cy="6217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 i="1">
                <a:solidFill>
                  <a:srgbClr val="FF0000"/>
                </a:solidFill>
                <a:latin typeface="Calibri"/>
              </a:rPr>
              <a:t>Agents got their own computers. Oversight is still catching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" y="768096"/>
            <a:ext cx="2907792" cy="1598168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Calibri"/>
              </a:rPr>
              <a:t>Artificial Analysis Intelligence Index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Meta ships Muse agent with its own cloud computer and browser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Claude formalized Fermat's Last Theorem in 11 days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An Anthropic resignation turns into an extinction 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8104" y="768096"/>
            <a:ext cx="2907792" cy="1818640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Calibri"/>
              </a:rPr>
              <a:t>Mistral raises the largest round in European tech history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Google's agentic video understanding cuts video tokens by up to 88%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The music industry stops fighting and starts licensing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Anthropic models what AI does to US jobs and wages by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3912" y="768096"/>
            <a:ext cx="2907792" cy="495807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Calibri"/>
              </a:rPr>
              <a:t>Layoffs.fyi tracker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TrueUp tech layoff 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1625809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347472"/>
            <a:ext cx="3010911" cy="237744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0">
                <a:solidFill>
                  <a:srgbClr val="595959"/>
                </a:solidFill>
                <a:latin typeface="Calibri"/>
              </a:rPr>
              <a:t>Claude    </a:t>
            </a: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0">
                <a:solidFill>
                  <a:srgbClr val="595959"/>
                </a:solidFill>
                <a:latin typeface="Calibri"/>
              </a:rPr>
              <a:t>Gemini    </a:t>
            </a:r>
            <a:r>
              <a:rPr sz="900" b="0">
                <a:solidFill>
                  <a:srgbClr val="FFD700"/>
                </a:solidFill>
                <a:latin typeface="Calibri"/>
              </a:rPr>
              <a:t>■ </a:t>
            </a:r>
            <a:r>
              <a:rPr sz="900" b="0">
                <a:solidFill>
                  <a:srgbClr val="595959"/>
                </a:solidFill>
                <a:latin typeface="Calibri"/>
              </a:rPr>
              <a:t>OpenAI    </a:t>
            </a: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0">
                <a:solidFill>
                  <a:srgbClr val="595959"/>
                </a:solidFill>
                <a:latin typeface="Calibri"/>
              </a:rPr>
              <a:t>Open source    </a:t>
            </a: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0">
                <a:solidFill>
                  <a:srgbClr val="595959"/>
                </a:solidFill>
                <a:latin typeface="Calibri"/>
              </a:rPr>
              <a:t>Other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8332" y="347472"/>
            <a:ext cx="2383371" cy="237744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Votes counted through Sept 11,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5460" y="658368"/>
            <a:ext cx="1622783" cy="3773423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00"/>
                </a:solidFill>
                <a:latin typeface="Calibri"/>
              </a:rPr>
              <a:t>English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563C1"/>
                </a:solidFill>
                <a:latin typeface="Calibri"/>
                <a:hlinkClick r:id="rId2"/>
              </a:rPr>
              <a:t>https://arena.ai/leaderboard/text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1506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claude-fable-5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1505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claude-opus-4-6-high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1502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claude-opus-4-7-high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1501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claude-fable-5.1-max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1499  </a:t>
            </a:r>
            <a:r>
              <a:rPr sz="900" b="0">
                <a:solidFill>
                  <a:srgbClr val="000000"/>
                </a:solidFill>
                <a:latin typeface="Calibri"/>
              </a:rPr>
              <a:t>muse-spark-1.2 (xHigh)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1497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claude-opus-4-6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1494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claude-opus-4-7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1494  </a:t>
            </a:r>
            <a:r>
              <a:rPr sz="900" b="0">
                <a:solidFill>
                  <a:srgbClr val="000000"/>
                </a:solidFill>
                <a:latin typeface="Calibri"/>
              </a:rPr>
              <a:t>muse-spark-1.1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1493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claude-opus-5-high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1493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gemini-3.8-flash-high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1490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gemini-3.7-flash-high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1488  </a:t>
            </a:r>
            <a:r>
              <a:rPr sz="900" b="0">
                <a:solidFill>
                  <a:srgbClr val="000000"/>
                </a:solidFill>
                <a:latin typeface="Calibri"/>
              </a:rPr>
              <a:t>muse-spark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1487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gemini-3.1-pro-preview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1487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claude-opus-5-max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1486  </a:t>
            </a:r>
            <a:r>
              <a:rPr sz="900" b="0">
                <a:solidFill>
                  <a:srgbClr val="000000"/>
                </a:solidFill>
                <a:latin typeface="Calibri"/>
              </a:rPr>
              <a:t>glm-5.3-max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1486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gemini-3-pro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1485  </a:t>
            </a:r>
            <a:r>
              <a:rPr sz="900" b="0">
                <a:solidFill>
                  <a:srgbClr val="000000"/>
                </a:solidFill>
                <a:latin typeface="Calibri"/>
              </a:rPr>
              <a:t>kimi-k3-max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1482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claude-opus-4-8-high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D7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1482  </a:t>
            </a:r>
            <a:r>
              <a:rPr sz="900" b="0">
                <a:solidFill>
                  <a:srgbClr val="000000"/>
                </a:solidFill>
                <a:latin typeface="Calibri"/>
              </a:rPr>
              <a:t>gpt-5.6-sol-xhigh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D7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1482  </a:t>
            </a:r>
            <a:r>
              <a:rPr sz="900" b="0">
                <a:solidFill>
                  <a:srgbClr val="000000"/>
                </a:solidFill>
                <a:latin typeface="Calibri"/>
              </a:rPr>
              <a:t>gpt-5.5-high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1481  </a:t>
            </a:r>
            <a:r>
              <a:rPr sz="900" b="0">
                <a:solidFill>
                  <a:srgbClr val="000000"/>
                </a:solidFill>
                <a:latin typeface="Calibri"/>
              </a:rPr>
              <a:t>qwen3.8-max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1479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gemini-3.6-flash-high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1478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gemini-3.5-flash-high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D7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1478  </a:t>
            </a:r>
            <a:r>
              <a:rPr sz="900" b="0">
                <a:solidFill>
                  <a:srgbClr val="000000"/>
                </a:solidFill>
                <a:latin typeface="Calibri"/>
              </a:rPr>
              <a:t>gpt-6-astra-max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D7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1476  </a:t>
            </a:r>
            <a:r>
              <a:rPr sz="900" b="0">
                <a:solidFill>
                  <a:srgbClr val="000000"/>
                </a:solidFill>
                <a:latin typeface="Calibri"/>
              </a:rPr>
              <a:t>gpt-5.4-high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5444" y="658368"/>
            <a:ext cx="2213095" cy="3773423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00"/>
                </a:solidFill>
                <a:latin typeface="Calibri"/>
              </a:rPr>
              <a:t>Coding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563C1"/>
                </a:solidFill>
                <a:latin typeface="Calibri"/>
                <a:hlinkClick r:id="rId3"/>
              </a:rPr>
              <a:t>https://arena.ai/leaderboard/text/coding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1552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claude-fable-5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1552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claude-opus-4-7-high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1551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claude-opus-4-6-high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1547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claude-opus-4-7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1546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claude-opus-4-6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1538  </a:t>
            </a:r>
            <a:r>
              <a:rPr sz="900" b="0">
                <a:solidFill>
                  <a:srgbClr val="000000"/>
                </a:solidFill>
                <a:latin typeface="Calibri"/>
              </a:rPr>
              <a:t>kimi-k3-max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D7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1537  </a:t>
            </a:r>
            <a:r>
              <a:rPr sz="900" b="0">
                <a:solidFill>
                  <a:srgbClr val="000000"/>
                </a:solidFill>
                <a:latin typeface="Calibri"/>
              </a:rPr>
              <a:t>gpt-6-astra-max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1535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gemini-3.8-flash-high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1535  </a:t>
            </a:r>
            <a:r>
              <a:rPr sz="900" b="0">
                <a:solidFill>
                  <a:srgbClr val="000000"/>
                </a:solidFill>
                <a:latin typeface="Calibri"/>
              </a:rPr>
              <a:t>muse-spark-1.2 (xHigh)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1534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claude-opus-4-8-high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1533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claude-opus-5-high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1532  </a:t>
            </a:r>
            <a:r>
              <a:rPr sz="900" b="0">
                <a:solidFill>
                  <a:srgbClr val="000000"/>
                </a:solidFill>
                <a:latin typeface="Calibri"/>
              </a:rPr>
              <a:t>muse-spark-1.1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1530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claude-opus-4-5-20251101-high-32k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1529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claude-opus-4-8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1528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claude-sonnet-4-6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D7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1527  </a:t>
            </a:r>
            <a:r>
              <a:rPr sz="900" b="0">
                <a:solidFill>
                  <a:srgbClr val="000000"/>
                </a:solidFill>
                <a:latin typeface="Calibri"/>
              </a:rPr>
              <a:t>gpt-5.6-sol-xhigh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1526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claude-opus-5-max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1526  </a:t>
            </a:r>
            <a:r>
              <a:rPr sz="900" b="0">
                <a:solidFill>
                  <a:srgbClr val="000000"/>
                </a:solidFill>
                <a:latin typeface="Calibri"/>
              </a:rPr>
              <a:t>muse-spark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1526  </a:t>
            </a:r>
            <a:r>
              <a:rPr sz="900" b="0">
                <a:solidFill>
                  <a:srgbClr val="000000"/>
                </a:solidFill>
                <a:latin typeface="Calibri"/>
              </a:rPr>
              <a:t>glm-5.3-max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1525  </a:t>
            </a:r>
            <a:r>
              <a:rPr sz="900" b="0">
                <a:solidFill>
                  <a:srgbClr val="000000"/>
                </a:solidFill>
                <a:latin typeface="Calibri"/>
              </a:rPr>
              <a:t>qwen3.7-max-preview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1524  </a:t>
            </a:r>
            <a:r>
              <a:rPr sz="900" b="0">
                <a:solidFill>
                  <a:srgbClr val="000000"/>
                </a:solidFill>
                <a:latin typeface="Calibri"/>
              </a:rPr>
              <a:t>glm-5.3-flash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72C4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1523  </a:t>
            </a:r>
            <a:r>
              <a:rPr sz="900" b="0">
                <a:solidFill>
                  <a:srgbClr val="000000"/>
                </a:solidFill>
                <a:latin typeface="Calibri"/>
              </a:rPr>
              <a:t>claude-opus-4-5-20251101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B05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1522  </a:t>
            </a:r>
            <a:r>
              <a:rPr sz="900" b="0">
                <a:solidFill>
                  <a:srgbClr val="000000"/>
                </a:solidFill>
                <a:latin typeface="Calibri"/>
              </a:rPr>
              <a:t>qwen3.8-max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0000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1522  </a:t>
            </a:r>
            <a:r>
              <a:rPr sz="900" b="0">
                <a:solidFill>
                  <a:srgbClr val="000000"/>
                </a:solidFill>
                <a:latin typeface="Calibri"/>
              </a:rPr>
              <a:t>gemini-3.7-flash-high</a:t>
            </a:r>
          </a:p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6A6"/>
                </a:solidFill>
                <a:latin typeface="Calibri"/>
              </a:rPr>
              <a:t>■ </a:t>
            </a:r>
            <a:r>
              <a:rPr sz="900" b="1">
                <a:solidFill>
                  <a:srgbClr val="000000"/>
                </a:solidFill>
                <a:latin typeface="Calibri"/>
              </a:rPr>
              <a:t>1521  </a:t>
            </a:r>
            <a:r>
              <a:rPr sz="900" b="0">
                <a:solidFill>
                  <a:srgbClr val="000000"/>
                </a:solidFill>
                <a:latin typeface="Calibri"/>
              </a:rPr>
              <a:t>mimo-v2.5-pro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4442847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Artificial Analysis Intelligence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786384"/>
            <a:ext cx="5577840" cy="770128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Artificial Analysis Intelligence Index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Combines several evaluations into one score per model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Useful for comparing </a:t>
            </a:r>
            <a:r>
              <a:rPr sz="1200" b="1">
                <a:solidFill>
                  <a:srgbClr val="000000"/>
                </a:solidFill>
                <a:latin typeface="Calibri"/>
              </a:rPr>
              <a:t>cost per unit of intelligence</a:t>
            </a:r>
          </a:p>
          <a:p>
            <a:r>
              <a:rPr sz="900" b="0">
                <a:solidFill>
                  <a:srgbClr val="0563C1"/>
                </a:solidFill>
                <a:latin typeface="Calibri"/>
                <a:hlinkClick r:id="rId2"/>
              </a:rPr>
              <a:t>https://artificialanalysis.ai/evaluations/artificial-analysis-intelligence-index</a:t>
            </a:r>
          </a:p>
        </p:txBody>
      </p:sp>
      <p:pic>
        <p:nvPicPr>
          <p:cNvPr id="4" name="Picture 3" descr="intelligence-inde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735836"/>
            <a:ext cx="3291840" cy="2005584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1085774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AI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617897"/>
            <a:ext cx="5577840" cy="2329180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Meta ships Muse agent with its own cloud computer and browser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Handles email, calendars, Instagram and ordinary websites. Ties into Gmail, Spotify, Ticketmaster and OpenTable, and writes its own integrations for services that lack them.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Runs in its own app, on the web, or inside WhatsApp, and </a:t>
            </a:r>
            <a:r>
              <a:rPr sz="1200" b="1">
                <a:solidFill>
                  <a:srgbClr val="000000"/>
                </a:solidFill>
                <a:latin typeface="Calibri"/>
              </a:rPr>
              <a:t>keeps working after you close it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The security design is the interesting part. Muse runs in a Secure VM, a separate Sentinel agent inspects everything leaving that VM, passwords stay hidden from Muse itself, and sensitive actions require approval.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Every action enters an audit trail. Payments go through Stripe Link. A Confidential VM upgrade is planned.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Tiers: Free, $20/mo, $100/mo. US only, 18 and older, AI glasses support coming.</a:t>
            </a:r>
          </a:p>
        </p:txBody>
      </p:sp>
      <p:pic>
        <p:nvPicPr>
          <p:cNvPr id="4" name="Picture 3" descr="meta-m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776647"/>
            <a:ext cx="3291840" cy="2011680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" y="3144350"/>
            <a:ext cx="5577840" cy="1715008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Claude formalized Fermat's Last Theorem in 11 days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Wiles proved Fermat's Last Theorem in 1995. Claude converted that proof into </a:t>
            </a:r>
            <a:r>
              <a:rPr sz="1200" b="0">
                <a:solidFill>
                  <a:srgbClr val="000000"/>
                </a:solidFill>
                <a:highlight>
                  <a:srgbClr val="FFF2CC"/>
                </a:highlight>
                <a:latin typeface="Calibri"/>
              </a:rPr>
              <a:t>13 Mln lines of Lean</a:t>
            </a:r>
            <a:r>
              <a:rPr sz="1200" b="0">
                <a:solidFill>
                  <a:srgbClr val="000000"/>
                </a:solidFill>
                <a:latin typeface="Calibri"/>
              </a:rPr>
              <a:t>, with almost 30K intermediate theorems.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It runs on Prove2Me, an open collaborative platform that keeps a graph of theorem statements and coordinates multiple Claude agents against it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Claude did not discover a new proof. It converted an existing one into the first complete, computer-checked formalization.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The whole thing is on GitHub</a:t>
            </a:r>
          </a:p>
          <a:p>
            <a:r>
              <a:rPr sz="900" b="0">
                <a:solidFill>
                  <a:srgbClr val="0563C1"/>
                </a:solidFill>
                <a:latin typeface="Calibri"/>
                <a:hlinkClick r:id="rId3"/>
              </a:rPr>
              <a:t>https://www.anthropic.com/research/formalizing-fermats-last-theorem</a:t>
            </a:r>
          </a:p>
        </p:txBody>
      </p:sp>
      <p:pic>
        <p:nvPicPr>
          <p:cNvPr id="6" name="Picture 5" descr="fermat-le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627" y="3144350"/>
            <a:ext cx="2264313" cy="1715008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1085774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AI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665141"/>
            <a:ext cx="5577840" cy="2329180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An Anthropic resignation turns into an extinction debate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Researcher Jacob Coxon resigned and posted that both Anthropic and OpenAI are "gambling with our lives" by racing toward self-improving AI. He worked at both labs.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He wrote that the people building AI "earnestly believe that it could kill us all by the end of the decade. This is not a marketing stunt," and called for a coordinated slowdown.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The reply is what made it spread. Evan Hubinger, Anthropic's Alignment Science lead, responded "We really do earnestly believe AI could kill all humans!" and put the odds </a:t>
            </a:r>
            <a:r>
              <a:rPr sz="1200" b="1">
                <a:solidFill>
                  <a:srgbClr val="000000"/>
                </a:solidFill>
                <a:latin typeface="Calibri"/>
              </a:rPr>
              <a:t>above 10% within the next decade</a:t>
            </a:r>
            <a:r>
              <a:rPr sz="12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The argument underneath is not about p(doom). If the people who believe the stakes are civilizational still cannot coordinate, then "trust the responsible lab" is not a safety plan.</a:t>
            </a:r>
          </a:p>
        </p:txBody>
      </p:sp>
      <p:pic>
        <p:nvPicPr>
          <p:cNvPr id="4" name="Picture 3" descr="coxon-resign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89" y="665141"/>
            <a:ext cx="3008988" cy="2329180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" y="3238838"/>
            <a:ext cx="5577840" cy="1573276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Mistral raises the largest round in European tech history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EUR 3 billion Series D led by Samsung Electronics, with Nvidia, ASML and a16z joining, valuing the French lab above </a:t>
            </a:r>
            <a:r>
              <a:rPr sz="1200" b="0">
                <a:solidFill>
                  <a:srgbClr val="000000"/>
                </a:solidFill>
                <a:highlight>
                  <a:srgbClr val="FFF2CC"/>
                </a:highlight>
                <a:latin typeface="Calibri"/>
              </a:rPr>
              <a:t>EUR 21 billion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One newsletter reported it as $3.5 billion, which is the same round converted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Mistral is three years old and tracking toward $1 billion in annual recurring revenue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The money goes to compute and international expansion, behind a shift toward sovereign, full-stack enterprise AI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Le Chat is being rebranded to "Vibe," an agent and coding platform</a:t>
            </a:r>
          </a:p>
        </p:txBody>
      </p:sp>
      <p:pic>
        <p:nvPicPr>
          <p:cNvPr id="6" name="Picture 5" descr="mistral-series-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025" y="3238838"/>
            <a:ext cx="2513517" cy="1573276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3425668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Weekly videos every Friday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786384"/>
            <a:ext cx="4206240" cy="3138932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2200" b="0">
                <a:solidFill>
                  <a:srgbClr val="000000"/>
                </a:solidFill>
                <a:latin typeface="Calibri"/>
              </a:rPr>
              <a:t>Weekly videos every Friday</a:t>
            </a:r>
          </a:p>
          <a:p>
            <a:r>
              <a:rPr sz="2200" b="0">
                <a:solidFill>
                  <a:srgbClr val="000000"/>
                </a:solidFill>
                <a:latin typeface="Calibri"/>
              </a:rPr>
              <a:t>7.46K subscribers, 333 videos</a:t>
            </a:r>
          </a:p>
          <a:p>
            <a:r>
              <a:rPr sz="2200" b="0">
                <a:solidFill>
                  <a:srgbClr val="000000"/>
                </a:solidFill>
                <a:latin typeface="Calibri"/>
              </a:rPr>
              <a:t>1. Subscribe to this channel</a:t>
            </a:r>
          </a:p>
          <a:p>
            <a:r>
              <a:rPr sz="1800" b="0">
                <a:solidFill>
                  <a:srgbClr val="0563C1"/>
                </a:solidFill>
                <a:latin typeface="Calibri"/>
                <a:hlinkClick r:id="rId2"/>
              </a:rPr>
              <a:t>https://www.youtube.com/@lev-selector</a:t>
            </a:r>
          </a:p>
          <a:p>
            <a:r>
              <a:rPr sz="2200" b="0">
                <a:solidFill>
                  <a:srgbClr val="000000"/>
                </a:solidFill>
                <a:latin typeface="Calibri"/>
              </a:rPr>
              <a:t>2. Download slides from GitHub using links under the videos</a:t>
            </a:r>
          </a:p>
          <a:p>
            <a:r>
              <a:rPr sz="2200" b="1">
                <a:solidFill>
                  <a:srgbClr val="FF0000"/>
                </a:solidFill>
                <a:latin typeface="Calibri"/>
              </a:rPr>
              <a:t>3. Please pause the video - and answer the pinned question in comments under the video</a:t>
            </a:r>
          </a:p>
        </p:txBody>
      </p:sp>
      <p:pic>
        <p:nvPicPr>
          <p:cNvPr id="4" name="Picture 3" descr="youtube-chan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293876"/>
            <a:ext cx="4663440" cy="2889504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1085774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AI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786384"/>
            <a:ext cx="5577840" cy="1006348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Google's agentic video understanding cuts video tokens by up to 88%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Gemini Flash models now navigate a video timeline rather than ingesting it at 1 FPS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Google reports up to </a:t>
            </a:r>
            <a:r>
              <a:rPr sz="1200" b="0">
                <a:solidFill>
                  <a:srgbClr val="000000"/>
                </a:solidFill>
                <a:highlight>
                  <a:srgbClr val="FFF2CC"/>
                </a:highlight>
                <a:latin typeface="Calibri"/>
              </a:rPr>
              <a:t>88% fewer tokens</a:t>
            </a:r>
            <a:r>
              <a:rPr sz="1200" b="0">
                <a:solidFill>
                  <a:srgbClr val="000000"/>
                </a:solidFill>
                <a:latin typeface="Calibri"/>
              </a:rPr>
              <a:t>, 66% lower cost and 7% higher accuracy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One processing field turns it on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Hosted API only, so no local deployment</a:t>
            </a:r>
          </a:p>
        </p:txBody>
      </p:sp>
      <p:pic>
        <p:nvPicPr>
          <p:cNvPr id="4" name="Picture 3" descr="gemini-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72" y="786384"/>
            <a:ext cx="1942823" cy="1485900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" y="2638044"/>
            <a:ext cx="5577840" cy="1573276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The music industry stops fighting and starts licensing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Suno released a model built with Warner Music Group, BMG and Believe, with artists participating and their music and likenesses licensed for use on the platform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It ships with a compensation framework, which is the point: </a:t>
            </a:r>
            <a:r>
              <a:rPr sz="1200" b="1">
                <a:solidFill>
                  <a:srgbClr val="000000"/>
                </a:solidFill>
                <a:latin typeface="Calibri"/>
              </a:rPr>
              <a:t>the copyright fight is converting into a business arrangement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Universal Music went the same direction days later, partnering with ElevenLabs on a platform for remixing tracks from UMG's catalog, with artists opting in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Spotify is exploring AI remixes too</a:t>
            </a:r>
          </a:p>
        </p:txBody>
      </p:sp>
      <p:pic>
        <p:nvPicPr>
          <p:cNvPr id="6" name="Picture 5" descr="suno-licen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2698242"/>
            <a:ext cx="3291840" cy="1932432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1085774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AI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786384"/>
            <a:ext cx="5577840" cy="2659887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Anthropic models what AI does to US jobs and wages by 2030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An interactive tool that treats every job as a bundle of tasks, then asks whether AI speeds up each task, replaces it, or creates new ones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1">
                <a:solidFill>
                  <a:srgbClr val="000000"/>
                </a:solidFill>
                <a:latin typeface="Calibri"/>
              </a:rPr>
              <a:t>Modest</a:t>
            </a:r>
            <a:r>
              <a:rPr sz="1200" b="0">
                <a:solidFill>
                  <a:srgbClr val="000000"/>
                </a:solidFill>
                <a:latin typeface="Calibri"/>
              </a:rPr>
              <a:t>, where AI feels like the internet did: GDP grows 1.6% above the no-AI path, wages stable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1">
                <a:solidFill>
                  <a:srgbClr val="000000"/>
                </a:solidFill>
                <a:latin typeface="Calibri"/>
              </a:rPr>
              <a:t>Substantial</a:t>
            </a:r>
            <a:r>
              <a:rPr sz="1200" b="0">
                <a:solidFill>
                  <a:srgbClr val="000000"/>
                </a:solidFill>
                <a:latin typeface="Calibri"/>
              </a:rPr>
              <a:t>, where AI handles about half of knowledge work: GDP up 8.3%, but knowledge worker wages flatline and some people change careers entirely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1">
                <a:solidFill>
                  <a:srgbClr val="000000"/>
                </a:solidFill>
                <a:latin typeface="Calibri"/>
              </a:rPr>
              <a:t>Extreme</a:t>
            </a:r>
            <a:r>
              <a:rPr sz="1200" b="0">
                <a:solidFill>
                  <a:srgbClr val="000000"/>
                </a:solidFill>
                <a:latin typeface="Calibri"/>
              </a:rPr>
              <a:t>: 15% annual growth doubling the economy every 4.5 years, knowledge worker unemployment at 17.9%, and labor's share of GDP falling from 60% to 45%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The point buried in the third scenario is that a bigger economy does not automatically mean you earn more. Capital owners capture most of the gains.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Of the 10,000+ Americans surveyed, most land near the substantial scenario and only about 10% expect the extreme one</a:t>
            </a:r>
          </a:p>
          <a:p>
            <a:r>
              <a:rPr sz="900" b="0">
                <a:solidFill>
                  <a:srgbClr val="0563C1"/>
                </a:solidFill>
                <a:latin typeface="Calibri"/>
                <a:hlinkClick r:id="rId2"/>
              </a:rPr>
              <a:t>https://www.anthropic.com/institute/econ-scenarios</a:t>
            </a:r>
          </a:p>
        </p:txBody>
      </p:sp>
      <p:pic>
        <p:nvPicPr>
          <p:cNvPr id="4" name="Picture 3" descr="econ-scenari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714500"/>
            <a:ext cx="3291840" cy="2048256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219343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Jobs and Layoffs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" y="786384"/>
            <a:ext cx="5577840" cy="770128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Layoffs.fyi tracker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Tech layoffs by year, US only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128.5K in 2026, 124K in 2025, 153K in 2024, 264K in 2023, 165K in 2022</a:t>
            </a:r>
          </a:p>
          <a:p>
            <a:r>
              <a:rPr sz="900" b="0">
                <a:solidFill>
                  <a:srgbClr val="0563C1"/>
                </a:solidFill>
                <a:latin typeface="Calibri"/>
                <a:hlinkClick r:id="rId2"/>
              </a:rPr>
              <a:t>https://layoffs.fyi</a:t>
            </a:r>
          </a:p>
        </p:txBody>
      </p:sp>
      <p:pic>
        <p:nvPicPr>
          <p:cNvPr id="4" name="Picture 3" descr="layoffs-fy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207" y="786384"/>
            <a:ext cx="1857152" cy="1674876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" y="2827020"/>
            <a:ext cx="5577840" cy="959104"/>
          </a:xfrm>
          <a:prstGeom prst="rect">
            <a:avLst/>
          </a:prstGeom>
          <a:solidFill>
            <a:srgbClr val="FFF2CC"/>
          </a:solidFill>
          <a:ln w="9525">
            <a:solidFill>
              <a:srgbClr val="FF0000"/>
            </a:solidFill>
          </a:ln>
        </p:spPr>
        <p:txBody>
          <a:bodyPr wrap="square" lIns="45720" rIns="45720" tIns="18288" bIns="18288">
            <a:spAutoFit/>
          </a:bodyPr>
          <a:lstStyle/>
          <a:p>
            <a:r>
              <a:rPr sz="1300" b="1">
                <a:solidFill>
                  <a:srgbClr val="FF0000"/>
                </a:solidFill>
                <a:latin typeface="Calibri"/>
              </a:rPr>
              <a:t>TrueUp tech layoff tracker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In 2026: 187,160 people laid off (737 per day)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In 2025: 245,953 people laid off (674 per day)</a:t>
            </a:r>
          </a:p>
          <a:p>
            <a:pPr marL="171450" indent="-133350">
              <a:buClr>
                <a:srgbClr val="FF0000"/>
              </a:buClr>
              <a:buSzPts val="1200"/>
              <a:buFont typeface="Calibri"/>
              <a:buChar char="●"/>
            </a:pPr>
            <a:r>
              <a:rPr sz="1200" b="0">
                <a:solidFill>
                  <a:srgbClr val="000000"/>
                </a:solidFill>
                <a:latin typeface="Calibri"/>
              </a:rPr>
              <a:t>In 2024: 238,461 people laid off (653 per day)</a:t>
            </a:r>
          </a:p>
          <a:p>
            <a:r>
              <a:rPr sz="900" b="0">
                <a:solidFill>
                  <a:srgbClr val="0563C1"/>
                </a:solidFill>
                <a:latin typeface="Calibri"/>
                <a:hlinkClick r:id="rId4"/>
              </a:rPr>
              <a:t>https://trueup.io/layoffs</a:t>
            </a:r>
          </a:p>
        </p:txBody>
      </p:sp>
      <p:pic>
        <p:nvPicPr>
          <p:cNvPr id="6" name="Picture 5" descr="trueup-layoff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100" y="2827020"/>
            <a:ext cx="1977367" cy="1863851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0"/>
            <a:ext cx="2349682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libri"/>
              </a:rPr>
              <a:t>About the Speaker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4136" y="1290828"/>
            <a:ext cx="4480560" cy="2895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400" b="1">
                <a:solidFill>
                  <a:srgbClr val="FF0000"/>
                </a:solidFill>
                <a:latin typeface="Calibri"/>
              </a:rPr>
              <a:t>Lev Selector, Ph.D.</a:t>
            </a:r>
          </a:p>
          <a:p>
            <a:pPr marL="171450" indent="-133350">
              <a:buClr>
                <a:srgbClr val="FF0000"/>
              </a:buClr>
              <a:buSzPts val="1600"/>
              <a:buFont typeface="Calibri"/>
              <a:buChar char="●"/>
            </a:pPr>
            <a:r>
              <a:rPr sz="1600" b="0">
                <a:solidFill>
                  <a:srgbClr val="000000"/>
                </a:solidFill>
                <a:latin typeface="Calibri"/>
              </a:rPr>
              <a:t>40+ years of software engineering, data science, and building teams (hiring, training, and managing)</a:t>
            </a:r>
          </a:p>
          <a:p>
            <a:pPr marL="171450" indent="-133350">
              <a:buClr>
                <a:srgbClr val="FF0000"/>
              </a:buClr>
              <a:buSzPts val="1600"/>
              <a:buFont typeface="Calibri"/>
              <a:buChar char="●"/>
            </a:pPr>
            <a:r>
              <a:rPr sz="1600" b="0">
                <a:solidFill>
                  <a:srgbClr val="000000"/>
                </a:solidFill>
                <a:latin typeface="Calibri"/>
              </a:rPr>
              <a:t>Ph.D. in mathematical modeling and computer simulations</a:t>
            </a:r>
          </a:p>
          <a:p>
            <a:pPr marL="171450" indent="-133350">
              <a:buClr>
                <a:srgbClr val="FF0000"/>
              </a:buClr>
              <a:buSzPts val="1600"/>
              <a:buFont typeface="Calibri"/>
              <a:buChar char="●"/>
            </a:pPr>
            <a:r>
              <a:rPr sz="1600" b="0">
                <a:solidFill>
                  <a:srgbClr val="000000"/>
                </a:solidFill>
                <a:latin typeface="Calibri"/>
              </a:rPr>
              <a:t>Interests: Generative AI, using LLMs with your data, local AI for local private data, cloud architecture, fin-tech, application security</a:t>
            </a:r>
          </a:p>
          <a:p>
            <a:pPr marL="171450" indent="-133350">
              <a:buClr>
                <a:srgbClr val="FF0000"/>
              </a:buClr>
              <a:buSzPts val="1600"/>
              <a:buFont typeface="Calibri"/>
              <a:buChar char="●"/>
            </a:pPr>
            <a:r>
              <a:rPr sz="1600" b="0">
                <a:solidFill>
                  <a:srgbClr val="000000"/>
                </a:solidFill>
                <a:latin typeface="Calibri"/>
              </a:rPr>
              <a:t>Find and connect: LinkedIn, GitHub, YouTube, Google</a:t>
            </a:r>
          </a:p>
          <a:p>
            <a:r>
              <a:rPr sz="1200" b="0">
                <a:solidFill>
                  <a:srgbClr val="0563C1"/>
                </a:solidFill>
                <a:latin typeface="Calibri"/>
                <a:hlinkClick r:id="rId2"/>
              </a:rPr>
              <a:t>https://eais.ai</a:t>
            </a:r>
          </a:p>
        </p:txBody>
      </p:sp>
      <p:pic>
        <p:nvPicPr>
          <p:cNvPr id="4" name="Picture 3" descr="lev-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3" y="1952244"/>
            <a:ext cx="1572768" cy="1572768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" y="1714500"/>
            <a:ext cx="8979408" cy="721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Calibr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9939" y="2582164"/>
            <a:ext cx="6184121" cy="13837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171450" indent="-133350">
              <a:buClr>
                <a:srgbClr val="FF0000"/>
              </a:buClr>
              <a:buSzPts val="1600"/>
              <a:buFont typeface="Calibri"/>
              <a:buChar char="●"/>
            </a:pPr>
            <a:r>
              <a:rPr sz="1600" b="0">
                <a:solidFill>
                  <a:srgbClr val="000000"/>
                </a:solidFill>
                <a:latin typeface="Calibri"/>
              </a:rPr>
              <a:t>Videos of every seminar are on YouTube</a:t>
            </a:r>
          </a:p>
          <a:p>
            <a:r>
              <a:rPr sz="1200" b="0">
                <a:solidFill>
                  <a:srgbClr val="0563C1"/>
                </a:solidFill>
                <a:latin typeface="Calibri"/>
                <a:hlinkClick r:id="rId2"/>
              </a:rPr>
              <a:t>https://www.youtube.com/@lev-selector</a:t>
            </a:r>
          </a:p>
          <a:p>
            <a:pPr marL="171450" indent="-133350">
              <a:buClr>
                <a:srgbClr val="FF0000"/>
              </a:buClr>
              <a:buSzPts val="1600"/>
              <a:buFont typeface="Calibri"/>
              <a:buChar char="●"/>
            </a:pPr>
            <a:r>
              <a:rPr sz="1600" b="0">
                <a:solidFill>
                  <a:srgbClr val="000000"/>
                </a:solidFill>
                <a:latin typeface="Calibri"/>
              </a:rPr>
              <a:t>Slides on GitHub. Click a pptx file, then the download button on the right</a:t>
            </a:r>
          </a:p>
          <a:p>
            <a:r>
              <a:rPr sz="1200" b="0">
                <a:solidFill>
                  <a:srgbClr val="0563C1"/>
                </a:solidFill>
                <a:latin typeface="Calibri"/>
                <a:hlinkClick r:id="rId3"/>
              </a:rPr>
              <a:t>https://github.com/lselector/seminar</a:t>
            </a:r>
          </a:p>
          <a:p>
            <a:pPr marL="171450" indent="-133350">
              <a:buClr>
                <a:srgbClr val="FF0000"/>
              </a:buClr>
              <a:buSzPts val="1600"/>
              <a:buFont typeface="Calibri"/>
              <a:buChar char="●"/>
            </a:pPr>
            <a:r>
              <a:rPr sz="1600" b="0">
                <a:solidFill>
                  <a:srgbClr val="000000"/>
                </a:solidFill>
                <a:latin typeface="Calibri"/>
              </a:rPr>
              <a:t>Slides on Google Drive</a:t>
            </a:r>
          </a:p>
          <a:p>
            <a:r>
              <a:rPr sz="1200" b="0">
                <a:solidFill>
                  <a:srgbClr val="0563C1"/>
                </a:solidFill>
                <a:latin typeface="Calibri"/>
                <a:hlinkClick r:id="rId4"/>
              </a:rPr>
              <a:t>https://drive.google.com/drive/folders/1dmj00iilSP-JYmriMUUaHCKz5X54e3UX?ths=true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News - Sept 18, 2026</dc:title>
  <dc:subject/>
  <dc:creator/>
  <cp:keywords/>
  <dc:description>generated by s3_make_pptx.py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