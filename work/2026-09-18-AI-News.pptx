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oboto Mono"/>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3B557B1-D22A-41E3-BD1D-B036787ABF34}">
  <a:tblStyle styleId="{B3B557B1-D22A-41E3-BD1D-B036787ABF3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20" Type="http://schemas.openxmlformats.org/officeDocument/2006/relationships/font" Target="fonts/RobotoMon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Mono-regular.fntdata"/><Relationship Id="rId16" Type="http://schemas.openxmlformats.org/officeDocument/2006/relationships/slide" Target="slides/slide11.xml"/><Relationship Id="rId19" Type="http://schemas.openxmlformats.org/officeDocument/2006/relationships/font" Target="fonts/RobotoMono-italic.fntdata"/><Relationship Id="rId18" Type="http://schemas.openxmlformats.org/officeDocument/2006/relationships/font" Target="fonts/RobotoMon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633c15ed82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g3633c15ed8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f9c68837c6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g3f9c68837c6_1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f9c68837c6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g3f9c68837c6_1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fa39880284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g3fa3988028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f53f467686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g3f53f46768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aa8a650eb_1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g3faa8a650eb_1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faa8a650eb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g3faa8a650eb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faa8a650eb_1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g3faa8a650eb_1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f9c68837c6_1_1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g3f9c68837c6_1_1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d971967e09_0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g3d971967e09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971967e09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g3d971967e09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457172" y="205067"/>
            <a:ext cx="8228700" cy="85860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p13"/>
          <p:cNvSpPr txBox="1"/>
          <p:nvPr>
            <p:ph idx="1" type="body"/>
          </p:nvPr>
        </p:nvSpPr>
        <p:spPr>
          <a:xfrm>
            <a:off x="457172" y="1203299"/>
            <a:ext cx="8228700" cy="2982600"/>
          </a:xfrm>
          <a:prstGeom prst="rect">
            <a:avLst/>
          </a:prstGeom>
          <a:noFill/>
          <a:ln>
            <a:noFill/>
          </a:ln>
        </p:spPr>
        <p:txBody>
          <a:bodyPr anchorCtr="0" anchor="t" bIns="0" lIns="0" spcFirstLastPara="1" rIns="0" wrap="square" tIns="0">
            <a:normAutofit/>
          </a:bodyPr>
          <a:lstStyle>
            <a:lvl1pPr indent="-228600" lvl="0" marL="457200" algn="l">
              <a:lnSpc>
                <a:spcPct val="115000"/>
              </a:lnSpc>
              <a:spcBef>
                <a:spcPts val="0"/>
              </a:spcBef>
              <a:spcAft>
                <a:spcPts val="0"/>
              </a:spcAft>
              <a:buSzPts val="1800"/>
              <a:buNone/>
              <a:defRPr/>
            </a:lvl1pPr>
            <a:lvl2pPr indent="-228600" lvl="1" marL="914400" algn="l">
              <a:lnSpc>
                <a:spcPct val="115000"/>
              </a:lnSpc>
              <a:spcBef>
                <a:spcPts val="0"/>
              </a:spcBef>
              <a:spcAft>
                <a:spcPts val="0"/>
              </a:spcAft>
              <a:buSzPts val="1400"/>
              <a:buNone/>
              <a:defRPr/>
            </a:lvl2pPr>
            <a:lvl3pPr indent="-228600" lvl="2" marL="1371600" algn="l">
              <a:lnSpc>
                <a:spcPct val="115000"/>
              </a:lnSpc>
              <a:spcBef>
                <a:spcPts val="0"/>
              </a:spcBef>
              <a:spcAft>
                <a:spcPts val="0"/>
              </a:spcAft>
              <a:buSzPts val="1400"/>
              <a:buNone/>
              <a:defRPr/>
            </a:lvl3pPr>
            <a:lvl4pPr indent="-228600" lvl="3" marL="1828800" algn="l">
              <a:lnSpc>
                <a:spcPct val="115000"/>
              </a:lnSpc>
              <a:spcBef>
                <a:spcPts val="0"/>
              </a:spcBef>
              <a:spcAft>
                <a:spcPts val="0"/>
              </a:spcAft>
              <a:buSzPts val="1400"/>
              <a:buNone/>
              <a:defRPr/>
            </a:lvl4pPr>
            <a:lvl5pPr indent="-228600" lvl="4" marL="2286000" algn="l">
              <a:lnSpc>
                <a:spcPct val="115000"/>
              </a:lnSpc>
              <a:spcBef>
                <a:spcPts val="0"/>
              </a:spcBef>
              <a:spcAft>
                <a:spcPts val="0"/>
              </a:spcAft>
              <a:buSzPts val="1400"/>
              <a:buNone/>
              <a:defRPr/>
            </a:lvl5pPr>
            <a:lvl6pPr indent="-228600" lvl="5" marL="2743200" algn="l">
              <a:lnSpc>
                <a:spcPct val="115000"/>
              </a:lnSpc>
              <a:spcBef>
                <a:spcPts val="0"/>
              </a:spcBef>
              <a:spcAft>
                <a:spcPts val="0"/>
              </a:spcAft>
              <a:buSzPts val="1400"/>
              <a:buNone/>
              <a:defRPr/>
            </a:lvl6pPr>
            <a:lvl7pPr indent="-228600" lvl="6" marL="3200400" algn="l">
              <a:lnSpc>
                <a:spcPct val="115000"/>
              </a:lnSpc>
              <a:spcBef>
                <a:spcPts val="0"/>
              </a:spcBef>
              <a:spcAft>
                <a:spcPts val="0"/>
              </a:spcAft>
              <a:buSzPts val="1400"/>
              <a:buNone/>
              <a:defRPr/>
            </a:lvl7pPr>
            <a:lvl8pPr indent="-228600" lvl="7" marL="3657600" algn="l">
              <a:lnSpc>
                <a:spcPct val="115000"/>
              </a:lnSpc>
              <a:spcBef>
                <a:spcPts val="0"/>
              </a:spcBef>
              <a:spcAft>
                <a:spcPts val="0"/>
              </a:spcAft>
              <a:buSzPts val="1400"/>
              <a:buNone/>
              <a:defRPr/>
            </a:lvl8pPr>
            <a:lvl9pPr indent="-228600" lvl="8" marL="4114800" algn="l">
              <a:lnSpc>
                <a:spcPct val="115000"/>
              </a:lnSpc>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53" name="Shape 53"/>
        <p:cNvGrpSpPr/>
        <p:nvPr/>
      </p:nvGrpSpPr>
      <p:grpSpPr>
        <a:xfrm>
          <a:off x="0" y="0"/>
          <a:ext cx="0" cy="0"/>
          <a:chOff x="0" y="0"/>
          <a:chExt cx="0" cy="0"/>
        </a:xfrm>
      </p:grpSpPr>
      <p:sp>
        <p:nvSpPr>
          <p:cNvPr id="54" name="Google Shape;54;p14"/>
          <p:cNvSpPr txBox="1"/>
          <p:nvPr>
            <p:ph type="title"/>
          </p:nvPr>
        </p:nvSpPr>
        <p:spPr>
          <a:xfrm>
            <a:off x="623888" y="1282303"/>
            <a:ext cx="7886700" cy="2139600"/>
          </a:xfrm>
          <a:prstGeom prst="rect">
            <a:avLst/>
          </a:prstGeom>
          <a:noFill/>
          <a:ln>
            <a:noFill/>
          </a:ln>
        </p:spPr>
        <p:txBody>
          <a:bodyPr anchorCtr="0" anchor="b" bIns="68575" lIns="68575" spcFirstLastPara="1" rIns="68575" wrap="square" tIns="68575">
            <a:noAutofit/>
          </a:bodyPr>
          <a:lstStyle>
            <a:lvl1pPr lvl="0" marR="0" algn="l">
              <a:lnSpc>
                <a:spcPct val="90000"/>
              </a:lnSpc>
              <a:spcBef>
                <a:spcPts val="0"/>
              </a:spcBef>
              <a:spcAft>
                <a:spcPts val="0"/>
              </a:spcAft>
              <a:buClr>
                <a:schemeClr val="dk1"/>
              </a:buClr>
              <a:buSzPts val="4500"/>
              <a:buFont typeface="Calibri"/>
              <a:buNone/>
              <a:defRPr b="0" i="0" sz="4500" u="none" cap="none" strike="noStrik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p:txBody>
      </p:sp>
      <p:sp>
        <p:nvSpPr>
          <p:cNvPr id="55" name="Google Shape;55;p14"/>
          <p:cNvSpPr txBox="1"/>
          <p:nvPr>
            <p:ph idx="1" type="body"/>
          </p:nvPr>
        </p:nvSpPr>
        <p:spPr>
          <a:xfrm>
            <a:off x="623888" y="3442097"/>
            <a:ext cx="7886700" cy="1125300"/>
          </a:xfrm>
          <a:prstGeom prst="rect">
            <a:avLst/>
          </a:prstGeom>
          <a:noFill/>
          <a:ln>
            <a:noFill/>
          </a:ln>
        </p:spPr>
        <p:txBody>
          <a:bodyPr anchorCtr="0" anchor="t" bIns="68575" lIns="68575" spcFirstLastPara="1" rIns="68575" wrap="square" tIns="68575">
            <a:noAutofit/>
          </a:bodyPr>
          <a:lstStyle>
            <a:lvl1pPr indent="-228600" lvl="0" marL="457200" marR="0" algn="l">
              <a:lnSpc>
                <a:spcPct val="90000"/>
              </a:lnSpc>
              <a:spcBef>
                <a:spcPts val="8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1pPr>
            <a:lvl2pPr indent="-228600" lvl="1" marL="914400" marR="0" algn="l">
              <a:lnSpc>
                <a:spcPct val="90000"/>
              </a:lnSpc>
              <a:spcBef>
                <a:spcPts val="400"/>
              </a:spcBef>
              <a:spcAft>
                <a:spcPts val="0"/>
              </a:spcAft>
              <a:buClr>
                <a:srgbClr val="888888"/>
              </a:buClr>
              <a:buSzPts val="1500"/>
              <a:buFont typeface="Arial"/>
              <a:buNone/>
              <a:defRPr b="0" i="0" sz="1500" u="none" cap="none" strike="noStrike">
                <a:solidFill>
                  <a:srgbClr val="888888"/>
                </a:solidFill>
                <a:latin typeface="Calibri"/>
                <a:ea typeface="Calibri"/>
                <a:cs typeface="Calibri"/>
                <a:sym typeface="Calibri"/>
              </a:defRPr>
            </a:lvl2pPr>
            <a:lvl3pPr indent="-228600" lvl="2" marL="1371600" marR="0" algn="l">
              <a:lnSpc>
                <a:spcPct val="90000"/>
              </a:lnSpc>
              <a:spcBef>
                <a:spcPts val="40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3pPr>
            <a:lvl4pPr indent="-228600" lvl="3" marL="1828800" marR="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4pPr>
            <a:lvl5pPr indent="-228600" lvl="4" marL="2286000" marR="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5pPr>
            <a:lvl6pPr indent="-228600" lvl="5" marL="2743200" marR="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6pPr>
            <a:lvl7pPr indent="-228600" lvl="6" marL="3200400" marR="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7pPr>
            <a:lvl8pPr indent="-228600" lvl="7" marL="3657600" marR="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8pPr>
            <a:lvl9pPr indent="-228600" lvl="8" marL="4114800" marR="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9pPr>
          </a:lstStyle>
          <a:p/>
        </p:txBody>
      </p:sp>
      <p:sp>
        <p:nvSpPr>
          <p:cNvPr id="56" name="Google Shape;56;p14"/>
          <p:cNvSpPr txBox="1"/>
          <p:nvPr>
            <p:ph idx="10" type="dt"/>
          </p:nvPr>
        </p:nvSpPr>
        <p:spPr>
          <a:xfrm>
            <a:off x="628650" y="4767263"/>
            <a:ext cx="2057400" cy="273900"/>
          </a:xfrm>
          <a:prstGeom prst="rect">
            <a:avLst/>
          </a:prstGeom>
          <a:noFill/>
          <a:ln>
            <a:noFill/>
          </a:ln>
        </p:spPr>
        <p:txBody>
          <a:bodyPr anchorCtr="0" anchor="ctr" bIns="68575" lIns="68575" spcFirstLastPara="1" rIns="68575" wrap="square" tIns="685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57" name="Google Shape;57;p14"/>
          <p:cNvSpPr txBox="1"/>
          <p:nvPr>
            <p:ph idx="11" type="ftr"/>
          </p:nvPr>
        </p:nvSpPr>
        <p:spPr>
          <a:xfrm>
            <a:off x="3028950" y="4767263"/>
            <a:ext cx="3086100" cy="273900"/>
          </a:xfrm>
          <a:prstGeom prst="rect">
            <a:avLst/>
          </a:prstGeom>
          <a:noFill/>
          <a:ln>
            <a:noFill/>
          </a:ln>
        </p:spPr>
        <p:txBody>
          <a:bodyPr anchorCtr="0" anchor="ctr" bIns="68575" lIns="68575" spcFirstLastPara="1" rIns="68575" wrap="square" tIns="685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58" name="Google Shape;58;p1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40" Type="http://schemas.openxmlformats.org/officeDocument/2006/relationships/hyperlink" Target="https://arena.ai/leaderboard/model/gemini-3.7-flash-high" TargetMode="External"/><Relationship Id="rId42" Type="http://schemas.openxmlformats.org/officeDocument/2006/relationships/hyperlink" Target="https://arena.ai/leaderboard/model/muse-spark" TargetMode="External"/><Relationship Id="rId41" Type="http://schemas.openxmlformats.org/officeDocument/2006/relationships/hyperlink" Target="https://arena.ai/leaderboard/model/kimi-k3-max" TargetMode="External"/><Relationship Id="rId44" Type="http://schemas.openxmlformats.org/officeDocument/2006/relationships/hyperlink" Target="https://arena.ai/leaderboard/model/gemini-3.1-pro-preview" TargetMode="External"/><Relationship Id="rId43" Type="http://schemas.openxmlformats.org/officeDocument/2006/relationships/hyperlink" Target="https://arena.ai/leaderboard/model/claude-opus-5-max" TargetMode="External"/><Relationship Id="rId46" Type="http://schemas.openxmlformats.org/officeDocument/2006/relationships/hyperlink" Target="https://arena.ai/leaderboard/model/gpt-5.6-sol-xhigh" TargetMode="External"/><Relationship Id="rId45" Type="http://schemas.openxmlformats.org/officeDocument/2006/relationships/hyperlink" Target="https://arena.ai/leaderboard/model/gemini-3-pro" TargetMode="External"/><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en.wikipedia.org/wiki/Elo_rating_system" TargetMode="External"/><Relationship Id="rId4" Type="http://schemas.openxmlformats.org/officeDocument/2006/relationships/hyperlink" Target="https://lmarena.ai/leaderboard/text" TargetMode="External"/><Relationship Id="rId9" Type="http://schemas.openxmlformats.org/officeDocument/2006/relationships/hyperlink" Target="https://arena.ai/leaderboard/model/claude-opus-4-7" TargetMode="External"/><Relationship Id="rId48" Type="http://schemas.openxmlformats.org/officeDocument/2006/relationships/hyperlink" Target="https://arena.ai/leaderboard/model/glm-5.3-max" TargetMode="External"/><Relationship Id="rId47" Type="http://schemas.openxmlformats.org/officeDocument/2006/relationships/hyperlink" Target="https://arena.ai/leaderboard/model/gpt-5.5-high" TargetMode="External"/><Relationship Id="rId49" Type="http://schemas.openxmlformats.org/officeDocument/2006/relationships/hyperlink" Target="https://arena.ai/leaderboard/model/claude-opus-4-8-high" TargetMode="External"/><Relationship Id="rId5" Type="http://schemas.openxmlformats.org/officeDocument/2006/relationships/hyperlink" Target="https://lmarena.ai/leaderboard/text/coding" TargetMode="External"/><Relationship Id="rId6" Type="http://schemas.openxmlformats.org/officeDocument/2006/relationships/hyperlink" Target="https://arena.ai/leaderboard/model/claude-opus-4-7-high" TargetMode="External"/><Relationship Id="rId7" Type="http://schemas.openxmlformats.org/officeDocument/2006/relationships/hyperlink" Target="https://arena.ai/leaderboard/model/claude-opus-4-6-high" TargetMode="External"/><Relationship Id="rId8" Type="http://schemas.openxmlformats.org/officeDocument/2006/relationships/hyperlink" Target="https://arena.ai/leaderboard/model/claude-fable-5" TargetMode="External"/><Relationship Id="rId31" Type="http://schemas.openxmlformats.org/officeDocument/2006/relationships/hyperlink" Target="https://arena.ai/leaderboard/model/claude-fable-5" TargetMode="External"/><Relationship Id="rId30" Type="http://schemas.openxmlformats.org/officeDocument/2006/relationships/hyperlink" Target="https://arena.ai/leaderboard/model/mimo-v2.5-pro" TargetMode="External"/><Relationship Id="rId33" Type="http://schemas.openxmlformats.org/officeDocument/2006/relationships/hyperlink" Target="https://arena.ai/leaderboard/model/claude-opus-4-7-high" TargetMode="External"/><Relationship Id="rId32" Type="http://schemas.openxmlformats.org/officeDocument/2006/relationships/hyperlink" Target="https://arena.ai/leaderboard/model/claude-opus-4-6-high" TargetMode="External"/><Relationship Id="rId35" Type="http://schemas.openxmlformats.org/officeDocument/2006/relationships/hyperlink" Target="https://arena.ai/leaderboard/model/claude-opus-4-6" TargetMode="External"/><Relationship Id="rId34" Type="http://schemas.openxmlformats.org/officeDocument/2006/relationships/hyperlink" Target="https://arena.ai/leaderboard/model/muse-spark-1.2%20%28xHigh%29" TargetMode="External"/><Relationship Id="rId37" Type="http://schemas.openxmlformats.org/officeDocument/2006/relationships/hyperlink" Target="https://arena.ai/leaderboard/model/gemini-3.8-flash-high" TargetMode="External"/><Relationship Id="rId36" Type="http://schemas.openxmlformats.org/officeDocument/2006/relationships/hyperlink" Target="https://arena.ai/leaderboard/model/claude-opus-4-7" TargetMode="External"/><Relationship Id="rId39" Type="http://schemas.openxmlformats.org/officeDocument/2006/relationships/hyperlink" Target="https://arena.ai/leaderboard/model/muse-spark-1.1" TargetMode="External"/><Relationship Id="rId38" Type="http://schemas.openxmlformats.org/officeDocument/2006/relationships/hyperlink" Target="https://arena.ai/leaderboard/model/claude-opus-5-high" TargetMode="External"/><Relationship Id="rId20" Type="http://schemas.openxmlformats.org/officeDocument/2006/relationships/hyperlink" Target="https://arena.ai/leaderboard/model/claude-sonnet-4-6" TargetMode="External"/><Relationship Id="rId22" Type="http://schemas.openxmlformats.org/officeDocument/2006/relationships/hyperlink" Target="https://arena.ai/leaderboard/model/glm-5.3-max" TargetMode="External"/><Relationship Id="rId21" Type="http://schemas.openxmlformats.org/officeDocument/2006/relationships/hyperlink" Target="https://arena.ai/leaderboard/model/claude-opus-4-8" TargetMode="External"/><Relationship Id="rId24" Type="http://schemas.openxmlformats.org/officeDocument/2006/relationships/hyperlink" Target="https://arena.ai/leaderboard/model/qwen3.7-max-preview" TargetMode="External"/><Relationship Id="rId23" Type="http://schemas.openxmlformats.org/officeDocument/2006/relationships/hyperlink" Target="https://arena.ai/leaderboard/model/muse-spark" TargetMode="External"/><Relationship Id="rId26" Type="http://schemas.openxmlformats.org/officeDocument/2006/relationships/hyperlink" Target="https://arena.ai/leaderboard/model/claude-opus-4-5-20251101" TargetMode="External"/><Relationship Id="rId25" Type="http://schemas.openxmlformats.org/officeDocument/2006/relationships/hyperlink" Target="https://arena.ai/leaderboard/model/claude-opus-5-max" TargetMode="External"/><Relationship Id="rId28" Type="http://schemas.openxmlformats.org/officeDocument/2006/relationships/hyperlink" Target="https://arena.ai/leaderboard/model/grok-4.5" TargetMode="External"/><Relationship Id="rId27" Type="http://schemas.openxmlformats.org/officeDocument/2006/relationships/hyperlink" Target="https://arena.ai/leaderboard/model/gemini-3.7-flash-high" TargetMode="External"/><Relationship Id="rId29" Type="http://schemas.openxmlformats.org/officeDocument/2006/relationships/hyperlink" Target="https://arena.ai/leaderboard/model/gemini-3.1-pro-preview" TargetMode="External"/><Relationship Id="rId51" Type="http://schemas.openxmlformats.org/officeDocument/2006/relationships/hyperlink" Target="https://arena.ai/leaderboard/model/qwen3.8-max" TargetMode="External"/><Relationship Id="rId50" Type="http://schemas.openxmlformats.org/officeDocument/2006/relationships/hyperlink" Target="https://arena.ai/leaderboard/model/gemini-3.6-flash-high" TargetMode="External"/><Relationship Id="rId53" Type="http://schemas.openxmlformats.org/officeDocument/2006/relationships/hyperlink" Target="https://arena.ai/leaderboard/model/gpt-5.5" TargetMode="External"/><Relationship Id="rId52" Type="http://schemas.openxmlformats.org/officeDocument/2006/relationships/hyperlink" Target="https://arena.ai/leaderboard/model/gemini-3.5-flash-high" TargetMode="External"/><Relationship Id="rId11" Type="http://schemas.openxmlformats.org/officeDocument/2006/relationships/hyperlink" Target="https://arena.ai/leaderboard/model/kimi-k3-max" TargetMode="External"/><Relationship Id="rId55" Type="http://schemas.openxmlformats.org/officeDocument/2006/relationships/hyperlink" Target="https://arena.ai/leaderboard/model/gpt-5.2-chat-latest-20260210" TargetMode="External"/><Relationship Id="rId10" Type="http://schemas.openxmlformats.org/officeDocument/2006/relationships/hyperlink" Target="https://arena.ai/leaderboard/model/claude-opus-4-6" TargetMode="External"/><Relationship Id="rId54" Type="http://schemas.openxmlformats.org/officeDocument/2006/relationships/hyperlink" Target="https://arena.ai/leaderboard/model/gpt-5.4-high" TargetMode="External"/><Relationship Id="rId13" Type="http://schemas.openxmlformats.org/officeDocument/2006/relationships/hyperlink" Target="https://arena.ai/leaderboard/model/glm-5.3-flash" TargetMode="External"/><Relationship Id="rId12" Type="http://schemas.openxmlformats.org/officeDocument/2006/relationships/hyperlink" Target="https://arena.ai/leaderboard/model/gemini-3.8-flash-high" TargetMode="External"/><Relationship Id="rId15" Type="http://schemas.openxmlformats.org/officeDocument/2006/relationships/hyperlink" Target="https://arena.ai/leaderboard/model/muse-spark-1.2%20%28xHigh%29" TargetMode="External"/><Relationship Id="rId14" Type="http://schemas.openxmlformats.org/officeDocument/2006/relationships/hyperlink" Target="https://arena.ai/leaderboard/model/claude-opus-4-8-high" TargetMode="External"/><Relationship Id="rId17" Type="http://schemas.openxmlformats.org/officeDocument/2006/relationships/hyperlink" Target="https://arena.ai/leaderboard/model/muse-spark-1.1" TargetMode="External"/><Relationship Id="rId16" Type="http://schemas.openxmlformats.org/officeDocument/2006/relationships/hyperlink" Target="https://arena.ai/leaderboard/model/claude-opus-5-high" TargetMode="External"/><Relationship Id="rId19" Type="http://schemas.openxmlformats.org/officeDocument/2006/relationships/hyperlink" Target="https://arena.ai/leaderboard/model/gpt-5.6-sol-xhigh" TargetMode="External"/><Relationship Id="rId18" Type="http://schemas.openxmlformats.org/officeDocument/2006/relationships/hyperlink" Target="https://arena.ai/leaderboard/model/claude-opus-4-5-20251101-high-32k"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artificialanalysis.ai/evaluations/artificial-analysis-intelligence-index" TargetMode="Externa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www.anthropic.com/research/formalizing-fermats-last-theore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www.youtube.com/@lev-selector/videos" TargetMode="External"/><Relationship Id="rId4" Type="http://schemas.openxmlformats.org/officeDocument/2006/relationships/image" Target="../media/image6.png"/><Relationship Id="rId5"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layoffs.fyi" TargetMode="External"/><Relationship Id="rId4" Type="http://schemas.openxmlformats.org/officeDocument/2006/relationships/hyperlink" Target="https://trueup.io/layoffs" TargetMode="External"/><Relationship Id="rId5" Type="http://schemas.openxmlformats.org/officeDocument/2006/relationships/hyperlink" Target="https://layoffs.fyi" TargetMode="External"/><Relationship Id="rId6" Type="http://schemas.openxmlformats.org/officeDocument/2006/relationships/hyperlink" Target="https://trueup.io/layoffs" TargetMode="External"/><Relationship Id="rId7" Type="http://schemas.openxmlformats.org/officeDocument/2006/relationships/image" Target="../media/image1.png"/><Relationship Id="rId8"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hyperlink" Target="https://eais.ai"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5"/>
          <p:cNvSpPr txBox="1"/>
          <p:nvPr/>
        </p:nvSpPr>
        <p:spPr>
          <a:xfrm>
            <a:off x="100175" y="465928"/>
            <a:ext cx="3307800" cy="664800"/>
          </a:xfrm>
          <a:prstGeom prst="rect">
            <a:avLst/>
          </a:prstGeom>
          <a:solidFill>
            <a:srgbClr val="FFF2CC"/>
          </a:solidFill>
          <a:ln cap="flat" cmpd="sng" w="9525">
            <a:solidFill>
              <a:srgbClr val="FF0000"/>
            </a:solidFill>
            <a:prstDash val="solid"/>
            <a:round/>
            <a:headEnd len="sm" w="sm" type="none"/>
            <a:tailEnd len="sm" w="sm" type="none"/>
          </a:ln>
        </p:spPr>
        <p:txBody>
          <a:bodyPr anchorCtr="0" anchor="t" bIns="9125" lIns="9125" spcFirstLastPara="1" rIns="9125" wrap="square" tIns="9125">
            <a:spAutoFit/>
          </a:bodyPr>
          <a:lstStyle/>
          <a:p>
            <a:pPr indent="-203200" lvl="0" marL="228600" marR="0" rtl="0" algn="l">
              <a:lnSpc>
                <a:spcPct val="100000"/>
              </a:lnSpc>
              <a:spcBef>
                <a:spcPts val="0"/>
              </a:spcBef>
              <a:spcAft>
                <a:spcPts val="0"/>
              </a:spcAft>
              <a:buClr>
                <a:srgbClr val="3C78D8"/>
              </a:buClr>
              <a:buSzPts val="1400"/>
              <a:buFont typeface="Calibri"/>
              <a:buChar char="●"/>
            </a:pPr>
            <a:r>
              <a:rPr b="1" lang="en">
                <a:solidFill>
                  <a:srgbClr val="3C78D8"/>
                </a:solidFill>
                <a:latin typeface="Calibri"/>
                <a:ea typeface="Calibri"/>
                <a:cs typeface="Calibri"/>
                <a:sym typeface="Calibri"/>
              </a:rPr>
              <a:t>Crowd-sourced "LM Arena"</a:t>
            </a:r>
            <a:endParaRPr b="1">
              <a:solidFill>
                <a:srgbClr val="3C78D8"/>
              </a:solidFill>
              <a:latin typeface="Calibri"/>
              <a:ea typeface="Calibri"/>
              <a:cs typeface="Calibri"/>
              <a:sym typeface="Calibri"/>
            </a:endParaRPr>
          </a:p>
          <a:p>
            <a:pPr indent="-203200" lvl="0" marL="228600" marR="0" rtl="0" algn="l">
              <a:lnSpc>
                <a:spcPct val="100000"/>
              </a:lnSpc>
              <a:spcBef>
                <a:spcPts val="0"/>
              </a:spcBef>
              <a:spcAft>
                <a:spcPts val="0"/>
              </a:spcAft>
              <a:buClr>
                <a:srgbClr val="3C78D8"/>
              </a:buClr>
              <a:buSzPts val="1400"/>
              <a:buFont typeface="Calibri"/>
              <a:buChar char="●"/>
            </a:pPr>
            <a:r>
              <a:rPr b="1" lang="en">
                <a:solidFill>
                  <a:srgbClr val="3C78D8"/>
                </a:solidFill>
                <a:latin typeface="Calibri"/>
                <a:ea typeface="Calibri"/>
                <a:cs typeface="Calibri"/>
                <a:sym typeface="Calibri"/>
              </a:rPr>
              <a:t>Cost Per Intelligence Index</a:t>
            </a:r>
            <a:endParaRPr b="1">
              <a:solidFill>
                <a:srgbClr val="3C78D8"/>
              </a:solidFill>
              <a:latin typeface="Calibri"/>
              <a:ea typeface="Calibri"/>
              <a:cs typeface="Calibri"/>
              <a:sym typeface="Calibri"/>
            </a:endParaRPr>
          </a:p>
          <a:p>
            <a:pPr indent="-203200" lvl="0" marL="228600" marR="0" rtl="0" algn="l">
              <a:lnSpc>
                <a:spcPct val="100000"/>
              </a:lnSpc>
              <a:spcBef>
                <a:spcPts val="0"/>
              </a:spcBef>
              <a:spcAft>
                <a:spcPts val="0"/>
              </a:spcAft>
              <a:buClr>
                <a:srgbClr val="3C78D8"/>
              </a:buClr>
              <a:buSzPts val="1400"/>
              <a:buFont typeface="Calibri"/>
              <a:buChar char="●"/>
            </a:pPr>
            <a:r>
              <a:t/>
            </a:r>
            <a:endParaRPr b="1">
              <a:solidFill>
                <a:srgbClr val="3C78D8"/>
              </a:solidFill>
              <a:latin typeface="Calibri"/>
              <a:ea typeface="Calibri"/>
              <a:cs typeface="Calibri"/>
              <a:sym typeface="Calibri"/>
            </a:endParaRPr>
          </a:p>
        </p:txBody>
      </p:sp>
      <p:sp>
        <p:nvSpPr>
          <p:cNvPr id="64" name="Google Shape;64;p15"/>
          <p:cNvSpPr txBox="1"/>
          <p:nvPr/>
        </p:nvSpPr>
        <p:spPr>
          <a:xfrm>
            <a:off x="55167" y="-22692"/>
            <a:ext cx="4420200" cy="480300"/>
          </a:xfrm>
          <a:prstGeom prst="rect">
            <a:avLst/>
          </a:prstGeom>
          <a:noFill/>
          <a:ln>
            <a:noFill/>
          </a:ln>
        </p:spPr>
        <p:txBody>
          <a:bodyPr anchorCtr="0" anchor="t" bIns="9125" lIns="9125" spcFirstLastPara="1" rIns="9125" wrap="square" tIns="9125">
            <a:spAutoFit/>
          </a:bodyPr>
          <a:lstStyle/>
          <a:p>
            <a:pPr indent="0" lvl="0" marL="0" marR="0" rtl="0" algn="ctr">
              <a:lnSpc>
                <a:spcPct val="100000"/>
              </a:lnSpc>
              <a:spcBef>
                <a:spcPts val="0"/>
              </a:spcBef>
              <a:spcAft>
                <a:spcPts val="0"/>
              </a:spcAft>
              <a:buClr>
                <a:srgbClr val="000000"/>
              </a:buClr>
              <a:buSzPts val="3600"/>
              <a:buFont typeface="Arial"/>
              <a:buNone/>
            </a:pPr>
            <a:r>
              <a:rPr b="1" lang="en" sz="3000">
                <a:solidFill>
                  <a:srgbClr val="3C78D8"/>
                </a:solidFill>
                <a:latin typeface="Calibri"/>
                <a:ea typeface="Calibri"/>
                <a:cs typeface="Calibri"/>
                <a:sym typeface="Calibri"/>
              </a:rPr>
              <a:t>AI Updates - Sept 18, 2026</a:t>
            </a:r>
            <a:endParaRPr b="1" sz="3000">
              <a:solidFill>
                <a:srgbClr val="3C78D8"/>
              </a:solidFill>
              <a:latin typeface="Calibri"/>
              <a:ea typeface="Calibri"/>
              <a:cs typeface="Calibri"/>
              <a:sym typeface="Calibri"/>
            </a:endParaRPr>
          </a:p>
        </p:txBody>
      </p:sp>
      <p:sp>
        <p:nvSpPr>
          <p:cNvPr id="65" name="Google Shape;65;p15"/>
          <p:cNvSpPr txBox="1"/>
          <p:nvPr/>
        </p:nvSpPr>
        <p:spPr>
          <a:xfrm>
            <a:off x="3499425" y="4753000"/>
            <a:ext cx="2600700" cy="234000"/>
          </a:xfrm>
          <a:prstGeom prst="rect">
            <a:avLst/>
          </a:prstGeom>
          <a:solidFill>
            <a:srgbClr val="FCE5CD"/>
          </a:solidFill>
          <a:ln cap="flat" cmpd="sng" w="9525">
            <a:solidFill>
              <a:srgbClr val="FF0000"/>
            </a:solidFill>
            <a:prstDash val="solid"/>
            <a:round/>
            <a:headEnd len="sm" w="sm" type="none"/>
            <a:tailEnd len="sm" w="sm" type="none"/>
          </a:ln>
        </p:spPr>
        <p:txBody>
          <a:bodyPr anchorCtr="0" anchor="t" bIns="9125" lIns="9125" spcFirstLastPara="1" rIns="9125" wrap="square" tIns="9125">
            <a:spAutoFit/>
          </a:bodyPr>
          <a:lstStyle/>
          <a:p>
            <a:pPr indent="-203200" lvl="0" marL="228600" marR="0" rtl="0" algn="l">
              <a:lnSpc>
                <a:spcPct val="100000"/>
              </a:lnSpc>
              <a:spcBef>
                <a:spcPts val="0"/>
              </a:spcBef>
              <a:spcAft>
                <a:spcPts val="0"/>
              </a:spcAft>
              <a:buClr>
                <a:srgbClr val="3C78D8"/>
              </a:buClr>
              <a:buSzPts val="1400"/>
              <a:buFont typeface="Calibri"/>
              <a:buChar char="●"/>
            </a:pPr>
            <a:r>
              <a:rPr b="1" lang="en">
                <a:solidFill>
                  <a:srgbClr val="3C78D8"/>
                </a:solidFill>
                <a:latin typeface="Calibri"/>
                <a:ea typeface="Calibri"/>
                <a:cs typeface="Calibri"/>
                <a:sym typeface="Calibri"/>
              </a:rPr>
              <a:t>Jobs &amp; Layoffs</a:t>
            </a:r>
            <a:endParaRPr b="1">
              <a:solidFill>
                <a:srgbClr val="3C78D8"/>
              </a:solidFill>
              <a:latin typeface="Calibri"/>
              <a:ea typeface="Calibri"/>
              <a:cs typeface="Calibri"/>
              <a:sym typeface="Calibri"/>
            </a:endParaRPr>
          </a:p>
        </p:txBody>
      </p:sp>
      <p:sp>
        <p:nvSpPr>
          <p:cNvPr id="66" name="Google Shape;66;p15"/>
          <p:cNvSpPr txBox="1"/>
          <p:nvPr/>
        </p:nvSpPr>
        <p:spPr>
          <a:xfrm>
            <a:off x="5497125" y="125675"/>
            <a:ext cx="3529500" cy="3693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rPr b="1" i="1" lang="en" sz="1800">
                <a:solidFill>
                  <a:srgbClr val="FF0000"/>
                </a:solidFill>
                <a:latin typeface="Calibri"/>
                <a:ea typeface="Calibri"/>
                <a:cs typeface="Calibri"/>
                <a:sym typeface="Calibri"/>
              </a:rPr>
              <a:t>xxx</a:t>
            </a:r>
            <a:endParaRPr b="1" i="1" sz="1800">
              <a:solidFill>
                <a:srgbClr val="FF0000"/>
              </a:solidFill>
              <a:latin typeface="Calibri"/>
              <a:ea typeface="Calibri"/>
              <a:cs typeface="Calibri"/>
              <a:sym typeface="Calibri"/>
            </a:endParaRPr>
          </a:p>
        </p:txBody>
      </p:sp>
      <p:sp>
        <p:nvSpPr>
          <p:cNvPr id="67" name="Google Shape;67;p15"/>
          <p:cNvSpPr txBox="1"/>
          <p:nvPr/>
        </p:nvSpPr>
        <p:spPr>
          <a:xfrm>
            <a:off x="3499425" y="1025050"/>
            <a:ext cx="2901300" cy="234000"/>
          </a:xfrm>
          <a:prstGeom prst="rect">
            <a:avLst/>
          </a:prstGeom>
          <a:solidFill>
            <a:srgbClr val="D9EAD3"/>
          </a:solidFill>
          <a:ln cap="flat" cmpd="sng" w="9525">
            <a:solidFill>
              <a:srgbClr val="FF0000"/>
            </a:solidFill>
            <a:prstDash val="solid"/>
            <a:round/>
            <a:headEnd len="sm" w="sm" type="none"/>
            <a:tailEnd len="sm" w="sm" type="none"/>
          </a:ln>
        </p:spPr>
        <p:txBody>
          <a:bodyPr anchorCtr="0" anchor="t" bIns="9125" lIns="9125" spcFirstLastPara="1" rIns="9125" wrap="square" tIns="9125">
            <a:spAutoFit/>
          </a:bodyPr>
          <a:lstStyle/>
          <a:p>
            <a:pPr indent="-203200" lvl="0" marL="228600" marR="0" rtl="0" algn="l">
              <a:lnSpc>
                <a:spcPct val="100000"/>
              </a:lnSpc>
              <a:spcBef>
                <a:spcPts val="0"/>
              </a:spcBef>
              <a:spcAft>
                <a:spcPts val="0"/>
              </a:spcAft>
              <a:buClr>
                <a:srgbClr val="3C78D8"/>
              </a:buClr>
              <a:buSzPts val="1400"/>
              <a:buFont typeface="Calibri"/>
              <a:buChar char="●"/>
            </a:pPr>
            <a:r>
              <a:rPr b="1" lang="en">
                <a:solidFill>
                  <a:srgbClr val="3C78D8"/>
                </a:solidFill>
                <a:latin typeface="Calibri"/>
                <a:ea typeface="Calibri"/>
                <a:cs typeface="Calibri"/>
                <a:sym typeface="Calibri"/>
              </a:rPr>
              <a:t>xxx</a:t>
            </a:r>
            <a:endParaRPr b="1">
              <a:solidFill>
                <a:srgbClr val="3C78D8"/>
              </a:solidFill>
              <a:latin typeface="Calibri"/>
              <a:ea typeface="Calibri"/>
              <a:cs typeface="Calibri"/>
              <a:sym typeface="Calibri"/>
            </a:endParaRPr>
          </a:p>
        </p:txBody>
      </p:sp>
      <p:sp>
        <p:nvSpPr>
          <p:cNvPr id="68" name="Google Shape;68;p15"/>
          <p:cNvSpPr txBox="1"/>
          <p:nvPr/>
        </p:nvSpPr>
        <p:spPr>
          <a:xfrm>
            <a:off x="118725" y="3395353"/>
            <a:ext cx="3307800" cy="234000"/>
          </a:xfrm>
          <a:prstGeom prst="rect">
            <a:avLst/>
          </a:prstGeom>
          <a:solidFill>
            <a:srgbClr val="D0E0E3"/>
          </a:solidFill>
          <a:ln cap="flat" cmpd="sng" w="9525">
            <a:solidFill>
              <a:srgbClr val="FF0000"/>
            </a:solidFill>
            <a:prstDash val="solid"/>
            <a:round/>
            <a:headEnd len="sm" w="sm" type="none"/>
            <a:tailEnd len="sm" w="sm" type="none"/>
          </a:ln>
        </p:spPr>
        <p:txBody>
          <a:bodyPr anchorCtr="0" anchor="t" bIns="9125" lIns="9125" spcFirstLastPara="1" rIns="9125" wrap="square" tIns="9125">
            <a:spAutoFit/>
          </a:bodyPr>
          <a:lstStyle/>
          <a:p>
            <a:pPr indent="-203200" lvl="0" marL="228600" marR="0" rtl="0" algn="l">
              <a:lnSpc>
                <a:spcPct val="100000"/>
              </a:lnSpc>
              <a:spcBef>
                <a:spcPts val="0"/>
              </a:spcBef>
              <a:spcAft>
                <a:spcPts val="0"/>
              </a:spcAft>
              <a:buClr>
                <a:srgbClr val="3C78D8"/>
              </a:buClr>
              <a:buSzPts val="1400"/>
              <a:buFont typeface="Calibri"/>
              <a:buChar char="●"/>
            </a:pPr>
            <a:r>
              <a:rPr b="1" lang="en">
                <a:solidFill>
                  <a:srgbClr val="3C78D8"/>
                </a:solidFill>
                <a:latin typeface="Calibri"/>
                <a:ea typeface="Calibri"/>
                <a:cs typeface="Calibri"/>
                <a:sym typeface="Calibri"/>
              </a:rPr>
              <a:t>xxx</a:t>
            </a:r>
            <a:endParaRPr b="1">
              <a:solidFill>
                <a:srgbClr val="3C78D8"/>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nvSpPr>
        <p:spPr>
          <a:xfrm>
            <a:off x="6736325" y="52350"/>
            <a:ext cx="2356200" cy="341700"/>
          </a:xfrm>
          <a:prstGeom prst="rect">
            <a:avLst/>
          </a:prstGeom>
          <a:solidFill>
            <a:srgbClr val="FFF2CC"/>
          </a:solidFill>
          <a:ln cap="flat" cmpd="sng" w="9525">
            <a:solidFill>
              <a:srgbClr val="FF0000"/>
            </a:solidFill>
            <a:prstDash val="solid"/>
            <a:round/>
            <a:headEnd len="sm" w="sm" type="none"/>
            <a:tailEnd len="sm" w="sm" type="none"/>
          </a:ln>
        </p:spPr>
        <p:txBody>
          <a:bodyPr anchorCtr="0" anchor="t" bIns="9125" lIns="9125" spcFirstLastPara="1" rIns="9125" wrap="square" tIns="9125">
            <a:spAutoFit/>
          </a:bodyPr>
          <a:lstStyle/>
          <a:p>
            <a:pPr indent="0" lvl="0" marL="0" marR="0" rtl="0" algn="l">
              <a:lnSpc>
                <a:spcPct val="100000"/>
              </a:lnSpc>
              <a:spcBef>
                <a:spcPts val="0"/>
              </a:spcBef>
              <a:spcAft>
                <a:spcPts val="0"/>
              </a:spcAft>
              <a:buClr>
                <a:schemeClr val="dk1"/>
              </a:buClr>
              <a:buSzPts val="1100"/>
              <a:buFont typeface="Arial"/>
              <a:buNone/>
            </a:pPr>
            <a:r>
              <a:rPr b="0" i="0" lang="en" sz="1200" u="none" cap="none" strike="noStrike">
                <a:solidFill>
                  <a:schemeClr val="dk1"/>
                </a:solidFill>
                <a:latin typeface="Calibri"/>
                <a:ea typeface="Calibri"/>
                <a:cs typeface="Calibri"/>
                <a:sym typeface="Calibri"/>
              </a:rPr>
              <a:t>Starting Elo rating = 1000</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 sz="900" u="sng" cap="none" strike="noStrike">
                <a:solidFill>
                  <a:schemeClr val="hlink"/>
                </a:solidFill>
                <a:latin typeface="Calibri"/>
                <a:ea typeface="Calibri"/>
                <a:cs typeface="Calibri"/>
                <a:sym typeface="Calibri"/>
                <a:hlinkClick r:id="rId3"/>
              </a:rPr>
              <a:t>https://en.wikipedia.org/wiki/Elo_rating_system</a:t>
            </a:r>
            <a:r>
              <a:rPr b="0" i="0" lang="en" sz="900" u="none" cap="none" strike="noStrike">
                <a:solidFill>
                  <a:schemeClr val="dk1"/>
                </a:solidFill>
                <a:latin typeface="Calibri"/>
                <a:ea typeface="Calibri"/>
                <a:cs typeface="Calibri"/>
                <a:sym typeface="Calibri"/>
              </a:rPr>
              <a:t> </a:t>
            </a:r>
            <a:endParaRPr b="0" i="0" sz="900" u="none" cap="none" strike="noStrike">
              <a:solidFill>
                <a:schemeClr val="dk1"/>
              </a:solidFill>
              <a:latin typeface="Calibri"/>
              <a:ea typeface="Calibri"/>
              <a:cs typeface="Calibri"/>
              <a:sym typeface="Calibri"/>
            </a:endParaRPr>
          </a:p>
        </p:txBody>
      </p:sp>
      <p:sp>
        <p:nvSpPr>
          <p:cNvPr id="74" name="Google Shape;74;p16"/>
          <p:cNvSpPr txBox="1"/>
          <p:nvPr/>
        </p:nvSpPr>
        <p:spPr>
          <a:xfrm>
            <a:off x="38150" y="2125"/>
            <a:ext cx="2599800" cy="295500"/>
          </a:xfrm>
          <a:prstGeom prst="rect">
            <a:avLst/>
          </a:prstGeom>
          <a:noFill/>
          <a:ln>
            <a:noFill/>
          </a:ln>
        </p:spPr>
        <p:txBody>
          <a:bodyPr anchorCtr="0" anchor="t" bIns="9125" lIns="9125" spcFirstLastPara="1" rIns="9125" wrap="square" tIns="9125">
            <a:spAutoFit/>
          </a:bodyPr>
          <a:lstStyle/>
          <a:p>
            <a:pPr indent="0" lvl="0" marL="0" marR="0" rtl="0" algn="l">
              <a:lnSpc>
                <a:spcPct val="100000"/>
              </a:lnSpc>
              <a:spcBef>
                <a:spcPts val="0"/>
              </a:spcBef>
              <a:spcAft>
                <a:spcPts val="0"/>
              </a:spcAft>
              <a:buClr>
                <a:srgbClr val="000000"/>
              </a:buClr>
              <a:buSzPts val="2000"/>
              <a:buFont typeface="Arial"/>
              <a:buNone/>
            </a:pPr>
            <a:r>
              <a:rPr b="1" i="0" lang="en" sz="1800" u="none" cap="none" strike="noStrike">
                <a:solidFill>
                  <a:schemeClr val="dk1"/>
                </a:solidFill>
                <a:latin typeface="Calibri"/>
                <a:ea typeface="Calibri"/>
                <a:cs typeface="Calibri"/>
                <a:sym typeface="Calibri"/>
              </a:rPr>
              <a:t>"LM Arena" Leaderboard</a:t>
            </a:r>
            <a:endParaRPr b="1" i="0" sz="1800" u="none" cap="none" strike="noStrike">
              <a:solidFill>
                <a:srgbClr val="000000"/>
              </a:solidFill>
              <a:latin typeface="Calibri"/>
              <a:ea typeface="Calibri"/>
              <a:cs typeface="Calibri"/>
              <a:sym typeface="Calibri"/>
            </a:endParaRPr>
          </a:p>
        </p:txBody>
      </p:sp>
      <p:sp>
        <p:nvSpPr>
          <p:cNvPr id="75" name="Google Shape;75;p16"/>
          <p:cNvSpPr txBox="1"/>
          <p:nvPr/>
        </p:nvSpPr>
        <p:spPr>
          <a:xfrm>
            <a:off x="52418" y="476072"/>
            <a:ext cx="2599800" cy="203100"/>
          </a:xfrm>
          <a:prstGeom prst="rect">
            <a:avLst/>
          </a:prstGeom>
          <a:solidFill>
            <a:srgbClr val="FFF2CC"/>
          </a:solidFill>
          <a:ln cap="flat" cmpd="sng" w="9525">
            <a:solidFill>
              <a:srgbClr val="FF0000"/>
            </a:solidFill>
            <a:prstDash val="solid"/>
            <a:round/>
            <a:headEnd len="sm" w="sm" type="none"/>
            <a:tailEnd len="sm" w="sm" type="none"/>
          </a:ln>
        </p:spPr>
        <p:txBody>
          <a:bodyPr anchorCtr="0" anchor="t" bIns="9125" lIns="9125" spcFirstLastPara="1" rIns="9125" wrap="square" tIns="9125">
            <a:spAutoFit/>
          </a:bodyPr>
          <a:lstStyle/>
          <a:p>
            <a:pPr indent="0" lvl="0" marL="0" marR="0" rtl="0" algn="ctr">
              <a:lnSpc>
                <a:spcPct val="100000"/>
              </a:lnSpc>
              <a:spcBef>
                <a:spcPts val="0"/>
              </a:spcBef>
              <a:spcAft>
                <a:spcPts val="0"/>
              </a:spcAft>
              <a:buClr>
                <a:schemeClr val="dk1"/>
              </a:buClr>
              <a:buSzPts val="1100"/>
              <a:buFont typeface="Arial"/>
              <a:buNone/>
            </a:pPr>
            <a:r>
              <a:rPr b="1" lang="en" sz="1200">
                <a:solidFill>
                  <a:srgbClr val="FF0000"/>
                </a:solidFill>
                <a:latin typeface="Calibri"/>
                <a:ea typeface="Calibri"/>
                <a:cs typeface="Calibri"/>
                <a:sym typeface="Calibri"/>
              </a:rPr>
              <a:t>English - </a:t>
            </a:r>
            <a:r>
              <a:rPr b="1" lang="en" sz="900" u="sng">
                <a:solidFill>
                  <a:schemeClr val="hlink"/>
                </a:solidFill>
                <a:latin typeface="Calibri"/>
                <a:ea typeface="Calibri"/>
                <a:cs typeface="Calibri"/>
                <a:sym typeface="Calibri"/>
                <a:hlinkClick r:id="rId4"/>
              </a:rPr>
              <a:t>https://lmarena.ai/leaderboard/text</a:t>
            </a:r>
            <a:r>
              <a:rPr b="1" lang="en" sz="900">
                <a:solidFill>
                  <a:srgbClr val="FF0000"/>
                </a:solidFill>
                <a:latin typeface="Calibri"/>
                <a:ea typeface="Calibri"/>
                <a:cs typeface="Calibri"/>
                <a:sym typeface="Calibri"/>
              </a:rPr>
              <a:t> </a:t>
            </a:r>
            <a:endParaRPr b="1" sz="900">
              <a:solidFill>
                <a:srgbClr val="FF0000"/>
              </a:solidFill>
              <a:latin typeface="Calibri"/>
              <a:ea typeface="Calibri"/>
              <a:cs typeface="Calibri"/>
              <a:sym typeface="Calibri"/>
            </a:endParaRPr>
          </a:p>
        </p:txBody>
      </p:sp>
      <p:sp>
        <p:nvSpPr>
          <p:cNvPr id="76" name="Google Shape;76;p16"/>
          <p:cNvSpPr txBox="1"/>
          <p:nvPr/>
        </p:nvSpPr>
        <p:spPr>
          <a:xfrm>
            <a:off x="2726905" y="476078"/>
            <a:ext cx="2839500" cy="203100"/>
          </a:xfrm>
          <a:prstGeom prst="rect">
            <a:avLst/>
          </a:prstGeom>
          <a:solidFill>
            <a:srgbClr val="FFF2CC"/>
          </a:solidFill>
          <a:ln cap="flat" cmpd="sng" w="9525">
            <a:solidFill>
              <a:srgbClr val="FF0000"/>
            </a:solidFill>
            <a:prstDash val="solid"/>
            <a:round/>
            <a:headEnd len="sm" w="sm" type="none"/>
            <a:tailEnd len="sm" w="sm" type="none"/>
          </a:ln>
        </p:spPr>
        <p:txBody>
          <a:bodyPr anchorCtr="0" anchor="t" bIns="9125" lIns="9125" spcFirstLastPara="1" rIns="9125" wrap="square" tIns="9125">
            <a:spAutoFit/>
          </a:bodyPr>
          <a:lstStyle/>
          <a:p>
            <a:pPr indent="0" lvl="0" marL="0" marR="0" rtl="0" algn="ctr">
              <a:lnSpc>
                <a:spcPct val="100000"/>
              </a:lnSpc>
              <a:spcBef>
                <a:spcPts val="0"/>
              </a:spcBef>
              <a:spcAft>
                <a:spcPts val="0"/>
              </a:spcAft>
              <a:buClr>
                <a:schemeClr val="dk1"/>
              </a:buClr>
              <a:buSzPts val="1100"/>
              <a:buFont typeface="Arial"/>
              <a:buNone/>
            </a:pPr>
            <a:r>
              <a:rPr b="1" lang="en" sz="1200">
                <a:solidFill>
                  <a:srgbClr val="FF0000"/>
                </a:solidFill>
                <a:latin typeface="Calibri"/>
                <a:ea typeface="Calibri"/>
                <a:cs typeface="Calibri"/>
                <a:sym typeface="Calibri"/>
              </a:rPr>
              <a:t>Coding - </a:t>
            </a:r>
            <a:r>
              <a:rPr b="1" lang="en" sz="900" u="sng">
                <a:solidFill>
                  <a:schemeClr val="hlink"/>
                </a:solidFill>
                <a:latin typeface="Calibri"/>
                <a:ea typeface="Calibri"/>
                <a:cs typeface="Calibri"/>
                <a:sym typeface="Calibri"/>
                <a:hlinkClick r:id="rId5"/>
              </a:rPr>
              <a:t>https://lmarena.ai/leaderboard/text/coding</a:t>
            </a:r>
            <a:r>
              <a:rPr b="1" lang="en" sz="900">
                <a:solidFill>
                  <a:srgbClr val="FF0000"/>
                </a:solidFill>
                <a:latin typeface="Calibri"/>
                <a:ea typeface="Calibri"/>
                <a:cs typeface="Calibri"/>
                <a:sym typeface="Calibri"/>
              </a:rPr>
              <a:t>  </a:t>
            </a:r>
            <a:endParaRPr b="0" i="0" sz="900" u="none" cap="none" strike="noStrike">
              <a:solidFill>
                <a:schemeClr val="dk1"/>
              </a:solidFill>
              <a:latin typeface="Calibri"/>
              <a:ea typeface="Calibri"/>
              <a:cs typeface="Calibri"/>
              <a:sym typeface="Calibri"/>
            </a:endParaRPr>
          </a:p>
        </p:txBody>
      </p:sp>
      <p:sp>
        <p:nvSpPr>
          <p:cNvPr id="77" name="Google Shape;77;p16"/>
          <p:cNvSpPr txBox="1"/>
          <p:nvPr/>
        </p:nvSpPr>
        <p:spPr>
          <a:xfrm>
            <a:off x="3437903" y="63625"/>
            <a:ext cx="1408200" cy="172500"/>
          </a:xfrm>
          <a:prstGeom prst="rect">
            <a:avLst/>
          </a:prstGeom>
          <a:solidFill>
            <a:srgbClr val="FFF2CC"/>
          </a:solidFill>
          <a:ln cap="flat" cmpd="sng" w="9525">
            <a:solidFill>
              <a:srgbClr val="FF0000"/>
            </a:solidFill>
            <a:prstDash val="solid"/>
            <a:round/>
            <a:headEnd len="sm" w="sm" type="none"/>
            <a:tailEnd len="sm" w="sm" type="none"/>
          </a:ln>
        </p:spPr>
        <p:txBody>
          <a:bodyPr anchorCtr="0" anchor="t" bIns="9125" lIns="9125" spcFirstLastPara="1" rIns="9125" wrap="square" tIns="9125">
            <a:spAutoFit/>
          </a:bodyPr>
          <a:lstStyle/>
          <a:p>
            <a:pPr indent="0" lvl="0" marL="0" marR="0" rtl="0" algn="ctr">
              <a:lnSpc>
                <a:spcPct val="100000"/>
              </a:lnSpc>
              <a:spcBef>
                <a:spcPts val="0"/>
              </a:spcBef>
              <a:spcAft>
                <a:spcPts val="0"/>
              </a:spcAft>
              <a:buNone/>
            </a:pPr>
            <a:r>
              <a:rPr lang="en" sz="1000">
                <a:latin typeface="Calibri"/>
                <a:ea typeface="Calibri"/>
                <a:cs typeface="Calibri"/>
                <a:sym typeface="Calibri"/>
              </a:rPr>
              <a:t>Data for Sept 02</a:t>
            </a:r>
            <a:endParaRPr sz="1000">
              <a:latin typeface="Calibri"/>
              <a:ea typeface="Calibri"/>
              <a:cs typeface="Calibri"/>
              <a:sym typeface="Calibri"/>
            </a:endParaRPr>
          </a:p>
        </p:txBody>
      </p:sp>
      <p:graphicFrame>
        <p:nvGraphicFramePr>
          <p:cNvPr id="78" name="Google Shape;78;p16"/>
          <p:cNvGraphicFramePr/>
          <p:nvPr/>
        </p:nvGraphicFramePr>
        <p:xfrm>
          <a:off x="5742420" y="430065"/>
          <a:ext cx="3000000" cy="3000000"/>
        </p:xfrm>
        <a:graphic>
          <a:graphicData uri="http://schemas.openxmlformats.org/drawingml/2006/table">
            <a:tbl>
              <a:tblPr>
                <a:noFill/>
                <a:tableStyleId>{B3B557B1-D22A-41E3-BD1D-B036787ABF34}</a:tableStyleId>
              </a:tblPr>
              <a:tblGrid>
                <a:gridCol w="219050"/>
                <a:gridCol w="585450"/>
              </a:tblGrid>
              <a:tr h="142875">
                <a:tc>
                  <a:txBody>
                    <a:bodyPr/>
                    <a:lstStyle/>
                    <a:p>
                      <a:pPr indent="0" lvl="0" marL="0" rtl="0" algn="l">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T="9525" marB="9125" marR="9525" marL="9525" anchor="ctr">
                    <a:solidFill>
                      <a:srgbClr val="4472C4"/>
                    </a:solidFill>
                  </a:tcPr>
                </a:tc>
                <a:tc>
                  <a:txBody>
                    <a:bodyPr/>
                    <a:lstStyle/>
                    <a:p>
                      <a:pPr indent="0" lvl="0" marL="0" rtl="0" algn="l">
                        <a:spcBef>
                          <a:spcPts val="0"/>
                        </a:spcBef>
                        <a:spcAft>
                          <a:spcPts val="0"/>
                        </a:spcAft>
                        <a:buNone/>
                      </a:pPr>
                      <a:r>
                        <a:rPr lang="en" sz="800">
                          <a:latin typeface="Calibri"/>
                          <a:ea typeface="Calibri"/>
                          <a:cs typeface="Calibri"/>
                          <a:sym typeface="Calibri"/>
                        </a:rPr>
                        <a:t>Claude</a:t>
                      </a:r>
                      <a:endParaRPr sz="800">
                        <a:latin typeface="Calibri"/>
                        <a:ea typeface="Calibri"/>
                        <a:cs typeface="Calibri"/>
                        <a:sym typeface="Calibri"/>
                      </a:endParaRPr>
                    </a:p>
                  </a:txBody>
                  <a:tcPr marT="9525" marB="9125" marR="9525" marL="9525" anchor="b"/>
                </a:tc>
              </a:tr>
              <a:tr h="142875">
                <a:tc>
                  <a:txBody>
                    <a:bodyPr/>
                    <a:lstStyle/>
                    <a:p>
                      <a:pPr indent="0" lvl="0" marL="0" rtl="0" algn="l">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T="9525" marB="9125" marR="9525" marL="9525" anchor="ctr">
                    <a:solidFill>
                      <a:srgbClr val="FF0000"/>
                    </a:solidFill>
                  </a:tcPr>
                </a:tc>
                <a:tc>
                  <a:txBody>
                    <a:bodyPr/>
                    <a:lstStyle/>
                    <a:p>
                      <a:pPr indent="0" lvl="0" marL="0" rtl="0" algn="l">
                        <a:spcBef>
                          <a:spcPts val="0"/>
                        </a:spcBef>
                        <a:spcAft>
                          <a:spcPts val="0"/>
                        </a:spcAft>
                        <a:buNone/>
                      </a:pPr>
                      <a:r>
                        <a:rPr lang="en" sz="800">
                          <a:latin typeface="Calibri"/>
                          <a:ea typeface="Calibri"/>
                          <a:cs typeface="Calibri"/>
                          <a:sym typeface="Calibri"/>
                        </a:rPr>
                        <a:t>Gemini</a:t>
                      </a:r>
                      <a:endParaRPr sz="800">
                        <a:latin typeface="Calibri"/>
                        <a:ea typeface="Calibri"/>
                        <a:cs typeface="Calibri"/>
                        <a:sym typeface="Calibri"/>
                      </a:endParaRPr>
                    </a:p>
                  </a:txBody>
                  <a:tcPr marT="9525" marB="9125" marR="9525" marL="9525" anchor="b"/>
                </a:tc>
              </a:tr>
              <a:tr h="142875">
                <a:tc>
                  <a:txBody>
                    <a:bodyPr/>
                    <a:lstStyle/>
                    <a:p>
                      <a:pPr indent="0" lvl="0" marL="0" rtl="0" algn="l">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T="9525" marB="9125" marR="9525" marL="9525" anchor="ctr">
                    <a:solidFill>
                      <a:srgbClr val="FFD700"/>
                    </a:solidFill>
                  </a:tcPr>
                </a:tc>
                <a:tc>
                  <a:txBody>
                    <a:bodyPr/>
                    <a:lstStyle/>
                    <a:p>
                      <a:pPr indent="0" lvl="0" marL="0" rtl="0" algn="l">
                        <a:spcBef>
                          <a:spcPts val="0"/>
                        </a:spcBef>
                        <a:spcAft>
                          <a:spcPts val="0"/>
                        </a:spcAft>
                        <a:buNone/>
                      </a:pPr>
                      <a:r>
                        <a:rPr lang="en" sz="800">
                          <a:latin typeface="Calibri"/>
                          <a:ea typeface="Calibri"/>
                          <a:cs typeface="Calibri"/>
                          <a:sym typeface="Calibri"/>
                        </a:rPr>
                        <a:t>OpenAI</a:t>
                      </a:r>
                      <a:endParaRPr sz="800">
                        <a:latin typeface="Calibri"/>
                        <a:ea typeface="Calibri"/>
                        <a:cs typeface="Calibri"/>
                        <a:sym typeface="Calibri"/>
                      </a:endParaRPr>
                    </a:p>
                  </a:txBody>
                  <a:tcPr marT="9525" marB="9125" marR="9525" marL="9525" anchor="b"/>
                </a:tc>
              </a:tr>
              <a:tr h="142875">
                <a:tc>
                  <a:txBody>
                    <a:bodyPr/>
                    <a:lstStyle/>
                    <a:p>
                      <a:pPr indent="0" lvl="0" marL="0" rtl="0" algn="l">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T="9525" marB="9125" marR="9525" marL="9525" anchor="ctr">
                    <a:solidFill>
                      <a:srgbClr val="00B050"/>
                    </a:solidFill>
                  </a:tcPr>
                </a:tc>
                <a:tc>
                  <a:txBody>
                    <a:bodyPr/>
                    <a:lstStyle/>
                    <a:p>
                      <a:pPr indent="0" lvl="0" marL="0" rtl="0" algn="l">
                        <a:spcBef>
                          <a:spcPts val="0"/>
                        </a:spcBef>
                        <a:spcAft>
                          <a:spcPts val="0"/>
                        </a:spcAft>
                        <a:buNone/>
                      </a:pPr>
                      <a:r>
                        <a:rPr lang="en" sz="800">
                          <a:latin typeface="Calibri"/>
                          <a:ea typeface="Calibri"/>
                          <a:cs typeface="Calibri"/>
                          <a:sym typeface="Calibri"/>
                        </a:rPr>
                        <a:t>Open Source</a:t>
                      </a:r>
                      <a:endParaRPr sz="800">
                        <a:latin typeface="Calibri"/>
                        <a:ea typeface="Calibri"/>
                        <a:cs typeface="Calibri"/>
                        <a:sym typeface="Calibri"/>
                      </a:endParaRPr>
                    </a:p>
                  </a:txBody>
                  <a:tcPr marT="9525" marB="9125" marR="9525" marL="9525" anchor="b"/>
                </a:tc>
              </a:tr>
            </a:tbl>
          </a:graphicData>
        </a:graphic>
      </p:graphicFrame>
      <p:sp>
        <p:nvSpPr>
          <p:cNvPr id="79" name="Google Shape;79;p16"/>
          <p:cNvSpPr txBox="1"/>
          <p:nvPr/>
        </p:nvSpPr>
        <p:spPr>
          <a:xfrm>
            <a:off x="6838390" y="485738"/>
            <a:ext cx="2152500" cy="2173500"/>
          </a:xfrm>
          <a:prstGeom prst="rect">
            <a:avLst/>
          </a:prstGeom>
          <a:solidFill>
            <a:srgbClr val="FFF2CC"/>
          </a:solidFill>
          <a:ln cap="flat" cmpd="sng" w="9525">
            <a:solidFill>
              <a:srgbClr val="FF0000"/>
            </a:solidFill>
            <a:prstDash val="solid"/>
            <a:round/>
            <a:headEnd len="sm" w="sm" type="none"/>
            <a:tailEnd len="sm" w="sm" type="none"/>
          </a:ln>
        </p:spPr>
        <p:txBody>
          <a:bodyPr anchorCtr="0" anchor="t" bIns="9125" lIns="9125" spcFirstLastPara="1" rIns="9125" wrap="square" tIns="9125">
            <a:spAutoFit/>
          </a:bodyPr>
          <a:lstStyle/>
          <a:p>
            <a:pPr indent="-120650" lvl="0" marL="171450" marR="0" rtl="0" algn="l">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Claude Fable-5 - 6TB</a:t>
            </a:r>
            <a:endParaRPr sz="1000">
              <a:highlight>
                <a:srgbClr val="C9DAF8"/>
              </a:highlight>
              <a:latin typeface="Calibri"/>
              <a:ea typeface="Calibri"/>
              <a:cs typeface="Calibri"/>
              <a:sym typeface="Calibri"/>
            </a:endParaRPr>
          </a:p>
          <a:p>
            <a:pPr indent="-120650" lvl="0" marL="171450" marR="0" rtl="0" algn="l">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Claude Opus-4.8 - 5TB</a:t>
            </a:r>
            <a:endParaRPr sz="1000">
              <a:highlight>
                <a:srgbClr val="C9DAF8"/>
              </a:highlight>
              <a:latin typeface="Calibri"/>
              <a:ea typeface="Calibri"/>
              <a:cs typeface="Calibri"/>
              <a:sym typeface="Calibri"/>
            </a:endParaRPr>
          </a:p>
          <a:p>
            <a:pPr indent="-120650" lvl="0" marL="171450" marR="0" rtl="0" algn="l">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Claude Sonnet-4.5 - 1TB</a:t>
            </a:r>
            <a:endParaRPr sz="1000">
              <a:highlight>
                <a:srgbClr val="C9DAF8"/>
              </a:highlight>
              <a:latin typeface="Calibri"/>
              <a:ea typeface="Calibri"/>
              <a:cs typeface="Calibri"/>
              <a:sym typeface="Calibri"/>
            </a:endParaRPr>
          </a:p>
          <a:p>
            <a:pPr indent="-120650" lvl="0" marL="171450" marR="0" rtl="0" algn="l">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Claude Sonnet-5 - ?</a:t>
            </a:r>
            <a:endParaRPr sz="1000">
              <a:highlight>
                <a:srgbClr val="C9DAF8"/>
              </a:highlight>
              <a:latin typeface="Calibri"/>
              <a:ea typeface="Calibri"/>
              <a:cs typeface="Calibri"/>
              <a:sym typeface="Calibri"/>
            </a:endParaRPr>
          </a:p>
          <a:p>
            <a:pPr indent="-120650" lvl="0" marL="171450" marR="0" rtl="0" algn="l">
              <a:lnSpc>
                <a:spcPct val="100000"/>
              </a:lnSpc>
              <a:spcBef>
                <a:spcPts val="0"/>
              </a:spcBef>
              <a:spcAft>
                <a:spcPts val="0"/>
              </a:spcAft>
              <a:buSzPts val="1000"/>
              <a:buFont typeface="Calibri"/>
              <a:buChar char="●"/>
            </a:pPr>
            <a:r>
              <a:rPr lang="en" sz="1000">
                <a:latin typeface="Calibri"/>
                <a:ea typeface="Calibri"/>
                <a:cs typeface="Calibri"/>
                <a:sym typeface="Calibri"/>
              </a:rPr>
              <a:t>GLM-5.3 - 744B </a:t>
            </a:r>
            <a:endParaRPr sz="1000">
              <a:latin typeface="Calibri"/>
              <a:ea typeface="Calibri"/>
              <a:cs typeface="Calibri"/>
              <a:sym typeface="Calibri"/>
            </a:endParaRPr>
          </a:p>
          <a:p>
            <a:pPr indent="-120650" lvl="0" marL="171450" marR="0" rtl="0" algn="l">
              <a:lnSpc>
                <a:spcPct val="100000"/>
              </a:lnSpc>
              <a:spcBef>
                <a:spcPts val="0"/>
              </a:spcBef>
              <a:spcAft>
                <a:spcPts val="0"/>
              </a:spcAft>
              <a:buSzPts val="1000"/>
              <a:buFont typeface="Calibri"/>
              <a:buChar char="●"/>
            </a:pPr>
            <a:r>
              <a:rPr lang="en" sz="1000">
                <a:latin typeface="Calibri"/>
                <a:ea typeface="Calibri"/>
                <a:cs typeface="Calibri"/>
                <a:sym typeface="Calibri"/>
              </a:rPr>
              <a:t>Meta muse-spark - 16 x 70B</a:t>
            </a:r>
            <a:endParaRPr sz="1000">
              <a:latin typeface="Calibri"/>
              <a:ea typeface="Calibri"/>
              <a:cs typeface="Calibri"/>
              <a:sym typeface="Calibri"/>
            </a:endParaRPr>
          </a:p>
          <a:p>
            <a:pPr indent="-120650" lvl="0" marL="171450" marR="0" rtl="0" algn="l">
              <a:lnSpc>
                <a:spcPct val="100000"/>
              </a:lnSpc>
              <a:spcBef>
                <a:spcPts val="0"/>
              </a:spcBef>
              <a:spcAft>
                <a:spcPts val="0"/>
              </a:spcAft>
              <a:buSzPts val="1000"/>
              <a:buFont typeface="Calibri"/>
              <a:buChar char="●"/>
            </a:pPr>
            <a:r>
              <a:rPr lang="en" sz="1000">
                <a:latin typeface="Calibri"/>
                <a:ea typeface="Calibri"/>
                <a:cs typeface="Calibri"/>
                <a:sym typeface="Calibri"/>
              </a:rPr>
              <a:t>Qwen3.7-max-preview - 745B</a:t>
            </a:r>
            <a:endParaRPr sz="1000">
              <a:latin typeface="Calibri"/>
              <a:ea typeface="Calibri"/>
              <a:cs typeface="Calibri"/>
              <a:sym typeface="Calibri"/>
            </a:endParaRPr>
          </a:p>
          <a:p>
            <a:pPr indent="-120650" lvl="0" marL="171450" marR="0" rtl="0" algn="l">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Qwen3.8-max - 2.4TB</a:t>
            </a:r>
            <a:endParaRPr sz="1000">
              <a:highlight>
                <a:srgbClr val="C9DAF8"/>
              </a:highlight>
              <a:latin typeface="Calibri"/>
              <a:ea typeface="Calibri"/>
              <a:cs typeface="Calibri"/>
              <a:sym typeface="Calibri"/>
            </a:endParaRPr>
          </a:p>
          <a:p>
            <a:pPr indent="-120650" lvl="0" marL="171450" marR="0" rtl="0" algn="l">
              <a:lnSpc>
                <a:spcPct val="100000"/>
              </a:lnSpc>
              <a:spcBef>
                <a:spcPts val="0"/>
              </a:spcBef>
              <a:spcAft>
                <a:spcPts val="0"/>
              </a:spcAft>
              <a:buSzPts val="1000"/>
              <a:buFont typeface="Calibri"/>
              <a:buChar char="●"/>
            </a:pPr>
            <a:r>
              <a:rPr lang="en" sz="1000">
                <a:latin typeface="Calibri"/>
                <a:ea typeface="Calibri"/>
                <a:cs typeface="Calibri"/>
                <a:sym typeface="Calibri"/>
              </a:rPr>
              <a:t>Baidu Ernie-5.1 - 800B</a:t>
            </a:r>
            <a:endParaRPr sz="1000">
              <a:latin typeface="Calibri"/>
              <a:ea typeface="Calibri"/>
              <a:cs typeface="Calibri"/>
              <a:sym typeface="Calibri"/>
            </a:endParaRPr>
          </a:p>
          <a:p>
            <a:pPr indent="-120650" lvl="0" marL="171450" marR="0" rtl="0" algn="l">
              <a:lnSpc>
                <a:spcPct val="100000"/>
              </a:lnSpc>
              <a:spcBef>
                <a:spcPts val="0"/>
              </a:spcBef>
              <a:spcAft>
                <a:spcPts val="0"/>
              </a:spcAft>
              <a:buSzPts val="1000"/>
              <a:buFont typeface="Calibri"/>
              <a:buChar char="●"/>
            </a:pPr>
            <a:r>
              <a:rPr lang="en" sz="1000">
                <a:latin typeface="Calibri"/>
                <a:ea typeface="Calibri"/>
                <a:cs typeface="Calibri"/>
                <a:sym typeface="Calibri"/>
              </a:rPr>
              <a:t>Deepseek-v4 - 1.6T</a:t>
            </a:r>
            <a:endParaRPr sz="1000">
              <a:latin typeface="Calibri"/>
              <a:ea typeface="Calibri"/>
              <a:cs typeface="Calibri"/>
              <a:sym typeface="Calibri"/>
            </a:endParaRPr>
          </a:p>
          <a:p>
            <a:pPr indent="-120650" lvl="0" marL="171450" marR="0" rtl="0" algn="l">
              <a:lnSpc>
                <a:spcPct val="100000"/>
              </a:lnSpc>
              <a:spcBef>
                <a:spcPts val="0"/>
              </a:spcBef>
              <a:spcAft>
                <a:spcPts val="0"/>
              </a:spcAft>
              <a:buClr>
                <a:srgbClr val="000000"/>
              </a:buClr>
              <a:buSzPts val="1000"/>
              <a:buFont typeface="Calibri"/>
              <a:buChar char="●"/>
            </a:pPr>
            <a:r>
              <a:rPr lang="en" sz="1000">
                <a:highlight>
                  <a:srgbClr val="C9DAF8"/>
                </a:highlight>
                <a:latin typeface="Calibri"/>
                <a:ea typeface="Calibri"/>
                <a:cs typeface="Calibri"/>
                <a:sym typeface="Calibri"/>
              </a:rPr>
              <a:t>Kimi-k3 - 2.8T</a:t>
            </a:r>
            <a:endParaRPr sz="1000">
              <a:highlight>
                <a:srgbClr val="C9DAF8"/>
              </a:highlight>
              <a:latin typeface="Calibri"/>
              <a:ea typeface="Calibri"/>
              <a:cs typeface="Calibri"/>
              <a:sym typeface="Calibri"/>
            </a:endParaRPr>
          </a:p>
          <a:p>
            <a:pPr indent="-120650" lvl="0" marL="171450" marR="0" rtl="0" algn="l">
              <a:lnSpc>
                <a:spcPct val="100000"/>
              </a:lnSpc>
              <a:spcBef>
                <a:spcPts val="0"/>
              </a:spcBef>
              <a:spcAft>
                <a:spcPts val="0"/>
              </a:spcAft>
              <a:buSzPts val="1000"/>
              <a:buFont typeface="Calibri"/>
              <a:buChar char="●"/>
            </a:pPr>
            <a:r>
              <a:rPr lang="en" sz="1000">
                <a:latin typeface="Calibri"/>
                <a:ea typeface="Calibri"/>
                <a:cs typeface="Calibri"/>
                <a:sym typeface="Calibri"/>
              </a:rPr>
              <a:t>Xiaomi MiMo-V2.5-Pro - 1T+</a:t>
            </a:r>
            <a:endParaRPr sz="1000">
              <a:latin typeface="Calibri"/>
              <a:ea typeface="Calibri"/>
              <a:cs typeface="Calibri"/>
              <a:sym typeface="Calibri"/>
            </a:endParaRPr>
          </a:p>
          <a:p>
            <a:pPr indent="-120650" lvl="0" marL="171450" marR="0" rtl="0" algn="l">
              <a:lnSpc>
                <a:spcPct val="100000"/>
              </a:lnSpc>
              <a:spcBef>
                <a:spcPts val="0"/>
              </a:spcBef>
              <a:spcAft>
                <a:spcPts val="0"/>
              </a:spcAft>
              <a:buSzPts val="1000"/>
              <a:buFont typeface="Calibri"/>
              <a:buChar char="●"/>
            </a:pPr>
            <a:r>
              <a:rPr lang="en" sz="1000">
                <a:solidFill>
                  <a:schemeClr val="dk1"/>
                </a:solidFill>
                <a:latin typeface="Calibri"/>
                <a:ea typeface="Calibri"/>
                <a:cs typeface="Calibri"/>
                <a:sym typeface="Calibri"/>
              </a:rPr>
              <a:t>ByteDance </a:t>
            </a:r>
            <a:r>
              <a:rPr lang="en" sz="1000">
                <a:latin typeface="Calibri"/>
                <a:ea typeface="Calibri"/>
                <a:cs typeface="Calibri"/>
                <a:sym typeface="Calibri"/>
              </a:rPr>
              <a:t>dola-seed-2.0-pro 400B</a:t>
            </a:r>
            <a:endParaRPr sz="1000">
              <a:latin typeface="Calibri"/>
              <a:ea typeface="Calibri"/>
              <a:cs typeface="Calibri"/>
              <a:sym typeface="Calibri"/>
            </a:endParaRPr>
          </a:p>
          <a:p>
            <a:pPr indent="-120650" lvl="0" marL="171450" marR="0" rtl="0" algn="l">
              <a:lnSpc>
                <a:spcPct val="100000"/>
              </a:lnSpc>
              <a:spcBef>
                <a:spcPts val="0"/>
              </a:spcBef>
              <a:spcAft>
                <a:spcPts val="0"/>
              </a:spcAft>
              <a:buSzPts val="1000"/>
              <a:buFont typeface="Calibri"/>
              <a:buChar char="●"/>
            </a:pPr>
            <a:r>
              <a:rPr lang="en" sz="1000">
                <a:latin typeface="Calibri"/>
                <a:ea typeface="Calibri"/>
                <a:cs typeface="Calibri"/>
                <a:sym typeface="Calibri"/>
              </a:rPr>
              <a:t>Minimax M3  -  456B</a:t>
            </a:r>
            <a:endParaRPr sz="1000">
              <a:latin typeface="Calibri"/>
              <a:ea typeface="Calibri"/>
              <a:cs typeface="Calibri"/>
              <a:sym typeface="Calibri"/>
            </a:endParaRPr>
          </a:p>
        </p:txBody>
      </p:sp>
      <p:graphicFrame>
        <p:nvGraphicFramePr>
          <p:cNvPr id="80" name="Google Shape;80;p16"/>
          <p:cNvGraphicFramePr/>
          <p:nvPr/>
        </p:nvGraphicFramePr>
        <p:xfrm>
          <a:off x="3075200" y="742403"/>
          <a:ext cx="3000000" cy="3000000"/>
        </p:xfrm>
        <a:graphic>
          <a:graphicData uri="http://schemas.openxmlformats.org/drawingml/2006/table">
            <a:tbl>
              <a:tblPr>
                <a:noFill/>
                <a:tableStyleId>{B3B557B1-D22A-41E3-BD1D-B036787ABF34}</a:tableStyleId>
              </a:tblPr>
              <a:tblGrid>
                <a:gridCol w="276225"/>
                <a:gridCol w="1562100"/>
                <a:gridCol w="295275"/>
              </a:tblGrid>
              <a:tr h="133350">
                <a:tc>
                  <a:txBody>
                    <a:bodyPr/>
                    <a:lstStyle/>
                    <a:p>
                      <a:pPr indent="0" lvl="0" marL="0" rtl="0" algn="l">
                        <a:lnSpc>
                          <a:spcPct val="115000"/>
                        </a:lnSpc>
                        <a:spcBef>
                          <a:spcPts val="0"/>
                        </a:spcBef>
                        <a:spcAft>
                          <a:spcPts val="0"/>
                        </a:spcAft>
                        <a:buNone/>
                      </a:pPr>
                      <a:r>
                        <a:rPr b="1" lang="en" sz="800">
                          <a:latin typeface="Calibri"/>
                          <a:ea typeface="Calibri"/>
                          <a:cs typeface="Calibri"/>
                          <a:sym typeface="Calibri"/>
                        </a:rPr>
                        <a:t>Code</a:t>
                      </a:r>
                      <a:endParaRPr b="1"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800">
                          <a:latin typeface="Calibri"/>
                          <a:ea typeface="Calibri"/>
                          <a:cs typeface="Calibri"/>
                          <a:sym typeface="Calibri"/>
                        </a:rPr>
                        <a:t>Model</a:t>
                      </a:r>
                      <a:endParaRPr b="1"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800">
                          <a:latin typeface="Calibri"/>
                          <a:ea typeface="Calibri"/>
                          <a:cs typeface="Calibri"/>
                          <a:sym typeface="Calibri"/>
                        </a:rPr>
                        <a:t>Score</a:t>
                      </a:r>
                      <a:endParaRPr b="1"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4472C4"/>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6"/>
                        </a:rPr>
                        <a:t>claude-opus-4-7-high</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1552</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4472C4"/>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7"/>
                        </a:rPr>
                        <a:t>claude-opus-4-6-high</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1552</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4472C4"/>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8"/>
                        </a:rPr>
                        <a:t>claude-fable-5</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1551</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4472C4"/>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9"/>
                        </a:rPr>
                        <a:t>claude-opus-4-7</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1547</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4472C4"/>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10"/>
                        </a:rPr>
                        <a:t>claude-opus-4-6</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1546</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00B050"/>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11"/>
                        </a:rPr>
                        <a:t>kimi-k3-max</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1542</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FF0000"/>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12"/>
                        </a:rPr>
                        <a:t>gemini-3.8-flash-high</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1537</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00B050"/>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13"/>
                        </a:rPr>
                        <a:t>glm-5.3-flash</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1535</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4472C4"/>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14"/>
                        </a:rPr>
                        <a:t>claude-opus-4-8-high</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1534</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15"/>
                        </a:rPr>
                        <a:t>muse-spark-1.2 (xHigh)</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1534</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4472C4"/>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16"/>
                        </a:rPr>
                        <a:t>claude-opus-5-high</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1533</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17"/>
                        </a:rPr>
                        <a:t>muse-spark-1.1</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1531</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238125">
                <a:tc>
                  <a:txBody>
                    <a:bodyPr/>
                    <a:lstStyle/>
                    <a:p>
                      <a:pPr indent="0" lvl="0" marL="0" rtl="0" algn="l">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4472C4"/>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18"/>
                        </a:rPr>
                        <a:t>claude-opus-4-5-20251101-high-32k</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1531</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FFD700"/>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19"/>
                        </a:rPr>
                        <a:t>gpt-5.6-sol-xhigh</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1529</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4472C4"/>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claude-sonnet-4-6</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1528</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4472C4"/>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claude-opus-4-8</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1528</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00B050"/>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22"/>
                        </a:rPr>
                        <a:t>glm-5.3-max</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1528</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23"/>
                        </a:rPr>
                        <a:t>muse-spark</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1526</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00B050"/>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24"/>
                        </a:rPr>
                        <a:t>qwen3.7-max-preview</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1525</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4472C4"/>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25"/>
                        </a:rPr>
                        <a:t>claude-opus-5-max</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1525</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4472C4"/>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26"/>
                        </a:rPr>
                        <a:t>claude-opus-4-5-20251101</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1523</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FF0000"/>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27"/>
                        </a:rPr>
                        <a:t>gemini-3.7-flash-high</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1523</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28"/>
                        </a:rPr>
                        <a:t>grok-4.5</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1522</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FF0000"/>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29"/>
                        </a:rPr>
                        <a:t>gemini-3.1-pro-preview</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1521</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30"/>
                        </a:rPr>
                        <a:t>mimo-v2.5-pro</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1521</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bl>
          </a:graphicData>
        </a:graphic>
      </p:graphicFrame>
      <p:graphicFrame>
        <p:nvGraphicFramePr>
          <p:cNvPr id="81" name="Google Shape;81;p16"/>
          <p:cNvGraphicFramePr/>
          <p:nvPr/>
        </p:nvGraphicFramePr>
        <p:xfrm>
          <a:off x="423650" y="745044"/>
          <a:ext cx="3000000" cy="3000000"/>
        </p:xfrm>
        <a:graphic>
          <a:graphicData uri="http://schemas.openxmlformats.org/drawingml/2006/table">
            <a:tbl>
              <a:tblPr>
                <a:noFill/>
                <a:tableStyleId>{B3B557B1-D22A-41E3-BD1D-B036787ABF34}</a:tableStyleId>
              </a:tblPr>
              <a:tblGrid>
                <a:gridCol w="276225"/>
                <a:gridCol w="1257300"/>
                <a:gridCol w="295275"/>
              </a:tblGrid>
              <a:tr h="133350">
                <a:tc>
                  <a:txBody>
                    <a:bodyPr/>
                    <a:lstStyle/>
                    <a:p>
                      <a:pPr indent="0" lvl="0" marL="0" rtl="0" algn="l">
                        <a:lnSpc>
                          <a:spcPct val="115000"/>
                        </a:lnSpc>
                        <a:spcBef>
                          <a:spcPts val="0"/>
                        </a:spcBef>
                        <a:spcAft>
                          <a:spcPts val="0"/>
                        </a:spcAft>
                        <a:buNone/>
                      </a:pPr>
                      <a:r>
                        <a:rPr b="1" lang="en" sz="800">
                          <a:latin typeface="Calibri"/>
                          <a:ea typeface="Calibri"/>
                          <a:cs typeface="Calibri"/>
                          <a:sym typeface="Calibri"/>
                        </a:rPr>
                        <a:t>Code</a:t>
                      </a:r>
                      <a:endParaRPr b="1"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800">
                          <a:latin typeface="Calibri"/>
                          <a:ea typeface="Calibri"/>
                          <a:cs typeface="Calibri"/>
                          <a:sym typeface="Calibri"/>
                        </a:rPr>
                        <a:t>Model</a:t>
                      </a:r>
                      <a:endParaRPr b="1"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800">
                          <a:latin typeface="Calibri"/>
                          <a:ea typeface="Calibri"/>
                          <a:cs typeface="Calibri"/>
                          <a:sym typeface="Calibri"/>
                        </a:rPr>
                        <a:t>Score</a:t>
                      </a:r>
                      <a:endParaRPr b="1"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4472C4"/>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31"/>
                        </a:rPr>
                        <a:t>claude-fable-5</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1508</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4472C4"/>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32"/>
                        </a:rPr>
                        <a:t>claude-opus-4-6-high</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1505</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4472C4"/>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33"/>
                        </a:rPr>
                        <a:t>claude-opus-4-7-high</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1502</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34"/>
                        </a:rPr>
                        <a:t>muse-spark-1.2 (xHigh)</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1499</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4472C4"/>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35"/>
                        </a:rPr>
                        <a:t>claude-opus-4-6</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1498</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4472C4"/>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36"/>
                        </a:rPr>
                        <a:t>claude-opus-4-7</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1494</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FF0000"/>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37"/>
                        </a:rPr>
                        <a:t>gemini-3.8-flash-high</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1494</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4472C4"/>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38"/>
                        </a:rPr>
                        <a:t>claude-opus-5-high</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1492</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39"/>
                        </a:rPr>
                        <a:t>muse-spark-1.1</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1491</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FF0000"/>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40"/>
                        </a:rPr>
                        <a:t>gemini-3.7-flash-high</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1491</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00B050"/>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41"/>
                        </a:rPr>
                        <a:t>kimi-k3-max</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1489</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42"/>
                        </a:rPr>
                        <a:t>muse-spark</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1488</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4472C4"/>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43"/>
                        </a:rPr>
                        <a:t>claude-opus-5-max</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1488</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FF0000"/>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44"/>
                        </a:rPr>
                        <a:t>gemini-3.1-pro-preview</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1487</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FF0000"/>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45"/>
                        </a:rPr>
                        <a:t>gemini-3-pro</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1486</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FFD700"/>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46"/>
                        </a:rPr>
                        <a:t>gpt-5.6-sol-xhigh</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1483</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FFD700"/>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47"/>
                        </a:rPr>
                        <a:t>gpt-5.5-high</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1482</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00B050"/>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48"/>
                        </a:rPr>
                        <a:t>glm-5.3-max</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1482</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4472C4"/>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49"/>
                        </a:rPr>
                        <a:t>claude-opus-4-8-high</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1482</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FF0000"/>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50"/>
                        </a:rPr>
                        <a:t>gemini-3.6-flash-high</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1480</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00B050"/>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51"/>
                        </a:rPr>
                        <a:t>qwen3.8-max</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1479</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FF0000"/>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52"/>
                        </a:rPr>
                        <a:t>gemini-3.5-flash-high</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1479</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FFD700"/>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53"/>
                        </a:rPr>
                        <a:t>gpt-5.5</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1477</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FFD700"/>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54"/>
                        </a:rPr>
                        <a:t>gpt-5.4-high</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1477</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133350">
                <a:tc>
                  <a:txBody>
                    <a:bodyPr/>
                    <a:lstStyle/>
                    <a:p>
                      <a:pPr indent="0" lvl="0" marL="0" rtl="0" algn="l">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FFD700"/>
                    </a:solidFill>
                  </a:tcPr>
                </a:tc>
                <a:tc>
                  <a:txBody>
                    <a:bodyPr/>
                    <a:lstStyle/>
                    <a:p>
                      <a:pPr indent="0" lvl="0" marL="0" rtl="0" algn="l">
                        <a:lnSpc>
                          <a:spcPct val="115000"/>
                        </a:lnSpc>
                        <a:spcBef>
                          <a:spcPts val="0"/>
                        </a:spcBef>
                        <a:spcAft>
                          <a:spcPts val="0"/>
                        </a:spcAft>
                        <a:buNone/>
                      </a:pPr>
                      <a:r>
                        <a:rPr lang="en" sz="800" u="sng">
                          <a:solidFill>
                            <a:schemeClr val="hlink"/>
                          </a:solidFill>
                          <a:latin typeface="Calibri"/>
                          <a:ea typeface="Calibri"/>
                          <a:cs typeface="Calibri"/>
                          <a:sym typeface="Calibri"/>
                          <a:hlinkClick r:id="rId55"/>
                        </a:rPr>
                        <a:t>gpt-5.2-chat-latest-20260210</a:t>
                      </a:r>
                      <a:endParaRPr sz="800" u="sng">
                        <a:solidFill>
                          <a:schemeClr val="hlink"/>
                        </a:solidFill>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Calibri"/>
                          <a:ea typeface="Calibri"/>
                          <a:cs typeface="Calibri"/>
                          <a:sym typeface="Calibri"/>
                        </a:rPr>
                        <a:t>1476</a:t>
                      </a:r>
                      <a:endParaRPr sz="800">
                        <a:latin typeface="Calibri"/>
                        <a:ea typeface="Calibri"/>
                        <a:cs typeface="Calibri"/>
                        <a:sym typeface="Calibri"/>
                      </a:endParaRPr>
                    </a:p>
                  </a:txBody>
                  <a:tcPr marT="9125" marB="9125" marR="9125" marL="9125"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nvSpPr>
        <p:spPr>
          <a:xfrm>
            <a:off x="38150" y="2125"/>
            <a:ext cx="4493700" cy="295500"/>
          </a:xfrm>
          <a:prstGeom prst="rect">
            <a:avLst/>
          </a:prstGeom>
          <a:noFill/>
          <a:ln>
            <a:noFill/>
          </a:ln>
        </p:spPr>
        <p:txBody>
          <a:bodyPr anchorCtr="0" anchor="t" bIns="9125" lIns="9125" spcFirstLastPara="1" rIns="9125" wrap="square" tIns="9125">
            <a:spAutoFit/>
          </a:bodyPr>
          <a:lstStyle/>
          <a:p>
            <a:pPr indent="0" lvl="0" marL="0" marR="0" rtl="0" algn="l">
              <a:lnSpc>
                <a:spcPct val="100000"/>
              </a:lnSpc>
              <a:spcBef>
                <a:spcPts val="0"/>
              </a:spcBef>
              <a:spcAft>
                <a:spcPts val="0"/>
              </a:spcAft>
              <a:buClr>
                <a:srgbClr val="000000"/>
              </a:buClr>
              <a:buSzPts val="2000"/>
              <a:buFont typeface="Arial"/>
              <a:buNone/>
            </a:pPr>
            <a:r>
              <a:rPr b="1" lang="en" sz="1800">
                <a:solidFill>
                  <a:schemeClr val="dk1"/>
                </a:solidFill>
                <a:latin typeface="Calibri"/>
                <a:ea typeface="Calibri"/>
                <a:cs typeface="Calibri"/>
                <a:sym typeface="Calibri"/>
              </a:rPr>
              <a:t>Artificial Analysis Intelligence Index</a:t>
            </a:r>
            <a:endParaRPr b="1" i="0" sz="1800" u="none" cap="none" strike="noStrike">
              <a:solidFill>
                <a:srgbClr val="000000"/>
              </a:solidFill>
              <a:latin typeface="Calibri"/>
              <a:ea typeface="Calibri"/>
              <a:cs typeface="Calibri"/>
              <a:sym typeface="Calibri"/>
            </a:endParaRPr>
          </a:p>
        </p:txBody>
      </p:sp>
      <p:sp>
        <p:nvSpPr>
          <p:cNvPr id="87" name="Google Shape;87;p17"/>
          <p:cNvSpPr txBox="1"/>
          <p:nvPr/>
        </p:nvSpPr>
        <p:spPr>
          <a:xfrm>
            <a:off x="52430" y="355163"/>
            <a:ext cx="4429500" cy="341700"/>
          </a:xfrm>
          <a:prstGeom prst="rect">
            <a:avLst/>
          </a:prstGeom>
          <a:solidFill>
            <a:srgbClr val="FFF2CC"/>
          </a:solidFill>
          <a:ln cap="flat" cmpd="sng" w="9525">
            <a:solidFill>
              <a:srgbClr val="FF0000"/>
            </a:solidFill>
            <a:prstDash val="solid"/>
            <a:round/>
            <a:headEnd len="sm" w="sm" type="none"/>
            <a:tailEnd len="sm" w="sm" type="none"/>
          </a:ln>
        </p:spPr>
        <p:txBody>
          <a:bodyPr anchorCtr="0" anchor="t" bIns="9125" lIns="9125" spcFirstLastPara="1" rIns="9125" wrap="square" tIns="9125">
            <a:spAutoFit/>
          </a:bodyPr>
          <a:lstStyle/>
          <a:p>
            <a:pPr indent="-133350" lvl="0" marL="228600" marR="0" rtl="0" algn="l">
              <a:lnSpc>
                <a:spcPct val="100000"/>
              </a:lnSpc>
              <a:spcBef>
                <a:spcPts val="0"/>
              </a:spcBef>
              <a:spcAft>
                <a:spcPts val="0"/>
              </a:spcAft>
              <a:buClr>
                <a:srgbClr val="FF0000"/>
              </a:buClr>
              <a:buSzPts val="1200"/>
              <a:buFont typeface="Calibri"/>
              <a:buChar char="●"/>
            </a:pPr>
            <a:r>
              <a:rPr b="1" lang="en" sz="1200">
                <a:solidFill>
                  <a:srgbClr val="FF0000"/>
                </a:solidFill>
                <a:latin typeface="Calibri"/>
                <a:ea typeface="Calibri"/>
                <a:cs typeface="Calibri"/>
                <a:sym typeface="Calibri"/>
              </a:rPr>
              <a:t>Artificial Analysis Intelligence Index</a:t>
            </a:r>
            <a:endParaRPr b="1" sz="900">
              <a:solidFill>
                <a:srgbClr val="FF0000"/>
              </a:solidFill>
              <a:latin typeface="Calibri"/>
              <a:ea typeface="Calibri"/>
              <a:cs typeface="Calibri"/>
              <a:sym typeface="Calibri"/>
            </a:endParaRPr>
          </a:p>
          <a:p>
            <a:pPr indent="-114300" lvl="0" marL="228600" marR="0" rtl="0" algn="l">
              <a:lnSpc>
                <a:spcPct val="100000"/>
              </a:lnSpc>
              <a:spcBef>
                <a:spcPts val="0"/>
              </a:spcBef>
              <a:spcAft>
                <a:spcPts val="0"/>
              </a:spcAft>
              <a:buSzPts val="900"/>
              <a:buFont typeface="Calibri"/>
              <a:buChar char="●"/>
            </a:pPr>
            <a:r>
              <a:rPr b="1" lang="en" sz="900" u="sng">
                <a:solidFill>
                  <a:schemeClr val="hlink"/>
                </a:solidFill>
                <a:latin typeface="Calibri"/>
                <a:ea typeface="Calibri"/>
                <a:cs typeface="Calibri"/>
                <a:sym typeface="Calibri"/>
                <a:hlinkClick r:id="rId3"/>
              </a:rPr>
              <a:t>https://artificialanalysis.ai/evaluations/artificial-analysis-intelligence-index</a:t>
            </a:r>
            <a:endParaRPr b="1" sz="900">
              <a:solidFill>
                <a:srgbClr val="FF0000"/>
              </a:solidFill>
              <a:latin typeface="Calibri"/>
              <a:ea typeface="Calibri"/>
              <a:cs typeface="Calibri"/>
              <a:sym typeface="Calibri"/>
            </a:endParaRPr>
          </a:p>
        </p:txBody>
      </p:sp>
      <p:sp>
        <p:nvSpPr>
          <p:cNvPr id="88" name="Google Shape;88;p17"/>
          <p:cNvSpPr txBox="1"/>
          <p:nvPr/>
        </p:nvSpPr>
        <p:spPr>
          <a:xfrm>
            <a:off x="5934676" y="1088150"/>
            <a:ext cx="944700" cy="203100"/>
          </a:xfrm>
          <a:prstGeom prst="rect">
            <a:avLst/>
          </a:prstGeom>
          <a:solidFill>
            <a:srgbClr val="FFF2CC"/>
          </a:solidFill>
          <a:ln cap="flat" cmpd="sng" w="9525">
            <a:solidFill>
              <a:srgbClr val="FF0000"/>
            </a:solidFill>
            <a:prstDash val="solid"/>
            <a:round/>
            <a:headEnd len="sm" w="sm" type="none"/>
            <a:tailEnd len="sm" w="sm" type="none"/>
          </a:ln>
        </p:spPr>
        <p:txBody>
          <a:bodyPr anchorCtr="0" anchor="t" bIns="9125" lIns="9125" spcFirstLastPara="1" rIns="9125" wrap="square" tIns="9125">
            <a:spAutoFit/>
          </a:bodyPr>
          <a:lstStyle/>
          <a:p>
            <a:pPr indent="0" lvl="0" marL="0" marR="0" rtl="0" algn="ctr">
              <a:lnSpc>
                <a:spcPct val="100000"/>
              </a:lnSpc>
              <a:spcBef>
                <a:spcPts val="0"/>
              </a:spcBef>
              <a:spcAft>
                <a:spcPts val="0"/>
              </a:spcAft>
              <a:buNone/>
            </a:pPr>
            <a:r>
              <a:rPr b="1" lang="en" sz="1200">
                <a:solidFill>
                  <a:srgbClr val="FF0000"/>
                </a:solidFill>
                <a:latin typeface="Calibri"/>
                <a:ea typeface="Calibri"/>
                <a:cs typeface="Calibri"/>
                <a:sym typeface="Calibri"/>
              </a:rPr>
              <a:t>Sept 10</a:t>
            </a:r>
            <a:endParaRPr b="1" sz="1200">
              <a:solidFill>
                <a:srgbClr val="FF0000"/>
              </a:solidFill>
              <a:latin typeface="Calibri"/>
              <a:ea typeface="Calibri"/>
              <a:cs typeface="Calibri"/>
              <a:sym typeface="Calibri"/>
            </a:endParaRPr>
          </a:p>
        </p:txBody>
      </p:sp>
      <p:pic>
        <p:nvPicPr>
          <p:cNvPr id="89" name="Google Shape;89;p17"/>
          <p:cNvPicPr preferRelativeResize="0"/>
          <p:nvPr/>
        </p:nvPicPr>
        <p:blipFill>
          <a:blip r:embed="rId4">
            <a:alphaModFix/>
          </a:blip>
          <a:stretch>
            <a:fillRect/>
          </a:stretch>
        </p:blipFill>
        <p:spPr>
          <a:xfrm>
            <a:off x="85500" y="1587925"/>
            <a:ext cx="8986000" cy="3490750"/>
          </a:xfrm>
          <a:prstGeom prst="rect">
            <a:avLst/>
          </a:prstGeom>
          <a:noFill/>
          <a:ln cap="flat" cmpd="sng" w="9525">
            <a:solidFill>
              <a:srgbClr val="FF0000"/>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nvSpPr>
        <p:spPr>
          <a:xfrm>
            <a:off x="81775" y="0"/>
            <a:ext cx="3636000" cy="326400"/>
          </a:xfrm>
          <a:prstGeom prst="rect">
            <a:avLst/>
          </a:prstGeom>
          <a:noFill/>
          <a:ln>
            <a:noFill/>
          </a:ln>
        </p:spPr>
        <p:txBody>
          <a:bodyPr anchorCtr="0" anchor="t" bIns="9125" lIns="9125" spcFirstLastPara="1" rIns="9125" wrap="square" tIns="9125">
            <a:spAutoFit/>
          </a:bodyPr>
          <a:lstStyle/>
          <a:p>
            <a:pPr indent="0" lvl="0" marL="0" marR="0" rtl="0" algn="l">
              <a:lnSpc>
                <a:spcPct val="100000"/>
              </a:lnSpc>
              <a:spcBef>
                <a:spcPts val="0"/>
              </a:spcBef>
              <a:spcAft>
                <a:spcPts val="0"/>
              </a:spcAft>
              <a:buClr>
                <a:schemeClr val="dk1"/>
              </a:buClr>
              <a:buSzPts val="1100"/>
              <a:buFont typeface="Arial"/>
              <a:buNone/>
            </a:pPr>
            <a:r>
              <a:rPr b="1" lang="en" sz="2000">
                <a:solidFill>
                  <a:schemeClr val="dk1"/>
                </a:solidFill>
                <a:latin typeface="Calibri"/>
                <a:ea typeface="Calibri"/>
                <a:cs typeface="Calibri"/>
                <a:sym typeface="Calibri"/>
              </a:rPr>
              <a:t>AI Updates</a:t>
            </a:r>
            <a:endParaRPr b="1" sz="2000">
              <a:solidFill>
                <a:schemeClr val="dk1"/>
              </a:solidFill>
              <a:latin typeface="Calibri"/>
              <a:ea typeface="Calibri"/>
              <a:cs typeface="Calibri"/>
              <a:sym typeface="Calibri"/>
            </a:endParaRPr>
          </a:p>
        </p:txBody>
      </p:sp>
      <p:sp>
        <p:nvSpPr>
          <p:cNvPr id="95" name="Google Shape;95;p18"/>
          <p:cNvSpPr txBox="1"/>
          <p:nvPr/>
        </p:nvSpPr>
        <p:spPr>
          <a:xfrm>
            <a:off x="81765" y="365639"/>
            <a:ext cx="4425600" cy="2235000"/>
          </a:xfrm>
          <a:prstGeom prst="rect">
            <a:avLst/>
          </a:prstGeom>
          <a:solidFill>
            <a:srgbClr val="FFF2CC"/>
          </a:solidFill>
          <a:ln cap="flat" cmpd="sng" w="9525">
            <a:solidFill>
              <a:srgbClr val="FF0000"/>
            </a:solidFill>
            <a:prstDash val="solid"/>
            <a:round/>
            <a:headEnd len="sm" w="sm" type="none"/>
            <a:tailEnd len="sm" w="sm" type="none"/>
          </a:ln>
        </p:spPr>
        <p:txBody>
          <a:bodyPr anchorCtr="0" anchor="t" bIns="9125" lIns="9125" spcFirstLastPara="1" rIns="9125" wrap="square" tIns="9125">
            <a:spAutoFit/>
          </a:bodyPr>
          <a:lstStyle/>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Meta ships Muse  agent with its own cloud computer and browser</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email, calendars, Instagram and ordinary websites. It ties into Gmail, Spotify, Ticketmaster and OpenTable, and codes its own integrations for services that lack them. It runs in its own app, on the web, or inside WhatsApp, and keeps working after you close it.</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security design is the interesting part. Muse runs in a Secure VM, a separate Sentinel agent inspects everything leaving that VM, passwords stay hidden from Muse itself, sensitive actions require approval, and every action enters an audit trail. Payments go through Stripe Link. A Confidential VM upgrade is planned.</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Tiers: Free, $20/mo, $100/mo</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 only, 18 and older, AI glasses support coming</a:t>
            </a:r>
            <a:endParaRPr sz="1200">
              <a:solidFill>
                <a:schemeClr val="dk1"/>
              </a:solidFill>
              <a:latin typeface="Calibri"/>
              <a:ea typeface="Calibri"/>
              <a:cs typeface="Calibri"/>
              <a:sym typeface="Calibri"/>
            </a:endParaRPr>
          </a:p>
        </p:txBody>
      </p:sp>
      <p:sp>
        <p:nvSpPr>
          <p:cNvPr id="96" name="Google Shape;96;p18"/>
          <p:cNvSpPr txBox="1"/>
          <p:nvPr/>
        </p:nvSpPr>
        <p:spPr>
          <a:xfrm>
            <a:off x="81765" y="3050087"/>
            <a:ext cx="4425600" cy="2004000"/>
          </a:xfrm>
          <a:prstGeom prst="rect">
            <a:avLst/>
          </a:prstGeom>
          <a:solidFill>
            <a:srgbClr val="FFF2CC"/>
          </a:solidFill>
          <a:ln cap="flat" cmpd="sng" w="9525">
            <a:solidFill>
              <a:srgbClr val="FF0000"/>
            </a:solidFill>
            <a:prstDash val="solid"/>
            <a:round/>
            <a:headEnd len="sm" w="sm" type="none"/>
            <a:tailEnd len="sm" w="sm" type="none"/>
          </a:ln>
        </p:spPr>
        <p:txBody>
          <a:bodyPr anchorCtr="0" anchor="t" bIns="9125" lIns="9125" spcFirstLastPara="1" rIns="9125" wrap="square" tIns="9125">
            <a:spAutoFit/>
          </a:bodyPr>
          <a:lstStyle/>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Claude formalized Fermat's Last Theorem in 11 days</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Wiles proved Fermat's Last Theorem in 1995. </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Claude converted the proof into 13 Mln lines of Lean. Almost 30K intermediate theorems</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runs on Prove2Me, an open collaborative platform that maintains a graph of theorem statements and coordinates multiple Claude agents against it</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Claude did not discover a new proof. It converted an existing one into the first complete, computer-checked formalization</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whole thing is on GitHub</a:t>
            </a:r>
            <a:endParaRPr sz="1200">
              <a:solidFill>
                <a:schemeClr val="dk1"/>
              </a:solidFill>
              <a:latin typeface="Calibri"/>
              <a:ea typeface="Calibri"/>
              <a:cs typeface="Calibri"/>
              <a:sym typeface="Calibri"/>
            </a:endParaRPr>
          </a:p>
          <a:p>
            <a:pPr indent="-114300" lvl="0" marL="171450" marR="0" rtl="0" algn="l">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https://www.anthropic.com/research/formalizing-fermats-last-theorem</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nvSpPr>
        <p:spPr>
          <a:xfrm>
            <a:off x="102375" y="478350"/>
            <a:ext cx="4161900" cy="4186800"/>
          </a:xfrm>
          <a:prstGeom prst="rect">
            <a:avLst/>
          </a:prstGeom>
          <a:solidFill>
            <a:srgbClr val="FFF2CC"/>
          </a:solid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W</a:t>
            </a:r>
            <a:r>
              <a:rPr lang="en" sz="2200">
                <a:solidFill>
                  <a:schemeClr val="dk1"/>
                </a:solidFill>
                <a:latin typeface="Calibri"/>
                <a:ea typeface="Calibri"/>
                <a:cs typeface="Calibri"/>
                <a:sym typeface="Calibri"/>
              </a:rPr>
              <a:t>eekly videos every Friday</a:t>
            </a:r>
            <a:endParaRPr sz="2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7.46K subscribers, 333 videos</a:t>
            </a:r>
            <a:endParaRPr sz="2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500"/>
              <a:buFont typeface="Arial"/>
              <a:buNone/>
            </a:pPr>
            <a:r>
              <a:t/>
            </a:r>
            <a:endParaRPr sz="2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1. Subscribe to this channel </a:t>
            </a:r>
            <a:r>
              <a:rPr b="1" lang="en" sz="1800" u="sng">
                <a:solidFill>
                  <a:schemeClr val="accent5"/>
                </a:solidFill>
                <a:latin typeface="Calibri"/>
                <a:ea typeface="Calibri"/>
                <a:cs typeface="Calibri"/>
                <a:sym typeface="Calibri"/>
                <a:hlinkClick r:id="rId3">
                  <a:extLst>
                    <a:ext uri="{A12FA001-AC4F-418D-AE19-62706E023703}">
                      <ahyp:hlinkClr val="tx"/>
                    </a:ext>
                  </a:extLst>
                </a:hlinkClick>
              </a:rPr>
              <a:t>https://www.youtube.com/@lev-selector</a:t>
            </a:r>
            <a:r>
              <a:rPr b="1" lang="en" sz="1800">
                <a:solidFill>
                  <a:schemeClr val="dk1"/>
                </a:solidFill>
                <a:latin typeface="Calibri"/>
                <a:ea typeface="Calibri"/>
                <a:cs typeface="Calibri"/>
                <a:sym typeface="Calibri"/>
              </a:rPr>
              <a:t> </a:t>
            </a:r>
            <a:endParaRPr b="1"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500"/>
              <a:buFont typeface="Arial"/>
              <a:buNone/>
            </a:pPr>
            <a:r>
              <a:t/>
            </a:r>
            <a:endParaRPr sz="2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2. Download slides from GitHub using links under the videos</a:t>
            </a:r>
            <a:endParaRPr sz="2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2500"/>
              <a:buFont typeface="Arial"/>
              <a:buNone/>
            </a:pPr>
            <a:r>
              <a:t/>
            </a:r>
            <a:endParaRPr sz="2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2500"/>
              <a:buFont typeface="Arial"/>
              <a:buNone/>
            </a:pPr>
            <a:r>
              <a:rPr b="1" lang="en" sz="2200">
                <a:solidFill>
                  <a:srgbClr val="FF0000"/>
                </a:solidFill>
                <a:latin typeface="Calibri"/>
                <a:ea typeface="Calibri"/>
                <a:cs typeface="Calibri"/>
                <a:sym typeface="Calibri"/>
              </a:rPr>
              <a:t>3. Please pause the video - and answer the pinned question in comments under the video</a:t>
            </a:r>
            <a:endParaRPr b="1" i="0" sz="1800" u="none" cap="none" strike="noStrike">
              <a:solidFill>
                <a:srgbClr val="FF0000"/>
              </a:solidFill>
              <a:latin typeface="Calibri"/>
              <a:ea typeface="Calibri"/>
              <a:cs typeface="Calibri"/>
              <a:sym typeface="Calibri"/>
            </a:endParaRPr>
          </a:p>
        </p:txBody>
      </p:sp>
      <p:pic>
        <p:nvPicPr>
          <p:cNvPr id="102" name="Google Shape;102;p19"/>
          <p:cNvPicPr preferRelativeResize="0"/>
          <p:nvPr/>
        </p:nvPicPr>
        <p:blipFill>
          <a:blip r:embed="rId4">
            <a:alphaModFix/>
          </a:blip>
          <a:stretch>
            <a:fillRect/>
          </a:stretch>
        </p:blipFill>
        <p:spPr>
          <a:xfrm>
            <a:off x="4349500" y="263775"/>
            <a:ext cx="2461825" cy="3154225"/>
          </a:xfrm>
          <a:prstGeom prst="rect">
            <a:avLst/>
          </a:prstGeom>
          <a:noFill/>
          <a:ln cap="flat" cmpd="sng" w="9525">
            <a:solidFill>
              <a:srgbClr val="FF0000"/>
            </a:solidFill>
            <a:prstDash val="solid"/>
            <a:round/>
            <a:headEnd len="sm" w="sm" type="none"/>
            <a:tailEnd len="sm" w="sm" type="none"/>
          </a:ln>
        </p:spPr>
      </p:pic>
      <p:pic>
        <p:nvPicPr>
          <p:cNvPr id="103" name="Google Shape;103;p19"/>
          <p:cNvPicPr preferRelativeResize="0"/>
          <p:nvPr/>
        </p:nvPicPr>
        <p:blipFill>
          <a:blip r:embed="rId5">
            <a:alphaModFix/>
          </a:blip>
          <a:stretch>
            <a:fillRect/>
          </a:stretch>
        </p:blipFill>
        <p:spPr>
          <a:xfrm>
            <a:off x="6896550" y="2823825"/>
            <a:ext cx="2160975" cy="2243351"/>
          </a:xfrm>
          <a:prstGeom prst="rect">
            <a:avLst/>
          </a:prstGeom>
          <a:noFill/>
          <a:ln cap="flat" cmpd="sng" w="9525">
            <a:solidFill>
              <a:srgbClr val="FF0000"/>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0"/>
          <p:cNvSpPr txBox="1"/>
          <p:nvPr/>
        </p:nvSpPr>
        <p:spPr>
          <a:xfrm>
            <a:off x="81775" y="0"/>
            <a:ext cx="3636000" cy="326400"/>
          </a:xfrm>
          <a:prstGeom prst="rect">
            <a:avLst/>
          </a:prstGeom>
          <a:noFill/>
          <a:ln>
            <a:noFill/>
          </a:ln>
        </p:spPr>
        <p:txBody>
          <a:bodyPr anchorCtr="0" anchor="t" bIns="9125" lIns="9125" spcFirstLastPara="1" rIns="9125" wrap="square" tIns="9125">
            <a:spAutoFit/>
          </a:bodyPr>
          <a:lstStyle/>
          <a:p>
            <a:pPr indent="0" lvl="0" marL="0" marR="0" rtl="0" algn="l">
              <a:lnSpc>
                <a:spcPct val="100000"/>
              </a:lnSpc>
              <a:spcBef>
                <a:spcPts val="0"/>
              </a:spcBef>
              <a:spcAft>
                <a:spcPts val="0"/>
              </a:spcAft>
              <a:buClr>
                <a:schemeClr val="dk1"/>
              </a:buClr>
              <a:buSzPts val="1100"/>
              <a:buFont typeface="Arial"/>
              <a:buNone/>
            </a:pPr>
            <a:r>
              <a:rPr b="1" lang="en" sz="2000">
                <a:solidFill>
                  <a:schemeClr val="dk1"/>
                </a:solidFill>
                <a:latin typeface="Calibri"/>
                <a:ea typeface="Calibri"/>
                <a:cs typeface="Calibri"/>
                <a:sym typeface="Calibri"/>
              </a:rPr>
              <a:t>AI Updates</a:t>
            </a:r>
            <a:endParaRPr b="1" sz="2000">
              <a:solidFill>
                <a:schemeClr val="dk1"/>
              </a:solidFill>
              <a:latin typeface="Calibri"/>
              <a:ea typeface="Calibri"/>
              <a:cs typeface="Calibri"/>
              <a:sym typeface="Calibri"/>
            </a:endParaRPr>
          </a:p>
        </p:txBody>
      </p:sp>
      <p:sp>
        <p:nvSpPr>
          <p:cNvPr id="109" name="Google Shape;109;p20"/>
          <p:cNvSpPr txBox="1"/>
          <p:nvPr/>
        </p:nvSpPr>
        <p:spPr>
          <a:xfrm>
            <a:off x="81765" y="365639"/>
            <a:ext cx="4425600" cy="5375100"/>
          </a:xfrm>
          <a:prstGeom prst="rect">
            <a:avLst/>
          </a:prstGeom>
          <a:solidFill>
            <a:srgbClr val="FFF2CC"/>
          </a:solidFill>
          <a:ln cap="flat" cmpd="sng" w="9525">
            <a:solidFill>
              <a:srgbClr val="FF0000"/>
            </a:solidFill>
            <a:prstDash val="solid"/>
            <a:round/>
            <a:headEnd len="sm" w="sm" type="none"/>
            <a:tailEnd len="sm" w="sm" type="none"/>
          </a:ln>
        </p:spPr>
        <p:txBody>
          <a:bodyPr anchorCtr="0" anchor="t" bIns="9125" lIns="9125" spcFirstLastPara="1" rIns="9125" wrap="square" tIns="9125">
            <a:spAutoFit/>
          </a:bodyPr>
          <a:lstStyle/>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11. An Anthropic resignation turns into an extinction debate</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Researcher Jacob Coxon resigned and posted that both Anthropic and OpenAI are</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"gambling with our lives" by racing toward self-improving AI. He worked at both</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labs, and wrote that the people building AI "earnestly believe that it could</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kill us all by the end of the decade. This is not a marketing stunt." He called</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for a coordinated slowdown, saying prevention may "require costly actions such</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as a temporary ban on improving model capabilities."</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reply is what made it spread. Evan Hubinger, Anthropic's Alignment Science</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lead, responded "We really do earnestly believe AI could kill all humans!" and</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put the odds above 10% within the next decade. He added that there is no plan</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yet for controlling superintelligence, while clarifying that today's models are</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low risk and self-improvement is the danger.</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argument underneath is not about p(doom). If the people who believe the</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stakes are civilizational still cannot coordinate, then "trust the responsible</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lab" is not a safety plan.</a:t>
            </a:r>
            <a:endParaRPr sz="1200">
              <a:solidFill>
                <a:schemeClr val="dk1"/>
              </a:solidFill>
              <a:latin typeface="Calibri"/>
              <a:ea typeface="Calibri"/>
              <a:cs typeface="Calibri"/>
              <a:sym typeface="Calibri"/>
            </a:endParaRPr>
          </a:p>
        </p:txBody>
      </p:sp>
      <p:sp>
        <p:nvSpPr>
          <p:cNvPr id="110" name="Google Shape;110;p20"/>
          <p:cNvSpPr txBox="1"/>
          <p:nvPr/>
        </p:nvSpPr>
        <p:spPr>
          <a:xfrm>
            <a:off x="4634140" y="2236289"/>
            <a:ext cx="4425600" cy="2789100"/>
          </a:xfrm>
          <a:prstGeom prst="rect">
            <a:avLst/>
          </a:prstGeom>
          <a:solidFill>
            <a:srgbClr val="FFF2CC"/>
          </a:solidFill>
          <a:ln cap="flat" cmpd="sng" w="9525">
            <a:solidFill>
              <a:srgbClr val="FF0000"/>
            </a:solidFill>
            <a:prstDash val="solid"/>
            <a:round/>
            <a:headEnd len="sm" w="sm" type="none"/>
            <a:tailEnd len="sm" w="sm" type="none"/>
          </a:ln>
        </p:spPr>
        <p:txBody>
          <a:bodyPr anchorCtr="0" anchor="t" bIns="9125" lIns="9125" spcFirstLastPara="1" rIns="9125" wrap="square" tIns="9125">
            <a:spAutoFit/>
          </a:bodyPr>
          <a:lstStyle/>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Mistral raises the largest round in European tech history</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€3 billion in a Series D led by Samsung Electronics, with Nvidia, ASML and a16z</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joining, valuing the French lab above €21 billion. One newsletter reported it as</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$3.5 billion, which is the same round converted. Mistral is three years old and</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tracking toward $1 billion in annual recurring revenue. The money goes</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 compute and international expansion behind a shift toward sovereign,</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full-stack enterprise AI. Le Chat is being rebranded to "Vibe," an agent and</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coding platform.</a:t>
            </a:r>
            <a:endParaRPr sz="12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1"/>
          <p:cNvSpPr txBox="1"/>
          <p:nvPr/>
        </p:nvSpPr>
        <p:spPr>
          <a:xfrm>
            <a:off x="81775" y="0"/>
            <a:ext cx="3636000" cy="326400"/>
          </a:xfrm>
          <a:prstGeom prst="rect">
            <a:avLst/>
          </a:prstGeom>
          <a:noFill/>
          <a:ln>
            <a:noFill/>
          </a:ln>
        </p:spPr>
        <p:txBody>
          <a:bodyPr anchorCtr="0" anchor="t" bIns="9125" lIns="9125" spcFirstLastPara="1" rIns="9125" wrap="square" tIns="9125">
            <a:spAutoFit/>
          </a:bodyPr>
          <a:lstStyle/>
          <a:p>
            <a:pPr indent="0" lvl="0" marL="0" marR="0" rtl="0" algn="l">
              <a:lnSpc>
                <a:spcPct val="100000"/>
              </a:lnSpc>
              <a:spcBef>
                <a:spcPts val="0"/>
              </a:spcBef>
              <a:spcAft>
                <a:spcPts val="0"/>
              </a:spcAft>
              <a:buClr>
                <a:schemeClr val="dk1"/>
              </a:buClr>
              <a:buSzPts val="1100"/>
              <a:buFont typeface="Arial"/>
              <a:buNone/>
            </a:pPr>
            <a:r>
              <a:rPr b="1" lang="en" sz="2000">
                <a:solidFill>
                  <a:schemeClr val="dk1"/>
                </a:solidFill>
                <a:latin typeface="Calibri"/>
                <a:ea typeface="Calibri"/>
                <a:cs typeface="Calibri"/>
                <a:sym typeface="Calibri"/>
              </a:rPr>
              <a:t>AI Updates</a:t>
            </a:r>
            <a:endParaRPr b="1" sz="2000">
              <a:solidFill>
                <a:schemeClr val="dk1"/>
              </a:solidFill>
              <a:latin typeface="Calibri"/>
              <a:ea typeface="Calibri"/>
              <a:cs typeface="Calibri"/>
              <a:sym typeface="Calibri"/>
            </a:endParaRPr>
          </a:p>
        </p:txBody>
      </p:sp>
      <p:sp>
        <p:nvSpPr>
          <p:cNvPr id="116" name="Google Shape;116;p21"/>
          <p:cNvSpPr txBox="1"/>
          <p:nvPr/>
        </p:nvSpPr>
        <p:spPr>
          <a:xfrm>
            <a:off x="81765" y="593895"/>
            <a:ext cx="4425600" cy="1865400"/>
          </a:xfrm>
          <a:prstGeom prst="rect">
            <a:avLst/>
          </a:prstGeom>
          <a:solidFill>
            <a:srgbClr val="FFF2CC"/>
          </a:solidFill>
          <a:ln cap="flat" cmpd="sng" w="9525">
            <a:solidFill>
              <a:srgbClr val="FF0000"/>
            </a:solidFill>
            <a:prstDash val="solid"/>
            <a:round/>
            <a:headEnd len="sm" w="sm" type="none"/>
            <a:tailEnd len="sm" w="sm" type="none"/>
          </a:ln>
        </p:spPr>
        <p:txBody>
          <a:bodyPr anchorCtr="0" anchor="t" bIns="9125" lIns="9125" spcFirstLastPara="1" rIns="9125" wrap="square" tIns="9125">
            <a:spAutoFit/>
          </a:bodyPr>
          <a:lstStyle/>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18. Google's agentic video understanding cuts video tokens by up to 88%</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Gemini Flash models now navigate a video timeline rather than ingesting it at 1</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FPS. Google reports up to 88% fewer tokens, 66% lower cost and 7% higher</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accuracy. One processing field turns it on. Hosted API only, so no local</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deployment.</a:t>
            </a:r>
            <a:endParaRPr sz="1200">
              <a:solidFill>
                <a:schemeClr val="dk1"/>
              </a:solidFill>
              <a:latin typeface="Calibri"/>
              <a:ea typeface="Calibri"/>
              <a:cs typeface="Calibri"/>
              <a:sym typeface="Calibri"/>
            </a:endParaRPr>
          </a:p>
        </p:txBody>
      </p:sp>
      <p:sp>
        <p:nvSpPr>
          <p:cNvPr id="117" name="Google Shape;117;p21"/>
          <p:cNvSpPr txBox="1"/>
          <p:nvPr/>
        </p:nvSpPr>
        <p:spPr>
          <a:xfrm>
            <a:off x="3182090" y="1888970"/>
            <a:ext cx="4425600" cy="2789100"/>
          </a:xfrm>
          <a:prstGeom prst="rect">
            <a:avLst/>
          </a:prstGeom>
          <a:solidFill>
            <a:srgbClr val="FFF2CC"/>
          </a:solidFill>
          <a:ln cap="flat" cmpd="sng" w="9525">
            <a:solidFill>
              <a:srgbClr val="FF0000"/>
            </a:solidFill>
            <a:prstDash val="solid"/>
            <a:round/>
            <a:headEnd len="sm" w="sm" type="none"/>
            <a:tailEnd len="sm" w="sm" type="none"/>
          </a:ln>
        </p:spPr>
        <p:txBody>
          <a:bodyPr anchorCtr="0" anchor="t" bIns="9125" lIns="9125" spcFirstLastPara="1" rIns="9125" wrap="square" tIns="9125">
            <a:spAutoFit/>
          </a:bodyPr>
          <a:lstStyle/>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19. The music industry stops fighting and starts licensing</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Suno released a model built with Warner Music Group, BMG and Believe, with</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artists participating and their music and likenesses licensed for use on the</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platform. It ships with a compensation framework, which is the point: the</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copyright fight is converting into a business arrangement.</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Universal Music went the same direction days later, partnering with ElevenLabs</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on a platform for remixing tracks from UMG's catalog, with artists opting in.</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Spotify is exploring AI remixes too.</a:t>
            </a:r>
            <a:endParaRPr sz="12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2"/>
          <p:cNvSpPr txBox="1"/>
          <p:nvPr/>
        </p:nvSpPr>
        <p:spPr>
          <a:xfrm>
            <a:off x="81775" y="0"/>
            <a:ext cx="3636000" cy="326400"/>
          </a:xfrm>
          <a:prstGeom prst="rect">
            <a:avLst/>
          </a:prstGeom>
          <a:noFill/>
          <a:ln>
            <a:noFill/>
          </a:ln>
        </p:spPr>
        <p:txBody>
          <a:bodyPr anchorCtr="0" anchor="t" bIns="9125" lIns="9125" spcFirstLastPara="1" rIns="9125" wrap="square" tIns="9125">
            <a:spAutoFit/>
          </a:bodyPr>
          <a:lstStyle/>
          <a:p>
            <a:pPr indent="0" lvl="0" marL="0" marR="0" rtl="0" algn="l">
              <a:lnSpc>
                <a:spcPct val="100000"/>
              </a:lnSpc>
              <a:spcBef>
                <a:spcPts val="0"/>
              </a:spcBef>
              <a:spcAft>
                <a:spcPts val="0"/>
              </a:spcAft>
              <a:buClr>
                <a:schemeClr val="dk1"/>
              </a:buClr>
              <a:buSzPts val="1100"/>
              <a:buFont typeface="Arial"/>
              <a:buNone/>
            </a:pPr>
            <a:r>
              <a:rPr b="1" lang="en" sz="2000">
                <a:solidFill>
                  <a:schemeClr val="dk1"/>
                </a:solidFill>
                <a:latin typeface="Calibri"/>
                <a:ea typeface="Calibri"/>
                <a:cs typeface="Calibri"/>
                <a:sym typeface="Calibri"/>
              </a:rPr>
              <a:t>AI Updates</a:t>
            </a:r>
            <a:endParaRPr b="1" sz="2000">
              <a:solidFill>
                <a:schemeClr val="dk1"/>
              </a:solidFill>
              <a:latin typeface="Calibri"/>
              <a:ea typeface="Calibri"/>
              <a:cs typeface="Calibri"/>
              <a:sym typeface="Calibri"/>
            </a:endParaRPr>
          </a:p>
        </p:txBody>
      </p:sp>
      <p:sp>
        <p:nvSpPr>
          <p:cNvPr id="123" name="Google Shape;123;p22"/>
          <p:cNvSpPr txBox="1"/>
          <p:nvPr/>
        </p:nvSpPr>
        <p:spPr>
          <a:xfrm>
            <a:off x="81765" y="417939"/>
            <a:ext cx="4425600" cy="6113700"/>
          </a:xfrm>
          <a:prstGeom prst="rect">
            <a:avLst/>
          </a:prstGeom>
          <a:solidFill>
            <a:srgbClr val="FFF2CC"/>
          </a:solidFill>
          <a:ln cap="flat" cmpd="sng" w="9525">
            <a:solidFill>
              <a:srgbClr val="FF0000"/>
            </a:solidFill>
            <a:prstDash val="solid"/>
            <a:round/>
            <a:headEnd len="sm" w="sm" type="none"/>
            <a:tailEnd len="sm" w="sm" type="none"/>
          </a:ln>
        </p:spPr>
        <p:txBody>
          <a:bodyPr anchorCtr="0" anchor="t" bIns="9125" lIns="9125" spcFirstLastPara="1" rIns="9125" wrap="square" tIns="9125">
            <a:spAutoFit/>
          </a:bodyPr>
          <a:lstStyle/>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Anthropic models what AI does to US jobs and wages by 2030</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 interactive tool that treats every job as a bundle of tasks, then asks</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whether AI speeds up each task, replaces it, or creates new ones. Three</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scenarios:</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Modest, where AI feels like the internet did: GDP grows 1.6% above the no-AI</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path, wages stable. Substantial, where AI handles about half of knowledge work:</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GDP up 8.3%, but knowledge worker wages flatline and some people change careers</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entirely. Extreme: 15% annual growth doubling the economy every 4.5 years,</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knowledge worker unemployment at 17.9%, and labor's share of GDP falling from</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60% to 45%.</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point buried in the third scenario is that a bigger economy does not</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automatically mean you earn more. Capital owners capture most of the gains. Of</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10,000+ Americans surveyed, most land near the substantial scenario and only</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about 10% expect the extreme one.</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is a natural companion to your layoffs slide, since it puts a mechanism</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behind the numbers.</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t/>
            </a:r>
            <a:endParaRPr sz="1200">
              <a:solidFill>
                <a:schemeClr val="dk1"/>
              </a:solidFill>
              <a:latin typeface="Calibri"/>
              <a:ea typeface="Calibri"/>
              <a:cs typeface="Calibri"/>
              <a:sym typeface="Calibri"/>
            </a:endParaRPr>
          </a:p>
          <a:p>
            <a:pPr indent="-133350" lvl="0" marL="17145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https://www.anthropic.com/institute/econ-scenarios</a:t>
            </a:r>
            <a:endParaRPr sz="12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3"/>
          <p:cNvSpPr txBox="1"/>
          <p:nvPr/>
        </p:nvSpPr>
        <p:spPr>
          <a:xfrm>
            <a:off x="67350" y="52750"/>
            <a:ext cx="3179400" cy="326400"/>
          </a:xfrm>
          <a:prstGeom prst="rect">
            <a:avLst/>
          </a:prstGeom>
          <a:noFill/>
          <a:ln>
            <a:noFill/>
          </a:ln>
        </p:spPr>
        <p:txBody>
          <a:bodyPr anchorCtr="0" anchor="t" bIns="9125" lIns="9125" spcFirstLastPara="1" rIns="9125" wrap="square" tIns="9125">
            <a:spAutoFit/>
          </a:bodyPr>
          <a:lstStyle/>
          <a:p>
            <a:pPr indent="0" lvl="0" marL="0" marR="0" rtl="0" algn="l">
              <a:lnSpc>
                <a:spcPct val="100000"/>
              </a:lnSpc>
              <a:spcBef>
                <a:spcPts val="0"/>
              </a:spcBef>
              <a:spcAft>
                <a:spcPts val="0"/>
              </a:spcAft>
              <a:buClr>
                <a:schemeClr val="dk1"/>
              </a:buClr>
              <a:buSzPts val="1100"/>
              <a:buFont typeface="Arial"/>
              <a:buNone/>
            </a:pPr>
            <a:r>
              <a:rPr b="1" i="0" lang="en" sz="2000" u="none" cap="none" strike="noStrike">
                <a:solidFill>
                  <a:schemeClr val="dk1"/>
                </a:solidFill>
                <a:latin typeface="Calibri"/>
                <a:ea typeface="Calibri"/>
                <a:cs typeface="Calibri"/>
                <a:sym typeface="Calibri"/>
              </a:rPr>
              <a:t>Jobs</a:t>
            </a:r>
            <a:endParaRPr b="1" i="0" sz="2000" u="none" cap="none" strike="noStrike">
              <a:solidFill>
                <a:schemeClr val="dk1"/>
              </a:solidFill>
              <a:latin typeface="Calibri"/>
              <a:ea typeface="Calibri"/>
              <a:cs typeface="Calibri"/>
              <a:sym typeface="Calibri"/>
            </a:endParaRPr>
          </a:p>
        </p:txBody>
      </p:sp>
      <p:sp>
        <p:nvSpPr>
          <p:cNvPr id="129" name="Google Shape;129;p23"/>
          <p:cNvSpPr txBox="1"/>
          <p:nvPr/>
        </p:nvSpPr>
        <p:spPr>
          <a:xfrm>
            <a:off x="2134467" y="34252"/>
            <a:ext cx="1800600" cy="387900"/>
          </a:xfrm>
          <a:prstGeom prst="rect">
            <a:avLst/>
          </a:prstGeom>
          <a:solidFill>
            <a:srgbClr val="FFF2CC"/>
          </a:solidFill>
          <a:ln cap="flat" cmpd="sng" w="9525">
            <a:solidFill>
              <a:srgbClr val="FF0000"/>
            </a:solidFill>
            <a:prstDash val="solid"/>
            <a:round/>
            <a:headEnd len="sm" w="sm" type="none"/>
            <a:tailEnd len="sm" w="sm" type="none"/>
          </a:ln>
        </p:spPr>
        <p:txBody>
          <a:bodyPr anchorCtr="0" anchor="t" bIns="9125" lIns="9125" spcFirstLastPara="1" rIns="9125" wrap="square" tIns="9125">
            <a:spAutoFit/>
          </a:bodyPr>
          <a:lstStyle/>
          <a:p>
            <a:pPr indent="-133350" lvl="0" marL="171450" marR="0" rtl="0" algn="l">
              <a:lnSpc>
                <a:spcPct val="100000"/>
              </a:lnSpc>
              <a:spcBef>
                <a:spcPts val="0"/>
              </a:spcBef>
              <a:spcAft>
                <a:spcPts val="0"/>
              </a:spcAft>
              <a:buSzPts val="1200"/>
              <a:buFont typeface="Calibri"/>
              <a:buChar char="●"/>
            </a:pPr>
            <a:r>
              <a:rPr b="0" i="0" lang="en" sz="1200" u="sng" cap="none" strike="noStrike">
                <a:solidFill>
                  <a:schemeClr val="hlink"/>
                </a:solidFill>
                <a:latin typeface="Calibri"/>
                <a:ea typeface="Calibri"/>
                <a:cs typeface="Calibri"/>
                <a:sym typeface="Calibri"/>
                <a:hlinkClick r:id="rId3"/>
              </a:rPr>
              <a:t>https://layoffs.fyi</a:t>
            </a:r>
            <a:endParaRPr sz="1200">
              <a:latin typeface="Calibri"/>
              <a:ea typeface="Calibri"/>
              <a:cs typeface="Calibri"/>
              <a:sym typeface="Calibri"/>
            </a:endParaRPr>
          </a:p>
          <a:p>
            <a:pPr indent="-133350" lvl="0" marL="171450" marR="0" rtl="0" algn="l">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https://trueup.io/layoffs</a:t>
            </a:r>
            <a:r>
              <a:rPr lang="en" sz="1200">
                <a:latin typeface="Calibri"/>
                <a:ea typeface="Calibri"/>
                <a:cs typeface="Calibri"/>
                <a:sym typeface="Calibri"/>
              </a:rPr>
              <a:t> </a:t>
            </a:r>
            <a:r>
              <a:rPr b="0" i="0" lang="en" sz="1200" u="none" cap="none" strike="noStrike">
                <a:solidFill>
                  <a:srgbClr val="000000"/>
                </a:solidFill>
                <a:latin typeface="Calibri"/>
                <a:ea typeface="Calibri"/>
                <a:cs typeface="Calibri"/>
                <a:sym typeface="Calibri"/>
              </a:rPr>
              <a:t> </a:t>
            </a:r>
            <a:endParaRPr b="0" i="0" sz="1200" u="none" cap="none" strike="noStrike">
              <a:solidFill>
                <a:srgbClr val="000000"/>
              </a:solidFill>
              <a:latin typeface="Calibri"/>
              <a:ea typeface="Calibri"/>
              <a:cs typeface="Calibri"/>
              <a:sym typeface="Calibri"/>
            </a:endParaRPr>
          </a:p>
        </p:txBody>
      </p:sp>
      <p:sp>
        <p:nvSpPr>
          <p:cNvPr id="130" name="Google Shape;130;p23"/>
          <p:cNvSpPr txBox="1"/>
          <p:nvPr/>
        </p:nvSpPr>
        <p:spPr>
          <a:xfrm>
            <a:off x="5655225" y="3510625"/>
            <a:ext cx="3360600" cy="1311300"/>
          </a:xfrm>
          <a:prstGeom prst="rect">
            <a:avLst/>
          </a:prstGeom>
          <a:solidFill>
            <a:srgbClr val="FFF2CC"/>
          </a:solidFill>
          <a:ln cap="flat" cmpd="sng" w="9525">
            <a:solidFill>
              <a:srgbClr val="FF0000"/>
            </a:solidFill>
            <a:prstDash val="solid"/>
            <a:round/>
            <a:headEnd len="sm" w="sm" type="none"/>
            <a:tailEnd len="sm" w="sm" type="none"/>
          </a:ln>
        </p:spPr>
        <p:txBody>
          <a:bodyPr anchorCtr="0" anchor="t" bIns="9125" lIns="9125" spcFirstLastPara="1" rIns="9125" wrap="square" tIns="9125">
            <a:spAutoFit/>
          </a:bodyPr>
          <a:lstStyle/>
          <a:p>
            <a:pPr indent="0" lvl="0" marL="0" marR="0" rtl="0" algn="l">
              <a:lnSpc>
                <a:spcPct val="100000"/>
              </a:lnSpc>
              <a:spcBef>
                <a:spcPts val="0"/>
              </a:spcBef>
              <a:spcAft>
                <a:spcPts val="0"/>
              </a:spcAft>
              <a:buNone/>
            </a:pPr>
            <a:r>
              <a:rPr b="1" lang="en" sz="1200">
                <a:solidFill>
                  <a:srgbClr val="FF0000"/>
                </a:solidFill>
                <a:latin typeface="Calibri"/>
                <a:ea typeface="Calibri"/>
                <a:cs typeface="Calibri"/>
                <a:sym typeface="Calibri"/>
              </a:rPr>
              <a:t>  Tech Layoffs by year (US only):</a:t>
            </a:r>
            <a:endParaRPr b="1" sz="1200">
              <a:solidFill>
                <a:srgbClr val="FF0000"/>
              </a:solidFill>
              <a:latin typeface="Calibri"/>
              <a:ea typeface="Calibri"/>
              <a:cs typeface="Calibri"/>
              <a:sym typeface="Calibri"/>
            </a:endParaRPr>
          </a:p>
          <a:p>
            <a:pPr indent="-133350" lvl="1" marL="228600" marR="0" rtl="0" algn="l">
              <a:lnSpc>
                <a:spcPct val="100000"/>
              </a:lnSpc>
              <a:spcBef>
                <a:spcPts val="0"/>
              </a:spcBef>
              <a:spcAft>
                <a:spcPts val="0"/>
              </a:spcAft>
              <a:buSzPts val="1200"/>
              <a:buFont typeface="Calibri"/>
              <a:buChar char="○"/>
            </a:pPr>
            <a:r>
              <a:rPr b="1" lang="en" sz="1000">
                <a:latin typeface="Roboto Mono"/>
                <a:ea typeface="Roboto Mono"/>
                <a:cs typeface="Roboto Mono"/>
                <a:sym typeface="Roboto Mono"/>
              </a:rPr>
              <a:t>128.5K in 2026 </a:t>
            </a:r>
            <a:r>
              <a:rPr b="1" lang="en" sz="1000">
                <a:solidFill>
                  <a:schemeClr val="dk1"/>
                </a:solidFill>
                <a:latin typeface="Roboto Mono"/>
                <a:ea typeface="Roboto Mono"/>
                <a:cs typeface="Roboto Mono"/>
                <a:sym typeface="Roboto Mono"/>
              </a:rPr>
              <a:t>(as of Sept 10, 2026)</a:t>
            </a:r>
            <a:endParaRPr b="1" sz="1000">
              <a:latin typeface="Roboto Mono"/>
              <a:ea typeface="Roboto Mono"/>
              <a:cs typeface="Roboto Mono"/>
              <a:sym typeface="Roboto Mono"/>
            </a:endParaRPr>
          </a:p>
          <a:p>
            <a:pPr indent="-133350" lvl="1" marL="228600" marR="0" rtl="0" algn="l">
              <a:lnSpc>
                <a:spcPct val="100000"/>
              </a:lnSpc>
              <a:spcBef>
                <a:spcPts val="0"/>
              </a:spcBef>
              <a:spcAft>
                <a:spcPts val="0"/>
              </a:spcAft>
              <a:buSzPts val="1200"/>
              <a:buFont typeface="Calibri"/>
              <a:buChar char="○"/>
            </a:pPr>
            <a:r>
              <a:rPr b="1" lang="en" sz="1000">
                <a:latin typeface="Roboto Mono"/>
                <a:ea typeface="Roboto Mono"/>
                <a:cs typeface="Roboto Mono"/>
                <a:sym typeface="Roboto Mono"/>
              </a:rPr>
              <a:t>124K in 2025 </a:t>
            </a:r>
            <a:endParaRPr b="1" sz="1000">
              <a:latin typeface="Roboto Mono"/>
              <a:ea typeface="Roboto Mono"/>
              <a:cs typeface="Roboto Mono"/>
              <a:sym typeface="Roboto Mono"/>
            </a:endParaRPr>
          </a:p>
          <a:p>
            <a:pPr indent="-133350" lvl="1" marL="228600" marR="0" rtl="0" algn="l">
              <a:lnSpc>
                <a:spcPct val="100000"/>
              </a:lnSpc>
              <a:spcBef>
                <a:spcPts val="0"/>
              </a:spcBef>
              <a:spcAft>
                <a:spcPts val="0"/>
              </a:spcAft>
              <a:buSzPts val="1200"/>
              <a:buFont typeface="Calibri"/>
              <a:buChar char="○"/>
            </a:pPr>
            <a:r>
              <a:rPr b="1" lang="en" sz="1000">
                <a:latin typeface="Roboto Mono"/>
                <a:ea typeface="Roboto Mono"/>
                <a:cs typeface="Roboto Mono"/>
                <a:sym typeface="Roboto Mono"/>
              </a:rPr>
              <a:t>153K in </a:t>
            </a:r>
            <a:r>
              <a:rPr b="1" lang="en" sz="1000">
                <a:solidFill>
                  <a:srgbClr val="000000"/>
                </a:solidFill>
                <a:latin typeface="Roboto Mono"/>
                <a:ea typeface="Roboto Mono"/>
                <a:cs typeface="Roboto Mono"/>
                <a:sym typeface="Roboto Mono"/>
              </a:rPr>
              <a:t>2024</a:t>
            </a:r>
            <a:endParaRPr b="1" sz="1000">
              <a:latin typeface="Roboto Mono"/>
              <a:ea typeface="Roboto Mono"/>
              <a:cs typeface="Roboto Mono"/>
              <a:sym typeface="Roboto Mono"/>
            </a:endParaRPr>
          </a:p>
          <a:p>
            <a:pPr indent="-133350" lvl="1" marL="228600" marR="0" rtl="0" algn="l">
              <a:lnSpc>
                <a:spcPct val="100000"/>
              </a:lnSpc>
              <a:spcBef>
                <a:spcPts val="0"/>
              </a:spcBef>
              <a:spcAft>
                <a:spcPts val="0"/>
              </a:spcAft>
              <a:buSzPts val="1200"/>
              <a:buFont typeface="Calibri"/>
              <a:buChar char="○"/>
            </a:pPr>
            <a:r>
              <a:rPr b="1" lang="en" sz="1000">
                <a:latin typeface="Roboto Mono"/>
                <a:ea typeface="Roboto Mono"/>
                <a:cs typeface="Roboto Mono"/>
                <a:sym typeface="Roboto Mono"/>
              </a:rPr>
              <a:t>264K in 2023</a:t>
            </a:r>
            <a:endParaRPr b="1" sz="1000">
              <a:latin typeface="Roboto Mono"/>
              <a:ea typeface="Roboto Mono"/>
              <a:cs typeface="Roboto Mono"/>
              <a:sym typeface="Roboto Mono"/>
            </a:endParaRPr>
          </a:p>
          <a:p>
            <a:pPr indent="-133350" lvl="1" marL="228600" marR="0" rtl="0" algn="l">
              <a:lnSpc>
                <a:spcPct val="100000"/>
              </a:lnSpc>
              <a:spcBef>
                <a:spcPts val="0"/>
              </a:spcBef>
              <a:spcAft>
                <a:spcPts val="0"/>
              </a:spcAft>
              <a:buSzPts val="1200"/>
              <a:buFont typeface="Calibri"/>
              <a:buChar char="○"/>
            </a:pPr>
            <a:r>
              <a:rPr b="1" lang="en" sz="1000">
                <a:latin typeface="Roboto Mono"/>
                <a:ea typeface="Roboto Mono"/>
                <a:cs typeface="Roboto Mono"/>
                <a:sym typeface="Roboto Mono"/>
              </a:rPr>
              <a:t>165K in 2022                  </a:t>
            </a:r>
            <a:r>
              <a:rPr i="0" lang="en" sz="1200" u="sng" cap="none" strike="noStrike">
                <a:solidFill>
                  <a:srgbClr val="0097A7"/>
                </a:solidFill>
                <a:latin typeface="Calibri"/>
                <a:ea typeface="Calibri"/>
                <a:cs typeface="Calibri"/>
                <a:sym typeface="Calibri"/>
                <a:hlinkClick r:id="rId5">
                  <a:extLst>
                    <a:ext uri="{A12FA001-AC4F-418D-AE19-62706E023703}">
                      <ahyp:hlinkClr val="tx"/>
                    </a:ext>
                  </a:extLst>
                </a:hlinkClick>
              </a:rPr>
              <a:t>https://layoffs.fyi</a:t>
            </a:r>
            <a:endParaRPr i="0" sz="1200" u="none" cap="none" strike="noStrike">
              <a:solidFill>
                <a:srgbClr val="000000"/>
              </a:solidFill>
              <a:latin typeface="Calibri"/>
              <a:ea typeface="Calibri"/>
              <a:cs typeface="Calibri"/>
              <a:sym typeface="Calibri"/>
            </a:endParaRPr>
          </a:p>
        </p:txBody>
      </p:sp>
      <p:sp>
        <p:nvSpPr>
          <p:cNvPr id="131" name="Google Shape;131;p23"/>
          <p:cNvSpPr txBox="1"/>
          <p:nvPr/>
        </p:nvSpPr>
        <p:spPr>
          <a:xfrm>
            <a:off x="5655225" y="564150"/>
            <a:ext cx="3286800" cy="942000"/>
          </a:xfrm>
          <a:prstGeom prst="rect">
            <a:avLst/>
          </a:prstGeom>
          <a:solidFill>
            <a:srgbClr val="FFF2CC"/>
          </a:solidFill>
          <a:ln cap="flat" cmpd="sng" w="9525">
            <a:solidFill>
              <a:srgbClr val="FF0000"/>
            </a:solidFill>
            <a:prstDash val="solid"/>
            <a:round/>
            <a:headEnd len="sm" w="sm" type="none"/>
            <a:tailEnd len="sm" w="sm" type="none"/>
          </a:ln>
        </p:spPr>
        <p:txBody>
          <a:bodyPr anchorCtr="0" anchor="t" bIns="9125" lIns="9125" spcFirstLastPara="1" rIns="9125" wrap="square" tIns="9125">
            <a:spAutoFit/>
          </a:bodyPr>
          <a:lstStyle/>
          <a:p>
            <a:pPr indent="0" lvl="0" marL="0" rtl="0" algn="l">
              <a:spcBef>
                <a:spcPts val="0"/>
              </a:spcBef>
              <a:spcAft>
                <a:spcPts val="0"/>
              </a:spcAft>
              <a:buNone/>
            </a:pPr>
            <a:r>
              <a:rPr b="1" lang="en" sz="1200">
                <a:solidFill>
                  <a:srgbClr val="FF0000"/>
                </a:solidFill>
                <a:latin typeface="Calibri"/>
                <a:ea typeface="Calibri"/>
                <a:cs typeface="Calibri"/>
                <a:sym typeface="Calibri"/>
              </a:rPr>
              <a:t>  The Tech Layoff Tracker</a:t>
            </a:r>
            <a:endParaRPr b="1" sz="1200">
              <a:solidFill>
                <a:srgbClr val="FF0000"/>
              </a:solidFill>
              <a:latin typeface="Calibri"/>
              <a:ea typeface="Calibri"/>
              <a:cs typeface="Calibri"/>
              <a:sym typeface="Calibri"/>
            </a:endParaRPr>
          </a:p>
          <a:p>
            <a:pPr indent="-133350" lvl="0" marL="228600" rtl="0" algn="l">
              <a:spcBef>
                <a:spcPts val="0"/>
              </a:spcBef>
              <a:spcAft>
                <a:spcPts val="0"/>
              </a:spcAft>
              <a:buSzPts val="1200"/>
              <a:buFont typeface="Calibri"/>
              <a:buChar char="●"/>
            </a:pPr>
            <a:r>
              <a:rPr lang="en" sz="1200">
                <a:latin typeface="Calibri"/>
                <a:ea typeface="Calibri"/>
                <a:cs typeface="Calibri"/>
                <a:sym typeface="Calibri"/>
              </a:rPr>
              <a:t>In 2026: </a:t>
            </a:r>
            <a:r>
              <a:rPr b="1" lang="en" sz="1200">
                <a:latin typeface="Calibri"/>
                <a:ea typeface="Calibri"/>
                <a:cs typeface="Calibri"/>
                <a:sym typeface="Calibri"/>
              </a:rPr>
              <a:t>187,160</a:t>
            </a:r>
            <a:r>
              <a:rPr lang="en" sz="1200">
                <a:latin typeface="Calibri"/>
                <a:ea typeface="Calibri"/>
                <a:cs typeface="Calibri"/>
                <a:sym typeface="Calibri"/>
              </a:rPr>
              <a:t> people laid off (737 per day)</a:t>
            </a:r>
            <a:endParaRPr sz="1200">
              <a:latin typeface="Calibri"/>
              <a:ea typeface="Calibri"/>
              <a:cs typeface="Calibri"/>
              <a:sym typeface="Calibri"/>
            </a:endParaRPr>
          </a:p>
          <a:p>
            <a:pPr indent="-133350" lvl="0" marL="228600" rtl="0" algn="l">
              <a:spcBef>
                <a:spcPts val="0"/>
              </a:spcBef>
              <a:spcAft>
                <a:spcPts val="0"/>
              </a:spcAft>
              <a:buSzPts val="1200"/>
              <a:buFont typeface="Calibri"/>
              <a:buChar char="●"/>
            </a:pPr>
            <a:r>
              <a:rPr lang="en" sz="1200">
                <a:latin typeface="Calibri"/>
                <a:ea typeface="Calibri"/>
                <a:cs typeface="Calibri"/>
                <a:sym typeface="Calibri"/>
              </a:rPr>
              <a:t>In 2025: </a:t>
            </a:r>
            <a:r>
              <a:rPr b="1" lang="en" sz="1200">
                <a:latin typeface="Calibri"/>
                <a:ea typeface="Calibri"/>
                <a:cs typeface="Calibri"/>
                <a:sym typeface="Calibri"/>
              </a:rPr>
              <a:t>245,953</a:t>
            </a:r>
            <a:r>
              <a:rPr lang="en" sz="1200">
                <a:latin typeface="Calibri"/>
                <a:ea typeface="Calibri"/>
                <a:cs typeface="Calibri"/>
                <a:sym typeface="Calibri"/>
              </a:rPr>
              <a:t> people laid off (674 per day)</a:t>
            </a:r>
            <a:endParaRPr sz="1200">
              <a:latin typeface="Calibri"/>
              <a:ea typeface="Calibri"/>
              <a:cs typeface="Calibri"/>
              <a:sym typeface="Calibri"/>
            </a:endParaRPr>
          </a:p>
          <a:p>
            <a:pPr indent="-133350" lvl="0" marL="228600" rtl="0" algn="l">
              <a:spcBef>
                <a:spcPts val="0"/>
              </a:spcBef>
              <a:spcAft>
                <a:spcPts val="0"/>
              </a:spcAft>
              <a:buSzPts val="1200"/>
              <a:buFont typeface="Calibri"/>
              <a:buChar char="●"/>
            </a:pPr>
            <a:r>
              <a:rPr lang="en" sz="1200">
                <a:latin typeface="Calibri"/>
                <a:ea typeface="Calibri"/>
                <a:cs typeface="Calibri"/>
                <a:sym typeface="Calibri"/>
              </a:rPr>
              <a:t>In 2024: </a:t>
            </a:r>
            <a:r>
              <a:rPr b="1" lang="en" sz="1200">
                <a:latin typeface="Calibri"/>
                <a:ea typeface="Calibri"/>
                <a:cs typeface="Calibri"/>
                <a:sym typeface="Calibri"/>
              </a:rPr>
              <a:t>238,461</a:t>
            </a:r>
            <a:r>
              <a:rPr lang="en" sz="1200">
                <a:latin typeface="Calibri"/>
                <a:ea typeface="Calibri"/>
                <a:cs typeface="Calibri"/>
                <a:sym typeface="Calibri"/>
              </a:rPr>
              <a:t> people </a:t>
            </a:r>
            <a:r>
              <a:rPr lang="en" sz="1200">
                <a:solidFill>
                  <a:srgbClr val="000000"/>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indent="-57150" lvl="0" marL="228600" marR="460858" rtl="0" algn="r">
              <a:spcBef>
                <a:spcPts val="0"/>
              </a:spcBef>
              <a:spcAft>
                <a:spcPts val="0"/>
              </a:spcAft>
              <a:buNone/>
            </a:pPr>
            <a:r>
              <a:rPr lang="en" sz="1200" u="sng">
                <a:solidFill>
                  <a:srgbClr val="0097A7"/>
                </a:solidFill>
                <a:latin typeface="Calibri"/>
                <a:ea typeface="Calibri"/>
                <a:cs typeface="Calibri"/>
                <a:sym typeface="Calibri"/>
                <a:hlinkClick r:id="rId6">
                  <a:extLst>
                    <a:ext uri="{A12FA001-AC4F-418D-AE19-62706E023703}">
                      <ahyp:hlinkClr val="tx"/>
                    </a:ext>
                  </a:extLst>
                </a:hlinkClick>
              </a:rPr>
              <a:t>https://trueup.io/layoffs</a:t>
            </a:r>
            <a:endParaRPr sz="1200">
              <a:latin typeface="Calibri"/>
              <a:ea typeface="Calibri"/>
              <a:cs typeface="Calibri"/>
              <a:sym typeface="Calibri"/>
            </a:endParaRPr>
          </a:p>
        </p:txBody>
      </p:sp>
      <p:pic>
        <p:nvPicPr>
          <p:cNvPr id="132" name="Google Shape;132;p23"/>
          <p:cNvPicPr preferRelativeResize="0"/>
          <p:nvPr/>
        </p:nvPicPr>
        <p:blipFill>
          <a:blip r:embed="rId7">
            <a:alphaModFix/>
          </a:blip>
          <a:stretch>
            <a:fillRect/>
          </a:stretch>
        </p:blipFill>
        <p:spPr>
          <a:xfrm>
            <a:off x="67625" y="3205560"/>
            <a:ext cx="5355049" cy="1906176"/>
          </a:xfrm>
          <a:prstGeom prst="rect">
            <a:avLst/>
          </a:prstGeom>
          <a:noFill/>
          <a:ln cap="flat" cmpd="sng" w="9525">
            <a:solidFill>
              <a:srgbClr val="FF0000"/>
            </a:solidFill>
            <a:prstDash val="solid"/>
            <a:round/>
            <a:headEnd len="sm" w="sm" type="none"/>
            <a:tailEnd len="sm" w="sm" type="none"/>
          </a:ln>
        </p:spPr>
      </p:pic>
      <p:pic>
        <p:nvPicPr>
          <p:cNvPr id="133" name="Google Shape;133;p23"/>
          <p:cNvPicPr preferRelativeResize="0"/>
          <p:nvPr/>
        </p:nvPicPr>
        <p:blipFill>
          <a:blip r:embed="rId8">
            <a:alphaModFix/>
          </a:blip>
          <a:stretch>
            <a:fillRect/>
          </a:stretch>
        </p:blipFill>
        <p:spPr>
          <a:xfrm>
            <a:off x="67625" y="454724"/>
            <a:ext cx="5355050" cy="2719832"/>
          </a:xfrm>
          <a:prstGeom prst="rect">
            <a:avLst/>
          </a:prstGeom>
          <a:noFill/>
          <a:ln cap="flat" cmpd="sng" w="9525">
            <a:solidFill>
              <a:srgbClr val="FF0000"/>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24"/>
          <p:cNvPicPr preferRelativeResize="0"/>
          <p:nvPr/>
        </p:nvPicPr>
        <p:blipFill rotWithShape="1">
          <a:blip r:embed="rId3">
            <a:alphaModFix/>
          </a:blip>
          <a:srcRect b="0" l="0" r="0" t="0"/>
          <a:stretch/>
        </p:blipFill>
        <p:spPr>
          <a:xfrm>
            <a:off x="645525" y="1203525"/>
            <a:ext cx="1570556" cy="1570556"/>
          </a:xfrm>
          <a:prstGeom prst="rect">
            <a:avLst/>
          </a:prstGeom>
          <a:noFill/>
          <a:ln>
            <a:noFill/>
          </a:ln>
        </p:spPr>
      </p:pic>
      <p:sp>
        <p:nvSpPr>
          <p:cNvPr id="139" name="Google Shape;139;p24"/>
          <p:cNvSpPr txBox="1"/>
          <p:nvPr/>
        </p:nvSpPr>
        <p:spPr>
          <a:xfrm>
            <a:off x="-25625" y="-14775"/>
            <a:ext cx="33558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rgbClr val="000000"/>
                </a:solidFill>
                <a:latin typeface="Calibri"/>
                <a:ea typeface="Calibri"/>
                <a:cs typeface="Calibri"/>
                <a:sym typeface="Calibri"/>
              </a:rPr>
              <a:t>About the Speaker</a:t>
            </a:r>
            <a:endParaRPr b="1" i="0" sz="2500" u="none" cap="none" strike="noStrike">
              <a:solidFill>
                <a:srgbClr val="000000"/>
              </a:solidFill>
              <a:latin typeface="Calibri"/>
              <a:ea typeface="Calibri"/>
              <a:cs typeface="Calibri"/>
              <a:sym typeface="Calibri"/>
            </a:endParaRPr>
          </a:p>
        </p:txBody>
      </p:sp>
      <p:sp>
        <p:nvSpPr>
          <p:cNvPr id="140" name="Google Shape;140;p24"/>
          <p:cNvSpPr txBox="1"/>
          <p:nvPr/>
        </p:nvSpPr>
        <p:spPr>
          <a:xfrm>
            <a:off x="3330175" y="878750"/>
            <a:ext cx="5621700" cy="330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n" sz="2500" u="none" cap="none" strike="noStrike">
                <a:solidFill>
                  <a:srgbClr val="000000"/>
                </a:solidFill>
                <a:latin typeface="Calibri"/>
                <a:ea typeface="Calibri"/>
                <a:cs typeface="Calibri"/>
                <a:sym typeface="Calibri"/>
              </a:rPr>
              <a:t>Lev Selector, Ph.D.</a:t>
            </a:r>
            <a:endParaRPr b="1" i="0" sz="25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1800" u="none" cap="none" strike="noStrike">
              <a:solidFill>
                <a:srgbClr val="000000"/>
              </a:solidFill>
              <a:latin typeface="Calibri"/>
              <a:ea typeface="Calibri"/>
              <a:cs typeface="Calibri"/>
              <a:sym typeface="Calibri"/>
            </a:endParaRPr>
          </a:p>
          <a:p>
            <a:pPr indent="-330200" lvl="0" marL="457200" marR="0" rtl="0" algn="l">
              <a:lnSpc>
                <a:spcPct val="100000"/>
              </a:lnSpc>
              <a:spcBef>
                <a:spcPts val="0"/>
              </a:spcBef>
              <a:spcAft>
                <a:spcPts val="0"/>
              </a:spcAft>
              <a:buClr>
                <a:srgbClr val="000000"/>
              </a:buClr>
              <a:buSzPts val="1600"/>
              <a:buFont typeface="Calibri"/>
              <a:buChar char="●"/>
            </a:pPr>
            <a:r>
              <a:rPr b="0" i="0" lang="en" sz="1600" u="none" cap="none" strike="noStrike">
                <a:solidFill>
                  <a:schemeClr val="dk1"/>
                </a:solidFill>
                <a:latin typeface="Calibri"/>
                <a:ea typeface="Calibri"/>
                <a:cs typeface="Calibri"/>
                <a:sym typeface="Calibri"/>
              </a:rPr>
              <a:t>40+ years of software engineering, data science, and building teams (hiring, training, and managing)</a:t>
            </a:r>
            <a:endParaRPr b="0" i="0" sz="1600" u="none" cap="none" strike="noStrike">
              <a:solidFill>
                <a:schemeClr val="dk1"/>
              </a:solidFill>
              <a:latin typeface="Calibri"/>
              <a:ea typeface="Calibri"/>
              <a:cs typeface="Calibri"/>
              <a:sym typeface="Calibri"/>
            </a:endParaRPr>
          </a:p>
          <a:p>
            <a:pPr indent="-330200" lvl="0" marL="457200" marR="0" rtl="0" algn="l">
              <a:lnSpc>
                <a:spcPct val="100000"/>
              </a:lnSpc>
              <a:spcBef>
                <a:spcPts val="0"/>
              </a:spcBef>
              <a:spcAft>
                <a:spcPts val="0"/>
              </a:spcAft>
              <a:buClr>
                <a:srgbClr val="000000"/>
              </a:buClr>
              <a:buSzPts val="1600"/>
              <a:buFont typeface="Calibri"/>
              <a:buChar char="●"/>
            </a:pPr>
            <a:r>
              <a:rPr b="0" i="0" lang="en" sz="1600" u="none" cap="none" strike="noStrike">
                <a:solidFill>
                  <a:schemeClr val="dk1"/>
                </a:solidFill>
                <a:latin typeface="Calibri"/>
                <a:ea typeface="Calibri"/>
                <a:cs typeface="Calibri"/>
                <a:sym typeface="Calibri"/>
              </a:rPr>
              <a:t>Ph.D. in mathematical modeling and computer simulations</a:t>
            </a:r>
            <a:endParaRPr b="0" i="0" sz="16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16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alibri"/>
                <a:ea typeface="Calibri"/>
                <a:cs typeface="Calibri"/>
                <a:sym typeface="Calibri"/>
              </a:rPr>
              <a:t>Interests: </a:t>
            </a:r>
            <a:endParaRPr b="0" i="0" sz="1600" u="none" cap="none" strike="noStrike">
              <a:solidFill>
                <a:srgbClr val="000000"/>
              </a:solidFill>
              <a:latin typeface="Calibri"/>
              <a:ea typeface="Calibri"/>
              <a:cs typeface="Calibri"/>
              <a:sym typeface="Calibri"/>
            </a:endParaRPr>
          </a:p>
          <a:p>
            <a:pPr indent="-330200" lvl="0" marL="457200" marR="0" rtl="0" algn="l">
              <a:lnSpc>
                <a:spcPct val="100000"/>
              </a:lnSpc>
              <a:spcBef>
                <a:spcPts val="0"/>
              </a:spcBef>
              <a:spcAft>
                <a:spcPts val="0"/>
              </a:spcAft>
              <a:buClr>
                <a:srgbClr val="000000"/>
              </a:buClr>
              <a:buSzPts val="1600"/>
              <a:buFont typeface="Calibri"/>
              <a:buChar char="●"/>
            </a:pPr>
            <a:r>
              <a:rPr b="0" i="0" lang="en" sz="1600" u="none" cap="none" strike="noStrike">
                <a:solidFill>
                  <a:schemeClr val="dk1"/>
                </a:solidFill>
                <a:latin typeface="Calibri"/>
                <a:ea typeface="Calibri"/>
                <a:cs typeface="Calibri"/>
                <a:sym typeface="Calibri"/>
              </a:rPr>
              <a:t>Generative AI, Using LLM with your data</a:t>
            </a:r>
            <a:endParaRPr b="0" i="0" sz="1600" u="none" cap="none" strike="noStrike">
              <a:solidFill>
                <a:schemeClr val="dk1"/>
              </a:solidFill>
              <a:latin typeface="Calibri"/>
              <a:ea typeface="Calibri"/>
              <a:cs typeface="Calibri"/>
              <a:sym typeface="Calibri"/>
            </a:endParaRPr>
          </a:p>
          <a:p>
            <a:pPr indent="-330200" lvl="0" marL="457200" marR="0" rtl="0" algn="l">
              <a:lnSpc>
                <a:spcPct val="100000"/>
              </a:lnSpc>
              <a:spcBef>
                <a:spcPts val="0"/>
              </a:spcBef>
              <a:spcAft>
                <a:spcPts val="0"/>
              </a:spcAft>
              <a:buClr>
                <a:schemeClr val="dk1"/>
              </a:buClr>
              <a:buSzPts val="1600"/>
              <a:buFont typeface="Calibri"/>
              <a:buChar char="●"/>
            </a:pPr>
            <a:r>
              <a:rPr b="0" i="0" lang="en" sz="1600" u="none" cap="none" strike="noStrike">
                <a:solidFill>
                  <a:schemeClr val="dk1"/>
                </a:solidFill>
                <a:latin typeface="Calibri"/>
                <a:ea typeface="Calibri"/>
                <a:cs typeface="Calibri"/>
                <a:sym typeface="Calibri"/>
              </a:rPr>
              <a:t>Local AI for Local Private Data</a:t>
            </a:r>
            <a:endParaRPr b="0" i="0" sz="1600" u="none" cap="none" strike="noStrike">
              <a:solidFill>
                <a:schemeClr val="dk1"/>
              </a:solidFill>
              <a:latin typeface="Calibri"/>
              <a:ea typeface="Calibri"/>
              <a:cs typeface="Calibri"/>
              <a:sym typeface="Calibri"/>
            </a:endParaRPr>
          </a:p>
          <a:p>
            <a:pPr indent="-330200" lvl="0" marL="457200" marR="0" rtl="0" algn="l">
              <a:lnSpc>
                <a:spcPct val="100000"/>
              </a:lnSpc>
              <a:spcBef>
                <a:spcPts val="0"/>
              </a:spcBef>
              <a:spcAft>
                <a:spcPts val="0"/>
              </a:spcAft>
              <a:buClr>
                <a:srgbClr val="000000"/>
              </a:buClr>
              <a:buSzPts val="1600"/>
              <a:buFont typeface="Calibri"/>
              <a:buChar char="●"/>
            </a:pPr>
            <a:r>
              <a:rPr b="0" i="0" lang="en" sz="1600" u="none" cap="none" strike="noStrike">
                <a:solidFill>
                  <a:srgbClr val="000000"/>
                </a:solidFill>
                <a:latin typeface="Calibri"/>
                <a:ea typeface="Calibri"/>
                <a:cs typeface="Calibri"/>
                <a:sym typeface="Calibri"/>
              </a:rPr>
              <a:t>Cloud architecture, fin-tech, application security</a:t>
            </a:r>
            <a:endParaRPr b="0" i="0" sz="16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alibri"/>
                <a:ea typeface="Calibri"/>
                <a:cs typeface="Calibri"/>
                <a:sym typeface="Calibri"/>
              </a:rPr>
              <a:t>Find/connect: Linkedin, GitHub, YouTube, Google</a:t>
            </a:r>
            <a:endParaRPr b="0" i="0" sz="1600" u="none" cap="none" strike="noStrike">
              <a:solidFill>
                <a:srgbClr val="000000"/>
              </a:solidFill>
              <a:latin typeface="Calibri"/>
              <a:ea typeface="Calibri"/>
              <a:cs typeface="Calibri"/>
              <a:sym typeface="Calibri"/>
            </a:endParaRPr>
          </a:p>
        </p:txBody>
      </p:sp>
      <p:pic>
        <p:nvPicPr>
          <p:cNvPr id="141" name="Google Shape;141;p24"/>
          <p:cNvPicPr preferRelativeResize="0"/>
          <p:nvPr/>
        </p:nvPicPr>
        <p:blipFill rotWithShape="1">
          <a:blip r:embed="rId4">
            <a:alphaModFix/>
          </a:blip>
          <a:srcRect b="0" l="0" r="0" t="0"/>
          <a:stretch/>
        </p:blipFill>
        <p:spPr>
          <a:xfrm>
            <a:off x="1001578" y="3664175"/>
            <a:ext cx="858450" cy="311906"/>
          </a:xfrm>
          <a:prstGeom prst="rect">
            <a:avLst/>
          </a:prstGeom>
          <a:noFill/>
          <a:ln>
            <a:noFill/>
          </a:ln>
        </p:spPr>
      </p:pic>
      <p:sp>
        <p:nvSpPr>
          <p:cNvPr id="142" name="Google Shape;142;p24"/>
          <p:cNvSpPr txBox="1"/>
          <p:nvPr/>
        </p:nvSpPr>
        <p:spPr>
          <a:xfrm>
            <a:off x="735103" y="4005903"/>
            <a:ext cx="13914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sng" cap="none" strike="noStrike">
                <a:solidFill>
                  <a:schemeClr val="hlink"/>
                </a:solidFill>
                <a:latin typeface="Calibri"/>
                <a:ea typeface="Calibri"/>
                <a:cs typeface="Calibri"/>
                <a:sym typeface="Calibri"/>
                <a:hlinkClick r:id="rId5"/>
              </a:rPr>
              <a:t>https://eais.ai</a:t>
            </a:r>
            <a:r>
              <a:rPr b="0" i="0" lang="en" sz="1600" u="none" cap="none" strike="noStrike">
                <a:solidFill>
                  <a:srgbClr val="000000"/>
                </a:solidFill>
                <a:latin typeface="Calibri"/>
                <a:ea typeface="Calibri"/>
                <a:cs typeface="Calibri"/>
                <a:sym typeface="Calibri"/>
              </a:rPr>
              <a:t> </a:t>
            </a:r>
            <a:endParaRPr b="0" i="0" sz="1600" u="none" cap="none" strike="noStrike">
              <a:solidFill>
                <a:srgbClr val="000000"/>
              </a:solidFill>
              <a:latin typeface="Calibri"/>
              <a:ea typeface="Calibri"/>
              <a:cs typeface="Calibri"/>
              <a:sym typeface="Calibri"/>
            </a:endParaRPr>
          </a:p>
        </p:txBody>
      </p:sp>
      <p:sp>
        <p:nvSpPr>
          <p:cNvPr id="143" name="Google Shape;143;p24"/>
          <p:cNvSpPr txBox="1"/>
          <p:nvPr/>
        </p:nvSpPr>
        <p:spPr>
          <a:xfrm>
            <a:off x="383803" y="4360974"/>
            <a:ext cx="20940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 sz="1600" u="none" cap="none" strike="noStrike">
                <a:solidFill>
                  <a:srgbClr val="000000"/>
                </a:solidFill>
                <a:latin typeface="Calibri"/>
                <a:ea typeface="Calibri"/>
                <a:cs typeface="Calibri"/>
                <a:sym typeface="Calibri"/>
              </a:rPr>
              <a:t>Enterprise AI Systems</a:t>
            </a:r>
            <a:endParaRPr b="0" i="0" sz="1600" u="none" cap="none" strike="noStrike">
              <a:solidFill>
                <a:srgbClr val="0000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5"/>
          <p:cNvSpPr txBox="1"/>
          <p:nvPr/>
        </p:nvSpPr>
        <p:spPr>
          <a:xfrm>
            <a:off x="2151375" y="1533150"/>
            <a:ext cx="4632600" cy="1262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7000"/>
              <a:buFont typeface="Arial"/>
              <a:buNone/>
            </a:pPr>
            <a:r>
              <a:rPr b="1" i="0" lang="en" sz="7000" u="none" cap="none" strike="noStrike">
                <a:solidFill>
                  <a:srgbClr val="3C78D8"/>
                </a:solidFill>
                <a:latin typeface="Calibri"/>
                <a:ea typeface="Calibri"/>
                <a:cs typeface="Calibri"/>
                <a:sym typeface="Calibri"/>
              </a:rPr>
              <a:t>Thank You!</a:t>
            </a:r>
            <a:endParaRPr b="1" i="0" sz="7000" u="none" cap="none" strike="noStrik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